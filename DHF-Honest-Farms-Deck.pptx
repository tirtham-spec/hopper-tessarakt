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ISB CGMO Cohort II, Business Leadership Challenge. Team 1: Sabika Mirza, Sharon Batliwalla, Syed Kashif Ali, Sonu Adarsh, Abhishek Nandan.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statistics did not create these groups; they revealed groups already in the data. At k=3, Guardians and Trusters merge into one unusable segment.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image" Target="../media/image-8-5.jpg"/><Relationship Id="rId6" Type="http://schemas.openxmlformats.org/officeDocument/2006/relationships/image" Target="../media/image-8-6.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image" Target="../media/image-23-4.jpg"/><Relationship Id="rId5" Type="http://schemas.openxmlformats.org/officeDocument/2006/relationships/image" Target="../media/image-23-5.jpg"/><Relationship Id="rId6" Type="http://schemas.openxmlformats.org/officeDocument/2006/relationships/image" Target="../media/image-23-6.jpg"/><Relationship Id="rId7" Type="http://schemas.openxmlformats.org/officeDocument/2006/relationships/image" Target="../media/image-23-7.jpg"/><Relationship Id="rId8" Type="http://schemas.openxmlformats.org/officeDocument/2006/relationships/image" Target="../media/image-23-8.jpg"/><Relationship Id="rId9" Type="http://schemas.openxmlformats.org/officeDocument/2006/relationships/image" Target="../media/image-23-9.jpg"/><Relationship Id="rId10" Type="http://schemas.openxmlformats.org/officeDocument/2006/relationships/image" Target="../media/image-23-10.jpg"/><Relationship Id="rId11" Type="http://schemas.openxmlformats.org/officeDocument/2006/relationships/image" Target="../media/image-23-11.jpg"/><Relationship Id="rId12" Type="http://schemas.openxmlformats.org/officeDocument/2006/relationships/slideLayout" Target="../slideLayouts/slideLayout1.xml"/><Relationship Id="rId1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image" Target="../media/image-26-3.jp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jp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jp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jpg"/><Relationship Id="rId3" Type="http://schemas.openxmlformats.org/officeDocument/2006/relationships/image" Target="../media/image-39-3.jp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makhana-farm.jpg">    </p:cNvPr>
          <p:cNvPicPr>
            <a:picLocks noChangeAspect="1"/>
          </p:cNvPicPr>
          <p:nvPr/>
        </p:nvPicPr>
        <p:blipFill>
          <a:blip r:embed="rId1"/>
          <a:srcRect l="0" r="0" t="0" b="0"/>
          <a:stretch/>
        </p:blipFill>
        <p:spPr>
          <a:xfrm>
            <a:off x="0" y="0"/>
            <a:ext cx="12191695" cy="6858000"/>
          </a:xfrm>
          <a:prstGeom prst="rect">
            <a:avLst/>
          </a:prstGeom>
        </p:spPr>
      </p:pic>
      <p:pic>
        <p:nvPicPr>
          <p:cNvPr id="3" name="Image 1" descr="/home/user/hopper-tessarakt/site/assets/veil-h.png">    </p:cNvPr>
          <p:cNvPicPr>
            <a:picLocks noChangeAspect="1"/>
          </p:cNvPicPr>
          <p:nvPr/>
        </p:nvPicPr>
        <p:blipFill>
          <a:blip r:embed="rId2"/>
          <a:stretch>
            <a:fillRect/>
          </a:stretch>
        </p:blipFill>
        <p:spPr>
          <a:xfrm>
            <a:off x="0" y="0"/>
            <a:ext cx="12191695" cy="6858000"/>
          </a:xfrm>
          <a:prstGeom prst="rect">
            <a:avLst/>
          </a:prstGeom>
        </p:spPr>
      </p:pic>
      <p:sp>
        <p:nvSpPr>
          <p:cNvPr id="4" name="Text 0"/>
          <p:cNvSpPr/>
          <p:nvPr/>
        </p:nvSpPr>
        <p:spPr>
          <a:xfrm>
            <a:off x="502920" y="1051560"/>
            <a:ext cx="7315200" cy="274320"/>
          </a:xfrm>
          <a:prstGeom prst="rect">
            <a:avLst/>
          </a:prstGeom>
          <a:noFill/>
          <a:ln/>
        </p:spPr>
        <p:txBody>
          <a:bodyPr wrap="square" lIns="0" tIns="0" rIns="0" bIns="0" rtlCol="0" anchor="ctr"/>
          <a:lstStyle/>
          <a:p>
            <a:pPr indent="0" marL="0">
              <a:buNone/>
            </a:pPr>
            <a:r>
              <a:rPr lang="en-US" sz="1050" b="1" spc="280" kern="0" dirty="0">
                <a:solidFill>
                  <a:srgbClr val="5FC28C"/>
                </a:solidFill>
                <a:latin typeface="Nunito Sans" pitchFamily="34" charset="0"/>
                <a:ea typeface="Nunito Sans" pitchFamily="34" charset="-122"/>
                <a:cs typeface="Nunito Sans" pitchFamily="34" charset="-120"/>
              </a:rPr>
              <a:t>ISB CGMO COHORT II   ·   BUSINESS LEADERSHIP CHALLENGE</a:t>
            </a:r>
            <a:endParaRPr lang="en-US" sz="1050" dirty="0"/>
          </a:p>
        </p:txBody>
      </p:sp>
      <p:pic>
        <p:nvPicPr>
          <p:cNvPr id="5" name="Image 2" descr="/home/user/hopper-tessarakt/site/assets/logo.png">    </p:cNvPr>
          <p:cNvPicPr>
            <a:picLocks noChangeAspect="1"/>
          </p:cNvPicPr>
          <p:nvPr/>
        </p:nvPicPr>
        <p:blipFill>
          <a:blip r:embed="rId3"/>
          <a:stretch>
            <a:fillRect/>
          </a:stretch>
        </p:blipFill>
        <p:spPr>
          <a:xfrm>
            <a:off x="502920" y="1481328"/>
            <a:ext cx="2286000" cy="841248"/>
          </a:xfrm>
          <a:prstGeom prst="rect">
            <a:avLst/>
          </a:prstGeom>
        </p:spPr>
      </p:pic>
      <p:sp>
        <p:nvSpPr>
          <p:cNvPr id="6" name="Text 1"/>
          <p:cNvSpPr/>
          <p:nvPr/>
        </p:nvSpPr>
        <p:spPr>
          <a:xfrm>
            <a:off x="502920" y="2432304"/>
            <a:ext cx="7498080" cy="731520"/>
          </a:xfrm>
          <a:prstGeom prst="rect">
            <a:avLst/>
          </a:prstGeom>
          <a:noFill/>
          <a:ln/>
        </p:spPr>
        <p:txBody>
          <a:bodyPr wrap="square" lIns="0" tIns="0" rIns="0" bIns="0" rtlCol="0" anchor="t"/>
          <a:lstStyle/>
          <a:p>
            <a:pPr indent="0" marL="0">
              <a:buNone/>
            </a:pPr>
            <a:r>
              <a:rPr lang="en-US" sz="4000" dirty="0">
                <a:solidFill>
                  <a:srgbClr val="FFFFFF"/>
                </a:solidFill>
                <a:latin typeface="Archivo Black" pitchFamily="34" charset="0"/>
                <a:ea typeface="Archivo Black" pitchFamily="34" charset="-122"/>
                <a:cs typeface="Archivo Black" pitchFamily="34" charset="-120"/>
              </a:rPr>
              <a:t>Category Creation</a:t>
            </a:r>
            <a:endParaRPr lang="en-US" sz="4000" dirty="0"/>
          </a:p>
        </p:txBody>
      </p:sp>
      <p:sp>
        <p:nvSpPr>
          <p:cNvPr id="7" name="Text 2"/>
          <p:cNvSpPr/>
          <p:nvPr/>
        </p:nvSpPr>
        <p:spPr>
          <a:xfrm>
            <a:off x="502920" y="3145536"/>
            <a:ext cx="7498080" cy="731520"/>
          </a:xfrm>
          <a:prstGeom prst="rect">
            <a:avLst/>
          </a:prstGeom>
          <a:noFill/>
          <a:ln/>
        </p:spPr>
        <p:txBody>
          <a:bodyPr wrap="square" lIns="0" tIns="0" rIns="0" bIns="0" rtlCol="0" anchor="t"/>
          <a:lstStyle/>
          <a:p>
            <a:pPr indent="0" marL="0">
              <a:buNone/>
            </a:pPr>
            <a:r>
              <a:rPr lang="en-US" sz="4000" dirty="0">
                <a:solidFill>
                  <a:srgbClr val="5FC28C"/>
                </a:solidFill>
                <a:latin typeface="Archivo Black" pitchFamily="34" charset="0"/>
                <a:ea typeface="Archivo Black" pitchFamily="34" charset="-122"/>
                <a:cs typeface="Archivo Black" pitchFamily="34" charset="-120"/>
              </a:rPr>
              <a:t>&amp; Scale Acceleration</a:t>
            </a:r>
            <a:endParaRPr lang="en-US" sz="4000" dirty="0"/>
          </a:p>
        </p:txBody>
      </p:sp>
      <p:sp>
        <p:nvSpPr>
          <p:cNvPr id="8" name="Text 3"/>
          <p:cNvSpPr/>
          <p:nvPr/>
        </p:nvSpPr>
        <p:spPr>
          <a:xfrm>
            <a:off x="502920" y="4224528"/>
            <a:ext cx="7315200" cy="365760"/>
          </a:xfrm>
          <a:prstGeom prst="rect">
            <a:avLst/>
          </a:prstGeom>
          <a:noFill/>
          <a:ln/>
        </p:spPr>
        <p:txBody>
          <a:bodyPr wrap="square" lIns="0" tIns="0" rIns="0" bIns="0" rtlCol="0" anchor="ctr"/>
          <a:lstStyle/>
          <a:p>
            <a:pPr indent="0" marL="0">
              <a:buNone/>
            </a:pPr>
            <a:r>
              <a:rPr lang="en-US" sz="1600" i="1" dirty="0">
                <a:solidFill>
                  <a:srgbClr val="EEE9E0"/>
                </a:solidFill>
                <a:latin typeface="Nunito Sans" pitchFamily="34" charset="0"/>
                <a:ea typeface="Nunito Sans" pitchFamily="34" charset="-122"/>
                <a:cs typeface="Nunito Sans" pitchFamily="34" charset="-120"/>
              </a:rPr>
              <a:t>Verified in the fields. Honest on the shelves.</a:t>
            </a:r>
            <a:endParaRPr lang="en-US" sz="1600" dirty="0"/>
          </a:p>
        </p:txBody>
      </p:sp>
      <p:sp>
        <p:nvSpPr>
          <p:cNvPr id="9" name="Shape 4"/>
          <p:cNvSpPr/>
          <p:nvPr/>
        </p:nvSpPr>
        <p:spPr>
          <a:xfrm>
            <a:off x="502920" y="4892040"/>
            <a:ext cx="960120" cy="292608"/>
          </a:xfrm>
          <a:prstGeom prst="roundRect">
            <a:avLst>
              <a:gd name="adj" fmla="val 50000"/>
            </a:avLst>
          </a:prstGeom>
          <a:solidFill>
            <a:srgbClr val="5FC28C"/>
          </a:solidFill>
          <a:ln w="12700">
            <a:solidFill>
              <a:srgbClr val="333333"/>
            </a:solidFill>
            <a:prstDash val="solid"/>
          </a:ln>
        </p:spPr>
      </p:sp>
      <p:sp>
        <p:nvSpPr>
          <p:cNvPr id="10" name="Text 5"/>
          <p:cNvSpPr/>
          <p:nvPr/>
        </p:nvSpPr>
        <p:spPr>
          <a:xfrm>
            <a:off x="502920" y="4892040"/>
            <a:ext cx="960120" cy="292608"/>
          </a:xfrm>
          <a:prstGeom prst="rect">
            <a:avLst/>
          </a:prstGeom>
          <a:noFill/>
          <a:ln/>
        </p:spPr>
        <p:txBody>
          <a:bodyPr wrap="square" lIns="0" tIns="0" rIns="0" bIns="0" rtlCol="0" anchor="ctr"/>
          <a:lstStyle/>
          <a:p>
            <a:pPr algn="ctr" indent="0" marL="0">
              <a:buNone/>
            </a:pPr>
            <a:r>
              <a:rPr lang="en-US" sz="900" b="1" spc="140" kern="0" dirty="0">
                <a:solidFill>
                  <a:srgbClr val="0C1A2B"/>
                </a:solidFill>
                <a:latin typeface="Nunito Sans" pitchFamily="34" charset="0"/>
                <a:ea typeface="Nunito Sans" pitchFamily="34" charset="-122"/>
                <a:cs typeface="Nunito Sans" pitchFamily="34" charset="-120"/>
              </a:rPr>
              <a:t>TEAM 1</a:t>
            </a:r>
            <a:endParaRPr lang="en-US" sz="900" dirty="0"/>
          </a:p>
        </p:txBody>
      </p:sp>
      <p:sp>
        <p:nvSpPr>
          <p:cNvPr id="11" name="Text 6"/>
          <p:cNvSpPr/>
          <p:nvPr/>
        </p:nvSpPr>
        <p:spPr>
          <a:xfrm>
            <a:off x="1600200" y="4892040"/>
            <a:ext cx="6583680" cy="292608"/>
          </a:xfrm>
          <a:prstGeom prst="rect">
            <a:avLst/>
          </a:prstGeom>
          <a:noFill/>
          <a:ln/>
        </p:spPr>
        <p:txBody>
          <a:bodyPr wrap="square" lIns="0" tIns="0" rIns="0" bIns="0" rtlCol="0" anchor="ctr"/>
          <a:lstStyle/>
          <a:p>
            <a:pPr indent="0" marL="0">
              <a:buNone/>
            </a:pPr>
            <a:r>
              <a:rPr lang="en-US" sz="1050" dirty="0">
                <a:solidFill>
                  <a:srgbClr val="A9B6C7"/>
                </a:solidFill>
                <a:latin typeface="Nunito Sans" pitchFamily="34" charset="0"/>
                <a:ea typeface="Nunito Sans" pitchFamily="34" charset="-122"/>
                <a:cs typeface="Nunito Sans" pitchFamily="34" charset="-120"/>
              </a:rPr>
              <a:t>Sabika Mirza  ·  Sharon Batliwalla  ·  Syed Kashif Ali  ·  Sonu Adarsh  ·  Abhishek Nandan</a:t>
            </a:r>
            <a:endParaRPr lang="en-US" sz="1050" dirty="0"/>
          </a:p>
        </p:txBody>
      </p:sp>
      <p:sp>
        <p:nvSpPr>
          <p:cNvPr id="12" name="Shape 7"/>
          <p:cNvSpPr/>
          <p:nvPr/>
        </p:nvSpPr>
        <p:spPr>
          <a:xfrm>
            <a:off x="502920" y="5623560"/>
            <a:ext cx="7589520" cy="0"/>
          </a:xfrm>
          <a:prstGeom prst="line">
            <a:avLst/>
          </a:prstGeom>
          <a:noFill/>
          <a:ln w="9525">
            <a:solidFill>
              <a:srgbClr val="FFFFFF">
                <a:alpha val="20000"/>
              </a:srgbClr>
            </a:solidFill>
            <a:prstDash val="solid"/>
          </a:ln>
        </p:spPr>
      </p:sp>
      <p:sp>
        <p:nvSpPr>
          <p:cNvPr id="13" name="Text 8"/>
          <p:cNvSpPr/>
          <p:nvPr/>
        </p:nvSpPr>
        <p:spPr>
          <a:xfrm>
            <a:off x="502920" y="5779008"/>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chivo Black" pitchFamily="34" charset="0"/>
                <a:ea typeface="Archivo Black" pitchFamily="34" charset="-122"/>
                <a:cs typeface="Archivo Black" pitchFamily="34" charset="-120"/>
              </a:rPr>
              <a:t>₹53 Cr → ₹748 Cr</a:t>
            </a:r>
            <a:endParaRPr lang="en-US" sz="1300" dirty="0"/>
          </a:p>
        </p:txBody>
      </p:sp>
      <p:sp>
        <p:nvSpPr>
          <p:cNvPr id="14" name="Text 9"/>
          <p:cNvSpPr/>
          <p:nvPr/>
        </p:nvSpPr>
        <p:spPr>
          <a:xfrm>
            <a:off x="502920" y="6053328"/>
            <a:ext cx="2468880" cy="384048"/>
          </a:xfrm>
          <a:prstGeom prst="rect">
            <a:avLst/>
          </a:prstGeom>
          <a:noFill/>
          <a:ln/>
        </p:spPr>
        <p:txBody>
          <a:bodyPr wrap="square" lIns="0" tIns="0" rIns="0" bIns="0" rtlCol="0" anchor="t"/>
          <a:lstStyle/>
          <a:p>
            <a:pPr indent="0" marL="0">
              <a:buNone/>
            </a:pPr>
            <a:r>
              <a:rPr lang="en-US" sz="850" dirty="0">
                <a:solidFill>
                  <a:srgbClr val="A9B6C7"/>
                </a:solidFill>
                <a:latin typeface="Nunito Sans" pitchFamily="34" charset="0"/>
                <a:ea typeface="Nunito Sans" pitchFamily="34" charset="-122"/>
                <a:cs typeface="Nunito Sans" pitchFamily="34" charset="-120"/>
              </a:rPr>
              <a:t>the FY26 base to the FY31 ambition</a:t>
            </a:r>
            <a:endParaRPr lang="en-US" sz="850" dirty="0"/>
          </a:p>
        </p:txBody>
      </p:sp>
      <p:sp>
        <p:nvSpPr>
          <p:cNvPr id="15" name="Text 10"/>
          <p:cNvSpPr/>
          <p:nvPr/>
        </p:nvSpPr>
        <p:spPr>
          <a:xfrm>
            <a:off x="3081528" y="5779008"/>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chivo Black" pitchFamily="34" charset="0"/>
                <a:ea typeface="Archivo Black" pitchFamily="34" charset="-122"/>
                <a:cs typeface="Archivo Black" pitchFamily="34" charset="-120"/>
              </a:rPr>
              <a:t>₹48,000 Cr</a:t>
            </a:r>
            <a:endParaRPr lang="en-US" sz="1300" dirty="0"/>
          </a:p>
        </p:txBody>
      </p:sp>
      <p:sp>
        <p:nvSpPr>
          <p:cNvPr id="16" name="Text 11"/>
          <p:cNvSpPr/>
          <p:nvPr/>
        </p:nvSpPr>
        <p:spPr>
          <a:xfrm>
            <a:off x="3081528" y="6053328"/>
            <a:ext cx="2468880" cy="384048"/>
          </a:xfrm>
          <a:prstGeom prst="rect">
            <a:avLst/>
          </a:prstGeom>
          <a:noFill/>
          <a:ln/>
        </p:spPr>
        <p:txBody>
          <a:bodyPr wrap="square" lIns="0" tIns="0" rIns="0" bIns="0" rtlCol="0" anchor="t"/>
          <a:lstStyle/>
          <a:p>
            <a:pPr indent="0" marL="0">
              <a:buNone/>
            </a:pPr>
            <a:r>
              <a:rPr lang="en-US" sz="850" dirty="0">
                <a:solidFill>
                  <a:srgbClr val="A9B6C7"/>
                </a:solidFill>
                <a:latin typeface="Nunito Sans" pitchFamily="34" charset="0"/>
                <a:ea typeface="Nunito Sans" pitchFamily="34" charset="-122"/>
                <a:cs typeface="Nunito Sans" pitchFamily="34" charset="-120"/>
              </a:rPr>
              <a:t>a category with no definition, standard or owner</a:t>
            </a:r>
            <a:endParaRPr lang="en-US" sz="850" dirty="0"/>
          </a:p>
        </p:txBody>
      </p:sp>
      <p:sp>
        <p:nvSpPr>
          <p:cNvPr id="17" name="Text 12"/>
          <p:cNvSpPr/>
          <p:nvPr/>
        </p:nvSpPr>
        <p:spPr>
          <a:xfrm>
            <a:off x="5660136" y="5779008"/>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chivo Black" pitchFamily="34" charset="0"/>
                <a:ea typeface="Archivo Black" pitchFamily="34" charset="-122"/>
                <a:cs typeface="Archivo Black" pitchFamily="34" charset="-120"/>
              </a:rPr>
              <a:t>305 + 31</a:t>
            </a:r>
            <a:endParaRPr lang="en-US" sz="1300" dirty="0"/>
          </a:p>
        </p:txBody>
      </p:sp>
      <p:sp>
        <p:nvSpPr>
          <p:cNvPr id="18" name="Text 13"/>
          <p:cNvSpPr/>
          <p:nvPr/>
        </p:nvSpPr>
        <p:spPr>
          <a:xfrm>
            <a:off x="5660136" y="6053328"/>
            <a:ext cx="2468880" cy="384048"/>
          </a:xfrm>
          <a:prstGeom prst="rect">
            <a:avLst/>
          </a:prstGeom>
          <a:noFill/>
          <a:ln/>
        </p:spPr>
        <p:txBody>
          <a:bodyPr wrap="square" lIns="0" tIns="0" rIns="0" bIns="0" rtlCol="0" anchor="t"/>
          <a:lstStyle/>
          <a:p>
            <a:pPr indent="0" marL="0">
              <a:buNone/>
            </a:pPr>
            <a:r>
              <a:rPr lang="en-US" sz="850" dirty="0">
                <a:solidFill>
                  <a:srgbClr val="A9B6C7"/>
                </a:solidFill>
                <a:latin typeface="Nunito Sans" pitchFamily="34" charset="0"/>
                <a:ea typeface="Nunito Sans" pitchFamily="34" charset="-122"/>
                <a:cs typeface="Nunito Sans" pitchFamily="34" charset="-120"/>
              </a:rPr>
              <a:t>respondents behind every claim in this deck</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1353312"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1353312"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START HERE</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The whole argument, in six moves.</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Every section that follows is evidence for one of these six steps.</a:t>
            </a:r>
            <a:endParaRPr lang="en-US" sz="1100" dirty="0"/>
          </a:p>
        </p:txBody>
      </p:sp>
      <p:sp>
        <p:nvSpPr>
          <p:cNvPr id="7" name="Shape 4"/>
          <p:cNvSpPr/>
          <p:nvPr/>
        </p:nvSpPr>
        <p:spPr>
          <a:xfrm>
            <a:off x="502920" y="2121408"/>
            <a:ext cx="3545738" cy="2084832"/>
          </a:xfrm>
          <a:prstGeom prst="roundRect">
            <a:avLst>
              <a:gd name="adj" fmla="val 4386"/>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8" name="Shape 5"/>
          <p:cNvSpPr/>
          <p:nvPr/>
        </p:nvSpPr>
        <p:spPr>
          <a:xfrm>
            <a:off x="704088" y="2304288"/>
            <a:ext cx="365760" cy="365760"/>
          </a:xfrm>
          <a:prstGeom prst="ellipse">
            <a:avLst/>
          </a:prstGeom>
          <a:solidFill>
            <a:srgbClr val="0C1A2B"/>
          </a:solidFill>
          <a:ln w="12700">
            <a:solidFill>
              <a:srgbClr val="333333"/>
            </a:solidFill>
            <a:prstDash val="solid"/>
          </a:ln>
        </p:spPr>
      </p:sp>
      <p:sp>
        <p:nvSpPr>
          <p:cNvPr id="9" name="Text 6"/>
          <p:cNvSpPr/>
          <p:nvPr/>
        </p:nvSpPr>
        <p:spPr>
          <a:xfrm>
            <a:off x="704088" y="2304288"/>
            <a:ext cx="36576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Archivo Black" pitchFamily="34" charset="0"/>
                <a:ea typeface="Archivo Black" pitchFamily="34" charset="-122"/>
                <a:cs typeface="Archivo Black" pitchFamily="34" charset="-120"/>
              </a:rPr>
              <a:t>1</a:t>
            </a:r>
            <a:endParaRPr lang="en-US" sz="1200" dirty="0"/>
          </a:p>
        </p:txBody>
      </p:sp>
      <p:sp>
        <p:nvSpPr>
          <p:cNvPr id="10" name="Text 7"/>
          <p:cNvSpPr/>
          <p:nvPr/>
        </p:nvSpPr>
        <p:spPr>
          <a:xfrm>
            <a:off x="704088" y="2743200"/>
            <a:ext cx="3143402" cy="548640"/>
          </a:xfrm>
          <a:prstGeom prst="rect">
            <a:avLst/>
          </a:prstGeom>
          <a:noFill/>
          <a:ln/>
        </p:spPr>
        <p:txBody>
          <a:bodyPr wrap="square" lIns="0" tIns="0" rIns="0" bIns="0" rtlCol="0" anchor="t"/>
          <a:lstStyle/>
          <a:p>
            <a:pPr indent="0" marL="0">
              <a:lnSpc>
                <a:spcPct val="106000"/>
              </a:lnSpc>
              <a:buNone/>
            </a:pPr>
            <a:r>
              <a:rPr lang="en-US" sz="1150" b="1" dirty="0">
                <a:solidFill>
                  <a:srgbClr val="0C1A2B"/>
                </a:solidFill>
                <a:latin typeface="Nunito Sans" pitchFamily="34" charset="0"/>
                <a:ea typeface="Nunito Sans" pitchFamily="34" charset="-122"/>
                <a:cs typeface="Nunito Sans" pitchFamily="34" charset="-120"/>
              </a:rPr>
              <a:t>There is a ₹48,000 Cr category that nobody has defined.</a:t>
            </a:r>
            <a:endParaRPr lang="en-US" sz="1150" dirty="0"/>
          </a:p>
        </p:txBody>
      </p:sp>
      <p:sp>
        <p:nvSpPr>
          <p:cNvPr id="11" name="Text 8"/>
          <p:cNvSpPr/>
          <p:nvPr/>
        </p:nvSpPr>
        <p:spPr>
          <a:xfrm>
            <a:off x="704088" y="3291840"/>
            <a:ext cx="3143402" cy="76809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"Pesticide-free" is not a regulated term in India. Demand is real — 84% of consumers are worried about food safety — but no brand has codified the standard, so the words commoditise before they mean anything.</a:t>
            </a:r>
            <a:endParaRPr lang="en-US" sz="900" dirty="0"/>
          </a:p>
        </p:txBody>
      </p:sp>
      <p:sp>
        <p:nvSpPr>
          <p:cNvPr id="12" name="Shape 9"/>
          <p:cNvSpPr/>
          <p:nvPr/>
        </p:nvSpPr>
        <p:spPr>
          <a:xfrm>
            <a:off x="4322978" y="2121408"/>
            <a:ext cx="3545738" cy="2084832"/>
          </a:xfrm>
          <a:prstGeom prst="roundRect">
            <a:avLst>
              <a:gd name="adj" fmla="val 4386"/>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13" name="Shape 10"/>
          <p:cNvSpPr/>
          <p:nvPr/>
        </p:nvSpPr>
        <p:spPr>
          <a:xfrm>
            <a:off x="4524146" y="2304288"/>
            <a:ext cx="365760" cy="365760"/>
          </a:xfrm>
          <a:prstGeom prst="ellipse">
            <a:avLst/>
          </a:prstGeom>
          <a:solidFill>
            <a:srgbClr val="0C1A2B"/>
          </a:solidFill>
          <a:ln w="12700">
            <a:solidFill>
              <a:srgbClr val="333333"/>
            </a:solidFill>
            <a:prstDash val="solid"/>
          </a:ln>
        </p:spPr>
      </p:sp>
      <p:sp>
        <p:nvSpPr>
          <p:cNvPr id="14" name="Text 11"/>
          <p:cNvSpPr/>
          <p:nvPr/>
        </p:nvSpPr>
        <p:spPr>
          <a:xfrm>
            <a:off x="4524146" y="2304288"/>
            <a:ext cx="36576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Archivo Black" pitchFamily="34" charset="0"/>
                <a:ea typeface="Archivo Black" pitchFamily="34" charset="-122"/>
                <a:cs typeface="Archivo Black" pitchFamily="34" charset="-120"/>
              </a:rPr>
              <a:t>2</a:t>
            </a:r>
            <a:endParaRPr lang="en-US" sz="1200" dirty="0"/>
          </a:p>
        </p:txBody>
      </p:sp>
      <p:sp>
        <p:nvSpPr>
          <p:cNvPr id="15" name="Text 12"/>
          <p:cNvSpPr/>
          <p:nvPr/>
        </p:nvSpPr>
        <p:spPr>
          <a:xfrm>
            <a:off x="4524146" y="2743200"/>
            <a:ext cx="3143402" cy="548640"/>
          </a:xfrm>
          <a:prstGeom prst="rect">
            <a:avLst/>
          </a:prstGeom>
          <a:noFill/>
          <a:ln/>
        </p:spPr>
        <p:txBody>
          <a:bodyPr wrap="square" lIns="0" tIns="0" rIns="0" bIns="0" rtlCol="0" anchor="t"/>
          <a:lstStyle/>
          <a:p>
            <a:pPr indent="0" marL="0">
              <a:lnSpc>
                <a:spcPct val="106000"/>
              </a:lnSpc>
              <a:buNone/>
            </a:pPr>
            <a:r>
              <a:rPr lang="en-US" sz="1150" b="1" dirty="0">
                <a:solidFill>
                  <a:srgbClr val="0C1A2B"/>
                </a:solidFill>
                <a:latin typeface="Nunito Sans" pitchFamily="34" charset="0"/>
                <a:ea typeface="Nunito Sans" pitchFamily="34" charset="-122"/>
                <a:cs typeface="Nunito Sans" pitchFamily="34" charset="-120"/>
              </a:rPr>
              <a:t>The shelf has an empty corridor, and DHF should own it.</a:t>
            </a:r>
            <a:endParaRPr lang="en-US" sz="1150" dirty="0"/>
          </a:p>
        </p:txBody>
      </p:sp>
      <p:sp>
        <p:nvSpPr>
          <p:cNvPr id="16" name="Text 13"/>
          <p:cNvSpPr/>
          <p:nvPr/>
        </p:nvSpPr>
        <p:spPr>
          <a:xfrm>
            <a:off x="4524146" y="3291840"/>
            <a:ext cx="3143402" cy="76809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Mainstream dal sits at ₹136–157/kg. Certified organic sits at ₹255–306. Between them is an accessible-premium corridor at ₹150–250 with no trust code attached to it — and it is already being squeezed from below.</a:t>
            </a:r>
            <a:endParaRPr lang="en-US" sz="900" dirty="0"/>
          </a:p>
        </p:txBody>
      </p:sp>
      <p:sp>
        <p:nvSpPr>
          <p:cNvPr id="17" name="Shape 14"/>
          <p:cNvSpPr/>
          <p:nvPr/>
        </p:nvSpPr>
        <p:spPr>
          <a:xfrm>
            <a:off x="8143037" y="2121408"/>
            <a:ext cx="3545738" cy="2084832"/>
          </a:xfrm>
          <a:prstGeom prst="roundRect">
            <a:avLst>
              <a:gd name="adj" fmla="val 4386"/>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18" name="Shape 15"/>
          <p:cNvSpPr/>
          <p:nvPr/>
        </p:nvSpPr>
        <p:spPr>
          <a:xfrm>
            <a:off x="8344205" y="2304288"/>
            <a:ext cx="365760" cy="365760"/>
          </a:xfrm>
          <a:prstGeom prst="ellipse">
            <a:avLst/>
          </a:prstGeom>
          <a:solidFill>
            <a:srgbClr val="0C1A2B"/>
          </a:solidFill>
          <a:ln w="12700">
            <a:solidFill>
              <a:srgbClr val="333333"/>
            </a:solidFill>
            <a:prstDash val="solid"/>
          </a:ln>
        </p:spPr>
      </p:sp>
      <p:sp>
        <p:nvSpPr>
          <p:cNvPr id="19" name="Text 16"/>
          <p:cNvSpPr/>
          <p:nvPr/>
        </p:nvSpPr>
        <p:spPr>
          <a:xfrm>
            <a:off x="8344205" y="2304288"/>
            <a:ext cx="36576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Archivo Black" pitchFamily="34" charset="0"/>
                <a:ea typeface="Archivo Black" pitchFamily="34" charset="-122"/>
                <a:cs typeface="Archivo Black" pitchFamily="34" charset="-120"/>
              </a:rPr>
              <a:t>3</a:t>
            </a:r>
            <a:endParaRPr lang="en-US" sz="1200" dirty="0"/>
          </a:p>
        </p:txBody>
      </p:sp>
      <p:sp>
        <p:nvSpPr>
          <p:cNvPr id="20" name="Text 17"/>
          <p:cNvSpPr/>
          <p:nvPr/>
        </p:nvSpPr>
        <p:spPr>
          <a:xfrm>
            <a:off x="8344205" y="2743200"/>
            <a:ext cx="3143402" cy="548640"/>
          </a:xfrm>
          <a:prstGeom prst="rect">
            <a:avLst/>
          </a:prstGeom>
          <a:noFill/>
          <a:ln/>
        </p:spPr>
        <p:txBody>
          <a:bodyPr wrap="square" lIns="0" tIns="0" rIns="0" bIns="0" rtlCol="0" anchor="t"/>
          <a:lstStyle/>
          <a:p>
            <a:pPr indent="0" marL="0">
              <a:lnSpc>
                <a:spcPct val="106000"/>
              </a:lnSpc>
              <a:buNone/>
            </a:pPr>
            <a:r>
              <a:rPr lang="en-US" sz="1150" b="1" dirty="0">
                <a:solidFill>
                  <a:srgbClr val="0C1A2B"/>
                </a:solidFill>
                <a:latin typeface="Nunito Sans" pitchFamily="34" charset="0"/>
                <a:ea typeface="Nunito Sans" pitchFamily="34" charset="-122"/>
                <a:cs typeface="Nunito Sans" pitchFamily="34" charset="-120"/>
              </a:rPr>
              <a:t>The barrier is belief, not budget.</a:t>
            </a:r>
            <a:endParaRPr lang="en-US" sz="1150" dirty="0"/>
          </a:p>
        </p:txBody>
      </p:sp>
      <p:sp>
        <p:nvSpPr>
          <p:cNvPr id="21" name="Text 18"/>
          <p:cNvSpPr/>
          <p:nvPr/>
        </p:nvSpPr>
        <p:spPr>
          <a:xfrm>
            <a:off x="8344205" y="3291840"/>
            <a:ext cx="3143402" cy="76809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Half of buyers say they would pay nothing extra — and say why: they do not trust the claims. But 60% would pay 20–30% more if someone they trusted had independently verified it.</a:t>
            </a:r>
            <a:endParaRPr lang="en-US" sz="900" dirty="0"/>
          </a:p>
        </p:txBody>
      </p:sp>
      <p:sp>
        <p:nvSpPr>
          <p:cNvPr id="22" name="Shape 19"/>
          <p:cNvSpPr/>
          <p:nvPr/>
        </p:nvSpPr>
        <p:spPr>
          <a:xfrm>
            <a:off x="502920" y="4462272"/>
            <a:ext cx="3545738" cy="2084832"/>
          </a:xfrm>
          <a:prstGeom prst="roundRect">
            <a:avLst>
              <a:gd name="adj" fmla="val 4386"/>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23" name="Shape 20"/>
          <p:cNvSpPr/>
          <p:nvPr/>
        </p:nvSpPr>
        <p:spPr>
          <a:xfrm>
            <a:off x="704088" y="4645152"/>
            <a:ext cx="365760" cy="365760"/>
          </a:xfrm>
          <a:prstGeom prst="ellipse">
            <a:avLst/>
          </a:prstGeom>
          <a:solidFill>
            <a:srgbClr val="0C1A2B"/>
          </a:solidFill>
          <a:ln w="12700">
            <a:solidFill>
              <a:srgbClr val="333333"/>
            </a:solidFill>
            <a:prstDash val="solid"/>
          </a:ln>
        </p:spPr>
      </p:sp>
      <p:sp>
        <p:nvSpPr>
          <p:cNvPr id="24" name="Text 21"/>
          <p:cNvSpPr/>
          <p:nvPr/>
        </p:nvSpPr>
        <p:spPr>
          <a:xfrm>
            <a:off x="704088" y="4645152"/>
            <a:ext cx="36576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Archivo Black" pitchFamily="34" charset="0"/>
                <a:ea typeface="Archivo Black" pitchFamily="34" charset="-122"/>
                <a:cs typeface="Archivo Black" pitchFamily="34" charset="-120"/>
              </a:rPr>
              <a:t>4</a:t>
            </a:r>
            <a:endParaRPr lang="en-US" sz="1200" dirty="0"/>
          </a:p>
        </p:txBody>
      </p:sp>
      <p:sp>
        <p:nvSpPr>
          <p:cNvPr id="25" name="Text 22"/>
          <p:cNvSpPr/>
          <p:nvPr/>
        </p:nvSpPr>
        <p:spPr>
          <a:xfrm>
            <a:off x="704088" y="5084064"/>
            <a:ext cx="3143402" cy="548640"/>
          </a:xfrm>
          <a:prstGeom prst="rect">
            <a:avLst/>
          </a:prstGeom>
          <a:noFill/>
          <a:ln/>
        </p:spPr>
        <p:txBody>
          <a:bodyPr wrap="square" lIns="0" tIns="0" rIns="0" bIns="0" rtlCol="0" anchor="t"/>
          <a:lstStyle/>
          <a:p>
            <a:pPr indent="0" marL="0">
              <a:lnSpc>
                <a:spcPct val="106000"/>
              </a:lnSpc>
              <a:buNone/>
            </a:pPr>
            <a:r>
              <a:rPr lang="en-US" sz="1150" b="1" dirty="0">
                <a:solidFill>
                  <a:srgbClr val="0C1A2B"/>
                </a:solidFill>
                <a:latin typeface="Nunito Sans" pitchFamily="34" charset="0"/>
                <a:ea typeface="Nunito Sans" pitchFamily="34" charset="-122"/>
                <a:cs typeface="Nunito Sans" pitchFamily="34" charset="-120"/>
              </a:rPr>
              <a:t>DHF already generates the proof. It just never shows it.</a:t>
            </a:r>
            <a:endParaRPr lang="en-US" sz="1150" dirty="0"/>
          </a:p>
        </p:txBody>
      </p:sp>
      <p:sp>
        <p:nvSpPr>
          <p:cNvPr id="26" name="Text 23"/>
          <p:cNvSpPr/>
          <p:nvPr/>
        </p:nvSpPr>
        <p:spPr>
          <a:xfrm>
            <a:off x="704088" y="5632704"/>
            <a:ext cx="3143402" cy="76809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230+ pesticide checks per batch, batch-level testing, failing lots rejected — all invisible to the shopper. Competitors lead with logos; DHF can lead with data, and put the farmer on it.</a:t>
            </a:r>
            <a:endParaRPr lang="en-US" sz="900" dirty="0"/>
          </a:p>
        </p:txBody>
      </p:sp>
      <p:sp>
        <p:nvSpPr>
          <p:cNvPr id="27" name="Shape 24"/>
          <p:cNvSpPr/>
          <p:nvPr/>
        </p:nvSpPr>
        <p:spPr>
          <a:xfrm>
            <a:off x="4322978" y="4462272"/>
            <a:ext cx="3545738" cy="2084832"/>
          </a:xfrm>
          <a:prstGeom prst="roundRect">
            <a:avLst>
              <a:gd name="adj" fmla="val 4386"/>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28" name="Shape 25"/>
          <p:cNvSpPr/>
          <p:nvPr/>
        </p:nvSpPr>
        <p:spPr>
          <a:xfrm>
            <a:off x="4524146" y="4645152"/>
            <a:ext cx="365760" cy="365760"/>
          </a:xfrm>
          <a:prstGeom prst="ellipse">
            <a:avLst/>
          </a:prstGeom>
          <a:solidFill>
            <a:srgbClr val="0C1A2B"/>
          </a:solidFill>
          <a:ln w="12700">
            <a:solidFill>
              <a:srgbClr val="333333"/>
            </a:solidFill>
            <a:prstDash val="solid"/>
          </a:ln>
        </p:spPr>
      </p:sp>
      <p:sp>
        <p:nvSpPr>
          <p:cNvPr id="29" name="Text 26"/>
          <p:cNvSpPr/>
          <p:nvPr/>
        </p:nvSpPr>
        <p:spPr>
          <a:xfrm>
            <a:off x="4524146" y="4645152"/>
            <a:ext cx="36576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Archivo Black" pitchFamily="34" charset="0"/>
                <a:ea typeface="Archivo Black" pitchFamily="34" charset="-122"/>
                <a:cs typeface="Archivo Black" pitchFamily="34" charset="-120"/>
              </a:rPr>
              <a:t>5</a:t>
            </a:r>
            <a:endParaRPr lang="en-US" sz="1200" dirty="0"/>
          </a:p>
        </p:txBody>
      </p:sp>
      <p:sp>
        <p:nvSpPr>
          <p:cNvPr id="30" name="Text 27"/>
          <p:cNvSpPr/>
          <p:nvPr/>
        </p:nvSpPr>
        <p:spPr>
          <a:xfrm>
            <a:off x="4524146" y="5084064"/>
            <a:ext cx="3143402" cy="548640"/>
          </a:xfrm>
          <a:prstGeom prst="rect">
            <a:avLst/>
          </a:prstGeom>
          <a:noFill/>
          <a:ln/>
        </p:spPr>
        <p:txBody>
          <a:bodyPr wrap="square" lIns="0" tIns="0" rIns="0" bIns="0" rtlCol="0" anchor="t"/>
          <a:lstStyle/>
          <a:p>
            <a:pPr indent="0" marL="0">
              <a:lnSpc>
                <a:spcPct val="106000"/>
              </a:lnSpc>
              <a:buNone/>
            </a:pPr>
            <a:r>
              <a:rPr lang="en-US" sz="1150" b="1" dirty="0">
                <a:solidFill>
                  <a:srgbClr val="0C1A2B"/>
                </a:solidFill>
                <a:latin typeface="Nunito Sans" pitchFamily="34" charset="0"/>
                <a:ea typeface="Nunito Sans" pitchFamily="34" charset="-122"/>
                <a:cs typeface="Nunito Sans" pitchFamily="34" charset="-120"/>
              </a:rPr>
              <a:t>So the brand becomes the one you verify, not the one you trust.</a:t>
            </a:r>
            <a:endParaRPr lang="en-US" sz="1150" dirty="0"/>
          </a:p>
        </p:txBody>
      </p:sp>
      <p:sp>
        <p:nvSpPr>
          <p:cNvPr id="31" name="Text 28"/>
          <p:cNvSpPr/>
          <p:nvPr/>
        </p:nvSpPr>
        <p:spPr>
          <a:xfrm>
            <a:off x="4524146" y="5632704"/>
            <a:ext cx="3143402" cy="76809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Positioning, promise and every communication delivery hang off a single measurable metric — Verified Purchase Rate. Revenue is the outcome; verification is the lever.</a:t>
            </a:r>
            <a:endParaRPr lang="en-US" sz="900" dirty="0"/>
          </a:p>
        </p:txBody>
      </p:sp>
      <p:sp>
        <p:nvSpPr>
          <p:cNvPr id="32" name="Shape 29"/>
          <p:cNvSpPr/>
          <p:nvPr/>
        </p:nvSpPr>
        <p:spPr>
          <a:xfrm>
            <a:off x="8143037" y="4462272"/>
            <a:ext cx="3545738" cy="2084832"/>
          </a:xfrm>
          <a:prstGeom prst="roundRect">
            <a:avLst>
              <a:gd name="adj" fmla="val 4386"/>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33" name="Shape 30"/>
          <p:cNvSpPr/>
          <p:nvPr/>
        </p:nvSpPr>
        <p:spPr>
          <a:xfrm>
            <a:off x="8344205" y="4645152"/>
            <a:ext cx="365760" cy="365760"/>
          </a:xfrm>
          <a:prstGeom prst="ellipse">
            <a:avLst/>
          </a:prstGeom>
          <a:solidFill>
            <a:srgbClr val="0C1A2B"/>
          </a:solidFill>
          <a:ln w="12700">
            <a:solidFill>
              <a:srgbClr val="333333"/>
            </a:solidFill>
            <a:prstDash val="solid"/>
          </a:ln>
        </p:spPr>
      </p:sp>
      <p:sp>
        <p:nvSpPr>
          <p:cNvPr id="34" name="Text 31"/>
          <p:cNvSpPr/>
          <p:nvPr/>
        </p:nvSpPr>
        <p:spPr>
          <a:xfrm>
            <a:off x="8344205" y="4645152"/>
            <a:ext cx="36576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Archivo Black" pitchFamily="34" charset="0"/>
                <a:ea typeface="Archivo Black" pitchFamily="34" charset="-122"/>
                <a:cs typeface="Archivo Black" pitchFamily="34" charset="-120"/>
              </a:rPr>
              <a:t>6</a:t>
            </a:r>
            <a:endParaRPr lang="en-US" sz="1200" dirty="0"/>
          </a:p>
        </p:txBody>
      </p:sp>
      <p:sp>
        <p:nvSpPr>
          <p:cNvPr id="35" name="Text 32"/>
          <p:cNvSpPr/>
          <p:nvPr/>
        </p:nvSpPr>
        <p:spPr>
          <a:xfrm>
            <a:off x="8344205" y="5084064"/>
            <a:ext cx="3143402" cy="548640"/>
          </a:xfrm>
          <a:prstGeom prst="rect">
            <a:avLst/>
          </a:prstGeom>
          <a:noFill/>
          <a:ln/>
        </p:spPr>
        <p:txBody>
          <a:bodyPr wrap="square" lIns="0" tIns="0" rIns="0" bIns="0" rtlCol="0" anchor="t"/>
          <a:lstStyle/>
          <a:p>
            <a:pPr indent="0" marL="0">
              <a:lnSpc>
                <a:spcPct val="106000"/>
              </a:lnSpc>
              <a:buNone/>
            </a:pPr>
            <a:r>
              <a:rPr lang="en-US" sz="1150" b="1" dirty="0">
                <a:solidFill>
                  <a:srgbClr val="0C1A2B"/>
                </a:solidFill>
                <a:latin typeface="Nunito Sans" pitchFamily="34" charset="0"/>
                <a:ea typeface="Nunito Sans" pitchFamily="34" charset="-122"/>
                <a:cs typeface="Nunito Sans" pitchFamily="34" charset="-120"/>
              </a:rPr>
              <a:t>₹105 Cr buys breakeven at ₹274 Cr, and a moat worth defending.</a:t>
            </a:r>
            <a:endParaRPr lang="en-US" sz="1150" dirty="0"/>
          </a:p>
        </p:txBody>
      </p:sp>
      <p:sp>
        <p:nvSpPr>
          <p:cNvPr id="36" name="Text 33"/>
          <p:cNvSpPr/>
          <p:nvPr/>
        </p:nvSpPr>
        <p:spPr>
          <a:xfrm>
            <a:off x="8344205" y="5632704"/>
            <a:ext cx="3143402" cy="76809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Spices carry the margin, quick commerce carries the reach, and DeHaat's control of the farm input — not the harvest test — is the only asset a competitor cannot buy inside five years.</a:t>
            </a:r>
            <a:endParaRPr lang="en-US" sz="900" dirty="0"/>
          </a:p>
        </p:txBody>
      </p:sp>
      <p:sp>
        <p:nvSpPr>
          <p:cNvPr id="37" name="Shape 34"/>
          <p:cNvSpPr/>
          <p:nvPr/>
        </p:nvSpPr>
        <p:spPr>
          <a:xfrm>
            <a:off x="502920" y="6455664"/>
            <a:ext cx="11185855" cy="0"/>
          </a:xfrm>
          <a:prstGeom prst="line">
            <a:avLst/>
          </a:prstGeom>
          <a:noFill/>
          <a:ln w="9525">
            <a:solidFill>
              <a:srgbClr val="E5DCCB"/>
            </a:solidFill>
            <a:prstDash val="solid"/>
          </a:ln>
        </p:spPr>
      </p:sp>
      <p:sp>
        <p:nvSpPr>
          <p:cNvPr id="38" name="Text 35"/>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THE ARGUMENT</a:t>
            </a:r>
            <a:endParaRPr lang="en-US" sz="800" dirty="0"/>
          </a:p>
        </p:txBody>
      </p:sp>
      <p:sp>
        <p:nvSpPr>
          <p:cNvPr id="39" name="Text 36"/>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01</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div-01.jpg">    </p:cNvPr>
          <p:cNvPicPr>
            <a:picLocks noChangeAspect="1"/>
          </p:cNvPicPr>
          <p:nvPr/>
        </p:nvPicPr>
        <p:blipFill>
          <a:blip r:embed="rId1"/>
          <a:srcRect l="0" r="0" t="0" b="0"/>
          <a:stretch/>
        </p:blipFill>
        <p:spPr>
          <a:xfrm>
            <a:off x="0" y="0"/>
            <a:ext cx="12191695" cy="6858000"/>
          </a:xfrm>
          <a:prstGeom prst="rect">
            <a:avLst/>
          </a:prstGeom>
        </p:spPr>
      </p:pic>
      <p:pic>
        <p:nvPicPr>
          <p:cNvPr id="3" name="Image 1" descr="/home/user/hopper-tessarakt/site/assets/logo.png">    </p:cNvPr>
          <p:cNvPicPr>
            <a:picLocks noChangeAspect="1"/>
          </p:cNvPicPr>
          <p:nvPr/>
        </p:nvPicPr>
        <p:blipFill>
          <a:blip r:embed="rId2"/>
          <a:stretch>
            <a:fillRect/>
          </a:stretch>
        </p:blipFill>
        <p:spPr>
          <a:xfrm>
            <a:off x="10317175" y="457200"/>
            <a:ext cx="1371600" cy="502920"/>
          </a:xfrm>
          <a:prstGeom prst="rect">
            <a:avLst/>
          </a:prstGeom>
        </p:spPr>
      </p:pic>
      <p:sp>
        <p:nvSpPr>
          <p:cNvPr id="4" name="Text 0"/>
          <p:cNvSpPr/>
          <p:nvPr/>
        </p:nvSpPr>
        <p:spPr>
          <a:xfrm>
            <a:off x="502920" y="3200400"/>
            <a:ext cx="5486400" cy="274320"/>
          </a:xfrm>
          <a:prstGeom prst="rect">
            <a:avLst/>
          </a:prstGeom>
          <a:noFill/>
          <a:ln/>
        </p:spPr>
        <p:txBody>
          <a:bodyPr wrap="square" lIns="0" tIns="0" rIns="0" bIns="0" rtlCol="0" anchor="ctr"/>
          <a:lstStyle/>
          <a:p>
            <a:pPr indent="0" marL="0">
              <a:buNone/>
            </a:pPr>
            <a:r>
              <a:rPr lang="en-US" sz="1000" b="1" spc="320" kern="0" dirty="0">
                <a:solidFill>
                  <a:srgbClr val="5FC28C"/>
                </a:solidFill>
                <a:latin typeface="Nunito Sans" pitchFamily="34" charset="0"/>
                <a:ea typeface="Nunito Sans" pitchFamily="34" charset="-122"/>
                <a:cs typeface="Nunito Sans" pitchFamily="34" charset="-120"/>
              </a:rPr>
              <a:t>PART 01</a:t>
            </a:r>
            <a:endParaRPr lang="en-US" sz="1000" dirty="0"/>
          </a:p>
        </p:txBody>
      </p:sp>
      <p:sp>
        <p:nvSpPr>
          <p:cNvPr id="5" name="Text 1"/>
          <p:cNvSpPr/>
          <p:nvPr/>
        </p:nvSpPr>
        <p:spPr>
          <a:xfrm>
            <a:off x="502920" y="3529584"/>
            <a:ext cx="8595360" cy="960120"/>
          </a:xfrm>
          <a:prstGeom prst="rect">
            <a:avLst/>
          </a:prstGeom>
          <a:noFill/>
          <a:ln/>
        </p:spPr>
        <p:txBody>
          <a:bodyPr wrap="square" lIns="0" tIns="0" rIns="0" bIns="0" rtlCol="0" anchor="t"/>
          <a:lstStyle/>
          <a:p>
            <a:pPr indent="0" marL="0">
              <a:buNone/>
            </a:pPr>
            <a:r>
              <a:rPr lang="en-US" sz="4000" dirty="0">
                <a:solidFill>
                  <a:srgbClr val="FFFFFF"/>
                </a:solidFill>
                <a:latin typeface="Archivo Black" pitchFamily="34" charset="0"/>
                <a:ea typeface="Archivo Black" pitchFamily="34" charset="-122"/>
                <a:cs typeface="Archivo Black" pitchFamily="34" charset="-120"/>
              </a:rPr>
              <a:t>The Mandate</a:t>
            </a:r>
            <a:endParaRPr lang="en-US" sz="4000" dirty="0"/>
          </a:p>
        </p:txBody>
      </p:sp>
      <p:sp>
        <p:nvSpPr>
          <p:cNvPr id="6" name="Text 2"/>
          <p:cNvSpPr/>
          <p:nvPr/>
        </p:nvSpPr>
        <p:spPr>
          <a:xfrm>
            <a:off x="502920" y="4553712"/>
            <a:ext cx="7498080" cy="457200"/>
          </a:xfrm>
          <a:prstGeom prst="rect">
            <a:avLst/>
          </a:prstGeom>
          <a:noFill/>
          <a:ln/>
        </p:spPr>
        <p:txBody>
          <a:bodyPr wrap="square" lIns="0" tIns="0" rIns="0" bIns="0" rtlCol="0" anchor="t"/>
          <a:lstStyle/>
          <a:p>
            <a:pPr indent="0" marL="0">
              <a:lnSpc>
                <a:spcPct val="114000"/>
              </a:lnSpc>
              <a:buNone/>
            </a:pPr>
            <a:r>
              <a:rPr lang="en-US" sz="1300" dirty="0">
                <a:solidFill>
                  <a:srgbClr val="A9B6C7"/>
                </a:solidFill>
                <a:latin typeface="Nunito Sans" pitchFamily="34" charset="0"/>
                <a:ea typeface="Nunito Sans" pitchFamily="34" charset="-122"/>
                <a:cs typeface="Nunito Sans" pitchFamily="34" charset="-120"/>
              </a:rPr>
              <a:t>What we were asked to do, and the evidence we built to answer it.</a:t>
            </a:r>
            <a:endParaRPr lang="en-US" sz="1300" dirty="0"/>
          </a:p>
        </p:txBody>
      </p:sp>
      <p:sp>
        <p:nvSpPr>
          <p:cNvPr id="7" name="Shape 3"/>
          <p:cNvSpPr/>
          <p:nvPr/>
        </p:nvSpPr>
        <p:spPr>
          <a:xfrm>
            <a:off x="502920" y="5413248"/>
            <a:ext cx="3362858" cy="0"/>
          </a:xfrm>
          <a:prstGeom prst="line">
            <a:avLst/>
          </a:prstGeom>
          <a:noFill/>
          <a:ln w="9525">
            <a:solidFill>
              <a:srgbClr val="FFFFFF">
                <a:alpha val="28000"/>
              </a:srgbClr>
            </a:solidFill>
            <a:prstDash val="solid"/>
          </a:ln>
        </p:spPr>
      </p:sp>
      <p:sp>
        <p:nvSpPr>
          <p:cNvPr id="8" name="Text 4"/>
          <p:cNvSpPr/>
          <p:nvPr/>
        </p:nvSpPr>
        <p:spPr>
          <a:xfrm>
            <a:off x="502920"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Scale DHF from ₹53 Cr to ₹300+ Cr in three years</a:t>
            </a:r>
            <a:endParaRPr lang="en-US" sz="950" dirty="0"/>
          </a:p>
        </p:txBody>
      </p:sp>
      <p:sp>
        <p:nvSpPr>
          <p:cNvPr id="9" name="Shape 5"/>
          <p:cNvSpPr/>
          <p:nvPr/>
        </p:nvSpPr>
        <p:spPr>
          <a:xfrm>
            <a:off x="4231538" y="5413248"/>
            <a:ext cx="3362858" cy="0"/>
          </a:xfrm>
          <a:prstGeom prst="line">
            <a:avLst/>
          </a:prstGeom>
          <a:noFill/>
          <a:ln w="9525">
            <a:solidFill>
              <a:srgbClr val="FFFFFF">
                <a:alpha val="28000"/>
              </a:srgbClr>
            </a:solidFill>
            <a:prstDash val="solid"/>
          </a:ln>
        </p:spPr>
      </p:sp>
      <p:sp>
        <p:nvSpPr>
          <p:cNvPr id="10" name="Text 6"/>
          <p:cNvSpPr/>
          <p:nvPr/>
        </p:nvSpPr>
        <p:spPr>
          <a:xfrm>
            <a:off x="4231538"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Four phases, from diagnosis to a funded blueprint</a:t>
            </a:r>
            <a:endParaRPr lang="en-US" sz="950" dirty="0"/>
          </a:p>
        </p:txBody>
      </p:sp>
      <p:sp>
        <p:nvSpPr>
          <p:cNvPr id="11" name="Shape 7"/>
          <p:cNvSpPr/>
          <p:nvPr/>
        </p:nvSpPr>
        <p:spPr>
          <a:xfrm>
            <a:off x="7960157" y="5413248"/>
            <a:ext cx="3362858" cy="0"/>
          </a:xfrm>
          <a:prstGeom prst="line">
            <a:avLst/>
          </a:prstGeom>
          <a:noFill/>
          <a:ln w="9525">
            <a:solidFill>
              <a:srgbClr val="FFFFFF">
                <a:alpha val="28000"/>
              </a:srgbClr>
            </a:solidFill>
            <a:prstDash val="solid"/>
          </a:ln>
        </p:spPr>
      </p:sp>
      <p:sp>
        <p:nvSpPr>
          <p:cNvPr id="12" name="Text 8"/>
          <p:cNvSpPr/>
          <p:nvPr/>
        </p:nvSpPr>
        <p:spPr>
          <a:xfrm>
            <a:off x="7960157"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The evidence base behind every claim</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1263701"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1263701"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THE BRIEF</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Scale DHF from ₹53 Cr to ₹300+ Cr in three years.</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Not by outspending organic, but by creating and owning a category that does not yet formally exist. We broke that into four phases.</a:t>
            </a:r>
            <a:endParaRPr lang="en-US" sz="1100" dirty="0"/>
          </a:p>
        </p:txBody>
      </p:sp>
      <p:sp>
        <p:nvSpPr>
          <p:cNvPr id="7" name="Shape 4"/>
          <p:cNvSpPr/>
          <p:nvPr/>
        </p:nvSpPr>
        <p:spPr>
          <a:xfrm>
            <a:off x="502920" y="2121408"/>
            <a:ext cx="2618156" cy="2286000"/>
          </a:xfrm>
          <a:prstGeom prst="roundRect">
            <a:avLst>
              <a:gd name="adj" fmla="val 4000"/>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8" name="Shape 5"/>
          <p:cNvSpPr/>
          <p:nvPr/>
        </p:nvSpPr>
        <p:spPr>
          <a:xfrm>
            <a:off x="502920" y="2121408"/>
            <a:ext cx="45720" cy="2286000"/>
          </a:xfrm>
          <a:prstGeom prst="rect">
            <a:avLst/>
          </a:prstGeom>
          <a:solidFill>
            <a:srgbClr val="177A46"/>
          </a:solidFill>
          <a:ln w="12700">
            <a:solidFill>
              <a:srgbClr val="333333"/>
            </a:solidFill>
            <a:prstDash val="solid"/>
          </a:ln>
        </p:spPr>
      </p:sp>
      <p:sp>
        <p:nvSpPr>
          <p:cNvPr id="9" name="Text 6"/>
          <p:cNvSpPr/>
          <p:nvPr/>
        </p:nvSpPr>
        <p:spPr>
          <a:xfrm>
            <a:off x="722376" y="2267712"/>
            <a:ext cx="2252396" cy="292608"/>
          </a:xfrm>
          <a:prstGeom prst="rect">
            <a:avLst/>
          </a:prstGeom>
          <a:noFill/>
          <a:ln/>
        </p:spPr>
        <p:txBody>
          <a:bodyPr wrap="square" lIns="0" tIns="0" rIns="0" bIns="0" rtlCol="0" anchor="t"/>
          <a:lstStyle/>
          <a:p>
            <a:pPr indent="0" marL="0">
              <a:buNone/>
            </a:pPr>
            <a:r>
              <a:rPr lang="en-US" sz="1500" dirty="0">
                <a:solidFill>
                  <a:srgbClr val="177A46"/>
                </a:solidFill>
                <a:latin typeface="Archivo Black" pitchFamily="34" charset="0"/>
                <a:ea typeface="Archivo Black" pitchFamily="34" charset="-122"/>
                <a:cs typeface="Archivo Black" pitchFamily="34" charset="-120"/>
              </a:rPr>
              <a:t>01</a:t>
            </a:r>
            <a:endParaRPr lang="en-US" sz="1500" dirty="0"/>
          </a:p>
        </p:txBody>
      </p:sp>
      <p:sp>
        <p:nvSpPr>
          <p:cNvPr id="10" name="Text 7"/>
          <p:cNvSpPr/>
          <p:nvPr/>
        </p:nvSpPr>
        <p:spPr>
          <a:xfrm>
            <a:off x="722376" y="2596896"/>
            <a:ext cx="2252396" cy="384048"/>
          </a:xfrm>
          <a:prstGeom prst="rect">
            <a:avLst/>
          </a:prstGeom>
          <a:noFill/>
          <a:ln/>
        </p:spPr>
        <p:txBody>
          <a:bodyPr wrap="square" lIns="0" tIns="0" rIns="0" bIns="0" rtlCol="0" anchor="t"/>
          <a:lstStyle/>
          <a:p>
            <a:pPr indent="0" marL="0">
              <a:buNone/>
            </a:pPr>
            <a:r>
              <a:rPr lang="en-US" sz="1150" b="1" dirty="0">
                <a:solidFill>
                  <a:srgbClr val="0C1A2B"/>
                </a:solidFill>
                <a:latin typeface="Nunito Sans" pitchFamily="34" charset="0"/>
                <a:ea typeface="Nunito Sans" pitchFamily="34" charset="-122"/>
                <a:cs typeface="Nunito Sans" pitchFamily="34" charset="-120"/>
              </a:rPr>
              <a:t>Diagnose &amp; Decode</a:t>
            </a:r>
            <a:endParaRPr lang="en-US" sz="1150" dirty="0"/>
          </a:p>
        </p:txBody>
      </p:sp>
      <p:sp>
        <p:nvSpPr>
          <p:cNvPr id="11" name="Text 8"/>
          <p:cNvSpPr/>
          <p:nvPr/>
        </p:nvSpPr>
        <p:spPr>
          <a:xfrm>
            <a:off x="722376" y="3017520"/>
            <a:ext cx="2252396" cy="54864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Build a shared, fact-based understanding of category, competition and consumer.</a:t>
            </a:r>
            <a:endParaRPr lang="en-US" sz="900" dirty="0"/>
          </a:p>
        </p:txBody>
      </p:sp>
      <p:sp>
        <p:nvSpPr>
          <p:cNvPr id="12" name="Text 9"/>
          <p:cNvSpPr/>
          <p:nvPr/>
        </p:nvSpPr>
        <p:spPr>
          <a:xfrm>
            <a:off x="722376" y="3602736"/>
            <a:ext cx="2252396" cy="731520"/>
          </a:xfrm>
          <a:prstGeom prst="rect">
            <a:avLst/>
          </a:prstGeom>
          <a:noFill/>
          <a:ln/>
        </p:spPr>
        <p:txBody>
          <a:bodyPr wrap="square" lIns="0" tIns="0" rIns="0" bIns="0" rtlCol="0" anchor="t"/>
          <a:lstStyle/>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Category &amp; consumer insight base</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Trust tension map + segmentation</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Imitation risk heatmap</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Internal diagnosis snapshot</a:t>
            </a:r>
            <a:endParaRPr lang="en-US" sz="850" dirty="0"/>
          </a:p>
        </p:txBody>
      </p:sp>
      <p:sp>
        <p:nvSpPr>
          <p:cNvPr id="13" name="Shape 10"/>
          <p:cNvSpPr/>
          <p:nvPr/>
        </p:nvSpPr>
        <p:spPr>
          <a:xfrm>
            <a:off x="3358820" y="2121408"/>
            <a:ext cx="2618156" cy="2286000"/>
          </a:xfrm>
          <a:prstGeom prst="roundRect">
            <a:avLst>
              <a:gd name="adj" fmla="val 4000"/>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14" name="Shape 11"/>
          <p:cNvSpPr/>
          <p:nvPr/>
        </p:nvSpPr>
        <p:spPr>
          <a:xfrm>
            <a:off x="3358820" y="2121408"/>
            <a:ext cx="45720" cy="2286000"/>
          </a:xfrm>
          <a:prstGeom prst="rect">
            <a:avLst/>
          </a:prstGeom>
          <a:solidFill>
            <a:srgbClr val="177A46"/>
          </a:solidFill>
          <a:ln w="12700">
            <a:solidFill>
              <a:srgbClr val="333333"/>
            </a:solidFill>
            <a:prstDash val="solid"/>
          </a:ln>
        </p:spPr>
      </p:sp>
      <p:sp>
        <p:nvSpPr>
          <p:cNvPr id="15" name="Text 12"/>
          <p:cNvSpPr/>
          <p:nvPr/>
        </p:nvSpPr>
        <p:spPr>
          <a:xfrm>
            <a:off x="3578276" y="2267712"/>
            <a:ext cx="2252396" cy="292608"/>
          </a:xfrm>
          <a:prstGeom prst="rect">
            <a:avLst/>
          </a:prstGeom>
          <a:noFill/>
          <a:ln/>
        </p:spPr>
        <p:txBody>
          <a:bodyPr wrap="square" lIns="0" tIns="0" rIns="0" bIns="0" rtlCol="0" anchor="t"/>
          <a:lstStyle/>
          <a:p>
            <a:pPr indent="0" marL="0">
              <a:buNone/>
            </a:pPr>
            <a:r>
              <a:rPr lang="en-US" sz="1500" dirty="0">
                <a:solidFill>
                  <a:srgbClr val="177A46"/>
                </a:solidFill>
                <a:latin typeface="Archivo Black" pitchFamily="34" charset="0"/>
                <a:ea typeface="Archivo Black" pitchFamily="34" charset="-122"/>
                <a:cs typeface="Archivo Black" pitchFamily="34" charset="-120"/>
              </a:rPr>
              <a:t>02</a:t>
            </a:r>
            <a:endParaRPr lang="en-US" sz="1500" dirty="0"/>
          </a:p>
        </p:txBody>
      </p:sp>
      <p:sp>
        <p:nvSpPr>
          <p:cNvPr id="16" name="Text 13"/>
          <p:cNvSpPr/>
          <p:nvPr/>
        </p:nvSpPr>
        <p:spPr>
          <a:xfrm>
            <a:off x="3578276" y="2596896"/>
            <a:ext cx="2252396" cy="384048"/>
          </a:xfrm>
          <a:prstGeom prst="rect">
            <a:avLst/>
          </a:prstGeom>
          <a:noFill/>
          <a:ln/>
        </p:spPr>
        <p:txBody>
          <a:bodyPr wrap="square" lIns="0" tIns="0" rIns="0" bIns="0" rtlCol="0" anchor="t"/>
          <a:lstStyle/>
          <a:p>
            <a:pPr indent="0" marL="0">
              <a:buNone/>
            </a:pPr>
            <a:r>
              <a:rPr lang="en-US" sz="1150" b="1" dirty="0">
                <a:solidFill>
                  <a:srgbClr val="0C1A2B"/>
                </a:solidFill>
                <a:latin typeface="Nunito Sans" pitchFamily="34" charset="0"/>
                <a:ea typeface="Nunito Sans" pitchFamily="34" charset="-122"/>
                <a:cs typeface="Nunito Sans" pitchFamily="34" charset="-120"/>
              </a:rPr>
              <a:t>Category &amp; Brand Strategy</a:t>
            </a:r>
            <a:endParaRPr lang="en-US" sz="1150" dirty="0"/>
          </a:p>
        </p:txBody>
      </p:sp>
      <p:sp>
        <p:nvSpPr>
          <p:cNvPr id="17" name="Text 14"/>
          <p:cNvSpPr/>
          <p:nvPr/>
        </p:nvSpPr>
        <p:spPr>
          <a:xfrm>
            <a:off x="3578276" y="3017520"/>
            <a:ext cx="2252396" cy="54864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Define what DHF must own in the mind of the consumer.</a:t>
            </a:r>
            <a:endParaRPr lang="en-US" sz="900" dirty="0"/>
          </a:p>
        </p:txBody>
      </p:sp>
      <p:sp>
        <p:nvSpPr>
          <p:cNvPr id="18" name="Text 15"/>
          <p:cNvSpPr/>
          <p:nvPr/>
        </p:nvSpPr>
        <p:spPr>
          <a:xfrm>
            <a:off x="3578276" y="3602736"/>
            <a:ext cx="2252396" cy="731520"/>
          </a:xfrm>
          <a:prstGeom prst="rect">
            <a:avLst/>
          </a:prstGeom>
          <a:noFill/>
          <a:ln/>
        </p:spPr>
        <p:txBody>
          <a:bodyPr wrap="square" lIns="0" tIns="0" rIns="0" bIns="0" rtlCol="0" anchor="t"/>
          <a:lstStyle/>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Category creation framework</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Positioning &amp; brand architecture</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Proof hierarchy</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Codified Pesticide-Free standard</a:t>
            </a:r>
            <a:endParaRPr lang="en-US" sz="850" dirty="0"/>
          </a:p>
        </p:txBody>
      </p:sp>
      <p:sp>
        <p:nvSpPr>
          <p:cNvPr id="19" name="Shape 16"/>
          <p:cNvSpPr/>
          <p:nvPr/>
        </p:nvSpPr>
        <p:spPr>
          <a:xfrm>
            <a:off x="6214720" y="2121408"/>
            <a:ext cx="2618156" cy="2286000"/>
          </a:xfrm>
          <a:prstGeom prst="roundRect">
            <a:avLst>
              <a:gd name="adj" fmla="val 4000"/>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20" name="Shape 17"/>
          <p:cNvSpPr/>
          <p:nvPr/>
        </p:nvSpPr>
        <p:spPr>
          <a:xfrm>
            <a:off x="6214720" y="2121408"/>
            <a:ext cx="45720" cy="2286000"/>
          </a:xfrm>
          <a:prstGeom prst="rect">
            <a:avLst/>
          </a:prstGeom>
          <a:solidFill>
            <a:srgbClr val="177A46"/>
          </a:solidFill>
          <a:ln w="12700">
            <a:solidFill>
              <a:srgbClr val="333333"/>
            </a:solidFill>
            <a:prstDash val="solid"/>
          </a:ln>
        </p:spPr>
      </p:sp>
      <p:sp>
        <p:nvSpPr>
          <p:cNvPr id="21" name="Text 18"/>
          <p:cNvSpPr/>
          <p:nvPr/>
        </p:nvSpPr>
        <p:spPr>
          <a:xfrm>
            <a:off x="6434176" y="2267712"/>
            <a:ext cx="2252396" cy="292608"/>
          </a:xfrm>
          <a:prstGeom prst="rect">
            <a:avLst/>
          </a:prstGeom>
          <a:noFill/>
          <a:ln/>
        </p:spPr>
        <p:txBody>
          <a:bodyPr wrap="square" lIns="0" tIns="0" rIns="0" bIns="0" rtlCol="0" anchor="t"/>
          <a:lstStyle/>
          <a:p>
            <a:pPr indent="0" marL="0">
              <a:buNone/>
            </a:pPr>
            <a:r>
              <a:rPr lang="en-US" sz="1500" dirty="0">
                <a:solidFill>
                  <a:srgbClr val="177A46"/>
                </a:solidFill>
                <a:latin typeface="Archivo Black" pitchFamily="34" charset="0"/>
                <a:ea typeface="Archivo Black" pitchFamily="34" charset="-122"/>
                <a:cs typeface="Archivo Black" pitchFamily="34" charset="-120"/>
              </a:rPr>
              <a:t>03</a:t>
            </a:r>
            <a:endParaRPr lang="en-US" sz="1500" dirty="0"/>
          </a:p>
        </p:txBody>
      </p:sp>
      <p:sp>
        <p:nvSpPr>
          <p:cNvPr id="22" name="Text 19"/>
          <p:cNvSpPr/>
          <p:nvPr/>
        </p:nvSpPr>
        <p:spPr>
          <a:xfrm>
            <a:off x="6434176" y="2596896"/>
            <a:ext cx="2252396" cy="384048"/>
          </a:xfrm>
          <a:prstGeom prst="rect">
            <a:avLst/>
          </a:prstGeom>
          <a:noFill/>
          <a:ln/>
        </p:spPr>
        <p:txBody>
          <a:bodyPr wrap="square" lIns="0" tIns="0" rIns="0" bIns="0" rtlCol="0" anchor="t"/>
          <a:lstStyle/>
          <a:p>
            <a:pPr indent="0" marL="0">
              <a:buNone/>
            </a:pPr>
            <a:r>
              <a:rPr lang="en-US" sz="1150" b="1" dirty="0">
                <a:solidFill>
                  <a:srgbClr val="0C1A2B"/>
                </a:solidFill>
                <a:latin typeface="Nunito Sans" pitchFamily="34" charset="0"/>
                <a:ea typeface="Nunito Sans" pitchFamily="34" charset="-122"/>
                <a:cs typeface="Nunito Sans" pitchFamily="34" charset="-120"/>
              </a:rPr>
              <a:t>Growth Engine Design</a:t>
            </a:r>
            <a:endParaRPr lang="en-US" sz="1150" dirty="0"/>
          </a:p>
        </p:txBody>
      </p:sp>
      <p:sp>
        <p:nvSpPr>
          <p:cNvPr id="23" name="Text 20"/>
          <p:cNvSpPr/>
          <p:nvPr/>
        </p:nvSpPr>
        <p:spPr>
          <a:xfrm>
            <a:off x="6434176" y="3017520"/>
            <a:ext cx="2252396" cy="54864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Decide where to play and how to win — the moat.</a:t>
            </a:r>
            <a:endParaRPr lang="en-US" sz="900" dirty="0"/>
          </a:p>
        </p:txBody>
      </p:sp>
      <p:sp>
        <p:nvSpPr>
          <p:cNvPr id="24" name="Text 21"/>
          <p:cNvSpPr/>
          <p:nvPr/>
        </p:nvSpPr>
        <p:spPr>
          <a:xfrm>
            <a:off x="6434176" y="3602736"/>
            <a:ext cx="2252396" cy="731520"/>
          </a:xfrm>
          <a:prstGeom prst="rect">
            <a:avLst/>
          </a:prstGeom>
          <a:noFill/>
          <a:ln/>
        </p:spPr>
        <p:txBody>
          <a:bodyPr wrap="square" lIns="0" tIns="0" rIns="0" bIns="0" rtlCol="0" anchor="t"/>
          <a:lstStyle/>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Top growth drivers</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Hero SKU list (10–15 SKUs)</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Channel role matrix</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Competitive defense playbook</a:t>
            </a:r>
            <a:endParaRPr lang="en-US" sz="850" dirty="0"/>
          </a:p>
        </p:txBody>
      </p:sp>
      <p:sp>
        <p:nvSpPr>
          <p:cNvPr id="25" name="Shape 22"/>
          <p:cNvSpPr/>
          <p:nvPr/>
        </p:nvSpPr>
        <p:spPr>
          <a:xfrm>
            <a:off x="9070619" y="2121408"/>
            <a:ext cx="2618156" cy="2286000"/>
          </a:xfrm>
          <a:prstGeom prst="roundRect">
            <a:avLst>
              <a:gd name="adj" fmla="val 4000"/>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26" name="Shape 23"/>
          <p:cNvSpPr/>
          <p:nvPr/>
        </p:nvSpPr>
        <p:spPr>
          <a:xfrm>
            <a:off x="9070619" y="2121408"/>
            <a:ext cx="45720" cy="2286000"/>
          </a:xfrm>
          <a:prstGeom prst="rect">
            <a:avLst/>
          </a:prstGeom>
          <a:solidFill>
            <a:srgbClr val="177A46"/>
          </a:solidFill>
          <a:ln w="12700">
            <a:solidFill>
              <a:srgbClr val="333333"/>
            </a:solidFill>
            <a:prstDash val="solid"/>
          </a:ln>
        </p:spPr>
      </p:sp>
      <p:sp>
        <p:nvSpPr>
          <p:cNvPr id="27" name="Text 24"/>
          <p:cNvSpPr/>
          <p:nvPr/>
        </p:nvSpPr>
        <p:spPr>
          <a:xfrm>
            <a:off x="9290075" y="2267712"/>
            <a:ext cx="2252396" cy="292608"/>
          </a:xfrm>
          <a:prstGeom prst="rect">
            <a:avLst/>
          </a:prstGeom>
          <a:noFill/>
          <a:ln/>
        </p:spPr>
        <p:txBody>
          <a:bodyPr wrap="square" lIns="0" tIns="0" rIns="0" bIns="0" rtlCol="0" anchor="t"/>
          <a:lstStyle/>
          <a:p>
            <a:pPr indent="0" marL="0">
              <a:buNone/>
            </a:pPr>
            <a:r>
              <a:rPr lang="en-US" sz="1500" dirty="0">
                <a:solidFill>
                  <a:srgbClr val="177A46"/>
                </a:solidFill>
                <a:latin typeface="Archivo Black" pitchFamily="34" charset="0"/>
                <a:ea typeface="Archivo Black" pitchFamily="34" charset="-122"/>
                <a:cs typeface="Archivo Black" pitchFamily="34" charset="-120"/>
              </a:rPr>
              <a:t>04</a:t>
            </a:r>
            <a:endParaRPr lang="en-US" sz="1500" dirty="0"/>
          </a:p>
        </p:txBody>
      </p:sp>
      <p:sp>
        <p:nvSpPr>
          <p:cNvPr id="28" name="Text 25"/>
          <p:cNvSpPr/>
          <p:nvPr/>
        </p:nvSpPr>
        <p:spPr>
          <a:xfrm>
            <a:off x="9290075" y="2596896"/>
            <a:ext cx="2252396" cy="384048"/>
          </a:xfrm>
          <a:prstGeom prst="rect">
            <a:avLst/>
          </a:prstGeom>
          <a:noFill/>
          <a:ln/>
        </p:spPr>
        <p:txBody>
          <a:bodyPr wrap="square" lIns="0" tIns="0" rIns="0" bIns="0" rtlCol="0" anchor="t"/>
          <a:lstStyle/>
          <a:p>
            <a:pPr indent="0" marL="0">
              <a:buNone/>
            </a:pPr>
            <a:r>
              <a:rPr lang="en-US" sz="1150" b="1" dirty="0">
                <a:solidFill>
                  <a:srgbClr val="0C1A2B"/>
                </a:solidFill>
                <a:latin typeface="Nunito Sans" pitchFamily="34" charset="0"/>
                <a:ea typeface="Nunito Sans" pitchFamily="34" charset="-122"/>
                <a:cs typeface="Nunito Sans" pitchFamily="34" charset="-120"/>
              </a:rPr>
              <a:t>Scale Blueprint</a:t>
            </a:r>
            <a:endParaRPr lang="en-US" sz="1150" dirty="0"/>
          </a:p>
        </p:txBody>
      </p:sp>
      <p:sp>
        <p:nvSpPr>
          <p:cNvPr id="29" name="Text 26"/>
          <p:cNvSpPr/>
          <p:nvPr/>
        </p:nvSpPr>
        <p:spPr>
          <a:xfrm>
            <a:off x="9290075" y="3017520"/>
            <a:ext cx="2252396" cy="54864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Build a sustainable, funded path to growth.</a:t>
            </a:r>
            <a:endParaRPr lang="en-US" sz="900" dirty="0"/>
          </a:p>
        </p:txBody>
      </p:sp>
      <p:sp>
        <p:nvSpPr>
          <p:cNvPr id="30" name="Text 27"/>
          <p:cNvSpPr/>
          <p:nvPr/>
        </p:nvSpPr>
        <p:spPr>
          <a:xfrm>
            <a:off x="9290075" y="3602736"/>
            <a:ext cx="2252396" cy="731520"/>
          </a:xfrm>
          <a:prstGeom prst="rect">
            <a:avLst/>
          </a:prstGeom>
          <a:noFill/>
          <a:ln/>
        </p:spPr>
        <p:txBody>
          <a:bodyPr wrap="square" lIns="0" tIns="0" rIns="0" bIns="0" rtlCol="0" anchor="t"/>
          <a:lstStyle/>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5-year growth ambition</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Investment &amp; capital roadmap</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Category Rulebook &amp; governance</a:t>
            </a:r>
            <a:endParaRPr lang="en-US" sz="850" dirty="0"/>
          </a:p>
          <a:p>
            <a:pPr marL="342900" indent="-342900">
              <a:spcAft>
                <a:spcPts val="200"/>
              </a:spcAft>
              <a:buSzPct val="100000"/>
              <a:buChar char="•"/>
            </a:pPr>
            <a:r>
              <a:rPr lang="en-US" sz="850" dirty="0">
                <a:solidFill>
                  <a:srgbClr val="54606F"/>
                </a:solidFill>
                <a:latin typeface="Nunito Sans" pitchFamily="34" charset="0"/>
                <a:ea typeface="Nunito Sans" pitchFamily="34" charset="-122"/>
                <a:cs typeface="Nunito Sans" pitchFamily="34" charset="-120"/>
              </a:rPr>
              <a:t>Operating model + KPI framework</a:t>
            </a:r>
            <a:endParaRPr lang="en-US" sz="850" dirty="0"/>
          </a:p>
        </p:txBody>
      </p:sp>
      <p:sp>
        <p:nvSpPr>
          <p:cNvPr id="31" name="Text 28"/>
          <p:cNvSpPr/>
          <p:nvPr/>
        </p:nvSpPr>
        <p:spPr>
          <a:xfrm>
            <a:off x="502920" y="4681728"/>
            <a:ext cx="36576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EVIDENCE BASE</a:t>
            </a:r>
            <a:endParaRPr lang="en-US" sz="950" dirty="0"/>
          </a:p>
        </p:txBody>
      </p:sp>
      <p:sp>
        <p:nvSpPr>
          <p:cNvPr id="32" name="Text 29"/>
          <p:cNvSpPr/>
          <p:nvPr/>
        </p:nvSpPr>
        <p:spPr>
          <a:xfrm>
            <a:off x="502920" y="4956048"/>
            <a:ext cx="2522144" cy="365760"/>
          </a:xfrm>
          <a:prstGeom prst="rect">
            <a:avLst/>
          </a:prstGeom>
          <a:noFill/>
          <a:ln/>
        </p:spPr>
        <p:txBody>
          <a:bodyPr wrap="square" lIns="0" tIns="0" rIns="0" bIns="0" rtlCol="0" anchor="t"/>
          <a:lstStyle/>
          <a:p>
            <a:pPr indent="0" marL="0">
              <a:buNone/>
            </a:pPr>
            <a:r>
              <a:rPr lang="en-US" sz="2000" dirty="0">
                <a:solidFill>
                  <a:srgbClr val="3A5D97"/>
                </a:solidFill>
                <a:latin typeface="Archivo Black" pitchFamily="34" charset="0"/>
                <a:ea typeface="Archivo Black" pitchFamily="34" charset="-122"/>
                <a:cs typeface="Archivo Black" pitchFamily="34" charset="-120"/>
              </a:rPr>
              <a:t>305</a:t>
            </a:r>
            <a:endParaRPr lang="en-US" sz="2000" dirty="0"/>
          </a:p>
        </p:txBody>
      </p:sp>
      <p:sp>
        <p:nvSpPr>
          <p:cNvPr id="33" name="Text 30"/>
          <p:cNvSpPr/>
          <p:nvPr/>
        </p:nvSpPr>
        <p:spPr>
          <a:xfrm>
            <a:off x="502920" y="5340096"/>
            <a:ext cx="2522144" cy="56692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Respondents to the quantitative survey. Five metros, fielded 28–29 May 2026 by 1Lattice.</a:t>
            </a:r>
            <a:endParaRPr lang="en-US" sz="850" dirty="0"/>
          </a:p>
        </p:txBody>
      </p:sp>
      <p:sp>
        <p:nvSpPr>
          <p:cNvPr id="34" name="Text 31"/>
          <p:cNvSpPr/>
          <p:nvPr/>
        </p:nvSpPr>
        <p:spPr>
          <a:xfrm>
            <a:off x="3299384" y="4956048"/>
            <a:ext cx="2522144" cy="365760"/>
          </a:xfrm>
          <a:prstGeom prst="rect">
            <a:avLst/>
          </a:prstGeom>
          <a:noFill/>
          <a:ln/>
        </p:spPr>
        <p:txBody>
          <a:bodyPr wrap="square" lIns="0" tIns="0" rIns="0" bIns="0" rtlCol="0" anchor="t"/>
          <a:lstStyle/>
          <a:p>
            <a:pPr indent="0" marL="0">
              <a:buNone/>
            </a:pPr>
            <a:r>
              <a:rPr lang="en-US" sz="2000" dirty="0">
                <a:solidFill>
                  <a:srgbClr val="3A5D97"/>
                </a:solidFill>
                <a:latin typeface="Archivo Black" pitchFamily="34" charset="0"/>
                <a:ea typeface="Archivo Black" pitchFamily="34" charset="-122"/>
                <a:cs typeface="Archivo Black" pitchFamily="34" charset="-120"/>
              </a:rPr>
              <a:t>31+</a:t>
            </a:r>
            <a:endParaRPr lang="en-US" sz="2000" dirty="0"/>
          </a:p>
        </p:txBody>
      </p:sp>
      <p:sp>
        <p:nvSpPr>
          <p:cNvPr id="35" name="Text 32"/>
          <p:cNvSpPr/>
          <p:nvPr/>
        </p:nvSpPr>
        <p:spPr>
          <a:xfrm>
            <a:off x="3299384" y="5340096"/>
            <a:ext cx="2522144" cy="56692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Qualitative respondents across six cities — in-market intercepts, IDIs and ethnography.</a:t>
            </a:r>
            <a:endParaRPr lang="en-US" sz="850" dirty="0"/>
          </a:p>
        </p:txBody>
      </p:sp>
      <p:sp>
        <p:nvSpPr>
          <p:cNvPr id="36" name="Text 33"/>
          <p:cNvSpPr/>
          <p:nvPr/>
        </p:nvSpPr>
        <p:spPr>
          <a:xfrm>
            <a:off x="6095848" y="4956048"/>
            <a:ext cx="2522144" cy="365760"/>
          </a:xfrm>
          <a:prstGeom prst="rect">
            <a:avLst/>
          </a:prstGeom>
          <a:noFill/>
          <a:ln/>
        </p:spPr>
        <p:txBody>
          <a:bodyPr wrap="square" lIns="0" tIns="0" rIns="0" bIns="0" rtlCol="0" anchor="t"/>
          <a:lstStyle/>
          <a:p>
            <a:pPr indent="0" marL="0">
              <a:buNone/>
            </a:pPr>
            <a:r>
              <a:rPr lang="en-US" sz="2000" dirty="0">
                <a:solidFill>
                  <a:srgbClr val="3A5D97"/>
                </a:solidFill>
                <a:latin typeface="Archivo Black" pitchFamily="34" charset="0"/>
                <a:ea typeface="Archivo Black" pitchFamily="34" charset="-122"/>
                <a:cs typeface="Archivo Black" pitchFamily="34" charset="-120"/>
              </a:rPr>
              <a:t>₹90.9 Cr</a:t>
            </a:r>
            <a:endParaRPr lang="en-US" sz="2000" dirty="0"/>
          </a:p>
        </p:txBody>
      </p:sp>
      <p:sp>
        <p:nvSpPr>
          <p:cNvPr id="37" name="Text 34"/>
          <p:cNvSpPr/>
          <p:nvPr/>
        </p:nvSpPr>
        <p:spPr>
          <a:xfrm>
            <a:off x="6095848" y="5340096"/>
            <a:ext cx="2522144" cy="56692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Internal revenue audited: 4,365 MT across eight half-years and eight channels.</a:t>
            </a:r>
            <a:endParaRPr lang="en-US" sz="850" dirty="0"/>
          </a:p>
        </p:txBody>
      </p:sp>
      <p:sp>
        <p:nvSpPr>
          <p:cNvPr id="38" name="Text 35"/>
          <p:cNvSpPr/>
          <p:nvPr/>
        </p:nvSpPr>
        <p:spPr>
          <a:xfrm>
            <a:off x="8892311" y="4956048"/>
            <a:ext cx="2522144" cy="365760"/>
          </a:xfrm>
          <a:prstGeom prst="rect">
            <a:avLst/>
          </a:prstGeom>
          <a:noFill/>
          <a:ln/>
        </p:spPr>
        <p:txBody>
          <a:bodyPr wrap="square" lIns="0" tIns="0" rIns="0" bIns="0" rtlCol="0" anchor="t"/>
          <a:lstStyle/>
          <a:p>
            <a:pPr indent="0" marL="0">
              <a:buNone/>
            </a:pPr>
            <a:r>
              <a:rPr lang="en-US" sz="2000" dirty="0">
                <a:solidFill>
                  <a:srgbClr val="3A5D97"/>
                </a:solidFill>
                <a:latin typeface="Archivo Black" pitchFamily="34" charset="0"/>
                <a:ea typeface="Archivo Black" pitchFamily="34" charset="-122"/>
                <a:cs typeface="Archivo Black" pitchFamily="34" charset="-120"/>
              </a:rPr>
              <a:t>4</a:t>
            </a:r>
            <a:endParaRPr lang="en-US" sz="2000" dirty="0"/>
          </a:p>
        </p:txBody>
      </p:sp>
      <p:sp>
        <p:nvSpPr>
          <p:cNvPr id="39" name="Text 36"/>
          <p:cNvSpPr/>
          <p:nvPr/>
        </p:nvSpPr>
        <p:spPr>
          <a:xfrm>
            <a:off x="8892311" y="5340096"/>
            <a:ext cx="2522144" cy="566928"/>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Competitors benchmarked, with 11 DHF advantages stress-tested for imitability.</a:t>
            </a:r>
            <a:endParaRPr lang="en-US" sz="850" dirty="0"/>
          </a:p>
        </p:txBody>
      </p:sp>
      <p:sp>
        <p:nvSpPr>
          <p:cNvPr id="40" name="Shape 37"/>
          <p:cNvSpPr/>
          <p:nvPr/>
        </p:nvSpPr>
        <p:spPr>
          <a:xfrm>
            <a:off x="502920" y="6455664"/>
            <a:ext cx="11185855" cy="0"/>
          </a:xfrm>
          <a:prstGeom prst="line">
            <a:avLst/>
          </a:prstGeom>
          <a:noFill/>
          <a:ln w="9525">
            <a:solidFill>
              <a:srgbClr val="E5DCCB"/>
            </a:solidFill>
            <a:prstDash val="solid"/>
          </a:ln>
        </p:spPr>
      </p:sp>
      <p:sp>
        <p:nvSpPr>
          <p:cNvPr id="41" name="Text 38"/>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01 · THE MANDATE</a:t>
            </a:r>
            <a:endParaRPr lang="en-US" sz="800" dirty="0"/>
          </a:p>
        </p:txBody>
      </p:sp>
      <p:sp>
        <p:nvSpPr>
          <p:cNvPr id="42" name="Text 39"/>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03</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div-02.jpg">    </p:cNvPr>
          <p:cNvPicPr>
            <a:picLocks noChangeAspect="1"/>
          </p:cNvPicPr>
          <p:nvPr/>
        </p:nvPicPr>
        <p:blipFill>
          <a:blip r:embed="rId1"/>
          <a:srcRect l="0" r="0" t="0" b="0"/>
          <a:stretch/>
        </p:blipFill>
        <p:spPr>
          <a:xfrm>
            <a:off x="0" y="0"/>
            <a:ext cx="12191695" cy="6858000"/>
          </a:xfrm>
          <a:prstGeom prst="rect">
            <a:avLst/>
          </a:prstGeom>
        </p:spPr>
      </p:pic>
      <p:pic>
        <p:nvPicPr>
          <p:cNvPr id="3" name="Image 1" descr="/home/user/hopper-tessarakt/site/assets/logo.png">    </p:cNvPr>
          <p:cNvPicPr>
            <a:picLocks noChangeAspect="1"/>
          </p:cNvPicPr>
          <p:nvPr/>
        </p:nvPicPr>
        <p:blipFill>
          <a:blip r:embed="rId2"/>
          <a:stretch>
            <a:fillRect/>
          </a:stretch>
        </p:blipFill>
        <p:spPr>
          <a:xfrm>
            <a:off x="10317175" y="457200"/>
            <a:ext cx="1371600" cy="502920"/>
          </a:xfrm>
          <a:prstGeom prst="rect">
            <a:avLst/>
          </a:prstGeom>
        </p:spPr>
      </p:pic>
      <p:sp>
        <p:nvSpPr>
          <p:cNvPr id="4" name="Text 0"/>
          <p:cNvSpPr/>
          <p:nvPr/>
        </p:nvSpPr>
        <p:spPr>
          <a:xfrm>
            <a:off x="502920" y="3200400"/>
            <a:ext cx="5486400" cy="274320"/>
          </a:xfrm>
          <a:prstGeom prst="rect">
            <a:avLst/>
          </a:prstGeom>
          <a:noFill/>
          <a:ln/>
        </p:spPr>
        <p:txBody>
          <a:bodyPr wrap="square" lIns="0" tIns="0" rIns="0" bIns="0" rtlCol="0" anchor="ctr"/>
          <a:lstStyle/>
          <a:p>
            <a:pPr indent="0" marL="0">
              <a:buNone/>
            </a:pPr>
            <a:r>
              <a:rPr lang="en-US" sz="1000" b="1" spc="320" kern="0" dirty="0">
                <a:solidFill>
                  <a:srgbClr val="5FC28C"/>
                </a:solidFill>
                <a:latin typeface="Nunito Sans" pitchFamily="34" charset="0"/>
                <a:ea typeface="Nunito Sans" pitchFamily="34" charset="-122"/>
                <a:cs typeface="Nunito Sans" pitchFamily="34" charset="-120"/>
              </a:rPr>
              <a:t>PART 02</a:t>
            </a:r>
            <a:endParaRPr lang="en-US" sz="1000" dirty="0"/>
          </a:p>
        </p:txBody>
      </p:sp>
      <p:sp>
        <p:nvSpPr>
          <p:cNvPr id="5" name="Text 1"/>
          <p:cNvSpPr/>
          <p:nvPr/>
        </p:nvSpPr>
        <p:spPr>
          <a:xfrm>
            <a:off x="502920" y="3529584"/>
            <a:ext cx="8595360" cy="960120"/>
          </a:xfrm>
          <a:prstGeom prst="rect">
            <a:avLst/>
          </a:prstGeom>
          <a:noFill/>
          <a:ln/>
        </p:spPr>
        <p:txBody>
          <a:bodyPr wrap="square" lIns="0" tIns="0" rIns="0" bIns="0" rtlCol="0" anchor="t"/>
          <a:lstStyle/>
          <a:p>
            <a:pPr indent="0" marL="0">
              <a:buNone/>
            </a:pPr>
            <a:r>
              <a:rPr lang="en-US" sz="4000" dirty="0">
                <a:solidFill>
                  <a:srgbClr val="FFFFFF"/>
                </a:solidFill>
                <a:latin typeface="Archivo Black" pitchFamily="34" charset="0"/>
                <a:ea typeface="Archivo Black" pitchFamily="34" charset="-122"/>
                <a:cs typeface="Archivo Black" pitchFamily="34" charset="-120"/>
              </a:rPr>
              <a:t>The Category</a:t>
            </a:r>
            <a:endParaRPr lang="en-US" sz="4000" dirty="0"/>
          </a:p>
        </p:txBody>
      </p:sp>
      <p:sp>
        <p:nvSpPr>
          <p:cNvPr id="6" name="Text 2"/>
          <p:cNvSpPr/>
          <p:nvPr/>
        </p:nvSpPr>
        <p:spPr>
          <a:xfrm>
            <a:off x="502920" y="4553712"/>
            <a:ext cx="7498080" cy="457200"/>
          </a:xfrm>
          <a:prstGeom prst="rect">
            <a:avLst/>
          </a:prstGeom>
          <a:noFill/>
          <a:ln/>
        </p:spPr>
        <p:txBody>
          <a:bodyPr wrap="square" lIns="0" tIns="0" rIns="0" bIns="0" rtlCol="0" anchor="t"/>
          <a:lstStyle/>
          <a:p>
            <a:pPr indent="0" marL="0">
              <a:lnSpc>
                <a:spcPct val="114000"/>
              </a:lnSpc>
              <a:buNone/>
            </a:pPr>
            <a:r>
              <a:rPr lang="en-US" sz="1300" dirty="0">
                <a:solidFill>
                  <a:srgbClr val="A9B6C7"/>
                </a:solidFill>
                <a:latin typeface="Nunito Sans" pitchFamily="34" charset="0"/>
                <a:ea typeface="Nunito Sans" pitchFamily="34" charset="-122"/>
                <a:cs typeface="Nunito Sans" pitchFamily="34" charset="-120"/>
              </a:rPr>
              <a:t>A market with real demand, real money, and nobody holding the definition.</a:t>
            </a:r>
            <a:endParaRPr lang="en-US" sz="1300" dirty="0"/>
          </a:p>
        </p:txBody>
      </p:sp>
      <p:sp>
        <p:nvSpPr>
          <p:cNvPr id="7" name="Shape 3"/>
          <p:cNvSpPr/>
          <p:nvPr/>
        </p:nvSpPr>
        <p:spPr>
          <a:xfrm>
            <a:off x="502920" y="5413248"/>
            <a:ext cx="3362858" cy="0"/>
          </a:xfrm>
          <a:prstGeom prst="line">
            <a:avLst/>
          </a:prstGeom>
          <a:noFill/>
          <a:ln w="9525">
            <a:solidFill>
              <a:srgbClr val="FFFFFF">
                <a:alpha val="28000"/>
              </a:srgbClr>
            </a:solidFill>
            <a:prstDash val="solid"/>
          </a:ln>
        </p:spPr>
      </p:sp>
      <p:sp>
        <p:nvSpPr>
          <p:cNvPr id="8" name="Text 4"/>
          <p:cNvSpPr/>
          <p:nvPr/>
        </p:nvSpPr>
        <p:spPr>
          <a:xfrm>
            <a:off x="502920"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A ₹48,000 Cr category with no owner</a:t>
            </a:r>
            <a:endParaRPr lang="en-US" sz="950" dirty="0"/>
          </a:p>
        </p:txBody>
      </p:sp>
      <p:sp>
        <p:nvSpPr>
          <p:cNvPr id="9" name="Shape 5"/>
          <p:cNvSpPr/>
          <p:nvPr/>
        </p:nvSpPr>
        <p:spPr>
          <a:xfrm>
            <a:off x="4231538" y="5413248"/>
            <a:ext cx="3362858" cy="0"/>
          </a:xfrm>
          <a:prstGeom prst="line">
            <a:avLst/>
          </a:prstGeom>
          <a:noFill/>
          <a:ln w="9525">
            <a:solidFill>
              <a:srgbClr val="FFFFFF">
                <a:alpha val="28000"/>
              </a:srgbClr>
            </a:solidFill>
            <a:prstDash val="solid"/>
          </a:ln>
        </p:spPr>
      </p:sp>
      <p:sp>
        <p:nvSpPr>
          <p:cNvPr id="10" name="Text 6"/>
          <p:cNvSpPr/>
          <p:nvPr/>
        </p:nvSpPr>
        <p:spPr>
          <a:xfrm>
            <a:off x="4231538"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The price ladder and the empty corridor</a:t>
            </a:r>
            <a:endParaRPr lang="en-US" sz="950" dirty="0"/>
          </a:p>
        </p:txBody>
      </p:sp>
      <p:sp>
        <p:nvSpPr>
          <p:cNvPr id="11" name="Shape 7"/>
          <p:cNvSpPr/>
          <p:nvPr/>
        </p:nvSpPr>
        <p:spPr>
          <a:xfrm>
            <a:off x="7960157" y="5413248"/>
            <a:ext cx="3362858" cy="0"/>
          </a:xfrm>
          <a:prstGeom prst="line">
            <a:avLst/>
          </a:prstGeom>
          <a:noFill/>
          <a:ln w="9525">
            <a:solidFill>
              <a:srgbClr val="FFFFFF">
                <a:alpha val="28000"/>
              </a:srgbClr>
            </a:solidFill>
            <a:prstDash val="solid"/>
          </a:ln>
        </p:spPr>
      </p:sp>
      <p:sp>
        <p:nvSpPr>
          <p:cNvPr id="12" name="Text 8"/>
          <p:cNvSpPr/>
          <p:nvPr/>
        </p:nvSpPr>
        <p:spPr>
          <a:xfrm>
            <a:off x="7960157"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Who can actually show their work</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1711757"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1711757"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THE WHITESPACE</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A ₹48,000 Cr category with no definition, no standard, and no owner.</a:t>
            </a:r>
            <a:endParaRPr lang="en-US" sz="2500" dirty="0"/>
          </a:p>
        </p:txBody>
      </p:sp>
      <p:sp>
        <p:nvSpPr>
          <p:cNvPr id="6" name="Text 3"/>
          <p:cNvSpPr/>
          <p:nvPr/>
        </p:nvSpPr>
        <p:spPr>
          <a:xfrm>
            <a:off x="502920" y="1499616"/>
            <a:ext cx="9692640" cy="603504"/>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The gap is regulatory and semantic before it is commercial. Consumers are worried about what is on their food and willing to pay to avoid it — but there is no agreed meaning of "pesticide-free", so the willingness has nowhere to land.</a:t>
            </a:r>
            <a:endParaRPr lang="en-US" sz="1100" dirty="0"/>
          </a:p>
        </p:txBody>
      </p:sp>
      <p:sp>
        <p:nvSpPr>
          <p:cNvPr id="7" name="Shape 4"/>
          <p:cNvSpPr/>
          <p:nvPr/>
        </p:nvSpPr>
        <p:spPr>
          <a:xfrm>
            <a:off x="502920" y="2231136"/>
            <a:ext cx="2618156" cy="0"/>
          </a:xfrm>
          <a:prstGeom prst="line">
            <a:avLst/>
          </a:prstGeom>
          <a:noFill/>
          <a:ln w="25400">
            <a:solidFill>
              <a:srgbClr val="3A5D97"/>
            </a:solidFill>
            <a:prstDash val="solid"/>
          </a:ln>
        </p:spPr>
      </p:sp>
      <p:sp>
        <p:nvSpPr>
          <p:cNvPr id="8" name="Text 5"/>
          <p:cNvSpPr/>
          <p:nvPr/>
        </p:nvSpPr>
        <p:spPr>
          <a:xfrm>
            <a:off x="502920" y="2377440"/>
            <a:ext cx="2618156" cy="414528"/>
          </a:xfrm>
          <a:prstGeom prst="rect">
            <a:avLst/>
          </a:prstGeom>
          <a:noFill/>
          <a:ln/>
        </p:spPr>
        <p:txBody>
          <a:bodyPr wrap="square" lIns="0" tIns="0" rIns="0" bIns="0" rtlCol="0" anchor="t"/>
          <a:lstStyle/>
          <a:p>
            <a:pPr indent="0" marL="0">
              <a:buNone/>
            </a:pPr>
            <a:r>
              <a:rPr lang="en-US" sz="2400" dirty="0">
                <a:solidFill>
                  <a:srgbClr val="3A5D97"/>
                </a:solidFill>
                <a:latin typeface="Archivo Black" pitchFamily="34" charset="0"/>
                <a:ea typeface="Archivo Black" pitchFamily="34" charset="-122"/>
                <a:cs typeface="Archivo Black" pitchFamily="34" charset="-120"/>
              </a:rPr>
              <a:t>84%</a:t>
            </a:r>
            <a:endParaRPr lang="en-US" sz="2400" dirty="0"/>
          </a:p>
        </p:txBody>
      </p:sp>
      <p:sp>
        <p:nvSpPr>
          <p:cNvPr id="9" name="Text 6"/>
          <p:cNvSpPr/>
          <p:nvPr/>
        </p:nvSpPr>
        <p:spPr>
          <a:xfrm>
            <a:off x="502920" y="2828544"/>
            <a:ext cx="2480996" cy="646176"/>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of Indian consumers are extremely or very concerned about food safety (PwC Voice of the Consumer 2025)</a:t>
            </a:r>
            <a:endParaRPr lang="en-US" sz="850" dirty="0"/>
          </a:p>
        </p:txBody>
      </p:sp>
      <p:sp>
        <p:nvSpPr>
          <p:cNvPr id="10" name="Shape 7"/>
          <p:cNvSpPr/>
          <p:nvPr/>
        </p:nvSpPr>
        <p:spPr>
          <a:xfrm>
            <a:off x="3358820" y="2231136"/>
            <a:ext cx="2618156" cy="0"/>
          </a:xfrm>
          <a:prstGeom prst="line">
            <a:avLst/>
          </a:prstGeom>
          <a:noFill/>
          <a:ln w="25400">
            <a:solidFill>
              <a:srgbClr val="3A5D97"/>
            </a:solidFill>
            <a:prstDash val="solid"/>
          </a:ln>
        </p:spPr>
      </p:sp>
      <p:sp>
        <p:nvSpPr>
          <p:cNvPr id="11" name="Text 8"/>
          <p:cNvSpPr/>
          <p:nvPr/>
        </p:nvSpPr>
        <p:spPr>
          <a:xfrm>
            <a:off x="3358820" y="2377440"/>
            <a:ext cx="2618156" cy="414528"/>
          </a:xfrm>
          <a:prstGeom prst="rect">
            <a:avLst/>
          </a:prstGeom>
          <a:noFill/>
          <a:ln/>
        </p:spPr>
        <p:txBody>
          <a:bodyPr wrap="square" lIns="0" tIns="0" rIns="0" bIns="0" rtlCol="0" anchor="t"/>
          <a:lstStyle/>
          <a:p>
            <a:pPr indent="0" marL="0">
              <a:buNone/>
            </a:pPr>
            <a:r>
              <a:rPr lang="en-US" sz="2400" dirty="0">
                <a:solidFill>
                  <a:srgbClr val="3A5D97"/>
                </a:solidFill>
                <a:latin typeface="Archivo Black" pitchFamily="34" charset="0"/>
                <a:ea typeface="Archivo Black" pitchFamily="34" charset="-122"/>
                <a:cs typeface="Archivo Black" pitchFamily="34" charset="-120"/>
              </a:rPr>
              <a:t>35.9%</a:t>
            </a:r>
            <a:endParaRPr lang="en-US" sz="2400" dirty="0"/>
          </a:p>
        </p:txBody>
      </p:sp>
      <p:sp>
        <p:nvSpPr>
          <p:cNvPr id="12" name="Text 9"/>
          <p:cNvSpPr/>
          <p:nvPr/>
        </p:nvSpPr>
        <p:spPr>
          <a:xfrm>
            <a:off x="3358820" y="2828544"/>
            <a:ext cx="2480996" cy="646176"/>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of monitored samples show detectable residues — up from 22.6% in 2018–19</a:t>
            </a:r>
            <a:endParaRPr lang="en-US" sz="850" dirty="0"/>
          </a:p>
        </p:txBody>
      </p:sp>
      <p:sp>
        <p:nvSpPr>
          <p:cNvPr id="13" name="Shape 10"/>
          <p:cNvSpPr/>
          <p:nvPr/>
        </p:nvSpPr>
        <p:spPr>
          <a:xfrm>
            <a:off x="6214720" y="2231136"/>
            <a:ext cx="2618156" cy="0"/>
          </a:xfrm>
          <a:prstGeom prst="line">
            <a:avLst/>
          </a:prstGeom>
          <a:noFill/>
          <a:ln w="25400">
            <a:solidFill>
              <a:srgbClr val="3A5D97"/>
            </a:solidFill>
            <a:prstDash val="solid"/>
          </a:ln>
        </p:spPr>
      </p:sp>
      <p:sp>
        <p:nvSpPr>
          <p:cNvPr id="14" name="Text 11"/>
          <p:cNvSpPr/>
          <p:nvPr/>
        </p:nvSpPr>
        <p:spPr>
          <a:xfrm>
            <a:off x="6214720" y="2377440"/>
            <a:ext cx="2618156" cy="414528"/>
          </a:xfrm>
          <a:prstGeom prst="rect">
            <a:avLst/>
          </a:prstGeom>
          <a:noFill/>
          <a:ln/>
        </p:spPr>
        <p:txBody>
          <a:bodyPr wrap="square" lIns="0" tIns="0" rIns="0" bIns="0" rtlCol="0" anchor="t"/>
          <a:lstStyle/>
          <a:p>
            <a:pPr indent="0" marL="0">
              <a:buNone/>
            </a:pPr>
            <a:r>
              <a:rPr lang="en-US" sz="2400" dirty="0">
                <a:solidFill>
                  <a:srgbClr val="3A5D97"/>
                </a:solidFill>
                <a:latin typeface="Archivo Black" pitchFamily="34" charset="0"/>
                <a:ea typeface="Archivo Black" pitchFamily="34" charset="-122"/>
                <a:cs typeface="Archivo Black" pitchFamily="34" charset="-120"/>
              </a:rPr>
              <a:t>2.8%</a:t>
            </a:r>
            <a:endParaRPr lang="en-US" sz="2400" dirty="0"/>
          </a:p>
        </p:txBody>
      </p:sp>
      <p:sp>
        <p:nvSpPr>
          <p:cNvPr id="15" name="Text 12"/>
          <p:cNvSpPr/>
          <p:nvPr/>
        </p:nvSpPr>
        <p:spPr>
          <a:xfrm>
            <a:off x="6214720" y="2828544"/>
            <a:ext cx="2480996" cy="646176"/>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of 86,401 FSSAI samples tested 2022–25 breached maximum residue limits</a:t>
            </a:r>
            <a:endParaRPr lang="en-US" sz="850" dirty="0"/>
          </a:p>
        </p:txBody>
      </p:sp>
      <p:sp>
        <p:nvSpPr>
          <p:cNvPr id="16" name="Shape 13"/>
          <p:cNvSpPr/>
          <p:nvPr/>
        </p:nvSpPr>
        <p:spPr>
          <a:xfrm>
            <a:off x="9070619" y="2231136"/>
            <a:ext cx="2618156" cy="0"/>
          </a:xfrm>
          <a:prstGeom prst="line">
            <a:avLst/>
          </a:prstGeom>
          <a:noFill/>
          <a:ln w="25400">
            <a:solidFill>
              <a:srgbClr val="3A5D97"/>
            </a:solidFill>
            <a:prstDash val="solid"/>
          </a:ln>
        </p:spPr>
      </p:sp>
      <p:sp>
        <p:nvSpPr>
          <p:cNvPr id="17" name="Text 14"/>
          <p:cNvSpPr/>
          <p:nvPr/>
        </p:nvSpPr>
        <p:spPr>
          <a:xfrm>
            <a:off x="9070619" y="2377440"/>
            <a:ext cx="2618156" cy="304292"/>
          </a:xfrm>
          <a:prstGeom prst="rect">
            <a:avLst/>
          </a:prstGeom>
          <a:noFill/>
          <a:ln/>
        </p:spPr>
        <p:txBody>
          <a:bodyPr wrap="square" lIns="0" tIns="0" rIns="0" bIns="0" rtlCol="0" anchor="t"/>
          <a:lstStyle/>
          <a:p>
            <a:pPr indent="0" marL="0">
              <a:buNone/>
            </a:pPr>
            <a:r>
              <a:rPr lang="en-US" sz="1700" dirty="0">
                <a:solidFill>
                  <a:srgbClr val="3A5D97"/>
                </a:solidFill>
                <a:latin typeface="Archivo Black" pitchFamily="34" charset="0"/>
                <a:ea typeface="Archivo Black" pitchFamily="34" charset="-122"/>
                <a:cs typeface="Archivo Black" pitchFamily="34" charset="-120"/>
              </a:rPr>
              <a:t>$8.6B → $22B</a:t>
            </a:r>
            <a:endParaRPr lang="en-US" sz="1700" dirty="0"/>
          </a:p>
        </p:txBody>
      </p:sp>
      <p:sp>
        <p:nvSpPr>
          <p:cNvPr id="18" name="Text 15"/>
          <p:cNvSpPr/>
          <p:nvPr/>
        </p:nvSpPr>
        <p:spPr>
          <a:xfrm>
            <a:off x="9070619" y="2718308"/>
            <a:ext cx="2480996" cy="756412"/>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India's organic food market, 2024 → 2033, a CAGR of roughly 11%</a:t>
            </a:r>
            <a:endParaRPr lang="en-US" sz="850" dirty="0"/>
          </a:p>
        </p:txBody>
      </p:sp>
      <p:sp>
        <p:nvSpPr>
          <p:cNvPr id="19" name="Text 16"/>
          <p:cNvSpPr/>
          <p:nvPr/>
        </p:nvSpPr>
        <p:spPr>
          <a:xfrm>
            <a:off x="502920" y="3767328"/>
            <a:ext cx="45720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SIZING THE PESTICIDE-FREE OPPORTUNITY</a:t>
            </a:r>
            <a:endParaRPr lang="en-US" sz="950" dirty="0"/>
          </a:p>
        </p:txBody>
      </p:sp>
      <p:sp>
        <p:nvSpPr>
          <p:cNvPr id="20" name="Shape 17"/>
          <p:cNvSpPr/>
          <p:nvPr/>
        </p:nvSpPr>
        <p:spPr>
          <a:xfrm>
            <a:off x="502920" y="4041648"/>
            <a:ext cx="5852160" cy="694944"/>
          </a:xfrm>
          <a:prstGeom prst="roundRect">
            <a:avLst>
              <a:gd name="adj" fmla="val 13158"/>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21" name="Text 18"/>
          <p:cNvSpPr/>
          <p:nvPr/>
        </p:nvSpPr>
        <p:spPr>
          <a:xfrm>
            <a:off x="685800" y="4160520"/>
            <a:ext cx="640080" cy="237744"/>
          </a:xfrm>
          <a:prstGeom prst="rect">
            <a:avLst/>
          </a:prstGeom>
          <a:noFill/>
          <a:ln/>
        </p:spPr>
        <p:txBody>
          <a:bodyPr wrap="square" lIns="0" tIns="0" rIns="0" bIns="0" rtlCol="0" anchor="ctr"/>
          <a:lstStyle/>
          <a:p>
            <a:pPr indent="0" marL="0">
              <a:buNone/>
            </a:pPr>
            <a:r>
              <a:rPr lang="en-US" sz="950" b="1" spc="140" kern="0" dirty="0">
                <a:solidFill>
                  <a:srgbClr val="3A5D97"/>
                </a:solidFill>
                <a:latin typeface="Nunito Sans" pitchFamily="34" charset="0"/>
                <a:ea typeface="Nunito Sans" pitchFamily="34" charset="-122"/>
                <a:cs typeface="Nunito Sans" pitchFamily="34" charset="-120"/>
              </a:rPr>
              <a:t>TAM</a:t>
            </a:r>
            <a:endParaRPr lang="en-US" sz="950" dirty="0"/>
          </a:p>
        </p:txBody>
      </p:sp>
      <p:sp>
        <p:nvSpPr>
          <p:cNvPr id="22" name="Text 19"/>
          <p:cNvSpPr/>
          <p:nvPr/>
        </p:nvSpPr>
        <p:spPr>
          <a:xfrm>
            <a:off x="1371600" y="4133088"/>
            <a:ext cx="1737360" cy="292608"/>
          </a:xfrm>
          <a:prstGeom prst="rect">
            <a:avLst/>
          </a:prstGeom>
          <a:noFill/>
          <a:ln/>
        </p:spPr>
        <p:txBody>
          <a:bodyPr wrap="square" lIns="0" tIns="0" rIns="0" bIns="0" rtlCol="0" anchor="ctr"/>
          <a:lstStyle/>
          <a:p>
            <a:pPr indent="0" marL="0">
              <a:buNone/>
            </a:pPr>
            <a:r>
              <a:rPr lang="en-US" sz="1500" dirty="0">
                <a:solidFill>
                  <a:srgbClr val="0C1A2B"/>
                </a:solidFill>
                <a:latin typeface="Archivo Black" pitchFamily="34" charset="0"/>
                <a:ea typeface="Archivo Black" pitchFamily="34" charset="-122"/>
                <a:cs typeface="Archivo Black" pitchFamily="34" charset="-120"/>
              </a:rPr>
              <a:t>₹48,000 Cr</a:t>
            </a:r>
            <a:endParaRPr lang="en-US" sz="1500" dirty="0"/>
          </a:p>
        </p:txBody>
      </p:sp>
      <p:sp>
        <p:nvSpPr>
          <p:cNvPr id="23" name="Text 20"/>
          <p:cNvSpPr/>
          <p:nvPr/>
        </p:nvSpPr>
        <p:spPr>
          <a:xfrm>
            <a:off x="3200400" y="4133088"/>
            <a:ext cx="2971800" cy="603504"/>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Pesticide-free food across India's top 300 cities. Anchored to Technopak's 5–6% organic-of-packaged-food potential (₹35,000 Cr), uplifted 1.3–1.5× because pesticide-free prices below organic.</a:t>
            </a:r>
            <a:endParaRPr lang="en-US" sz="800" dirty="0"/>
          </a:p>
        </p:txBody>
      </p:sp>
      <p:sp>
        <p:nvSpPr>
          <p:cNvPr id="24" name="Shape 21"/>
          <p:cNvSpPr/>
          <p:nvPr/>
        </p:nvSpPr>
        <p:spPr>
          <a:xfrm>
            <a:off x="685800" y="4553712"/>
            <a:ext cx="2377440" cy="82296"/>
          </a:xfrm>
          <a:prstGeom prst="roundRect">
            <a:avLst>
              <a:gd name="adj" fmla="val 50000"/>
            </a:avLst>
          </a:prstGeom>
          <a:solidFill>
            <a:srgbClr val="EDE4D4"/>
          </a:solidFill>
          <a:ln w="12700">
            <a:solidFill>
              <a:srgbClr val="333333"/>
            </a:solidFill>
            <a:prstDash val="solid"/>
          </a:ln>
        </p:spPr>
      </p:sp>
      <p:sp>
        <p:nvSpPr>
          <p:cNvPr id="25" name="Shape 22"/>
          <p:cNvSpPr/>
          <p:nvPr/>
        </p:nvSpPr>
        <p:spPr>
          <a:xfrm>
            <a:off x="685800" y="4553712"/>
            <a:ext cx="2377440" cy="82296"/>
          </a:xfrm>
          <a:prstGeom prst="roundRect">
            <a:avLst>
              <a:gd name="adj" fmla="val 50000"/>
            </a:avLst>
          </a:prstGeom>
          <a:solidFill>
            <a:srgbClr val="3A5D97"/>
          </a:solidFill>
          <a:ln w="12700">
            <a:solidFill>
              <a:srgbClr val="333333"/>
            </a:solidFill>
            <a:prstDash val="solid"/>
          </a:ln>
        </p:spPr>
      </p:sp>
      <p:sp>
        <p:nvSpPr>
          <p:cNvPr id="26" name="Shape 23"/>
          <p:cNvSpPr/>
          <p:nvPr/>
        </p:nvSpPr>
        <p:spPr>
          <a:xfrm>
            <a:off x="502920" y="4828032"/>
            <a:ext cx="5852160" cy="694944"/>
          </a:xfrm>
          <a:prstGeom prst="roundRect">
            <a:avLst>
              <a:gd name="adj" fmla="val 13158"/>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27" name="Text 24"/>
          <p:cNvSpPr/>
          <p:nvPr/>
        </p:nvSpPr>
        <p:spPr>
          <a:xfrm>
            <a:off x="685800" y="4946904"/>
            <a:ext cx="640080" cy="237744"/>
          </a:xfrm>
          <a:prstGeom prst="rect">
            <a:avLst/>
          </a:prstGeom>
          <a:noFill/>
          <a:ln/>
        </p:spPr>
        <p:txBody>
          <a:bodyPr wrap="square" lIns="0" tIns="0" rIns="0" bIns="0" rtlCol="0" anchor="ctr"/>
          <a:lstStyle/>
          <a:p>
            <a:pPr indent="0" marL="0">
              <a:buNone/>
            </a:pPr>
            <a:r>
              <a:rPr lang="en-US" sz="950" b="1" spc="140" kern="0" dirty="0">
                <a:solidFill>
                  <a:srgbClr val="3A5D97"/>
                </a:solidFill>
                <a:latin typeface="Nunito Sans" pitchFamily="34" charset="0"/>
                <a:ea typeface="Nunito Sans" pitchFamily="34" charset="-122"/>
                <a:cs typeface="Nunito Sans" pitchFamily="34" charset="-120"/>
              </a:rPr>
              <a:t>SAM</a:t>
            </a:r>
            <a:endParaRPr lang="en-US" sz="950" dirty="0"/>
          </a:p>
        </p:txBody>
      </p:sp>
      <p:sp>
        <p:nvSpPr>
          <p:cNvPr id="28" name="Text 25"/>
          <p:cNvSpPr/>
          <p:nvPr/>
        </p:nvSpPr>
        <p:spPr>
          <a:xfrm>
            <a:off x="1371600" y="4919472"/>
            <a:ext cx="1737360" cy="292608"/>
          </a:xfrm>
          <a:prstGeom prst="rect">
            <a:avLst/>
          </a:prstGeom>
          <a:noFill/>
          <a:ln/>
        </p:spPr>
        <p:txBody>
          <a:bodyPr wrap="square" lIns="0" tIns="0" rIns="0" bIns="0" rtlCol="0" anchor="ctr"/>
          <a:lstStyle/>
          <a:p>
            <a:pPr indent="0" marL="0">
              <a:buNone/>
            </a:pPr>
            <a:r>
              <a:rPr lang="en-US" sz="1500" dirty="0">
                <a:solidFill>
                  <a:srgbClr val="0C1A2B"/>
                </a:solidFill>
                <a:latin typeface="Archivo Black" pitchFamily="34" charset="0"/>
                <a:ea typeface="Archivo Black" pitchFamily="34" charset="-122"/>
                <a:cs typeface="Archivo Black" pitchFamily="34" charset="-120"/>
              </a:rPr>
              <a:t>₹13,500 Cr</a:t>
            </a:r>
            <a:endParaRPr lang="en-US" sz="1500" dirty="0"/>
          </a:p>
        </p:txBody>
      </p:sp>
      <p:sp>
        <p:nvSpPr>
          <p:cNvPr id="29" name="Text 26"/>
          <p:cNvSpPr/>
          <p:nvPr/>
        </p:nvSpPr>
        <p:spPr>
          <a:xfrm>
            <a:off x="3200400" y="4919472"/>
            <a:ext cx="2971800" cy="603504"/>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A 28% serviceability factor: staples, pulses, rice, spices and select value-added, sold through quick commerce, e-commerce and modern trade to roughly 25 Mn health-conscious households.</a:t>
            </a:r>
            <a:endParaRPr lang="en-US" sz="800" dirty="0"/>
          </a:p>
        </p:txBody>
      </p:sp>
      <p:sp>
        <p:nvSpPr>
          <p:cNvPr id="30" name="Shape 27"/>
          <p:cNvSpPr/>
          <p:nvPr/>
        </p:nvSpPr>
        <p:spPr>
          <a:xfrm>
            <a:off x="685800" y="5340096"/>
            <a:ext cx="2377440" cy="82296"/>
          </a:xfrm>
          <a:prstGeom prst="roundRect">
            <a:avLst>
              <a:gd name="adj" fmla="val 50000"/>
            </a:avLst>
          </a:prstGeom>
          <a:solidFill>
            <a:srgbClr val="EDE4D4"/>
          </a:solidFill>
          <a:ln w="12700">
            <a:solidFill>
              <a:srgbClr val="333333"/>
            </a:solidFill>
            <a:prstDash val="solid"/>
          </a:ln>
        </p:spPr>
      </p:sp>
      <p:sp>
        <p:nvSpPr>
          <p:cNvPr id="31" name="Shape 28"/>
          <p:cNvSpPr/>
          <p:nvPr/>
        </p:nvSpPr>
        <p:spPr>
          <a:xfrm>
            <a:off x="685800" y="5340096"/>
            <a:ext cx="665683" cy="82296"/>
          </a:xfrm>
          <a:prstGeom prst="roundRect">
            <a:avLst>
              <a:gd name="adj" fmla="val 50000"/>
            </a:avLst>
          </a:prstGeom>
          <a:solidFill>
            <a:srgbClr val="2FA362"/>
          </a:solidFill>
          <a:ln w="12700">
            <a:solidFill>
              <a:srgbClr val="333333"/>
            </a:solidFill>
            <a:prstDash val="solid"/>
          </a:ln>
        </p:spPr>
      </p:sp>
      <p:sp>
        <p:nvSpPr>
          <p:cNvPr id="32" name="Shape 29"/>
          <p:cNvSpPr/>
          <p:nvPr/>
        </p:nvSpPr>
        <p:spPr>
          <a:xfrm>
            <a:off x="502920" y="5614416"/>
            <a:ext cx="5852160" cy="694944"/>
          </a:xfrm>
          <a:prstGeom prst="roundRect">
            <a:avLst>
              <a:gd name="adj" fmla="val 13158"/>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33" name="Text 30"/>
          <p:cNvSpPr/>
          <p:nvPr/>
        </p:nvSpPr>
        <p:spPr>
          <a:xfrm>
            <a:off x="685800" y="5733288"/>
            <a:ext cx="640080" cy="237744"/>
          </a:xfrm>
          <a:prstGeom prst="rect">
            <a:avLst/>
          </a:prstGeom>
          <a:noFill/>
          <a:ln/>
        </p:spPr>
        <p:txBody>
          <a:bodyPr wrap="square" lIns="0" tIns="0" rIns="0" bIns="0" rtlCol="0" anchor="ctr"/>
          <a:lstStyle/>
          <a:p>
            <a:pPr indent="0" marL="0">
              <a:buNone/>
            </a:pPr>
            <a:r>
              <a:rPr lang="en-US" sz="950" b="1" spc="140" kern="0" dirty="0">
                <a:solidFill>
                  <a:srgbClr val="3A5D97"/>
                </a:solidFill>
                <a:latin typeface="Nunito Sans" pitchFamily="34" charset="0"/>
                <a:ea typeface="Nunito Sans" pitchFamily="34" charset="-122"/>
                <a:cs typeface="Nunito Sans" pitchFamily="34" charset="-120"/>
              </a:rPr>
              <a:t>SOM</a:t>
            </a:r>
            <a:endParaRPr lang="en-US" sz="950" dirty="0"/>
          </a:p>
        </p:txBody>
      </p:sp>
      <p:sp>
        <p:nvSpPr>
          <p:cNvPr id="34" name="Text 31"/>
          <p:cNvSpPr/>
          <p:nvPr/>
        </p:nvSpPr>
        <p:spPr>
          <a:xfrm>
            <a:off x="1371600" y="5705856"/>
            <a:ext cx="1737360" cy="292608"/>
          </a:xfrm>
          <a:prstGeom prst="rect">
            <a:avLst/>
          </a:prstGeom>
          <a:noFill/>
          <a:ln/>
        </p:spPr>
        <p:txBody>
          <a:bodyPr wrap="square" lIns="0" tIns="0" rIns="0" bIns="0" rtlCol="0" anchor="ctr"/>
          <a:lstStyle/>
          <a:p>
            <a:pPr indent="0" marL="0">
              <a:buNone/>
            </a:pPr>
            <a:r>
              <a:rPr lang="en-US" sz="1500" dirty="0">
                <a:solidFill>
                  <a:srgbClr val="0C1A2B"/>
                </a:solidFill>
                <a:latin typeface="Archivo Black" pitchFamily="34" charset="0"/>
                <a:ea typeface="Archivo Black" pitchFamily="34" charset="-122"/>
                <a:cs typeface="Archivo Black" pitchFamily="34" charset="-120"/>
              </a:rPr>
              <a:t>₹300–350 Cr</a:t>
            </a:r>
            <a:endParaRPr lang="en-US" sz="1500" dirty="0"/>
          </a:p>
        </p:txBody>
      </p:sp>
      <p:sp>
        <p:nvSpPr>
          <p:cNvPr id="35" name="Text 32"/>
          <p:cNvSpPr/>
          <p:nvPr/>
        </p:nvSpPr>
        <p:spPr>
          <a:xfrm>
            <a:off x="3200400" y="5705856"/>
            <a:ext cx="2971800" cy="603504"/>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The three-year ambition — 2.2–2.6% of SAM, 0.6–0.7% of TAM. The five-year aspiration is ₹700–800 Cr.</a:t>
            </a:r>
            <a:endParaRPr lang="en-US" sz="800" dirty="0"/>
          </a:p>
        </p:txBody>
      </p:sp>
      <p:sp>
        <p:nvSpPr>
          <p:cNvPr id="36" name="Shape 33"/>
          <p:cNvSpPr/>
          <p:nvPr/>
        </p:nvSpPr>
        <p:spPr>
          <a:xfrm>
            <a:off x="685800" y="6126480"/>
            <a:ext cx="2377440" cy="82296"/>
          </a:xfrm>
          <a:prstGeom prst="roundRect">
            <a:avLst>
              <a:gd name="adj" fmla="val 50000"/>
            </a:avLst>
          </a:prstGeom>
          <a:solidFill>
            <a:srgbClr val="EDE4D4"/>
          </a:solidFill>
          <a:ln w="12700">
            <a:solidFill>
              <a:srgbClr val="333333"/>
            </a:solidFill>
            <a:prstDash val="solid"/>
          </a:ln>
        </p:spPr>
      </p:sp>
      <p:sp>
        <p:nvSpPr>
          <p:cNvPr id="37" name="Shape 34"/>
          <p:cNvSpPr/>
          <p:nvPr/>
        </p:nvSpPr>
        <p:spPr>
          <a:xfrm>
            <a:off x="685800" y="6126480"/>
            <a:ext cx="82296" cy="82296"/>
          </a:xfrm>
          <a:prstGeom prst="roundRect">
            <a:avLst>
              <a:gd name="adj" fmla="val 50000"/>
            </a:avLst>
          </a:prstGeom>
          <a:solidFill>
            <a:srgbClr val="177A46"/>
          </a:solidFill>
          <a:ln w="12700">
            <a:solidFill>
              <a:srgbClr val="333333"/>
            </a:solidFill>
            <a:prstDash val="solid"/>
          </a:ln>
        </p:spPr>
      </p:sp>
      <p:sp>
        <p:nvSpPr>
          <p:cNvPr id="38" name="Text 35"/>
          <p:cNvSpPr/>
          <p:nvPr/>
        </p:nvSpPr>
        <p:spPr>
          <a:xfrm>
            <a:off x="6675120" y="3767328"/>
            <a:ext cx="45720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WHY THE CATEGORY HAS NOT FORMED YET</a:t>
            </a:r>
            <a:endParaRPr lang="en-US" sz="950" dirty="0"/>
          </a:p>
        </p:txBody>
      </p:sp>
      <p:sp>
        <p:nvSpPr>
          <p:cNvPr id="39" name="Text 36"/>
          <p:cNvSpPr/>
          <p:nvPr/>
        </p:nvSpPr>
        <p:spPr>
          <a:xfrm>
            <a:off x="6675120" y="4041648"/>
            <a:ext cx="365760" cy="219456"/>
          </a:xfrm>
          <a:prstGeom prst="rect">
            <a:avLst/>
          </a:prstGeom>
          <a:noFill/>
          <a:ln/>
        </p:spPr>
        <p:txBody>
          <a:bodyPr wrap="square" lIns="0" tIns="0" rIns="0" bIns="0" rtlCol="0" anchor="t"/>
          <a:lstStyle/>
          <a:p>
            <a:pPr indent="0" marL="0">
              <a:buNone/>
            </a:pPr>
            <a:r>
              <a:rPr lang="en-US" sz="1000" dirty="0">
                <a:solidFill>
                  <a:srgbClr val="177A46"/>
                </a:solidFill>
                <a:latin typeface="Archivo Black" pitchFamily="34" charset="0"/>
                <a:ea typeface="Archivo Black" pitchFamily="34" charset="-122"/>
                <a:cs typeface="Archivo Black" pitchFamily="34" charset="-120"/>
              </a:rPr>
              <a:t>01</a:t>
            </a:r>
            <a:endParaRPr lang="en-US" sz="1000" dirty="0"/>
          </a:p>
        </p:txBody>
      </p:sp>
      <p:sp>
        <p:nvSpPr>
          <p:cNvPr id="40" name="Text 37"/>
          <p:cNvSpPr/>
          <p:nvPr/>
        </p:nvSpPr>
        <p:spPr>
          <a:xfrm>
            <a:off x="7059168" y="4041648"/>
            <a:ext cx="4629607" cy="384048"/>
          </a:xfrm>
          <a:prstGeom prst="rect">
            <a:avLst/>
          </a:prstGeom>
          <a:noFill/>
          <a:ln/>
        </p:spPr>
        <p:txBody>
          <a:bodyPr wrap="square" lIns="0" tIns="0" rIns="0" bIns="0" rtlCol="0" anchor="t"/>
          <a:lstStyle/>
          <a:p>
            <a:pPr indent="0" marL="0">
              <a:lnSpc>
                <a:spcPct val="104000"/>
              </a:lnSpc>
              <a:buNone/>
            </a:pPr>
            <a:r>
              <a:rPr lang="en-US" sz="850" b="1" dirty="0">
                <a:solidFill>
                  <a:srgbClr val="0C1A2B"/>
                </a:solidFill>
                <a:latin typeface="Nunito Sans" pitchFamily="34" charset="0"/>
                <a:ea typeface="Nunito Sans" pitchFamily="34" charset="-122"/>
                <a:cs typeface="Nunito Sans" pitchFamily="34" charset="-120"/>
              </a:rPr>
              <a:t>No standard definition. </a:t>
            </a:r>
            <a:pPr indent="0" marL="0">
              <a:lnSpc>
                <a:spcPct val="104000"/>
              </a:lnSpc>
              <a:buNone/>
            </a:pPr>
            <a:r>
              <a:rPr lang="en-US" sz="850" dirty="0">
                <a:solidFill>
                  <a:srgbClr val="54606F"/>
                </a:solidFill>
                <a:latin typeface="Nunito Sans" pitchFamily="34" charset="0"/>
                <a:ea typeface="Nunito Sans" pitchFamily="34" charset="-122"/>
                <a:cs typeface="Nunito Sans" pitchFamily="34" charset="-120"/>
              </a:rPr>
              <a:t>"Pesticide-free" is not a regulated term in India, so it means whatever the pack says it means.</a:t>
            </a:r>
            <a:endParaRPr lang="en-US" sz="850" dirty="0"/>
          </a:p>
        </p:txBody>
      </p:sp>
      <p:sp>
        <p:nvSpPr>
          <p:cNvPr id="41" name="Text 38"/>
          <p:cNvSpPr/>
          <p:nvPr/>
        </p:nvSpPr>
        <p:spPr>
          <a:xfrm>
            <a:off x="6675120" y="4443984"/>
            <a:ext cx="365760" cy="219456"/>
          </a:xfrm>
          <a:prstGeom prst="rect">
            <a:avLst/>
          </a:prstGeom>
          <a:noFill/>
          <a:ln/>
        </p:spPr>
        <p:txBody>
          <a:bodyPr wrap="square" lIns="0" tIns="0" rIns="0" bIns="0" rtlCol="0" anchor="t"/>
          <a:lstStyle/>
          <a:p>
            <a:pPr indent="0" marL="0">
              <a:buNone/>
            </a:pPr>
            <a:r>
              <a:rPr lang="en-US" sz="1000" dirty="0">
                <a:solidFill>
                  <a:srgbClr val="177A46"/>
                </a:solidFill>
                <a:latin typeface="Archivo Black" pitchFamily="34" charset="0"/>
                <a:ea typeface="Archivo Black" pitchFamily="34" charset="-122"/>
                <a:cs typeface="Archivo Black" pitchFamily="34" charset="-120"/>
              </a:rPr>
              <a:t>02</a:t>
            </a:r>
            <a:endParaRPr lang="en-US" sz="1000" dirty="0"/>
          </a:p>
        </p:txBody>
      </p:sp>
      <p:sp>
        <p:nvSpPr>
          <p:cNvPr id="42" name="Text 39"/>
          <p:cNvSpPr/>
          <p:nvPr/>
        </p:nvSpPr>
        <p:spPr>
          <a:xfrm>
            <a:off x="7059168" y="4443984"/>
            <a:ext cx="4629607" cy="384048"/>
          </a:xfrm>
          <a:prstGeom prst="rect">
            <a:avLst/>
          </a:prstGeom>
          <a:noFill/>
          <a:ln/>
        </p:spPr>
        <p:txBody>
          <a:bodyPr wrap="square" lIns="0" tIns="0" rIns="0" bIns="0" rtlCol="0" anchor="t"/>
          <a:lstStyle/>
          <a:p>
            <a:pPr indent="0" marL="0">
              <a:lnSpc>
                <a:spcPct val="104000"/>
              </a:lnSpc>
              <a:buNone/>
            </a:pPr>
            <a:r>
              <a:rPr lang="en-US" sz="850" b="1" dirty="0">
                <a:solidFill>
                  <a:srgbClr val="0C1A2B"/>
                </a:solidFill>
                <a:latin typeface="Nunito Sans" pitchFamily="34" charset="0"/>
                <a:ea typeface="Nunito Sans" pitchFamily="34" charset="-122"/>
                <a:cs typeface="Nunito Sans" pitchFamily="34" charset="-120"/>
              </a:rPr>
              <a:t>Harder to prove than to claim. </a:t>
            </a:r>
            <a:pPr indent="0" marL="0">
              <a:lnSpc>
                <a:spcPct val="104000"/>
              </a:lnSpc>
              <a:buNone/>
            </a:pPr>
            <a:r>
              <a:rPr lang="en-US" sz="850" dirty="0">
                <a:solidFill>
                  <a:srgbClr val="54606F"/>
                </a:solidFill>
                <a:latin typeface="Nunito Sans" pitchFamily="34" charset="0"/>
                <a:ea typeface="Nunito Sans" pitchFamily="34" charset="-122"/>
                <a:cs typeface="Nunito Sans" pitchFamily="34" charset="-120"/>
              </a:rPr>
              <a:t>The proof lives in back-end sourcing and testing systems, not on the front of pack.</a:t>
            </a:r>
            <a:endParaRPr lang="en-US" sz="850" dirty="0"/>
          </a:p>
        </p:txBody>
      </p:sp>
      <p:sp>
        <p:nvSpPr>
          <p:cNvPr id="43" name="Text 40"/>
          <p:cNvSpPr/>
          <p:nvPr/>
        </p:nvSpPr>
        <p:spPr>
          <a:xfrm>
            <a:off x="6675120" y="4846320"/>
            <a:ext cx="365760" cy="219456"/>
          </a:xfrm>
          <a:prstGeom prst="rect">
            <a:avLst/>
          </a:prstGeom>
          <a:noFill/>
          <a:ln/>
        </p:spPr>
        <p:txBody>
          <a:bodyPr wrap="square" lIns="0" tIns="0" rIns="0" bIns="0" rtlCol="0" anchor="t"/>
          <a:lstStyle/>
          <a:p>
            <a:pPr indent="0" marL="0">
              <a:buNone/>
            </a:pPr>
            <a:r>
              <a:rPr lang="en-US" sz="1000" dirty="0">
                <a:solidFill>
                  <a:srgbClr val="177A46"/>
                </a:solidFill>
                <a:latin typeface="Archivo Black" pitchFamily="34" charset="0"/>
                <a:ea typeface="Archivo Black" pitchFamily="34" charset="-122"/>
                <a:cs typeface="Archivo Black" pitchFamily="34" charset="-120"/>
              </a:rPr>
              <a:t>03</a:t>
            </a:r>
            <a:endParaRPr lang="en-US" sz="1000" dirty="0"/>
          </a:p>
        </p:txBody>
      </p:sp>
      <p:sp>
        <p:nvSpPr>
          <p:cNvPr id="44" name="Text 41"/>
          <p:cNvSpPr/>
          <p:nvPr/>
        </p:nvSpPr>
        <p:spPr>
          <a:xfrm>
            <a:off x="7059168" y="4846320"/>
            <a:ext cx="4629607" cy="384048"/>
          </a:xfrm>
          <a:prstGeom prst="rect">
            <a:avLst/>
          </a:prstGeom>
          <a:noFill/>
          <a:ln/>
        </p:spPr>
        <p:txBody>
          <a:bodyPr wrap="square" lIns="0" tIns="0" rIns="0" bIns="0" rtlCol="0" anchor="t"/>
          <a:lstStyle/>
          <a:p>
            <a:pPr indent="0" marL="0">
              <a:lnSpc>
                <a:spcPct val="104000"/>
              </a:lnSpc>
              <a:buNone/>
            </a:pPr>
            <a:r>
              <a:rPr lang="en-US" sz="850" b="1" dirty="0">
                <a:solidFill>
                  <a:srgbClr val="0C1A2B"/>
                </a:solidFill>
                <a:latin typeface="Nunito Sans" pitchFamily="34" charset="0"/>
                <a:ea typeface="Nunito Sans" pitchFamily="34" charset="-122"/>
                <a:cs typeface="Nunito Sans" pitchFamily="34" charset="-120"/>
              </a:rPr>
              <a:t>Awkward economics. </a:t>
            </a:r>
            <a:pPr indent="0" marL="0">
              <a:lnSpc>
                <a:spcPct val="104000"/>
              </a:lnSpc>
              <a:buNone/>
            </a:pPr>
            <a:r>
              <a:rPr lang="en-US" sz="850" dirty="0">
                <a:solidFill>
                  <a:srgbClr val="54606F"/>
                </a:solidFill>
                <a:latin typeface="Nunito Sans" pitchFamily="34" charset="0"/>
                <a:ea typeface="Nunito Sans" pitchFamily="34" charset="-122"/>
                <a:cs typeface="Nunito Sans" pitchFamily="34" charset="-120"/>
              </a:rPr>
              <a:t>A trust-led cost structure has to survive at a mass-premium price point.</a:t>
            </a:r>
            <a:endParaRPr lang="en-US" sz="850" dirty="0"/>
          </a:p>
        </p:txBody>
      </p:sp>
      <p:sp>
        <p:nvSpPr>
          <p:cNvPr id="45" name="Text 42"/>
          <p:cNvSpPr/>
          <p:nvPr/>
        </p:nvSpPr>
        <p:spPr>
          <a:xfrm>
            <a:off x="6675120" y="5248656"/>
            <a:ext cx="365760" cy="219456"/>
          </a:xfrm>
          <a:prstGeom prst="rect">
            <a:avLst/>
          </a:prstGeom>
          <a:noFill/>
          <a:ln/>
        </p:spPr>
        <p:txBody>
          <a:bodyPr wrap="square" lIns="0" tIns="0" rIns="0" bIns="0" rtlCol="0" anchor="t"/>
          <a:lstStyle/>
          <a:p>
            <a:pPr indent="0" marL="0">
              <a:buNone/>
            </a:pPr>
            <a:r>
              <a:rPr lang="en-US" sz="1000" dirty="0">
                <a:solidFill>
                  <a:srgbClr val="177A46"/>
                </a:solidFill>
                <a:latin typeface="Archivo Black" pitchFamily="34" charset="0"/>
                <a:ea typeface="Archivo Black" pitchFamily="34" charset="-122"/>
                <a:cs typeface="Archivo Black" pitchFamily="34" charset="-120"/>
              </a:rPr>
              <a:t>04</a:t>
            </a:r>
            <a:endParaRPr lang="en-US" sz="1000" dirty="0"/>
          </a:p>
        </p:txBody>
      </p:sp>
      <p:sp>
        <p:nvSpPr>
          <p:cNvPr id="46" name="Text 43"/>
          <p:cNvSpPr/>
          <p:nvPr/>
        </p:nvSpPr>
        <p:spPr>
          <a:xfrm>
            <a:off x="7059168" y="5248656"/>
            <a:ext cx="4629607" cy="384048"/>
          </a:xfrm>
          <a:prstGeom prst="rect">
            <a:avLst/>
          </a:prstGeom>
          <a:noFill/>
          <a:ln/>
        </p:spPr>
        <p:txBody>
          <a:bodyPr wrap="square" lIns="0" tIns="0" rIns="0" bIns="0" rtlCol="0" anchor="t"/>
          <a:lstStyle/>
          <a:p>
            <a:pPr indent="0" marL="0">
              <a:lnSpc>
                <a:spcPct val="104000"/>
              </a:lnSpc>
              <a:buNone/>
            </a:pPr>
            <a:r>
              <a:rPr lang="en-US" sz="850" b="1" dirty="0">
                <a:solidFill>
                  <a:srgbClr val="0C1A2B"/>
                </a:solidFill>
                <a:latin typeface="Nunito Sans" pitchFamily="34" charset="0"/>
                <a:ea typeface="Nunito Sans" pitchFamily="34" charset="-122"/>
                <a:cs typeface="Nunito Sans" pitchFamily="34" charset="-120"/>
              </a:rPr>
              <a:t>Nobody has codified or defended it. </a:t>
            </a:r>
            <a:pPr indent="0" marL="0">
              <a:lnSpc>
                <a:spcPct val="104000"/>
              </a:lnSpc>
              <a:buNone/>
            </a:pPr>
            <a:r>
              <a:rPr lang="en-US" sz="850" dirty="0">
                <a:solidFill>
                  <a:srgbClr val="54606F"/>
                </a:solidFill>
                <a:latin typeface="Nunito Sans" pitchFamily="34" charset="0"/>
                <a:ea typeface="Nunito Sans" pitchFamily="34" charset="-122"/>
                <a:cs typeface="Nunito Sans" pitchFamily="34" charset="-120"/>
              </a:rPr>
              <a:t>Without a standard, the term commoditises before it can carry value.</a:t>
            </a:r>
            <a:endParaRPr lang="en-US" sz="850" dirty="0"/>
          </a:p>
        </p:txBody>
      </p:sp>
      <p:sp>
        <p:nvSpPr>
          <p:cNvPr id="47" name="Shape 44"/>
          <p:cNvSpPr/>
          <p:nvPr/>
        </p:nvSpPr>
        <p:spPr>
          <a:xfrm>
            <a:off x="6675120" y="5614416"/>
            <a:ext cx="5013655" cy="914400"/>
          </a:xfrm>
          <a:prstGeom prst="roundRect">
            <a:avLst>
              <a:gd name="adj" fmla="val 10000"/>
            </a:avLst>
          </a:prstGeom>
          <a:solidFill>
            <a:srgbClr val="E4F2EA"/>
          </a:solidFill>
          <a:ln w="6350">
            <a:solidFill>
              <a:srgbClr val="E4F2EA"/>
            </a:solidFill>
            <a:prstDash val="solid"/>
          </a:ln>
        </p:spPr>
      </p:sp>
      <p:sp>
        <p:nvSpPr>
          <p:cNvPr id="48" name="Text 45"/>
          <p:cNvSpPr/>
          <p:nvPr/>
        </p:nvSpPr>
        <p:spPr>
          <a:xfrm>
            <a:off x="6876288" y="5733288"/>
            <a:ext cx="4611319" cy="219456"/>
          </a:xfrm>
          <a:prstGeom prst="rect">
            <a:avLst/>
          </a:prstGeom>
          <a:noFill/>
          <a:ln/>
        </p:spPr>
        <p:txBody>
          <a:bodyPr wrap="square" lIns="0" tIns="0" rIns="0" bIns="0" rtlCol="0" anchor="t"/>
          <a:lstStyle/>
          <a:p>
            <a:pPr indent="0" marL="0">
              <a:lnSpc>
                <a:spcPct val="102000"/>
              </a:lnSpc>
              <a:buNone/>
            </a:pPr>
            <a:r>
              <a:rPr lang="en-US" sz="1050" b="1" dirty="0">
                <a:solidFill>
                  <a:srgbClr val="177A46"/>
                </a:solidFill>
                <a:latin typeface="Nunito Sans" pitchFamily="34" charset="0"/>
                <a:ea typeface="Nunito Sans" pitchFamily="34" charset="-122"/>
                <a:cs typeface="Nunito Sans" pitchFamily="34" charset="-120"/>
              </a:rPr>
              <a:t>Belief is the bottleneck.</a:t>
            </a:r>
            <a:endParaRPr lang="en-US" sz="1050" dirty="0"/>
          </a:p>
        </p:txBody>
      </p:sp>
      <p:sp>
        <p:nvSpPr>
          <p:cNvPr id="49" name="Text 46"/>
          <p:cNvSpPr/>
          <p:nvPr/>
        </p:nvSpPr>
        <p:spPr>
          <a:xfrm>
            <a:off x="6876288" y="5980176"/>
            <a:ext cx="4611319" cy="45720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Indian shoppers will pay ~20% more for low-impact products — the highest of eleven countries surveyed. Yet ~60% fear greenwashing and only ~29% trust corporate environmental claims.</a:t>
            </a:r>
            <a:endParaRPr lang="en-US" sz="900" dirty="0"/>
          </a:p>
        </p:txBody>
      </p:sp>
      <p:sp>
        <p:nvSpPr>
          <p:cNvPr id="50" name="Shape 47"/>
          <p:cNvSpPr/>
          <p:nvPr/>
        </p:nvSpPr>
        <p:spPr>
          <a:xfrm>
            <a:off x="502920" y="6455664"/>
            <a:ext cx="11185855" cy="0"/>
          </a:xfrm>
          <a:prstGeom prst="line">
            <a:avLst/>
          </a:prstGeom>
          <a:noFill/>
          <a:ln w="9525">
            <a:solidFill>
              <a:srgbClr val="E5DCCB"/>
            </a:solidFill>
            <a:prstDash val="solid"/>
          </a:ln>
        </p:spPr>
      </p:sp>
      <p:sp>
        <p:nvSpPr>
          <p:cNvPr id="51" name="Text 48"/>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02 · THE CATEGORY</a:t>
            </a:r>
            <a:endParaRPr lang="en-US" sz="800" dirty="0"/>
          </a:p>
        </p:txBody>
      </p:sp>
      <p:sp>
        <p:nvSpPr>
          <p:cNvPr id="52" name="Text 49"/>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05</a:t>
            </a:r>
            <a:endParaRPr lang="en-US" sz="1100" dirty="0"/>
          </a:p>
        </p:txBody>
      </p:sp>
      <p:sp>
        <p:nvSpPr>
          <p:cNvPr id="53" name="Text 50"/>
          <p:cNvSpPr/>
          <p:nvPr/>
        </p:nvSpPr>
        <p:spPr>
          <a:xfrm>
            <a:off x="5852160" y="6492240"/>
            <a:ext cx="4206240" cy="237744"/>
          </a:xfrm>
          <a:prstGeom prst="rect">
            <a:avLst/>
          </a:prstGeom>
          <a:noFill/>
          <a:ln/>
        </p:spPr>
        <p:txBody>
          <a:bodyPr wrap="square" lIns="0" tIns="0" rIns="0" bIns="0" rtlCol="0" anchor="ctr"/>
          <a:lstStyle/>
          <a:p>
            <a:pPr algn="r" indent="0" marL="0">
              <a:buNone/>
            </a:pPr>
            <a:r>
              <a:rPr lang="en-US" sz="700" dirty="0">
                <a:solidFill>
                  <a:srgbClr val="8B95A2"/>
                </a:solidFill>
                <a:latin typeface="Nunito Sans" pitchFamily="34" charset="0"/>
                <a:ea typeface="Nunito Sans" pitchFamily="34" charset="-122"/>
                <a:cs typeface="Nunito Sans" pitchFamily="34" charset="-120"/>
              </a:rPr>
              <a:t>Sources: Technopak 2022–23 · PwC Voice of the Consumer 2025 · FSSAI surveillance data</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070202"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070202"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CATEGORY STRUCTURE</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Laddering on price and claims — and the corridor nobody owns.</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Plotting toor dal by the kilo makes the gap obvious: there is nothing credible between value pulses and certified organic.</a:t>
            </a:r>
            <a:endParaRPr lang="en-US" sz="1100" dirty="0"/>
          </a:p>
        </p:txBody>
      </p:sp>
      <p:sp>
        <p:nvSpPr>
          <p:cNvPr id="7" name="Shape 4"/>
          <p:cNvSpPr/>
          <p:nvPr/>
        </p:nvSpPr>
        <p:spPr>
          <a:xfrm>
            <a:off x="502920" y="2121408"/>
            <a:ext cx="6949440" cy="3749040"/>
          </a:xfrm>
          <a:prstGeom prst="roundRect">
            <a:avLst>
              <a:gd name="adj" fmla="val 2439"/>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8" name="Text 5"/>
          <p:cNvSpPr/>
          <p:nvPr/>
        </p:nvSpPr>
        <p:spPr>
          <a:xfrm>
            <a:off x="777240" y="2304288"/>
            <a:ext cx="45720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PRICE LADDER · TOOR DAL, ₹ PER KG</a:t>
            </a:r>
            <a:endParaRPr lang="en-US" sz="950" dirty="0"/>
          </a:p>
        </p:txBody>
      </p:sp>
      <p:sp>
        <p:nvSpPr>
          <p:cNvPr id="9" name="Shape 6"/>
          <p:cNvSpPr/>
          <p:nvPr/>
        </p:nvSpPr>
        <p:spPr>
          <a:xfrm>
            <a:off x="822960" y="3515537"/>
            <a:ext cx="6309360" cy="649357"/>
          </a:xfrm>
          <a:prstGeom prst="roundRect">
            <a:avLst>
              <a:gd name="adj" fmla="val 7041"/>
            </a:avLst>
          </a:prstGeom>
          <a:solidFill>
            <a:srgbClr val="FAF0DA"/>
          </a:solidFill>
          <a:ln w="12700">
            <a:solidFill>
              <a:srgbClr val="333333"/>
            </a:solidFill>
            <a:prstDash val="solid"/>
          </a:ln>
        </p:spPr>
      </p:sp>
      <p:sp>
        <p:nvSpPr>
          <p:cNvPr id="10" name="Text 7"/>
          <p:cNvSpPr/>
          <p:nvPr/>
        </p:nvSpPr>
        <p:spPr>
          <a:xfrm>
            <a:off x="914400" y="3552113"/>
            <a:ext cx="6126480" cy="201168"/>
          </a:xfrm>
          <a:prstGeom prst="rect">
            <a:avLst/>
          </a:prstGeom>
          <a:noFill/>
          <a:ln/>
        </p:spPr>
        <p:txBody>
          <a:bodyPr wrap="square" lIns="0" tIns="0" rIns="0" bIns="0" rtlCol="0" anchor="ctr"/>
          <a:lstStyle/>
          <a:p>
            <a:pPr indent="0" marL="0">
              <a:buNone/>
            </a:pPr>
            <a:r>
              <a:rPr lang="en-US" sz="850" b="1" spc="120" kern="0" dirty="0">
                <a:solidFill>
                  <a:srgbClr val="9E7220"/>
                </a:solidFill>
                <a:latin typeface="Nunito Sans" pitchFamily="34" charset="0"/>
                <a:ea typeface="Nunito Sans" pitchFamily="34" charset="-122"/>
                <a:cs typeface="Nunito Sans" pitchFamily="34" charset="-120"/>
              </a:rPr>
              <a:t>ACCESSIBLE-PREMIUM CORRIDOR · ₹150–250</a:t>
            </a:r>
            <a:endParaRPr lang="en-US" sz="850" dirty="0"/>
          </a:p>
        </p:txBody>
      </p:sp>
      <p:sp>
        <p:nvSpPr>
          <p:cNvPr id="11" name="Shape 8"/>
          <p:cNvSpPr/>
          <p:nvPr/>
        </p:nvSpPr>
        <p:spPr>
          <a:xfrm>
            <a:off x="822960" y="4578858"/>
            <a:ext cx="6309360" cy="0"/>
          </a:xfrm>
          <a:prstGeom prst="line">
            <a:avLst/>
          </a:prstGeom>
          <a:noFill/>
          <a:ln w="6350">
            <a:solidFill>
              <a:srgbClr val="E5DCCB"/>
            </a:solidFill>
            <a:prstDash val="sysDot"/>
          </a:ln>
        </p:spPr>
      </p:sp>
      <p:sp>
        <p:nvSpPr>
          <p:cNvPr id="12" name="Shape 9"/>
          <p:cNvSpPr/>
          <p:nvPr/>
        </p:nvSpPr>
        <p:spPr>
          <a:xfrm>
            <a:off x="822960" y="4018788"/>
            <a:ext cx="6309360" cy="0"/>
          </a:xfrm>
          <a:prstGeom prst="line">
            <a:avLst/>
          </a:prstGeom>
          <a:noFill/>
          <a:ln w="6350">
            <a:solidFill>
              <a:srgbClr val="E5DCCB"/>
            </a:solidFill>
            <a:prstDash val="sysDot"/>
          </a:ln>
        </p:spPr>
      </p:sp>
      <p:sp>
        <p:nvSpPr>
          <p:cNvPr id="13" name="Shape 10"/>
          <p:cNvSpPr/>
          <p:nvPr/>
        </p:nvSpPr>
        <p:spPr>
          <a:xfrm>
            <a:off x="822960" y="3458718"/>
            <a:ext cx="6309360" cy="0"/>
          </a:xfrm>
          <a:prstGeom prst="line">
            <a:avLst/>
          </a:prstGeom>
          <a:noFill/>
          <a:ln w="6350">
            <a:solidFill>
              <a:srgbClr val="E5DCCB"/>
            </a:solidFill>
            <a:prstDash val="sysDot"/>
          </a:ln>
        </p:spPr>
      </p:sp>
      <p:sp>
        <p:nvSpPr>
          <p:cNvPr id="14" name="Shape 11"/>
          <p:cNvSpPr/>
          <p:nvPr/>
        </p:nvSpPr>
        <p:spPr>
          <a:xfrm>
            <a:off x="822960" y="2898648"/>
            <a:ext cx="6309360" cy="0"/>
          </a:xfrm>
          <a:prstGeom prst="line">
            <a:avLst/>
          </a:prstGeom>
          <a:noFill/>
          <a:ln w="6350">
            <a:solidFill>
              <a:srgbClr val="E5DCCB"/>
            </a:solidFill>
            <a:prstDash val="sysDot"/>
          </a:ln>
        </p:spPr>
      </p:sp>
      <p:sp>
        <p:nvSpPr>
          <p:cNvPr id="15" name="Shape 12"/>
          <p:cNvSpPr/>
          <p:nvPr/>
        </p:nvSpPr>
        <p:spPr>
          <a:xfrm>
            <a:off x="822960" y="5138928"/>
            <a:ext cx="6309360" cy="0"/>
          </a:xfrm>
          <a:prstGeom prst="line">
            <a:avLst/>
          </a:prstGeom>
          <a:noFill/>
          <a:ln w="12700">
            <a:solidFill>
              <a:srgbClr val="E5DCCB"/>
            </a:solidFill>
            <a:prstDash val="solid"/>
          </a:ln>
        </p:spPr>
      </p:sp>
      <p:sp>
        <p:nvSpPr>
          <p:cNvPr id="16" name="Shape 13"/>
          <p:cNvSpPr/>
          <p:nvPr/>
        </p:nvSpPr>
        <p:spPr>
          <a:xfrm>
            <a:off x="822960" y="4255803"/>
            <a:ext cx="791609" cy="883125"/>
          </a:xfrm>
          <a:prstGeom prst="roundRect">
            <a:avLst>
              <a:gd name="adj" fmla="val 5776"/>
            </a:avLst>
          </a:prstGeom>
          <a:solidFill>
            <a:srgbClr val="6688BE"/>
          </a:solidFill>
          <a:ln w="12700">
            <a:solidFill>
              <a:srgbClr val="333333"/>
            </a:solidFill>
            <a:prstDash val="solid"/>
          </a:ln>
        </p:spPr>
      </p:sp>
      <p:sp>
        <p:nvSpPr>
          <p:cNvPr id="17" name="Text 14"/>
          <p:cNvSpPr/>
          <p:nvPr/>
        </p:nvSpPr>
        <p:spPr>
          <a:xfrm>
            <a:off x="777240" y="3981483"/>
            <a:ext cx="883049"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₹136</a:t>
            </a:r>
            <a:endParaRPr lang="en-US" sz="1050" dirty="0"/>
          </a:p>
        </p:txBody>
      </p:sp>
      <p:sp>
        <p:nvSpPr>
          <p:cNvPr id="18" name="Text 15"/>
          <p:cNvSpPr/>
          <p:nvPr/>
        </p:nvSpPr>
        <p:spPr>
          <a:xfrm>
            <a:off x="777240" y="5175504"/>
            <a:ext cx="883049" cy="45720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Vedaka</a:t>
            </a:r>
            <a:endParaRPr lang="en-US" sz="850" dirty="0"/>
          </a:p>
        </p:txBody>
      </p:sp>
      <p:sp>
        <p:nvSpPr>
          <p:cNvPr id="19" name="Shape 16"/>
          <p:cNvSpPr/>
          <p:nvPr/>
        </p:nvSpPr>
        <p:spPr>
          <a:xfrm>
            <a:off x="1742585" y="4197361"/>
            <a:ext cx="791609" cy="941567"/>
          </a:xfrm>
          <a:prstGeom prst="roundRect">
            <a:avLst>
              <a:gd name="adj" fmla="val 5776"/>
            </a:avLst>
          </a:prstGeom>
          <a:solidFill>
            <a:srgbClr val="6688BE"/>
          </a:solidFill>
          <a:ln w="12700">
            <a:solidFill>
              <a:srgbClr val="333333"/>
            </a:solidFill>
            <a:prstDash val="solid"/>
          </a:ln>
        </p:spPr>
      </p:sp>
      <p:sp>
        <p:nvSpPr>
          <p:cNvPr id="20" name="Text 17"/>
          <p:cNvSpPr/>
          <p:nvPr/>
        </p:nvSpPr>
        <p:spPr>
          <a:xfrm>
            <a:off x="1696865" y="3923041"/>
            <a:ext cx="883049"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₹145</a:t>
            </a:r>
            <a:endParaRPr lang="en-US" sz="1050" dirty="0"/>
          </a:p>
        </p:txBody>
      </p:sp>
      <p:sp>
        <p:nvSpPr>
          <p:cNvPr id="21" name="Text 18"/>
          <p:cNvSpPr/>
          <p:nvPr/>
        </p:nvSpPr>
        <p:spPr>
          <a:xfrm>
            <a:off x="1696865" y="5175504"/>
            <a:ext cx="883049" cy="45720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Fortune</a:t>
            </a:r>
            <a:endParaRPr lang="en-US" sz="850" dirty="0"/>
          </a:p>
        </p:txBody>
      </p:sp>
      <p:sp>
        <p:nvSpPr>
          <p:cNvPr id="22" name="Shape 19"/>
          <p:cNvSpPr/>
          <p:nvPr/>
        </p:nvSpPr>
        <p:spPr>
          <a:xfrm>
            <a:off x="2662210" y="4125932"/>
            <a:ext cx="791609" cy="1012996"/>
          </a:xfrm>
          <a:prstGeom prst="roundRect">
            <a:avLst>
              <a:gd name="adj" fmla="val 5776"/>
            </a:avLst>
          </a:prstGeom>
          <a:solidFill>
            <a:srgbClr val="3A5D97"/>
          </a:solidFill>
          <a:ln w="12700">
            <a:solidFill>
              <a:srgbClr val="333333"/>
            </a:solidFill>
            <a:prstDash val="solid"/>
          </a:ln>
        </p:spPr>
      </p:sp>
      <p:sp>
        <p:nvSpPr>
          <p:cNvPr id="23" name="Text 20"/>
          <p:cNvSpPr/>
          <p:nvPr/>
        </p:nvSpPr>
        <p:spPr>
          <a:xfrm>
            <a:off x="2616490" y="3851612"/>
            <a:ext cx="883049"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₹156</a:t>
            </a:r>
            <a:endParaRPr lang="en-US" sz="1050" dirty="0"/>
          </a:p>
        </p:txBody>
      </p:sp>
      <p:sp>
        <p:nvSpPr>
          <p:cNvPr id="24" name="Text 21"/>
          <p:cNvSpPr/>
          <p:nvPr/>
        </p:nvSpPr>
        <p:spPr>
          <a:xfrm>
            <a:off x="2616490" y="5175504"/>
            <a:ext cx="883049" cy="45720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Tata</a:t>
            </a:r>
            <a:endParaRPr lang="en-US" sz="850" dirty="0"/>
          </a:p>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Sampann</a:t>
            </a:r>
            <a:endParaRPr lang="en-US" sz="850" dirty="0"/>
          </a:p>
        </p:txBody>
      </p:sp>
      <p:sp>
        <p:nvSpPr>
          <p:cNvPr id="25" name="Shape 22"/>
          <p:cNvSpPr/>
          <p:nvPr/>
        </p:nvSpPr>
        <p:spPr>
          <a:xfrm>
            <a:off x="3581835" y="4119438"/>
            <a:ext cx="791609" cy="1019490"/>
          </a:xfrm>
          <a:prstGeom prst="roundRect">
            <a:avLst>
              <a:gd name="adj" fmla="val 5776"/>
            </a:avLst>
          </a:prstGeom>
          <a:solidFill>
            <a:srgbClr val="C8922E"/>
          </a:solidFill>
          <a:ln w="12700">
            <a:solidFill>
              <a:srgbClr val="333333"/>
            </a:solidFill>
            <a:prstDash val="solid"/>
          </a:ln>
        </p:spPr>
      </p:sp>
      <p:sp>
        <p:nvSpPr>
          <p:cNvPr id="26" name="Text 23"/>
          <p:cNvSpPr/>
          <p:nvPr/>
        </p:nvSpPr>
        <p:spPr>
          <a:xfrm>
            <a:off x="3536115" y="3845118"/>
            <a:ext cx="883049"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₹157</a:t>
            </a:r>
            <a:endParaRPr lang="en-US" sz="1050" dirty="0"/>
          </a:p>
        </p:txBody>
      </p:sp>
      <p:sp>
        <p:nvSpPr>
          <p:cNvPr id="27" name="Text 24"/>
          <p:cNvSpPr/>
          <p:nvPr/>
        </p:nvSpPr>
        <p:spPr>
          <a:xfrm>
            <a:off x="3536115" y="5175504"/>
            <a:ext cx="883049" cy="45720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BB Royal</a:t>
            </a:r>
            <a:endParaRPr lang="en-US" sz="850" dirty="0"/>
          </a:p>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Organic</a:t>
            </a:r>
            <a:endParaRPr lang="en-US" sz="850" dirty="0"/>
          </a:p>
        </p:txBody>
      </p:sp>
      <p:sp>
        <p:nvSpPr>
          <p:cNvPr id="28" name="Shape 25"/>
          <p:cNvSpPr/>
          <p:nvPr/>
        </p:nvSpPr>
        <p:spPr>
          <a:xfrm>
            <a:off x="4501461" y="3483069"/>
            <a:ext cx="791609" cy="1655859"/>
          </a:xfrm>
          <a:prstGeom prst="roundRect">
            <a:avLst>
              <a:gd name="adj" fmla="val 5776"/>
            </a:avLst>
          </a:prstGeom>
          <a:solidFill>
            <a:srgbClr val="177A46"/>
          </a:solidFill>
          <a:ln w="12700">
            <a:solidFill>
              <a:srgbClr val="333333"/>
            </a:solidFill>
            <a:prstDash val="solid"/>
          </a:ln>
        </p:spPr>
      </p:sp>
      <p:sp>
        <p:nvSpPr>
          <p:cNvPr id="29" name="Text 26"/>
          <p:cNvSpPr/>
          <p:nvPr/>
        </p:nvSpPr>
        <p:spPr>
          <a:xfrm>
            <a:off x="4455741" y="3208749"/>
            <a:ext cx="883049"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₹255</a:t>
            </a:r>
            <a:endParaRPr lang="en-US" sz="1050" dirty="0"/>
          </a:p>
        </p:txBody>
      </p:sp>
      <p:sp>
        <p:nvSpPr>
          <p:cNvPr id="30" name="Text 27"/>
          <p:cNvSpPr/>
          <p:nvPr/>
        </p:nvSpPr>
        <p:spPr>
          <a:xfrm>
            <a:off x="4455741" y="5175504"/>
            <a:ext cx="883049" cy="45720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Organic</a:t>
            </a:r>
            <a:endParaRPr lang="en-US" sz="850" dirty="0"/>
          </a:p>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Tattva</a:t>
            </a:r>
            <a:endParaRPr lang="en-US" sz="850" dirty="0"/>
          </a:p>
        </p:txBody>
      </p:sp>
      <p:sp>
        <p:nvSpPr>
          <p:cNvPr id="31" name="Shape 28"/>
          <p:cNvSpPr/>
          <p:nvPr/>
        </p:nvSpPr>
        <p:spPr>
          <a:xfrm>
            <a:off x="5421086" y="3470082"/>
            <a:ext cx="791609" cy="1668846"/>
          </a:xfrm>
          <a:prstGeom prst="roundRect">
            <a:avLst>
              <a:gd name="adj" fmla="val 5776"/>
            </a:avLst>
          </a:prstGeom>
          <a:solidFill>
            <a:srgbClr val="177A46"/>
          </a:solidFill>
          <a:ln w="12700">
            <a:solidFill>
              <a:srgbClr val="333333"/>
            </a:solidFill>
            <a:prstDash val="solid"/>
          </a:ln>
        </p:spPr>
      </p:sp>
      <p:sp>
        <p:nvSpPr>
          <p:cNvPr id="32" name="Text 29"/>
          <p:cNvSpPr/>
          <p:nvPr/>
        </p:nvSpPr>
        <p:spPr>
          <a:xfrm>
            <a:off x="5375366" y="3195762"/>
            <a:ext cx="883049"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₹257</a:t>
            </a:r>
            <a:endParaRPr lang="en-US" sz="1050" dirty="0"/>
          </a:p>
        </p:txBody>
      </p:sp>
      <p:sp>
        <p:nvSpPr>
          <p:cNvPr id="33" name="Text 30"/>
          <p:cNvSpPr/>
          <p:nvPr/>
        </p:nvSpPr>
        <p:spPr>
          <a:xfrm>
            <a:off x="5375366" y="5175504"/>
            <a:ext cx="883049" cy="45720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Tata Sampann</a:t>
            </a:r>
            <a:endParaRPr lang="en-US" sz="850" dirty="0"/>
          </a:p>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Organic</a:t>
            </a:r>
            <a:endParaRPr lang="en-US" sz="850" dirty="0"/>
          </a:p>
        </p:txBody>
      </p:sp>
      <p:sp>
        <p:nvSpPr>
          <p:cNvPr id="34" name="Shape 31"/>
          <p:cNvSpPr/>
          <p:nvPr/>
        </p:nvSpPr>
        <p:spPr>
          <a:xfrm>
            <a:off x="6340711" y="3151897"/>
            <a:ext cx="791609" cy="1987031"/>
          </a:xfrm>
          <a:prstGeom prst="roundRect">
            <a:avLst>
              <a:gd name="adj" fmla="val 5776"/>
            </a:avLst>
          </a:prstGeom>
          <a:solidFill>
            <a:srgbClr val="177A46"/>
          </a:solidFill>
          <a:ln w="12700">
            <a:solidFill>
              <a:srgbClr val="333333"/>
            </a:solidFill>
            <a:prstDash val="solid"/>
          </a:ln>
        </p:spPr>
      </p:sp>
      <p:sp>
        <p:nvSpPr>
          <p:cNvPr id="35" name="Text 32"/>
          <p:cNvSpPr/>
          <p:nvPr/>
        </p:nvSpPr>
        <p:spPr>
          <a:xfrm>
            <a:off x="6294991" y="2877577"/>
            <a:ext cx="883049"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₹306</a:t>
            </a:r>
            <a:endParaRPr lang="en-US" sz="1050" dirty="0"/>
          </a:p>
        </p:txBody>
      </p:sp>
      <p:sp>
        <p:nvSpPr>
          <p:cNvPr id="36" name="Text 33"/>
          <p:cNvSpPr/>
          <p:nvPr/>
        </p:nvSpPr>
        <p:spPr>
          <a:xfrm>
            <a:off x="6294991" y="5175504"/>
            <a:ext cx="883049" cy="45720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24 Mantra</a:t>
            </a:r>
            <a:endParaRPr lang="en-US" sz="850" dirty="0"/>
          </a:p>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Organic</a:t>
            </a:r>
            <a:endParaRPr lang="en-US" sz="850" dirty="0"/>
          </a:p>
        </p:txBody>
      </p:sp>
      <p:sp>
        <p:nvSpPr>
          <p:cNvPr id="37" name="Text 34"/>
          <p:cNvSpPr/>
          <p:nvPr/>
        </p:nvSpPr>
        <p:spPr>
          <a:xfrm>
            <a:off x="7726680" y="2121408"/>
            <a:ext cx="3962095"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FIVE ARCHETYPES ON THE SHELF</a:t>
            </a:r>
            <a:endParaRPr lang="en-US" sz="950" dirty="0"/>
          </a:p>
        </p:txBody>
      </p:sp>
      <p:sp>
        <p:nvSpPr>
          <p:cNvPr id="38" name="Shape 35"/>
          <p:cNvSpPr/>
          <p:nvPr/>
        </p:nvSpPr>
        <p:spPr>
          <a:xfrm>
            <a:off x="7726680" y="2414016"/>
            <a:ext cx="3962095" cy="502920"/>
          </a:xfrm>
          <a:prstGeom prst="roundRect">
            <a:avLst>
              <a:gd name="adj" fmla="val 9091"/>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39" name="Text 36"/>
          <p:cNvSpPr/>
          <p:nvPr/>
        </p:nvSpPr>
        <p:spPr>
          <a:xfrm>
            <a:off x="7872984" y="2468880"/>
            <a:ext cx="3669487" cy="182880"/>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Conventional national packaged</a:t>
            </a:r>
            <a:endParaRPr lang="en-US" sz="950" dirty="0"/>
          </a:p>
        </p:txBody>
      </p:sp>
      <p:sp>
        <p:nvSpPr>
          <p:cNvPr id="40" name="Text 37"/>
          <p:cNvSpPr/>
          <p:nvPr/>
        </p:nvSpPr>
        <p:spPr>
          <a:xfrm>
            <a:off x="7872984" y="2642616"/>
            <a:ext cx="3669487" cy="237744"/>
          </a:xfrm>
          <a:prstGeom prst="rect">
            <a:avLst/>
          </a:prstGeom>
          <a:noFill/>
          <a:ln/>
        </p:spPr>
        <p:txBody>
          <a:bodyPr wrap="square" lIns="0" tIns="0" rIns="0" bIns="0" rtlCol="0" anchor="t"/>
          <a:lstStyle/>
          <a:p>
            <a:pPr indent="0" marL="0">
              <a:lnSpc>
                <a:spcPct val="105000"/>
              </a:lnSpc>
              <a:buNone/>
            </a:pPr>
            <a:r>
              <a:rPr lang="en-US" sz="800" dirty="0">
                <a:solidFill>
                  <a:srgbClr val="54606F"/>
                </a:solidFill>
                <a:latin typeface="Nunito Sans" pitchFamily="34" charset="0"/>
                <a:ea typeface="Nunito Sans" pitchFamily="34" charset="-122"/>
                <a:cs typeface="Nunito Sans" pitchFamily="34" charset="-120"/>
              </a:rPr>
              <a:t>Factory &amp; FSSAI process credibility. Trust story shallow, easily copied.</a:t>
            </a:r>
            <a:endParaRPr lang="en-US" sz="800" dirty="0"/>
          </a:p>
        </p:txBody>
      </p:sp>
      <p:sp>
        <p:nvSpPr>
          <p:cNvPr id="41" name="Shape 38"/>
          <p:cNvSpPr/>
          <p:nvPr/>
        </p:nvSpPr>
        <p:spPr>
          <a:xfrm>
            <a:off x="7726680" y="2980944"/>
            <a:ext cx="3962095" cy="502920"/>
          </a:xfrm>
          <a:prstGeom prst="roundRect">
            <a:avLst>
              <a:gd name="adj" fmla="val 9091"/>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42" name="Text 39"/>
          <p:cNvSpPr/>
          <p:nvPr/>
        </p:nvSpPr>
        <p:spPr>
          <a:xfrm>
            <a:off x="7872984" y="3035808"/>
            <a:ext cx="3669487" cy="182880"/>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Retailer &amp; regional private label</a:t>
            </a:r>
            <a:endParaRPr lang="en-US" sz="950" dirty="0"/>
          </a:p>
        </p:txBody>
      </p:sp>
      <p:sp>
        <p:nvSpPr>
          <p:cNvPr id="43" name="Text 40"/>
          <p:cNvSpPr/>
          <p:nvPr/>
        </p:nvSpPr>
        <p:spPr>
          <a:xfrm>
            <a:off x="7872984" y="3209544"/>
            <a:ext cx="3669487" cy="237744"/>
          </a:xfrm>
          <a:prstGeom prst="rect">
            <a:avLst/>
          </a:prstGeom>
          <a:noFill/>
          <a:ln/>
        </p:spPr>
        <p:txBody>
          <a:bodyPr wrap="square" lIns="0" tIns="0" rIns="0" bIns="0" rtlCol="0" anchor="t"/>
          <a:lstStyle/>
          <a:p>
            <a:pPr indent="0" marL="0">
              <a:lnSpc>
                <a:spcPct val="105000"/>
              </a:lnSpc>
              <a:buNone/>
            </a:pPr>
            <a:r>
              <a:rPr lang="en-US" sz="800" dirty="0">
                <a:solidFill>
                  <a:srgbClr val="54606F"/>
                </a:solidFill>
                <a:latin typeface="Nunito Sans" pitchFamily="34" charset="0"/>
                <a:ea typeface="Nunito Sans" pitchFamily="34" charset="-122"/>
                <a:cs typeface="Nunito Sans" pitchFamily="34" charset="-120"/>
              </a:rPr>
              <a:t>Retailer QA and lab testing. No ownable narrative.</a:t>
            </a:r>
            <a:endParaRPr lang="en-US" sz="800" dirty="0"/>
          </a:p>
        </p:txBody>
      </p:sp>
      <p:sp>
        <p:nvSpPr>
          <p:cNvPr id="44" name="Shape 41"/>
          <p:cNvSpPr/>
          <p:nvPr/>
        </p:nvSpPr>
        <p:spPr>
          <a:xfrm>
            <a:off x="7726680" y="3547872"/>
            <a:ext cx="3962095" cy="502920"/>
          </a:xfrm>
          <a:prstGeom prst="roundRect">
            <a:avLst>
              <a:gd name="adj" fmla="val 9091"/>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45" name="Text 42"/>
          <p:cNvSpPr/>
          <p:nvPr/>
        </p:nvSpPr>
        <p:spPr>
          <a:xfrm>
            <a:off x="7872984" y="3602736"/>
            <a:ext cx="3669487" cy="182880"/>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Natural or nutrition-led</a:t>
            </a:r>
            <a:endParaRPr lang="en-US" sz="950" dirty="0"/>
          </a:p>
        </p:txBody>
      </p:sp>
      <p:sp>
        <p:nvSpPr>
          <p:cNvPr id="46" name="Text 43"/>
          <p:cNvSpPr/>
          <p:nvPr/>
        </p:nvSpPr>
        <p:spPr>
          <a:xfrm>
            <a:off x="7872984" y="3776472"/>
            <a:ext cx="3669487" cy="237744"/>
          </a:xfrm>
          <a:prstGeom prst="rect">
            <a:avLst/>
          </a:prstGeom>
          <a:noFill/>
          <a:ln/>
        </p:spPr>
        <p:txBody>
          <a:bodyPr wrap="square" lIns="0" tIns="0" rIns="0" bIns="0" rtlCol="0" anchor="t"/>
          <a:lstStyle/>
          <a:p>
            <a:pPr indent="0" marL="0">
              <a:lnSpc>
                <a:spcPct val="105000"/>
              </a:lnSpc>
              <a:buNone/>
            </a:pPr>
            <a:r>
              <a:rPr lang="en-US" sz="800" dirty="0">
                <a:solidFill>
                  <a:srgbClr val="54606F"/>
                </a:solidFill>
                <a:latin typeface="Nunito Sans" pitchFamily="34" charset="0"/>
                <a:ea typeface="Nunito Sans" pitchFamily="34" charset="-122"/>
                <a:cs typeface="Nunito Sans" pitchFamily="34" charset="-120"/>
              </a:rPr>
              <a:t>Process + nutrition + brand legacy. "Natural" reads wholesome, not safer.</a:t>
            </a:r>
            <a:endParaRPr lang="en-US" sz="800" dirty="0"/>
          </a:p>
        </p:txBody>
      </p:sp>
      <p:sp>
        <p:nvSpPr>
          <p:cNvPr id="47" name="Shape 44"/>
          <p:cNvSpPr/>
          <p:nvPr/>
        </p:nvSpPr>
        <p:spPr>
          <a:xfrm>
            <a:off x="7726680" y="4114800"/>
            <a:ext cx="3962095" cy="502920"/>
          </a:xfrm>
          <a:prstGeom prst="roundRect">
            <a:avLst>
              <a:gd name="adj" fmla="val 9091"/>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48" name="Text 45"/>
          <p:cNvSpPr/>
          <p:nvPr/>
        </p:nvSpPr>
        <p:spPr>
          <a:xfrm>
            <a:off x="7872984" y="4169664"/>
            <a:ext cx="3669487" cy="182880"/>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Clean-label / provenance challengers</a:t>
            </a:r>
            <a:endParaRPr lang="en-US" sz="950" dirty="0"/>
          </a:p>
        </p:txBody>
      </p:sp>
      <p:sp>
        <p:nvSpPr>
          <p:cNvPr id="49" name="Text 46"/>
          <p:cNvSpPr/>
          <p:nvPr/>
        </p:nvSpPr>
        <p:spPr>
          <a:xfrm>
            <a:off x="7872984" y="4343400"/>
            <a:ext cx="3669487" cy="237744"/>
          </a:xfrm>
          <a:prstGeom prst="rect">
            <a:avLst/>
          </a:prstGeom>
          <a:noFill/>
          <a:ln/>
        </p:spPr>
        <p:txBody>
          <a:bodyPr wrap="square" lIns="0" tIns="0" rIns="0" bIns="0" rtlCol="0" anchor="t"/>
          <a:lstStyle/>
          <a:p>
            <a:pPr indent="0" marL="0">
              <a:lnSpc>
                <a:spcPct val="105000"/>
              </a:lnSpc>
              <a:buNone/>
            </a:pPr>
            <a:r>
              <a:rPr lang="en-US" sz="800" dirty="0">
                <a:solidFill>
                  <a:srgbClr val="54606F"/>
                </a:solidFill>
                <a:latin typeface="Nunito Sans" pitchFamily="34" charset="0"/>
                <a:ea typeface="Nunito Sans" pitchFamily="34" charset="-122"/>
                <a:cs typeface="Nunito Sans" pitchFamily="34" charset="-120"/>
              </a:rPr>
              <a:t>Sourcing stories. Premium, fragmented, no mass trust code.</a:t>
            </a:r>
            <a:endParaRPr lang="en-US" sz="800" dirty="0"/>
          </a:p>
        </p:txBody>
      </p:sp>
      <p:sp>
        <p:nvSpPr>
          <p:cNvPr id="50" name="Shape 47"/>
          <p:cNvSpPr/>
          <p:nvPr/>
        </p:nvSpPr>
        <p:spPr>
          <a:xfrm>
            <a:off x="7726680" y="4681728"/>
            <a:ext cx="3962095" cy="502920"/>
          </a:xfrm>
          <a:prstGeom prst="roundRect">
            <a:avLst>
              <a:gd name="adj" fmla="val 9091"/>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51" name="Text 48"/>
          <p:cNvSpPr/>
          <p:nvPr/>
        </p:nvSpPr>
        <p:spPr>
          <a:xfrm>
            <a:off x="7872984" y="4736592"/>
            <a:ext cx="3669487" cy="182880"/>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Certified organic specialists</a:t>
            </a:r>
            <a:endParaRPr lang="en-US" sz="950" dirty="0"/>
          </a:p>
        </p:txBody>
      </p:sp>
      <p:sp>
        <p:nvSpPr>
          <p:cNvPr id="52" name="Text 49"/>
          <p:cNvSpPr/>
          <p:nvPr/>
        </p:nvSpPr>
        <p:spPr>
          <a:xfrm>
            <a:off x="7872984" y="4910328"/>
            <a:ext cx="3669487" cy="237744"/>
          </a:xfrm>
          <a:prstGeom prst="rect">
            <a:avLst/>
          </a:prstGeom>
          <a:noFill/>
          <a:ln/>
        </p:spPr>
        <p:txBody>
          <a:bodyPr wrap="square" lIns="0" tIns="0" rIns="0" bIns="0" rtlCol="0" anchor="t"/>
          <a:lstStyle/>
          <a:p>
            <a:pPr indent="0" marL="0">
              <a:lnSpc>
                <a:spcPct val="105000"/>
              </a:lnSpc>
              <a:buNone/>
            </a:pPr>
            <a:r>
              <a:rPr lang="en-US" sz="800" dirty="0">
                <a:solidFill>
                  <a:srgbClr val="54606F"/>
                </a:solidFill>
                <a:latin typeface="Nunito Sans" pitchFamily="34" charset="0"/>
                <a:ea typeface="Nunito Sans" pitchFamily="34" charset="-122"/>
                <a:cs typeface="Nunito Sans" pitchFamily="34" charset="-120"/>
              </a:rPr>
              <a:t>NPOP / NOP certification + traceability. Structurally higher price ladder; scale friction.</a:t>
            </a:r>
            <a:endParaRPr lang="en-US" sz="800" dirty="0"/>
          </a:p>
        </p:txBody>
      </p:sp>
      <p:sp>
        <p:nvSpPr>
          <p:cNvPr id="53" name="Shape 50"/>
          <p:cNvSpPr/>
          <p:nvPr/>
        </p:nvSpPr>
        <p:spPr>
          <a:xfrm>
            <a:off x="7726680" y="5230368"/>
            <a:ext cx="3962095" cy="914400"/>
          </a:xfrm>
          <a:prstGeom prst="roundRect">
            <a:avLst>
              <a:gd name="adj" fmla="val 10000"/>
            </a:avLst>
          </a:prstGeom>
          <a:solidFill>
            <a:srgbClr val="FAF0DA"/>
          </a:solidFill>
          <a:ln w="6350">
            <a:solidFill>
              <a:srgbClr val="FAF0DA"/>
            </a:solidFill>
            <a:prstDash val="solid"/>
          </a:ln>
        </p:spPr>
      </p:sp>
      <p:sp>
        <p:nvSpPr>
          <p:cNvPr id="54" name="Text 51"/>
          <p:cNvSpPr/>
          <p:nvPr/>
        </p:nvSpPr>
        <p:spPr>
          <a:xfrm>
            <a:off x="7927848" y="5349240"/>
            <a:ext cx="3559759" cy="402336"/>
          </a:xfrm>
          <a:prstGeom prst="rect">
            <a:avLst/>
          </a:prstGeom>
          <a:noFill/>
          <a:ln/>
        </p:spPr>
        <p:txBody>
          <a:bodyPr wrap="square" lIns="0" tIns="0" rIns="0" bIns="0" rtlCol="0" anchor="t"/>
          <a:lstStyle/>
          <a:p>
            <a:pPr indent="0" marL="0">
              <a:lnSpc>
                <a:spcPct val="102000"/>
              </a:lnSpc>
              <a:buNone/>
            </a:pPr>
            <a:r>
              <a:rPr lang="en-US" sz="1050" b="1" dirty="0">
                <a:solidFill>
                  <a:srgbClr val="9E7220"/>
                </a:solidFill>
                <a:latin typeface="Nunito Sans" pitchFamily="34" charset="0"/>
                <a:ea typeface="Nunito Sans" pitchFamily="34" charset="-122"/>
                <a:cs typeface="Nunito Sans" pitchFamily="34" charset="-120"/>
              </a:rPr>
              <a:t>The corridor between them is empty of trust codes.</a:t>
            </a:r>
            <a:endParaRPr lang="en-US" sz="1050" dirty="0"/>
          </a:p>
        </p:txBody>
      </p:sp>
      <p:sp>
        <p:nvSpPr>
          <p:cNvPr id="55" name="Text 52"/>
          <p:cNvSpPr/>
          <p:nvPr/>
        </p:nvSpPr>
        <p:spPr>
          <a:xfrm>
            <a:off x="7927848" y="5779008"/>
            <a:ext cx="3559759" cy="27432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DHF belongs at ₹150–250/kg — and that corridor is already being squeezed from below by BB Royal Organic at ₹157.</a:t>
            </a:r>
            <a:endParaRPr lang="en-US" sz="900" dirty="0"/>
          </a:p>
        </p:txBody>
      </p:sp>
      <p:sp>
        <p:nvSpPr>
          <p:cNvPr id="56" name="Shape 53"/>
          <p:cNvSpPr/>
          <p:nvPr/>
        </p:nvSpPr>
        <p:spPr>
          <a:xfrm>
            <a:off x="502920" y="6455664"/>
            <a:ext cx="11185855" cy="0"/>
          </a:xfrm>
          <a:prstGeom prst="line">
            <a:avLst/>
          </a:prstGeom>
          <a:noFill/>
          <a:ln w="9525">
            <a:solidFill>
              <a:srgbClr val="E5DCCB"/>
            </a:solidFill>
            <a:prstDash val="solid"/>
          </a:ln>
        </p:spPr>
      </p:sp>
      <p:sp>
        <p:nvSpPr>
          <p:cNvPr id="57" name="Text 54"/>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02 · THE CATEGORY</a:t>
            </a:r>
            <a:endParaRPr lang="en-US" sz="800" dirty="0"/>
          </a:p>
        </p:txBody>
      </p:sp>
      <p:sp>
        <p:nvSpPr>
          <p:cNvPr id="58" name="Text 55"/>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06</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159813"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159813"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THE COMPETITIVE SET</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Who is actually on the shelf.</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Five archetypes, each with a different trust story — and each with a hole in it.</a:t>
            </a:r>
            <a:endParaRPr lang="en-US" sz="1100" dirty="0"/>
          </a:p>
        </p:txBody>
      </p:sp>
      <p:sp>
        <p:nvSpPr>
          <p:cNvPr id="7" name="Shape 4"/>
          <p:cNvSpPr/>
          <p:nvPr/>
        </p:nvSpPr>
        <p:spPr>
          <a:xfrm>
            <a:off x="502920" y="2121408"/>
            <a:ext cx="2032345" cy="3566160"/>
          </a:xfrm>
          <a:prstGeom prst="roundRect">
            <a:avLst>
              <a:gd name="adj" fmla="val 4499"/>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pic>
        <p:nvPicPr>
          <p:cNvPr id="8" name="Image 1" descr="/home/user/hopper-tessarakt/site/assets/pk-fortune.jpg">    </p:cNvPr>
          <p:cNvPicPr>
            <a:picLocks noChangeAspect="1"/>
          </p:cNvPicPr>
          <p:nvPr/>
        </p:nvPicPr>
        <p:blipFill>
          <a:blip r:embed="rId2"/>
          <a:srcRect l="0" r="0" t="0" b="0"/>
          <a:stretch/>
        </p:blipFill>
        <p:spPr>
          <a:xfrm>
            <a:off x="822960" y="2322576"/>
            <a:ext cx="1392265" cy="1463040"/>
          </a:xfrm>
          <a:prstGeom prst="rect">
            <a:avLst/>
          </a:prstGeom>
        </p:spPr>
      </p:pic>
      <p:sp>
        <p:nvSpPr>
          <p:cNvPr id="9" name="Text 5"/>
          <p:cNvSpPr/>
          <p:nvPr/>
        </p:nvSpPr>
        <p:spPr>
          <a:xfrm>
            <a:off x="704088" y="3950208"/>
            <a:ext cx="1630009" cy="548640"/>
          </a:xfrm>
          <a:prstGeom prst="rect">
            <a:avLst/>
          </a:prstGeom>
          <a:noFill/>
          <a:ln/>
        </p:spPr>
        <p:txBody>
          <a:bodyPr wrap="square" lIns="0" tIns="0" rIns="0" bIns="0" rtlCol="0" anchor="t"/>
          <a:lstStyle/>
          <a:p>
            <a:pPr indent="0" marL="0">
              <a:lnSpc>
                <a:spcPct val="105000"/>
              </a:lnSpc>
              <a:buNone/>
            </a:pPr>
            <a:r>
              <a:rPr lang="en-US" sz="1000" b="1" dirty="0">
                <a:solidFill>
                  <a:srgbClr val="0C1A2B"/>
                </a:solidFill>
                <a:latin typeface="Nunito Sans" pitchFamily="34" charset="0"/>
                <a:ea typeface="Nunito Sans" pitchFamily="34" charset="-122"/>
                <a:cs typeface="Nunito Sans" pitchFamily="34" charset="-120"/>
              </a:rPr>
              <a:t>Conventional national packaged</a:t>
            </a:r>
            <a:endParaRPr lang="en-US" sz="1000" dirty="0"/>
          </a:p>
        </p:txBody>
      </p:sp>
      <p:sp>
        <p:nvSpPr>
          <p:cNvPr id="10" name="Text 6"/>
          <p:cNvSpPr/>
          <p:nvPr/>
        </p:nvSpPr>
        <p:spPr>
          <a:xfrm>
            <a:off x="704088" y="4498848"/>
            <a:ext cx="1630009" cy="100584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Factory and FSSAI process credibility. The trust story is shallow and easily copied.</a:t>
            </a:r>
            <a:endParaRPr lang="en-US" sz="850" dirty="0"/>
          </a:p>
        </p:txBody>
      </p:sp>
      <p:sp>
        <p:nvSpPr>
          <p:cNvPr id="11" name="Shape 7"/>
          <p:cNvSpPr/>
          <p:nvPr/>
        </p:nvSpPr>
        <p:spPr>
          <a:xfrm>
            <a:off x="2791297" y="2121408"/>
            <a:ext cx="2032345" cy="3566160"/>
          </a:xfrm>
          <a:prstGeom prst="roundRect">
            <a:avLst>
              <a:gd name="adj" fmla="val 4499"/>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pic>
        <p:nvPicPr>
          <p:cNvPr id="12" name="Image 2" descr="/home/user/hopper-tessarakt/site/assets/pk-vedaka.jpg">    </p:cNvPr>
          <p:cNvPicPr>
            <a:picLocks noChangeAspect="1"/>
          </p:cNvPicPr>
          <p:nvPr/>
        </p:nvPicPr>
        <p:blipFill>
          <a:blip r:embed="rId3"/>
          <a:srcRect l="0" r="0" t="0" b="0"/>
          <a:stretch/>
        </p:blipFill>
        <p:spPr>
          <a:xfrm>
            <a:off x="3111337" y="2322576"/>
            <a:ext cx="1392265" cy="1463040"/>
          </a:xfrm>
          <a:prstGeom prst="rect">
            <a:avLst/>
          </a:prstGeom>
        </p:spPr>
      </p:pic>
      <p:sp>
        <p:nvSpPr>
          <p:cNvPr id="13" name="Text 8"/>
          <p:cNvSpPr/>
          <p:nvPr/>
        </p:nvSpPr>
        <p:spPr>
          <a:xfrm>
            <a:off x="2992465" y="3950208"/>
            <a:ext cx="1630009" cy="548640"/>
          </a:xfrm>
          <a:prstGeom prst="rect">
            <a:avLst/>
          </a:prstGeom>
          <a:noFill/>
          <a:ln/>
        </p:spPr>
        <p:txBody>
          <a:bodyPr wrap="square" lIns="0" tIns="0" rIns="0" bIns="0" rtlCol="0" anchor="t"/>
          <a:lstStyle/>
          <a:p>
            <a:pPr indent="0" marL="0">
              <a:lnSpc>
                <a:spcPct val="105000"/>
              </a:lnSpc>
              <a:buNone/>
            </a:pPr>
            <a:r>
              <a:rPr lang="en-US" sz="1000" b="1" dirty="0">
                <a:solidFill>
                  <a:srgbClr val="0C1A2B"/>
                </a:solidFill>
                <a:latin typeface="Nunito Sans" pitchFamily="34" charset="0"/>
                <a:ea typeface="Nunito Sans" pitchFamily="34" charset="-122"/>
                <a:cs typeface="Nunito Sans" pitchFamily="34" charset="-120"/>
              </a:rPr>
              <a:t>Retailer &amp; regional private label</a:t>
            </a:r>
            <a:endParaRPr lang="en-US" sz="1000" dirty="0"/>
          </a:p>
        </p:txBody>
      </p:sp>
      <p:sp>
        <p:nvSpPr>
          <p:cNvPr id="14" name="Text 9"/>
          <p:cNvSpPr/>
          <p:nvPr/>
        </p:nvSpPr>
        <p:spPr>
          <a:xfrm>
            <a:off x="2992465" y="4498848"/>
            <a:ext cx="1630009" cy="100584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Retailer QA and lab testing behind it, but no ownable narrative in front of it.</a:t>
            </a:r>
            <a:endParaRPr lang="en-US" sz="850" dirty="0"/>
          </a:p>
        </p:txBody>
      </p:sp>
      <p:sp>
        <p:nvSpPr>
          <p:cNvPr id="15" name="Shape 10"/>
          <p:cNvSpPr/>
          <p:nvPr/>
        </p:nvSpPr>
        <p:spPr>
          <a:xfrm>
            <a:off x="5079675" y="2121408"/>
            <a:ext cx="2032345" cy="3566160"/>
          </a:xfrm>
          <a:prstGeom prst="roundRect">
            <a:avLst>
              <a:gd name="adj" fmla="val 4499"/>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pic>
        <p:nvPicPr>
          <p:cNvPr id="16" name="Image 3" descr="/home/user/hopper-tessarakt/site/assets/pk-tatasampann.jpg">    </p:cNvPr>
          <p:cNvPicPr>
            <a:picLocks noChangeAspect="1"/>
          </p:cNvPicPr>
          <p:nvPr/>
        </p:nvPicPr>
        <p:blipFill>
          <a:blip r:embed="rId4"/>
          <a:srcRect l="0" r="0" t="0" b="0"/>
          <a:stretch/>
        </p:blipFill>
        <p:spPr>
          <a:xfrm>
            <a:off x="5399715" y="2322576"/>
            <a:ext cx="1392265" cy="1463040"/>
          </a:xfrm>
          <a:prstGeom prst="rect">
            <a:avLst/>
          </a:prstGeom>
        </p:spPr>
      </p:pic>
      <p:sp>
        <p:nvSpPr>
          <p:cNvPr id="17" name="Text 11"/>
          <p:cNvSpPr/>
          <p:nvPr/>
        </p:nvSpPr>
        <p:spPr>
          <a:xfrm>
            <a:off x="5280843" y="3950208"/>
            <a:ext cx="1630009" cy="548640"/>
          </a:xfrm>
          <a:prstGeom prst="rect">
            <a:avLst/>
          </a:prstGeom>
          <a:noFill/>
          <a:ln/>
        </p:spPr>
        <p:txBody>
          <a:bodyPr wrap="square" lIns="0" tIns="0" rIns="0" bIns="0" rtlCol="0" anchor="t"/>
          <a:lstStyle/>
          <a:p>
            <a:pPr indent="0" marL="0">
              <a:lnSpc>
                <a:spcPct val="105000"/>
              </a:lnSpc>
              <a:buNone/>
            </a:pPr>
            <a:r>
              <a:rPr lang="en-US" sz="1000" b="1" dirty="0">
                <a:solidFill>
                  <a:srgbClr val="0C1A2B"/>
                </a:solidFill>
                <a:latin typeface="Nunito Sans" pitchFamily="34" charset="0"/>
                <a:ea typeface="Nunito Sans" pitchFamily="34" charset="-122"/>
                <a:cs typeface="Nunito Sans" pitchFamily="34" charset="-120"/>
              </a:rPr>
              <a:t>Natural or nutrition-led</a:t>
            </a:r>
            <a:endParaRPr lang="en-US" sz="1000" dirty="0"/>
          </a:p>
        </p:txBody>
      </p:sp>
      <p:sp>
        <p:nvSpPr>
          <p:cNvPr id="18" name="Text 12"/>
          <p:cNvSpPr/>
          <p:nvPr/>
        </p:nvSpPr>
        <p:spPr>
          <a:xfrm>
            <a:off x="5280843" y="4498848"/>
            <a:ext cx="1630009" cy="100584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Process, nutrition and brand legacy. "Natural" reads wholesome — it does not read safer.</a:t>
            </a:r>
            <a:endParaRPr lang="en-US" sz="850" dirty="0"/>
          </a:p>
        </p:txBody>
      </p:sp>
      <p:sp>
        <p:nvSpPr>
          <p:cNvPr id="19" name="Shape 13"/>
          <p:cNvSpPr/>
          <p:nvPr/>
        </p:nvSpPr>
        <p:spPr>
          <a:xfrm>
            <a:off x="7368052" y="2121408"/>
            <a:ext cx="2032345" cy="3566160"/>
          </a:xfrm>
          <a:prstGeom prst="roundRect">
            <a:avLst>
              <a:gd name="adj" fmla="val 4499"/>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pic>
        <p:nvPicPr>
          <p:cNvPr id="20" name="Image 4" descr="/home/user/hopper-tessarakt/site/assets/pk-conscious.jpg">    </p:cNvPr>
          <p:cNvPicPr>
            <a:picLocks noChangeAspect="1"/>
          </p:cNvPicPr>
          <p:nvPr/>
        </p:nvPicPr>
        <p:blipFill>
          <a:blip r:embed="rId5"/>
          <a:srcRect l="0" r="0" t="0" b="0"/>
          <a:stretch/>
        </p:blipFill>
        <p:spPr>
          <a:xfrm>
            <a:off x="7688092" y="2322576"/>
            <a:ext cx="1392265" cy="1463040"/>
          </a:xfrm>
          <a:prstGeom prst="rect">
            <a:avLst/>
          </a:prstGeom>
        </p:spPr>
      </p:pic>
      <p:sp>
        <p:nvSpPr>
          <p:cNvPr id="21" name="Text 14"/>
          <p:cNvSpPr/>
          <p:nvPr/>
        </p:nvSpPr>
        <p:spPr>
          <a:xfrm>
            <a:off x="7569220" y="3950208"/>
            <a:ext cx="1630009" cy="548640"/>
          </a:xfrm>
          <a:prstGeom prst="rect">
            <a:avLst/>
          </a:prstGeom>
          <a:noFill/>
          <a:ln/>
        </p:spPr>
        <p:txBody>
          <a:bodyPr wrap="square" lIns="0" tIns="0" rIns="0" bIns="0" rtlCol="0" anchor="t"/>
          <a:lstStyle/>
          <a:p>
            <a:pPr indent="0" marL="0">
              <a:lnSpc>
                <a:spcPct val="105000"/>
              </a:lnSpc>
              <a:buNone/>
            </a:pPr>
            <a:r>
              <a:rPr lang="en-US" sz="1000" b="1" dirty="0">
                <a:solidFill>
                  <a:srgbClr val="0C1A2B"/>
                </a:solidFill>
                <a:latin typeface="Nunito Sans" pitchFamily="34" charset="0"/>
                <a:ea typeface="Nunito Sans" pitchFamily="34" charset="-122"/>
                <a:cs typeface="Nunito Sans" pitchFamily="34" charset="-120"/>
              </a:rPr>
              <a:t>Clean-label / provenance challengers</a:t>
            </a:r>
            <a:endParaRPr lang="en-US" sz="1000" dirty="0"/>
          </a:p>
        </p:txBody>
      </p:sp>
      <p:sp>
        <p:nvSpPr>
          <p:cNvPr id="22" name="Text 15"/>
          <p:cNvSpPr/>
          <p:nvPr/>
        </p:nvSpPr>
        <p:spPr>
          <a:xfrm>
            <a:off x="7569220" y="4498848"/>
            <a:ext cx="1630009" cy="100584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Sourcing stories, premium prices, fragmented. No mass trust code.</a:t>
            </a:r>
            <a:endParaRPr lang="en-US" sz="850" dirty="0"/>
          </a:p>
        </p:txBody>
      </p:sp>
      <p:sp>
        <p:nvSpPr>
          <p:cNvPr id="23" name="Shape 16"/>
          <p:cNvSpPr/>
          <p:nvPr/>
        </p:nvSpPr>
        <p:spPr>
          <a:xfrm>
            <a:off x="9656430" y="2121408"/>
            <a:ext cx="2032345" cy="3566160"/>
          </a:xfrm>
          <a:prstGeom prst="roundRect">
            <a:avLst>
              <a:gd name="adj" fmla="val 4499"/>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pic>
        <p:nvPicPr>
          <p:cNvPr id="24" name="Image 5" descr="/home/user/hopper-tessarakt/site/assets/pk-24mantra.jpg">    </p:cNvPr>
          <p:cNvPicPr>
            <a:picLocks noChangeAspect="1"/>
          </p:cNvPicPr>
          <p:nvPr/>
        </p:nvPicPr>
        <p:blipFill>
          <a:blip r:embed="rId6"/>
          <a:srcRect l="0" r="0" t="0" b="0"/>
          <a:stretch/>
        </p:blipFill>
        <p:spPr>
          <a:xfrm>
            <a:off x="9976470" y="2322576"/>
            <a:ext cx="1392265" cy="1463040"/>
          </a:xfrm>
          <a:prstGeom prst="rect">
            <a:avLst/>
          </a:prstGeom>
        </p:spPr>
      </p:pic>
      <p:sp>
        <p:nvSpPr>
          <p:cNvPr id="25" name="Text 17"/>
          <p:cNvSpPr/>
          <p:nvPr/>
        </p:nvSpPr>
        <p:spPr>
          <a:xfrm>
            <a:off x="9857598" y="3950208"/>
            <a:ext cx="1630009" cy="548640"/>
          </a:xfrm>
          <a:prstGeom prst="rect">
            <a:avLst/>
          </a:prstGeom>
          <a:noFill/>
          <a:ln/>
        </p:spPr>
        <p:txBody>
          <a:bodyPr wrap="square" lIns="0" tIns="0" rIns="0" bIns="0" rtlCol="0" anchor="t"/>
          <a:lstStyle/>
          <a:p>
            <a:pPr indent="0" marL="0">
              <a:lnSpc>
                <a:spcPct val="105000"/>
              </a:lnSpc>
              <a:buNone/>
            </a:pPr>
            <a:r>
              <a:rPr lang="en-US" sz="1000" b="1" dirty="0">
                <a:solidFill>
                  <a:srgbClr val="0C1A2B"/>
                </a:solidFill>
                <a:latin typeface="Nunito Sans" pitchFamily="34" charset="0"/>
                <a:ea typeface="Nunito Sans" pitchFamily="34" charset="-122"/>
                <a:cs typeface="Nunito Sans" pitchFamily="34" charset="-120"/>
              </a:rPr>
              <a:t>Certified organic specialists</a:t>
            </a:r>
            <a:endParaRPr lang="en-US" sz="1000" dirty="0"/>
          </a:p>
        </p:txBody>
      </p:sp>
      <p:sp>
        <p:nvSpPr>
          <p:cNvPr id="26" name="Text 18"/>
          <p:cNvSpPr/>
          <p:nvPr/>
        </p:nvSpPr>
        <p:spPr>
          <a:xfrm>
            <a:off x="9857598" y="4498848"/>
            <a:ext cx="1630009" cy="100584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NPOP / NOP certification and traceability, on a structurally higher price ladder.</a:t>
            </a:r>
            <a:endParaRPr lang="en-US" sz="850" dirty="0"/>
          </a:p>
        </p:txBody>
      </p:sp>
      <p:sp>
        <p:nvSpPr>
          <p:cNvPr id="27" name="Shape 19"/>
          <p:cNvSpPr/>
          <p:nvPr/>
        </p:nvSpPr>
        <p:spPr>
          <a:xfrm>
            <a:off x="502920" y="6455664"/>
            <a:ext cx="11185855" cy="0"/>
          </a:xfrm>
          <a:prstGeom prst="line">
            <a:avLst/>
          </a:prstGeom>
          <a:noFill/>
          <a:ln w="9525">
            <a:solidFill>
              <a:srgbClr val="E5DCCB"/>
            </a:solidFill>
            <a:prstDash val="solid"/>
          </a:ln>
        </p:spPr>
      </p:sp>
      <p:sp>
        <p:nvSpPr>
          <p:cNvPr id="28" name="Text 20"/>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02 · THE CATEGORY</a:t>
            </a:r>
            <a:endParaRPr lang="en-US" sz="800" dirty="0"/>
          </a:p>
        </p:txBody>
      </p:sp>
      <p:sp>
        <p:nvSpPr>
          <p:cNvPr id="29" name="Text 21"/>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07</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876702"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876702"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PROOF &amp; CLAIMS BENCHMARKING</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Who can actually show their work?</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If a shopper wanted to check the claim, could they? Only one brand passes — and DHF, which does the most testing, shows the least.</a:t>
            </a:r>
            <a:endParaRPr lang="en-US" sz="1100" dirty="0"/>
          </a:p>
        </p:txBody>
      </p:sp>
      <p:sp>
        <p:nvSpPr>
          <p:cNvPr id="7" name="Shape 4"/>
          <p:cNvSpPr/>
          <p:nvPr/>
        </p:nvSpPr>
        <p:spPr>
          <a:xfrm>
            <a:off x="502920" y="2121408"/>
            <a:ext cx="2032345" cy="1920240"/>
          </a:xfrm>
          <a:prstGeom prst="roundRect">
            <a:avLst>
              <a:gd name="adj" fmla="val 4762"/>
            </a:avLst>
          </a:prstGeom>
          <a:solidFill>
            <a:srgbClr val="FFFFFF"/>
          </a:solidFill>
          <a:ln w="9525">
            <a:solidFill>
              <a:srgbClr val="E5DCCB"/>
            </a:solidFill>
            <a:prstDash val="solid"/>
          </a:ln>
          <a:effectLst>
            <a:outerShdw sx="100000" sy="100000" kx="0" ky="0" algn="bl" rotWithShape="0" blurRad="228600" dist="25400" dir="5400000">
              <a:srgbClr val="0C1A2B">
                <a:alpha val="7000"/>
              </a:srgbClr>
            </a:outerShdw>
          </a:effectLst>
        </p:spPr>
      </p:sp>
      <p:sp>
        <p:nvSpPr>
          <p:cNvPr id="8" name="Text 5"/>
          <p:cNvSpPr/>
          <p:nvPr/>
        </p:nvSpPr>
        <p:spPr>
          <a:xfrm>
            <a:off x="685800" y="2267712"/>
            <a:ext cx="1666585" cy="384048"/>
          </a:xfrm>
          <a:prstGeom prst="rect">
            <a:avLst/>
          </a:prstGeom>
          <a:noFill/>
          <a:ln/>
        </p:spPr>
        <p:txBody>
          <a:bodyPr wrap="square" lIns="0" tIns="0" rIns="0" bIns="0" rtlCol="0" anchor="t"/>
          <a:lstStyle/>
          <a:p>
            <a:pPr indent="0" marL="0">
              <a:lnSpc>
                <a:spcPct val="102000"/>
              </a:lnSpc>
              <a:buNone/>
            </a:pPr>
            <a:r>
              <a:rPr lang="en-US" sz="1050" b="1" dirty="0">
                <a:solidFill>
                  <a:srgbClr val="0C1A2B"/>
                </a:solidFill>
                <a:latin typeface="Nunito Sans" pitchFamily="34" charset="0"/>
                <a:ea typeface="Nunito Sans" pitchFamily="34" charset="-122"/>
                <a:cs typeface="Nunito Sans" pitchFamily="34" charset="-120"/>
              </a:rPr>
              <a:t>Organic Tattva</a:t>
            </a:r>
            <a:endParaRPr lang="en-US" sz="1050" dirty="0"/>
          </a:p>
        </p:txBody>
      </p:sp>
      <p:sp>
        <p:nvSpPr>
          <p:cNvPr id="9" name="Shape 6"/>
          <p:cNvSpPr/>
          <p:nvPr/>
        </p:nvSpPr>
        <p:spPr>
          <a:xfrm>
            <a:off x="685800" y="2670048"/>
            <a:ext cx="896112" cy="219456"/>
          </a:xfrm>
          <a:prstGeom prst="roundRect">
            <a:avLst>
              <a:gd name="adj" fmla="val 50000"/>
            </a:avLst>
          </a:prstGeom>
          <a:solidFill>
            <a:srgbClr val="E4F2EA"/>
          </a:solidFill>
          <a:ln w="12700">
            <a:solidFill>
              <a:srgbClr val="333333"/>
            </a:solidFill>
            <a:prstDash val="solid"/>
          </a:ln>
        </p:spPr>
      </p:sp>
      <p:sp>
        <p:nvSpPr>
          <p:cNvPr id="10" name="Text 7"/>
          <p:cNvSpPr/>
          <p:nvPr/>
        </p:nvSpPr>
        <p:spPr>
          <a:xfrm>
            <a:off x="685800" y="2670048"/>
            <a:ext cx="896112" cy="219456"/>
          </a:xfrm>
          <a:prstGeom prst="rect">
            <a:avLst/>
          </a:prstGeom>
          <a:noFill/>
          <a:ln/>
        </p:spPr>
        <p:txBody>
          <a:bodyPr wrap="square" lIns="0" tIns="0" rIns="0" bIns="0" rtlCol="0" anchor="ctr"/>
          <a:lstStyle/>
          <a:p>
            <a:pPr algn="ctr" indent="0" marL="0">
              <a:buNone/>
            </a:pPr>
            <a:r>
              <a:rPr lang="en-US" sz="750" b="1" spc="80" kern="0" dirty="0">
                <a:solidFill>
                  <a:srgbClr val="177A46"/>
                </a:solidFill>
                <a:latin typeface="Nunito Sans" pitchFamily="34" charset="0"/>
                <a:ea typeface="Nunito Sans" pitchFamily="34" charset="-122"/>
                <a:cs typeface="Nunito Sans" pitchFamily="34" charset="-120"/>
              </a:rPr>
              <a:t>QR · YES</a:t>
            </a:r>
            <a:endParaRPr lang="en-US" sz="750" dirty="0"/>
          </a:p>
        </p:txBody>
      </p:sp>
      <p:sp>
        <p:nvSpPr>
          <p:cNvPr id="11" name="Text 8"/>
          <p:cNvSpPr/>
          <p:nvPr/>
        </p:nvSpPr>
        <p:spPr>
          <a:xfrm>
            <a:off x="685800" y="2980944"/>
            <a:ext cx="1666585" cy="91440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250-parameter farm-level residue test, QR on every pack to the batch report. The category benchmark.</a:t>
            </a:r>
            <a:endParaRPr lang="en-US" sz="850" dirty="0"/>
          </a:p>
        </p:txBody>
      </p:sp>
      <p:sp>
        <p:nvSpPr>
          <p:cNvPr id="12" name="Shape 9"/>
          <p:cNvSpPr/>
          <p:nvPr/>
        </p:nvSpPr>
        <p:spPr>
          <a:xfrm>
            <a:off x="2791297" y="2121408"/>
            <a:ext cx="2032345" cy="1920240"/>
          </a:xfrm>
          <a:prstGeom prst="roundRect">
            <a:avLst>
              <a:gd name="adj" fmla="val 4762"/>
            </a:avLst>
          </a:prstGeom>
          <a:solidFill>
            <a:srgbClr val="FFFFFF"/>
          </a:solidFill>
          <a:ln w="9525">
            <a:solidFill>
              <a:srgbClr val="E5DCCB"/>
            </a:solidFill>
            <a:prstDash val="solid"/>
          </a:ln>
          <a:effectLst>
            <a:outerShdw sx="100000" sy="100000" kx="0" ky="0" algn="bl" rotWithShape="0" blurRad="228600" dist="25400" dir="5400000">
              <a:srgbClr val="0C1A2B">
                <a:alpha val="7000"/>
              </a:srgbClr>
            </a:outerShdw>
          </a:effectLst>
        </p:spPr>
      </p:sp>
      <p:sp>
        <p:nvSpPr>
          <p:cNvPr id="13" name="Text 10"/>
          <p:cNvSpPr/>
          <p:nvPr/>
        </p:nvSpPr>
        <p:spPr>
          <a:xfrm>
            <a:off x="2974177" y="2267712"/>
            <a:ext cx="1666585" cy="384048"/>
          </a:xfrm>
          <a:prstGeom prst="rect">
            <a:avLst/>
          </a:prstGeom>
          <a:noFill/>
          <a:ln/>
        </p:spPr>
        <p:txBody>
          <a:bodyPr wrap="square" lIns="0" tIns="0" rIns="0" bIns="0" rtlCol="0" anchor="t"/>
          <a:lstStyle/>
          <a:p>
            <a:pPr indent="0" marL="0">
              <a:lnSpc>
                <a:spcPct val="102000"/>
              </a:lnSpc>
              <a:buNone/>
            </a:pPr>
            <a:r>
              <a:rPr lang="en-US" sz="1050" b="1" dirty="0">
                <a:solidFill>
                  <a:srgbClr val="0C1A2B"/>
                </a:solidFill>
                <a:latin typeface="Nunito Sans" pitchFamily="34" charset="0"/>
                <a:ea typeface="Nunito Sans" pitchFamily="34" charset="-122"/>
                <a:cs typeface="Nunito Sans" pitchFamily="34" charset="-120"/>
              </a:rPr>
              <a:t>24 Mantra (ITC)</a:t>
            </a:r>
            <a:endParaRPr lang="en-US" sz="1050" dirty="0"/>
          </a:p>
        </p:txBody>
      </p:sp>
      <p:sp>
        <p:nvSpPr>
          <p:cNvPr id="14" name="Shape 11"/>
          <p:cNvSpPr/>
          <p:nvPr/>
        </p:nvSpPr>
        <p:spPr>
          <a:xfrm>
            <a:off x="2974177" y="2670048"/>
            <a:ext cx="896112" cy="219456"/>
          </a:xfrm>
          <a:prstGeom prst="roundRect">
            <a:avLst>
              <a:gd name="adj" fmla="val 50000"/>
            </a:avLst>
          </a:prstGeom>
          <a:solidFill>
            <a:srgbClr val="EDE8DF"/>
          </a:solidFill>
          <a:ln w="12700">
            <a:solidFill>
              <a:srgbClr val="333333"/>
            </a:solidFill>
            <a:prstDash val="solid"/>
          </a:ln>
        </p:spPr>
      </p:sp>
      <p:sp>
        <p:nvSpPr>
          <p:cNvPr id="15" name="Text 12"/>
          <p:cNvSpPr/>
          <p:nvPr/>
        </p:nvSpPr>
        <p:spPr>
          <a:xfrm>
            <a:off x="2974177" y="2670048"/>
            <a:ext cx="896112" cy="219456"/>
          </a:xfrm>
          <a:prstGeom prst="rect">
            <a:avLst/>
          </a:prstGeom>
          <a:noFill/>
          <a:ln/>
        </p:spPr>
        <p:txBody>
          <a:bodyPr wrap="square" lIns="0" tIns="0" rIns="0" bIns="0" rtlCol="0" anchor="ctr"/>
          <a:lstStyle/>
          <a:p>
            <a:pPr algn="ctr" indent="0" marL="0">
              <a:buNone/>
            </a:pPr>
            <a:r>
              <a:rPr lang="en-US" sz="750" b="1" spc="80" kern="0" dirty="0">
                <a:solidFill>
                  <a:srgbClr val="8B95A2"/>
                </a:solidFill>
                <a:latin typeface="Nunito Sans" pitchFamily="34" charset="0"/>
                <a:ea typeface="Nunito Sans" pitchFamily="34" charset="-122"/>
                <a:cs typeface="Nunito Sans" pitchFamily="34" charset="-120"/>
              </a:rPr>
              <a:t>QR · NO</a:t>
            </a:r>
            <a:endParaRPr lang="en-US" sz="750" dirty="0"/>
          </a:p>
        </p:txBody>
      </p:sp>
      <p:sp>
        <p:nvSpPr>
          <p:cNvPr id="16" name="Text 13"/>
          <p:cNvSpPr/>
          <p:nvPr/>
        </p:nvSpPr>
        <p:spPr>
          <a:xfrm>
            <a:off x="2974177" y="2980944"/>
            <a:ext cx="1666585" cy="91440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EU + USDA + NPOP certification, 1.4 lakh acres, 27,500 farmers. Logos are the proof — no consumer-facing test report.</a:t>
            </a:r>
            <a:endParaRPr lang="en-US" sz="850" dirty="0"/>
          </a:p>
        </p:txBody>
      </p:sp>
      <p:sp>
        <p:nvSpPr>
          <p:cNvPr id="17" name="Shape 14"/>
          <p:cNvSpPr/>
          <p:nvPr/>
        </p:nvSpPr>
        <p:spPr>
          <a:xfrm>
            <a:off x="5079675" y="2121408"/>
            <a:ext cx="2032345" cy="1920240"/>
          </a:xfrm>
          <a:prstGeom prst="roundRect">
            <a:avLst>
              <a:gd name="adj" fmla="val 4762"/>
            </a:avLst>
          </a:prstGeom>
          <a:solidFill>
            <a:srgbClr val="FFFFFF"/>
          </a:solidFill>
          <a:ln w="9525">
            <a:solidFill>
              <a:srgbClr val="E5DCCB"/>
            </a:solidFill>
            <a:prstDash val="solid"/>
          </a:ln>
          <a:effectLst>
            <a:outerShdw sx="100000" sy="100000" kx="0" ky="0" algn="bl" rotWithShape="0" blurRad="228600" dist="25400" dir="5400000">
              <a:srgbClr val="0C1A2B">
                <a:alpha val="7000"/>
              </a:srgbClr>
            </a:outerShdw>
          </a:effectLst>
        </p:spPr>
      </p:sp>
      <p:sp>
        <p:nvSpPr>
          <p:cNvPr id="18" name="Text 15"/>
          <p:cNvSpPr/>
          <p:nvPr/>
        </p:nvSpPr>
        <p:spPr>
          <a:xfrm>
            <a:off x="5262555" y="2267712"/>
            <a:ext cx="1666585" cy="384048"/>
          </a:xfrm>
          <a:prstGeom prst="rect">
            <a:avLst/>
          </a:prstGeom>
          <a:noFill/>
          <a:ln/>
        </p:spPr>
        <p:txBody>
          <a:bodyPr wrap="square" lIns="0" tIns="0" rIns="0" bIns="0" rtlCol="0" anchor="t"/>
          <a:lstStyle/>
          <a:p>
            <a:pPr indent="0" marL="0">
              <a:lnSpc>
                <a:spcPct val="102000"/>
              </a:lnSpc>
              <a:buNone/>
            </a:pPr>
            <a:r>
              <a:rPr lang="en-US" sz="1050" b="1" dirty="0">
                <a:solidFill>
                  <a:srgbClr val="0C1A2B"/>
                </a:solidFill>
                <a:latin typeface="Nunito Sans" pitchFamily="34" charset="0"/>
                <a:ea typeface="Nunito Sans" pitchFamily="34" charset="-122"/>
                <a:cs typeface="Nunito Sans" pitchFamily="34" charset="-120"/>
              </a:rPr>
              <a:t>Tata Sampann</a:t>
            </a:r>
            <a:endParaRPr lang="en-US" sz="1050" dirty="0"/>
          </a:p>
        </p:txBody>
      </p:sp>
      <p:sp>
        <p:nvSpPr>
          <p:cNvPr id="19" name="Shape 16"/>
          <p:cNvSpPr/>
          <p:nvPr/>
        </p:nvSpPr>
        <p:spPr>
          <a:xfrm>
            <a:off x="5262555" y="2670048"/>
            <a:ext cx="896112" cy="219456"/>
          </a:xfrm>
          <a:prstGeom prst="roundRect">
            <a:avLst>
              <a:gd name="adj" fmla="val 50000"/>
            </a:avLst>
          </a:prstGeom>
          <a:solidFill>
            <a:srgbClr val="EDE8DF"/>
          </a:solidFill>
          <a:ln w="12700">
            <a:solidFill>
              <a:srgbClr val="333333"/>
            </a:solidFill>
            <a:prstDash val="solid"/>
          </a:ln>
        </p:spPr>
      </p:sp>
      <p:sp>
        <p:nvSpPr>
          <p:cNvPr id="20" name="Text 17"/>
          <p:cNvSpPr/>
          <p:nvPr/>
        </p:nvSpPr>
        <p:spPr>
          <a:xfrm>
            <a:off x="5262555" y="2670048"/>
            <a:ext cx="896112" cy="219456"/>
          </a:xfrm>
          <a:prstGeom prst="rect">
            <a:avLst/>
          </a:prstGeom>
          <a:noFill/>
          <a:ln/>
        </p:spPr>
        <p:txBody>
          <a:bodyPr wrap="square" lIns="0" tIns="0" rIns="0" bIns="0" rtlCol="0" anchor="ctr"/>
          <a:lstStyle/>
          <a:p>
            <a:pPr algn="ctr" indent="0" marL="0">
              <a:buNone/>
            </a:pPr>
            <a:r>
              <a:rPr lang="en-US" sz="750" b="1" spc="80" kern="0" dirty="0">
                <a:solidFill>
                  <a:srgbClr val="8B95A2"/>
                </a:solidFill>
                <a:latin typeface="Nunito Sans" pitchFamily="34" charset="0"/>
                <a:ea typeface="Nunito Sans" pitchFamily="34" charset="-122"/>
                <a:cs typeface="Nunito Sans" pitchFamily="34" charset="-120"/>
              </a:rPr>
              <a:t>QR · NO</a:t>
            </a:r>
            <a:endParaRPr lang="en-US" sz="750" dirty="0"/>
          </a:p>
        </p:txBody>
      </p:sp>
      <p:sp>
        <p:nvSpPr>
          <p:cNvPr id="21" name="Text 18"/>
          <p:cNvSpPr/>
          <p:nvPr/>
        </p:nvSpPr>
        <p:spPr>
          <a:xfrm>
            <a:off x="5262555" y="2980944"/>
            <a:ext cx="1666585" cy="91440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Brand trust plus an "unpolished" visual cue and a celebrity anchor. No public batch-level residue disclosure.</a:t>
            </a:r>
            <a:endParaRPr lang="en-US" sz="850" dirty="0"/>
          </a:p>
        </p:txBody>
      </p:sp>
      <p:sp>
        <p:nvSpPr>
          <p:cNvPr id="22" name="Shape 19"/>
          <p:cNvSpPr/>
          <p:nvPr/>
        </p:nvSpPr>
        <p:spPr>
          <a:xfrm>
            <a:off x="7368052" y="2121408"/>
            <a:ext cx="2032345" cy="1920240"/>
          </a:xfrm>
          <a:prstGeom prst="roundRect">
            <a:avLst>
              <a:gd name="adj" fmla="val 4762"/>
            </a:avLst>
          </a:prstGeom>
          <a:solidFill>
            <a:srgbClr val="FFFFFF"/>
          </a:solidFill>
          <a:ln w="9525">
            <a:solidFill>
              <a:srgbClr val="E5DCCB"/>
            </a:solidFill>
            <a:prstDash val="solid"/>
          </a:ln>
          <a:effectLst>
            <a:outerShdw sx="100000" sy="100000" kx="0" ky="0" algn="bl" rotWithShape="0" blurRad="228600" dist="25400" dir="5400000">
              <a:srgbClr val="0C1A2B">
                <a:alpha val="7000"/>
              </a:srgbClr>
            </a:outerShdw>
          </a:effectLst>
        </p:spPr>
      </p:sp>
      <p:sp>
        <p:nvSpPr>
          <p:cNvPr id="23" name="Text 20"/>
          <p:cNvSpPr/>
          <p:nvPr/>
        </p:nvSpPr>
        <p:spPr>
          <a:xfrm>
            <a:off x="7550932" y="2267712"/>
            <a:ext cx="1666585" cy="384048"/>
          </a:xfrm>
          <a:prstGeom prst="rect">
            <a:avLst/>
          </a:prstGeom>
          <a:noFill/>
          <a:ln/>
        </p:spPr>
        <p:txBody>
          <a:bodyPr wrap="square" lIns="0" tIns="0" rIns="0" bIns="0" rtlCol="0" anchor="t"/>
          <a:lstStyle/>
          <a:p>
            <a:pPr indent="0" marL="0">
              <a:lnSpc>
                <a:spcPct val="102000"/>
              </a:lnSpc>
              <a:buNone/>
            </a:pPr>
            <a:r>
              <a:rPr lang="en-US" sz="1050" b="1" dirty="0">
                <a:solidFill>
                  <a:srgbClr val="0C1A2B"/>
                </a:solidFill>
                <a:latin typeface="Nunito Sans" pitchFamily="34" charset="0"/>
                <a:ea typeface="Nunito Sans" pitchFamily="34" charset="-122"/>
                <a:cs typeface="Nunito Sans" pitchFamily="34" charset="-120"/>
              </a:rPr>
              <a:t>Organic India (Tata)</a:t>
            </a:r>
            <a:endParaRPr lang="en-US" sz="1050" dirty="0"/>
          </a:p>
        </p:txBody>
      </p:sp>
      <p:sp>
        <p:nvSpPr>
          <p:cNvPr id="24" name="Shape 21"/>
          <p:cNvSpPr/>
          <p:nvPr/>
        </p:nvSpPr>
        <p:spPr>
          <a:xfrm>
            <a:off x="7550932" y="2670048"/>
            <a:ext cx="896112" cy="219456"/>
          </a:xfrm>
          <a:prstGeom prst="roundRect">
            <a:avLst>
              <a:gd name="adj" fmla="val 50000"/>
            </a:avLst>
          </a:prstGeom>
          <a:solidFill>
            <a:srgbClr val="EDE8DF"/>
          </a:solidFill>
          <a:ln w="12700">
            <a:solidFill>
              <a:srgbClr val="333333"/>
            </a:solidFill>
            <a:prstDash val="solid"/>
          </a:ln>
        </p:spPr>
      </p:sp>
      <p:sp>
        <p:nvSpPr>
          <p:cNvPr id="25" name="Text 22"/>
          <p:cNvSpPr/>
          <p:nvPr/>
        </p:nvSpPr>
        <p:spPr>
          <a:xfrm>
            <a:off x="7550932" y="2670048"/>
            <a:ext cx="896112" cy="219456"/>
          </a:xfrm>
          <a:prstGeom prst="rect">
            <a:avLst/>
          </a:prstGeom>
          <a:noFill/>
          <a:ln/>
        </p:spPr>
        <p:txBody>
          <a:bodyPr wrap="square" lIns="0" tIns="0" rIns="0" bIns="0" rtlCol="0" anchor="ctr"/>
          <a:lstStyle/>
          <a:p>
            <a:pPr algn="ctr" indent="0" marL="0">
              <a:buNone/>
            </a:pPr>
            <a:r>
              <a:rPr lang="en-US" sz="750" b="1" spc="80" kern="0" dirty="0">
                <a:solidFill>
                  <a:srgbClr val="8B95A2"/>
                </a:solidFill>
                <a:latin typeface="Nunito Sans" pitchFamily="34" charset="0"/>
                <a:ea typeface="Nunito Sans" pitchFamily="34" charset="-122"/>
                <a:cs typeface="Nunito Sans" pitchFamily="34" charset="-120"/>
              </a:rPr>
              <a:t>QR · NO</a:t>
            </a:r>
            <a:endParaRPr lang="en-US" sz="750" dirty="0"/>
          </a:p>
        </p:txBody>
      </p:sp>
      <p:sp>
        <p:nvSpPr>
          <p:cNvPr id="26" name="Text 23"/>
          <p:cNvSpPr/>
          <p:nvPr/>
        </p:nvSpPr>
        <p:spPr>
          <a:xfrm>
            <a:off x="7550932" y="2980944"/>
            <a:ext cx="1666585" cy="91440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Certification-heavy — USDA, EU, NPOP, Kosher — across 35+ export markets. Logos, not data.</a:t>
            </a:r>
            <a:endParaRPr lang="en-US" sz="850" dirty="0"/>
          </a:p>
        </p:txBody>
      </p:sp>
      <p:sp>
        <p:nvSpPr>
          <p:cNvPr id="27" name="Shape 24"/>
          <p:cNvSpPr/>
          <p:nvPr/>
        </p:nvSpPr>
        <p:spPr>
          <a:xfrm>
            <a:off x="9656430" y="2121408"/>
            <a:ext cx="2032345" cy="1920240"/>
          </a:xfrm>
          <a:prstGeom prst="roundRect">
            <a:avLst>
              <a:gd name="adj" fmla="val 4762"/>
            </a:avLst>
          </a:prstGeom>
          <a:solidFill>
            <a:srgbClr val="EAF0F8"/>
          </a:solidFill>
          <a:ln w="19050">
            <a:solidFill>
              <a:srgbClr val="3A5D97"/>
            </a:solidFill>
            <a:prstDash val="solid"/>
          </a:ln>
          <a:effectLst>
            <a:outerShdw sx="100000" sy="100000" kx="0" ky="0" algn="bl" rotWithShape="0" blurRad="228600" dist="25400" dir="5400000">
              <a:srgbClr val="0C1A2B">
                <a:alpha val="7000"/>
              </a:srgbClr>
            </a:outerShdw>
          </a:effectLst>
        </p:spPr>
      </p:sp>
      <p:sp>
        <p:nvSpPr>
          <p:cNvPr id="28" name="Text 25"/>
          <p:cNvSpPr/>
          <p:nvPr/>
        </p:nvSpPr>
        <p:spPr>
          <a:xfrm>
            <a:off x="9839310" y="2267712"/>
            <a:ext cx="1666585" cy="384048"/>
          </a:xfrm>
          <a:prstGeom prst="rect">
            <a:avLst/>
          </a:prstGeom>
          <a:noFill/>
          <a:ln/>
        </p:spPr>
        <p:txBody>
          <a:bodyPr wrap="square" lIns="0" tIns="0" rIns="0" bIns="0" rtlCol="0" anchor="t"/>
          <a:lstStyle/>
          <a:p>
            <a:pPr indent="0" marL="0">
              <a:lnSpc>
                <a:spcPct val="102000"/>
              </a:lnSpc>
              <a:buNone/>
            </a:pPr>
            <a:r>
              <a:rPr lang="en-US" sz="1050" b="1" dirty="0">
                <a:solidFill>
                  <a:srgbClr val="0C1A2B"/>
                </a:solidFill>
                <a:latin typeface="Nunito Sans" pitchFamily="34" charset="0"/>
                <a:ea typeface="Nunito Sans" pitchFamily="34" charset="-122"/>
                <a:cs typeface="Nunito Sans" pitchFamily="34" charset="-120"/>
              </a:rPr>
              <a:t>DeHaat Honest Farms</a:t>
            </a:r>
            <a:endParaRPr lang="en-US" sz="1050" dirty="0"/>
          </a:p>
        </p:txBody>
      </p:sp>
      <p:sp>
        <p:nvSpPr>
          <p:cNvPr id="29" name="Shape 26"/>
          <p:cNvSpPr/>
          <p:nvPr/>
        </p:nvSpPr>
        <p:spPr>
          <a:xfrm>
            <a:off x="9839310" y="2670048"/>
            <a:ext cx="896112" cy="219456"/>
          </a:xfrm>
          <a:prstGeom prst="roundRect">
            <a:avLst>
              <a:gd name="adj" fmla="val 50000"/>
            </a:avLst>
          </a:prstGeom>
          <a:solidFill>
            <a:srgbClr val="FBE9E3"/>
          </a:solidFill>
          <a:ln w="12700">
            <a:solidFill>
              <a:srgbClr val="333333"/>
            </a:solidFill>
            <a:prstDash val="solid"/>
          </a:ln>
        </p:spPr>
      </p:sp>
      <p:sp>
        <p:nvSpPr>
          <p:cNvPr id="30" name="Text 27"/>
          <p:cNvSpPr/>
          <p:nvPr/>
        </p:nvSpPr>
        <p:spPr>
          <a:xfrm>
            <a:off x="9839310" y="2670048"/>
            <a:ext cx="896112" cy="219456"/>
          </a:xfrm>
          <a:prstGeom prst="rect">
            <a:avLst/>
          </a:prstGeom>
          <a:noFill/>
          <a:ln/>
        </p:spPr>
        <p:txBody>
          <a:bodyPr wrap="square" lIns="0" tIns="0" rIns="0" bIns="0" rtlCol="0" anchor="ctr"/>
          <a:lstStyle/>
          <a:p>
            <a:pPr algn="ctr" indent="0" marL="0">
              <a:buNone/>
            </a:pPr>
            <a:r>
              <a:rPr lang="en-US" sz="750" b="1" spc="80" kern="0" dirty="0">
                <a:solidFill>
                  <a:srgbClr val="9E3A24"/>
                </a:solidFill>
                <a:latin typeface="Nunito Sans" pitchFamily="34" charset="0"/>
                <a:ea typeface="Nunito Sans" pitchFamily="34" charset="-122"/>
                <a:cs typeface="Nunito Sans" pitchFamily="34" charset="-120"/>
              </a:rPr>
              <a:t>QR · GAP</a:t>
            </a:r>
            <a:endParaRPr lang="en-US" sz="750" dirty="0"/>
          </a:p>
        </p:txBody>
      </p:sp>
      <p:sp>
        <p:nvSpPr>
          <p:cNvPr id="31" name="Text 28"/>
          <p:cNvSpPr/>
          <p:nvPr/>
        </p:nvSpPr>
        <p:spPr>
          <a:xfrm>
            <a:off x="9839310" y="2980944"/>
            <a:ext cx="1666585" cy="914400"/>
          </a:xfrm>
          <a:prstGeom prst="rect">
            <a:avLst/>
          </a:prstGeom>
          <a:noFill/>
          <a:ln/>
        </p:spPr>
        <p:txBody>
          <a:bodyPr wrap="square" lIns="0" tIns="0" rIns="0" bIns="0" rtlCol="0" anchor="t"/>
          <a:lstStyle/>
          <a:p>
            <a:pPr indent="0" marL="0">
              <a:lnSpc>
                <a:spcPct val="112000"/>
              </a:lnSpc>
              <a:buNone/>
            </a:pPr>
            <a:r>
              <a:rPr lang="en-US" sz="850" dirty="0">
                <a:solidFill>
                  <a:srgbClr val="9E3A24"/>
                </a:solidFill>
                <a:latin typeface="Nunito Sans" pitchFamily="34" charset="0"/>
                <a:ea typeface="Nunito Sans" pitchFamily="34" charset="-122"/>
                <a:cs typeface="Nunito Sans" pitchFamily="34" charset="-120"/>
              </a:rPr>
              <a:t>230+ pesticide checks, batch-level testing, failing lots rejected. All of it invisible to the shopper.</a:t>
            </a:r>
            <a:endParaRPr lang="en-US" sz="850" dirty="0"/>
          </a:p>
        </p:txBody>
      </p:sp>
      <p:sp>
        <p:nvSpPr>
          <p:cNvPr id="32" name="Text 29"/>
          <p:cNvSpPr/>
          <p:nvPr/>
        </p:nvSpPr>
        <p:spPr>
          <a:xfrm>
            <a:off x="502920" y="4361688"/>
            <a:ext cx="45720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MESSAGING CONSISTENCY, SCORED OUT OF 10</a:t>
            </a:r>
            <a:endParaRPr lang="en-US" sz="950" dirty="0"/>
          </a:p>
        </p:txBody>
      </p:sp>
      <p:sp>
        <p:nvSpPr>
          <p:cNvPr id="33" name="Text 30"/>
          <p:cNvSpPr/>
          <p:nvPr/>
        </p:nvSpPr>
        <p:spPr>
          <a:xfrm>
            <a:off x="502920" y="4672584"/>
            <a:ext cx="2743200" cy="274320"/>
          </a:xfrm>
          <a:prstGeom prst="rect">
            <a:avLst/>
          </a:prstGeom>
          <a:noFill/>
          <a:ln/>
        </p:spPr>
        <p:txBody>
          <a:bodyPr wrap="square" lIns="0" tIns="0" rIns="0" bIns="0" rtlCol="0" anchor="ctr"/>
          <a:lstStyle/>
          <a:p>
            <a:pPr indent="0" marL="0">
              <a:buNone/>
            </a:pPr>
            <a:r>
              <a:rPr lang="en-US" sz="1000" dirty="0">
                <a:solidFill>
                  <a:srgbClr val="54606F"/>
                </a:solidFill>
                <a:latin typeface="Nunito Sans" pitchFamily="34" charset="0"/>
                <a:ea typeface="Nunito Sans" pitchFamily="34" charset="-122"/>
                <a:cs typeface="Nunito Sans" pitchFamily="34" charset="-120"/>
              </a:rPr>
              <a:t>Tata Sampann</a:t>
            </a:r>
            <a:endParaRPr lang="en-US" sz="1000" dirty="0"/>
          </a:p>
        </p:txBody>
      </p:sp>
      <p:sp>
        <p:nvSpPr>
          <p:cNvPr id="34" name="Text 31"/>
          <p:cNvSpPr/>
          <p:nvPr/>
        </p:nvSpPr>
        <p:spPr>
          <a:xfrm>
            <a:off x="3246120" y="4672584"/>
            <a:ext cx="1005840" cy="274320"/>
          </a:xfrm>
          <a:prstGeom prst="rect">
            <a:avLst/>
          </a:prstGeom>
          <a:noFill/>
          <a:ln/>
        </p:spPr>
        <p:txBody>
          <a:bodyPr wrap="square" lIns="0" tIns="0" rIns="0" bIns="0" rtlCol="0" anchor="ctr"/>
          <a:lstStyle/>
          <a:p>
            <a:pPr algn="r" indent="0" marL="0">
              <a:buNone/>
            </a:pPr>
            <a:r>
              <a:rPr lang="en-US" sz="1200" dirty="0">
                <a:solidFill>
                  <a:srgbClr val="0C1A2B"/>
                </a:solidFill>
                <a:latin typeface="Archivo Black" pitchFamily="34" charset="0"/>
                <a:ea typeface="Archivo Black" pitchFamily="34" charset="-122"/>
                <a:cs typeface="Archivo Black" pitchFamily="34" charset="-120"/>
              </a:rPr>
              <a:t>9/10</a:t>
            </a:r>
            <a:endParaRPr lang="en-US" sz="1200" dirty="0"/>
          </a:p>
        </p:txBody>
      </p:sp>
      <p:sp>
        <p:nvSpPr>
          <p:cNvPr id="35" name="Shape 32"/>
          <p:cNvSpPr/>
          <p:nvPr/>
        </p:nvSpPr>
        <p:spPr>
          <a:xfrm>
            <a:off x="502920" y="4983480"/>
            <a:ext cx="3749040" cy="0"/>
          </a:xfrm>
          <a:prstGeom prst="line">
            <a:avLst/>
          </a:prstGeom>
          <a:noFill/>
          <a:ln w="6350">
            <a:solidFill>
              <a:srgbClr val="E5DCCB"/>
            </a:solidFill>
            <a:prstDash val="dash"/>
          </a:ln>
        </p:spPr>
      </p:sp>
      <p:sp>
        <p:nvSpPr>
          <p:cNvPr id="36" name="Text 33"/>
          <p:cNvSpPr/>
          <p:nvPr/>
        </p:nvSpPr>
        <p:spPr>
          <a:xfrm>
            <a:off x="502920" y="5056632"/>
            <a:ext cx="2743200" cy="274320"/>
          </a:xfrm>
          <a:prstGeom prst="rect">
            <a:avLst/>
          </a:prstGeom>
          <a:noFill/>
          <a:ln/>
        </p:spPr>
        <p:txBody>
          <a:bodyPr wrap="square" lIns="0" tIns="0" rIns="0" bIns="0" rtlCol="0" anchor="ctr"/>
          <a:lstStyle/>
          <a:p>
            <a:pPr indent="0" marL="0">
              <a:buNone/>
            </a:pPr>
            <a:r>
              <a:rPr lang="en-US" sz="1000" dirty="0">
                <a:solidFill>
                  <a:srgbClr val="54606F"/>
                </a:solidFill>
                <a:latin typeface="Nunito Sans" pitchFamily="34" charset="0"/>
                <a:ea typeface="Nunito Sans" pitchFamily="34" charset="-122"/>
                <a:cs typeface="Nunito Sans" pitchFamily="34" charset="-120"/>
              </a:rPr>
              <a:t>Organic Tattva</a:t>
            </a:r>
            <a:endParaRPr lang="en-US" sz="1000" dirty="0"/>
          </a:p>
        </p:txBody>
      </p:sp>
      <p:sp>
        <p:nvSpPr>
          <p:cNvPr id="37" name="Text 34"/>
          <p:cNvSpPr/>
          <p:nvPr/>
        </p:nvSpPr>
        <p:spPr>
          <a:xfrm>
            <a:off x="3246120" y="5056632"/>
            <a:ext cx="1005840" cy="274320"/>
          </a:xfrm>
          <a:prstGeom prst="rect">
            <a:avLst/>
          </a:prstGeom>
          <a:noFill/>
          <a:ln/>
        </p:spPr>
        <p:txBody>
          <a:bodyPr wrap="square" lIns="0" tIns="0" rIns="0" bIns="0" rtlCol="0" anchor="ctr"/>
          <a:lstStyle/>
          <a:p>
            <a:pPr algn="r" indent="0" marL="0">
              <a:buNone/>
            </a:pPr>
            <a:r>
              <a:rPr lang="en-US" sz="1200" dirty="0">
                <a:solidFill>
                  <a:srgbClr val="0C1A2B"/>
                </a:solidFill>
                <a:latin typeface="Archivo Black" pitchFamily="34" charset="0"/>
                <a:ea typeface="Archivo Black" pitchFamily="34" charset="-122"/>
                <a:cs typeface="Archivo Black" pitchFamily="34" charset="-120"/>
              </a:rPr>
              <a:t>8/10</a:t>
            </a:r>
            <a:endParaRPr lang="en-US" sz="1200" dirty="0"/>
          </a:p>
        </p:txBody>
      </p:sp>
      <p:sp>
        <p:nvSpPr>
          <p:cNvPr id="38" name="Shape 35"/>
          <p:cNvSpPr/>
          <p:nvPr/>
        </p:nvSpPr>
        <p:spPr>
          <a:xfrm>
            <a:off x="502920" y="5367528"/>
            <a:ext cx="3749040" cy="0"/>
          </a:xfrm>
          <a:prstGeom prst="line">
            <a:avLst/>
          </a:prstGeom>
          <a:noFill/>
          <a:ln w="6350">
            <a:solidFill>
              <a:srgbClr val="E5DCCB"/>
            </a:solidFill>
            <a:prstDash val="dash"/>
          </a:ln>
        </p:spPr>
      </p:sp>
      <p:sp>
        <p:nvSpPr>
          <p:cNvPr id="39" name="Text 36"/>
          <p:cNvSpPr/>
          <p:nvPr/>
        </p:nvSpPr>
        <p:spPr>
          <a:xfrm>
            <a:off x="502920" y="5440680"/>
            <a:ext cx="2743200" cy="274320"/>
          </a:xfrm>
          <a:prstGeom prst="rect">
            <a:avLst/>
          </a:prstGeom>
          <a:noFill/>
          <a:ln/>
        </p:spPr>
        <p:txBody>
          <a:bodyPr wrap="square" lIns="0" tIns="0" rIns="0" bIns="0" rtlCol="0" anchor="ctr"/>
          <a:lstStyle/>
          <a:p>
            <a:pPr indent="0" marL="0">
              <a:buNone/>
            </a:pPr>
            <a:r>
              <a:rPr lang="en-US" sz="1000" dirty="0">
                <a:solidFill>
                  <a:srgbClr val="54606F"/>
                </a:solidFill>
                <a:latin typeface="Nunito Sans" pitchFamily="34" charset="0"/>
                <a:ea typeface="Nunito Sans" pitchFamily="34" charset="-122"/>
                <a:cs typeface="Nunito Sans" pitchFamily="34" charset="-120"/>
              </a:rPr>
              <a:t>Organic India</a:t>
            </a:r>
            <a:endParaRPr lang="en-US" sz="1000" dirty="0"/>
          </a:p>
        </p:txBody>
      </p:sp>
      <p:sp>
        <p:nvSpPr>
          <p:cNvPr id="40" name="Text 37"/>
          <p:cNvSpPr/>
          <p:nvPr/>
        </p:nvSpPr>
        <p:spPr>
          <a:xfrm>
            <a:off x="3246120" y="5440680"/>
            <a:ext cx="1005840" cy="274320"/>
          </a:xfrm>
          <a:prstGeom prst="rect">
            <a:avLst/>
          </a:prstGeom>
          <a:noFill/>
          <a:ln/>
        </p:spPr>
        <p:txBody>
          <a:bodyPr wrap="square" lIns="0" tIns="0" rIns="0" bIns="0" rtlCol="0" anchor="ctr"/>
          <a:lstStyle/>
          <a:p>
            <a:pPr algn="r" indent="0" marL="0">
              <a:buNone/>
            </a:pPr>
            <a:r>
              <a:rPr lang="en-US" sz="1200" dirty="0">
                <a:solidFill>
                  <a:srgbClr val="0C1A2B"/>
                </a:solidFill>
                <a:latin typeface="Archivo Black" pitchFamily="34" charset="0"/>
                <a:ea typeface="Archivo Black" pitchFamily="34" charset="-122"/>
                <a:cs typeface="Archivo Black" pitchFamily="34" charset="-120"/>
              </a:rPr>
              <a:t>7/10</a:t>
            </a:r>
            <a:endParaRPr lang="en-US" sz="1200" dirty="0"/>
          </a:p>
        </p:txBody>
      </p:sp>
      <p:sp>
        <p:nvSpPr>
          <p:cNvPr id="41" name="Shape 38"/>
          <p:cNvSpPr/>
          <p:nvPr/>
        </p:nvSpPr>
        <p:spPr>
          <a:xfrm>
            <a:off x="502920" y="5751576"/>
            <a:ext cx="3749040" cy="0"/>
          </a:xfrm>
          <a:prstGeom prst="line">
            <a:avLst/>
          </a:prstGeom>
          <a:noFill/>
          <a:ln w="6350">
            <a:solidFill>
              <a:srgbClr val="E5DCCB"/>
            </a:solidFill>
            <a:prstDash val="dash"/>
          </a:ln>
        </p:spPr>
      </p:sp>
      <p:sp>
        <p:nvSpPr>
          <p:cNvPr id="42" name="Text 39"/>
          <p:cNvSpPr/>
          <p:nvPr/>
        </p:nvSpPr>
        <p:spPr>
          <a:xfrm>
            <a:off x="502920" y="5824728"/>
            <a:ext cx="2743200" cy="274320"/>
          </a:xfrm>
          <a:prstGeom prst="rect">
            <a:avLst/>
          </a:prstGeom>
          <a:noFill/>
          <a:ln/>
        </p:spPr>
        <p:txBody>
          <a:bodyPr wrap="square" lIns="0" tIns="0" rIns="0" bIns="0" rtlCol="0" anchor="ctr"/>
          <a:lstStyle/>
          <a:p>
            <a:pPr indent="0" marL="0">
              <a:buNone/>
            </a:pPr>
            <a:r>
              <a:rPr lang="en-US" sz="1000" dirty="0">
                <a:solidFill>
                  <a:srgbClr val="54606F"/>
                </a:solidFill>
                <a:latin typeface="Nunito Sans" pitchFamily="34" charset="0"/>
                <a:ea typeface="Nunito Sans" pitchFamily="34" charset="-122"/>
                <a:cs typeface="Nunito Sans" pitchFamily="34" charset="-120"/>
              </a:rPr>
              <a:t>24 Mantra</a:t>
            </a:r>
            <a:endParaRPr lang="en-US" sz="1000" dirty="0"/>
          </a:p>
        </p:txBody>
      </p:sp>
      <p:sp>
        <p:nvSpPr>
          <p:cNvPr id="43" name="Text 40"/>
          <p:cNvSpPr/>
          <p:nvPr/>
        </p:nvSpPr>
        <p:spPr>
          <a:xfrm>
            <a:off x="3246120" y="5824728"/>
            <a:ext cx="1005840" cy="274320"/>
          </a:xfrm>
          <a:prstGeom prst="rect">
            <a:avLst/>
          </a:prstGeom>
          <a:noFill/>
          <a:ln/>
        </p:spPr>
        <p:txBody>
          <a:bodyPr wrap="square" lIns="0" tIns="0" rIns="0" bIns="0" rtlCol="0" anchor="ctr"/>
          <a:lstStyle/>
          <a:p>
            <a:pPr algn="r" indent="0" marL="0">
              <a:buNone/>
            </a:pPr>
            <a:r>
              <a:rPr lang="en-US" sz="1200" dirty="0">
                <a:solidFill>
                  <a:srgbClr val="0C1A2B"/>
                </a:solidFill>
                <a:latin typeface="Archivo Black" pitchFamily="34" charset="0"/>
                <a:ea typeface="Archivo Black" pitchFamily="34" charset="-122"/>
                <a:cs typeface="Archivo Black" pitchFamily="34" charset="-120"/>
              </a:rPr>
              <a:t>6/10</a:t>
            </a:r>
            <a:endParaRPr lang="en-US" sz="1200" dirty="0"/>
          </a:p>
        </p:txBody>
      </p:sp>
      <p:sp>
        <p:nvSpPr>
          <p:cNvPr id="44" name="Shape 41"/>
          <p:cNvSpPr/>
          <p:nvPr/>
        </p:nvSpPr>
        <p:spPr>
          <a:xfrm>
            <a:off x="502920" y="6135624"/>
            <a:ext cx="3749040" cy="0"/>
          </a:xfrm>
          <a:prstGeom prst="line">
            <a:avLst/>
          </a:prstGeom>
          <a:noFill/>
          <a:ln w="6350">
            <a:solidFill>
              <a:srgbClr val="E5DCCB"/>
            </a:solidFill>
            <a:prstDash val="dash"/>
          </a:ln>
        </p:spPr>
      </p:sp>
      <p:sp>
        <p:nvSpPr>
          <p:cNvPr id="45" name="Shape 42"/>
          <p:cNvSpPr/>
          <p:nvPr/>
        </p:nvSpPr>
        <p:spPr>
          <a:xfrm>
            <a:off x="4709160" y="4544568"/>
            <a:ext cx="6979615" cy="1371600"/>
          </a:xfrm>
          <a:prstGeom prst="roundRect">
            <a:avLst>
              <a:gd name="adj" fmla="val 6667"/>
            </a:avLst>
          </a:prstGeom>
          <a:solidFill>
            <a:srgbClr val="FBE9E3"/>
          </a:solidFill>
          <a:ln w="6350">
            <a:solidFill>
              <a:srgbClr val="FBE9E3"/>
            </a:solidFill>
            <a:prstDash val="solid"/>
          </a:ln>
        </p:spPr>
      </p:sp>
      <p:sp>
        <p:nvSpPr>
          <p:cNvPr id="46" name="Text 43"/>
          <p:cNvSpPr/>
          <p:nvPr/>
        </p:nvSpPr>
        <p:spPr>
          <a:xfrm>
            <a:off x="4910328" y="4663440"/>
            <a:ext cx="6577279" cy="219456"/>
          </a:xfrm>
          <a:prstGeom prst="rect">
            <a:avLst/>
          </a:prstGeom>
          <a:noFill/>
          <a:ln/>
        </p:spPr>
        <p:txBody>
          <a:bodyPr wrap="square" lIns="0" tIns="0" rIns="0" bIns="0" rtlCol="0" anchor="t"/>
          <a:lstStyle/>
          <a:p>
            <a:pPr indent="0" marL="0">
              <a:lnSpc>
                <a:spcPct val="102000"/>
              </a:lnSpc>
              <a:buNone/>
            </a:pPr>
            <a:r>
              <a:rPr lang="en-US" sz="1050" b="1" dirty="0">
                <a:solidFill>
                  <a:srgbClr val="9E3A24"/>
                </a:solidFill>
                <a:latin typeface="Nunito Sans" pitchFamily="34" charset="0"/>
                <a:ea typeface="Nunito Sans" pitchFamily="34" charset="-122"/>
                <a:cs typeface="Nunito Sans" pitchFamily="34" charset="-120"/>
              </a:rPr>
              <a:t>The clock is already running.</a:t>
            </a:r>
            <a:endParaRPr lang="en-US" sz="1050" dirty="0"/>
          </a:p>
        </p:txBody>
      </p:sp>
      <p:sp>
        <p:nvSpPr>
          <p:cNvPr id="47" name="Text 44"/>
          <p:cNvSpPr/>
          <p:nvPr/>
        </p:nvSpPr>
        <p:spPr>
          <a:xfrm>
            <a:off x="4910328" y="4910328"/>
            <a:ext cx="6577279" cy="91440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24 Mantra is expected to reach 9/10 within 12 to 18 months of ITC integration. DHF generates more proof than anyone in the set and communicates the least of it — the one gap that is entirely self-inflicted, and the fastest to close.</a:t>
            </a:r>
            <a:endParaRPr lang="en-US" sz="900" dirty="0"/>
          </a:p>
        </p:txBody>
      </p:sp>
      <p:sp>
        <p:nvSpPr>
          <p:cNvPr id="48" name="Shape 45"/>
          <p:cNvSpPr/>
          <p:nvPr/>
        </p:nvSpPr>
        <p:spPr>
          <a:xfrm>
            <a:off x="502920" y="6455664"/>
            <a:ext cx="11185855" cy="0"/>
          </a:xfrm>
          <a:prstGeom prst="line">
            <a:avLst/>
          </a:prstGeom>
          <a:noFill/>
          <a:ln w="9525">
            <a:solidFill>
              <a:srgbClr val="E5DCCB"/>
            </a:solidFill>
            <a:prstDash val="solid"/>
          </a:ln>
        </p:spPr>
      </p:sp>
      <p:sp>
        <p:nvSpPr>
          <p:cNvPr id="49" name="Text 46"/>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02 · THE CATEGORY</a:t>
            </a:r>
            <a:endParaRPr lang="en-US" sz="800" dirty="0"/>
          </a:p>
        </p:txBody>
      </p:sp>
      <p:sp>
        <p:nvSpPr>
          <p:cNvPr id="50" name="Text 47"/>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08</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1711757"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1711757"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IMITATION RISK</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How long each advantage survives a determined competitor.</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Eleven DHF advantages stress-tested against replication time. The pattern is stark: everything cheap to copy is already copied.</a:t>
            </a:r>
            <a:endParaRPr lang="en-US" sz="1100" dirty="0"/>
          </a:p>
        </p:txBody>
      </p:sp>
      <p:sp>
        <p:nvSpPr>
          <p:cNvPr id="7" name="Shape 4"/>
          <p:cNvSpPr/>
          <p:nvPr/>
        </p:nvSpPr>
        <p:spPr>
          <a:xfrm>
            <a:off x="502920" y="2121408"/>
            <a:ext cx="7680960" cy="3794760"/>
          </a:xfrm>
          <a:prstGeom prst="roundRect">
            <a:avLst>
              <a:gd name="adj" fmla="val 2410"/>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8" name="Text 5"/>
          <p:cNvSpPr/>
          <p:nvPr/>
        </p:nvSpPr>
        <p:spPr>
          <a:xfrm>
            <a:off x="822960" y="2395728"/>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Pesticide-Free label claim</a:t>
            </a:r>
            <a:endParaRPr lang="en-US" sz="950" dirty="0"/>
          </a:p>
        </p:txBody>
      </p:sp>
      <p:sp>
        <p:nvSpPr>
          <p:cNvPr id="9" name="Text 6"/>
          <p:cNvSpPr/>
          <p:nvPr/>
        </p:nvSpPr>
        <p:spPr>
          <a:xfrm>
            <a:off x="6126480" y="2395728"/>
            <a:ext cx="1737360" cy="201168"/>
          </a:xfrm>
          <a:prstGeom prst="rect">
            <a:avLst/>
          </a:prstGeom>
          <a:noFill/>
          <a:ln/>
        </p:spPr>
        <p:txBody>
          <a:bodyPr wrap="square" lIns="0" tIns="0" rIns="0" bIns="0" rtlCol="0" anchor="ctr"/>
          <a:lstStyle/>
          <a:p>
            <a:pPr algn="r" indent="0" marL="0">
              <a:buNone/>
            </a:pPr>
            <a:r>
              <a:rPr lang="en-US" sz="1000" b="1" dirty="0">
                <a:solidFill>
                  <a:srgbClr val="9E3A24"/>
                </a:solidFill>
                <a:latin typeface="Nunito Sans" pitchFamily="34" charset="0"/>
                <a:ea typeface="Nunito Sans" pitchFamily="34" charset="-122"/>
                <a:cs typeface="Nunito Sans" pitchFamily="34" charset="-120"/>
              </a:rPr>
              <a:t>already copied</a:t>
            </a:r>
            <a:endParaRPr lang="en-US" sz="1000" dirty="0"/>
          </a:p>
        </p:txBody>
      </p:sp>
      <p:sp>
        <p:nvSpPr>
          <p:cNvPr id="10" name="Shape 7"/>
          <p:cNvSpPr/>
          <p:nvPr/>
        </p:nvSpPr>
        <p:spPr>
          <a:xfrm>
            <a:off x="822960" y="2615184"/>
            <a:ext cx="7040880" cy="118872"/>
          </a:xfrm>
          <a:prstGeom prst="roundRect">
            <a:avLst>
              <a:gd name="adj" fmla="val 50000"/>
            </a:avLst>
          </a:prstGeom>
          <a:solidFill>
            <a:srgbClr val="EDE4D4"/>
          </a:solidFill>
          <a:ln w="12700">
            <a:solidFill>
              <a:srgbClr val="333333"/>
            </a:solidFill>
            <a:prstDash val="solid"/>
          </a:ln>
        </p:spPr>
      </p:sp>
      <p:sp>
        <p:nvSpPr>
          <p:cNvPr id="11" name="Shape 8"/>
          <p:cNvSpPr/>
          <p:nvPr/>
        </p:nvSpPr>
        <p:spPr>
          <a:xfrm>
            <a:off x="822960" y="2615184"/>
            <a:ext cx="73152" cy="118872"/>
          </a:xfrm>
          <a:prstGeom prst="roundRect">
            <a:avLst>
              <a:gd name="adj" fmla="val 81250"/>
            </a:avLst>
          </a:prstGeom>
          <a:solidFill>
            <a:srgbClr val="9E3A24"/>
          </a:solidFill>
          <a:ln w="12700">
            <a:solidFill>
              <a:srgbClr val="333333"/>
            </a:solidFill>
            <a:prstDash val="solid"/>
          </a:ln>
        </p:spPr>
      </p:sp>
      <p:sp>
        <p:nvSpPr>
          <p:cNvPr id="12" name="Text 9"/>
          <p:cNvSpPr/>
          <p:nvPr/>
        </p:nvSpPr>
        <p:spPr>
          <a:xfrm>
            <a:off x="822960" y="2779776"/>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200+ SKU breadth</a:t>
            </a:r>
            <a:endParaRPr lang="en-US" sz="950" dirty="0"/>
          </a:p>
        </p:txBody>
      </p:sp>
      <p:sp>
        <p:nvSpPr>
          <p:cNvPr id="13" name="Text 10"/>
          <p:cNvSpPr/>
          <p:nvPr/>
        </p:nvSpPr>
        <p:spPr>
          <a:xfrm>
            <a:off x="6126480" y="2779776"/>
            <a:ext cx="1737360" cy="201168"/>
          </a:xfrm>
          <a:prstGeom prst="rect">
            <a:avLst/>
          </a:prstGeom>
          <a:noFill/>
          <a:ln/>
        </p:spPr>
        <p:txBody>
          <a:bodyPr wrap="square" lIns="0" tIns="0" rIns="0" bIns="0" rtlCol="0" anchor="ctr"/>
          <a:lstStyle/>
          <a:p>
            <a:pPr algn="r" indent="0" marL="0">
              <a:buNone/>
            </a:pPr>
            <a:r>
              <a:rPr lang="en-US" sz="1000" b="1" dirty="0">
                <a:solidFill>
                  <a:srgbClr val="C4553B"/>
                </a:solidFill>
                <a:latin typeface="Nunito Sans" pitchFamily="34" charset="0"/>
                <a:ea typeface="Nunito Sans" pitchFamily="34" charset="-122"/>
                <a:cs typeface="Nunito Sans" pitchFamily="34" charset="-120"/>
              </a:rPr>
              <a:t>3–6 months</a:t>
            </a:r>
            <a:endParaRPr lang="en-US" sz="1000" dirty="0"/>
          </a:p>
        </p:txBody>
      </p:sp>
      <p:sp>
        <p:nvSpPr>
          <p:cNvPr id="14" name="Shape 11"/>
          <p:cNvSpPr/>
          <p:nvPr/>
        </p:nvSpPr>
        <p:spPr>
          <a:xfrm>
            <a:off x="822960" y="2999232"/>
            <a:ext cx="7040880" cy="118872"/>
          </a:xfrm>
          <a:prstGeom prst="roundRect">
            <a:avLst>
              <a:gd name="adj" fmla="val 50000"/>
            </a:avLst>
          </a:prstGeom>
          <a:solidFill>
            <a:srgbClr val="EDE4D4"/>
          </a:solidFill>
          <a:ln w="12700">
            <a:solidFill>
              <a:srgbClr val="333333"/>
            </a:solidFill>
            <a:prstDash val="solid"/>
          </a:ln>
        </p:spPr>
      </p:sp>
      <p:sp>
        <p:nvSpPr>
          <p:cNvPr id="15" name="Shape 12"/>
          <p:cNvSpPr/>
          <p:nvPr/>
        </p:nvSpPr>
        <p:spPr>
          <a:xfrm>
            <a:off x="822960" y="2999232"/>
            <a:ext cx="452628" cy="118872"/>
          </a:xfrm>
          <a:prstGeom prst="roundRect">
            <a:avLst>
              <a:gd name="adj" fmla="val 50000"/>
            </a:avLst>
          </a:prstGeom>
          <a:solidFill>
            <a:srgbClr val="C4553B"/>
          </a:solidFill>
          <a:ln w="12700">
            <a:solidFill>
              <a:srgbClr val="333333"/>
            </a:solidFill>
            <a:prstDash val="solid"/>
          </a:ln>
        </p:spPr>
      </p:sp>
      <p:sp>
        <p:nvSpPr>
          <p:cNvPr id="16" name="Text 13"/>
          <p:cNvSpPr/>
          <p:nvPr/>
        </p:nvSpPr>
        <p:spPr>
          <a:xfrm>
            <a:off x="822960" y="3163824"/>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Quick-commerce presence</a:t>
            </a:r>
            <a:endParaRPr lang="en-US" sz="950" dirty="0"/>
          </a:p>
        </p:txBody>
      </p:sp>
      <p:sp>
        <p:nvSpPr>
          <p:cNvPr id="17" name="Text 14"/>
          <p:cNvSpPr/>
          <p:nvPr/>
        </p:nvSpPr>
        <p:spPr>
          <a:xfrm>
            <a:off x="6126480" y="3163824"/>
            <a:ext cx="1737360" cy="201168"/>
          </a:xfrm>
          <a:prstGeom prst="rect">
            <a:avLst/>
          </a:prstGeom>
          <a:noFill/>
          <a:ln/>
        </p:spPr>
        <p:txBody>
          <a:bodyPr wrap="square" lIns="0" tIns="0" rIns="0" bIns="0" rtlCol="0" anchor="ctr"/>
          <a:lstStyle/>
          <a:p>
            <a:pPr algn="r" indent="0" marL="0">
              <a:buNone/>
            </a:pPr>
            <a:r>
              <a:rPr lang="en-US" sz="1000" b="1" dirty="0">
                <a:solidFill>
                  <a:srgbClr val="C8922E"/>
                </a:solidFill>
                <a:latin typeface="Nunito Sans" pitchFamily="34" charset="0"/>
                <a:ea typeface="Nunito Sans" pitchFamily="34" charset="-122"/>
                <a:cs typeface="Nunito Sans" pitchFamily="34" charset="-120"/>
              </a:rPr>
              <a:t>6–12 months</a:t>
            </a:r>
            <a:endParaRPr lang="en-US" sz="1000" dirty="0"/>
          </a:p>
        </p:txBody>
      </p:sp>
      <p:sp>
        <p:nvSpPr>
          <p:cNvPr id="18" name="Shape 15"/>
          <p:cNvSpPr/>
          <p:nvPr/>
        </p:nvSpPr>
        <p:spPr>
          <a:xfrm>
            <a:off x="822960" y="3383280"/>
            <a:ext cx="7040880" cy="118872"/>
          </a:xfrm>
          <a:prstGeom prst="roundRect">
            <a:avLst>
              <a:gd name="adj" fmla="val 50000"/>
            </a:avLst>
          </a:prstGeom>
          <a:solidFill>
            <a:srgbClr val="EDE4D4"/>
          </a:solidFill>
          <a:ln w="12700">
            <a:solidFill>
              <a:srgbClr val="333333"/>
            </a:solidFill>
            <a:prstDash val="solid"/>
          </a:ln>
        </p:spPr>
      </p:sp>
      <p:sp>
        <p:nvSpPr>
          <p:cNvPr id="19" name="Shape 16"/>
          <p:cNvSpPr/>
          <p:nvPr/>
        </p:nvSpPr>
        <p:spPr>
          <a:xfrm>
            <a:off x="822960" y="3383280"/>
            <a:ext cx="905256" cy="118872"/>
          </a:xfrm>
          <a:prstGeom prst="roundRect">
            <a:avLst>
              <a:gd name="adj" fmla="val 50000"/>
            </a:avLst>
          </a:prstGeom>
          <a:solidFill>
            <a:srgbClr val="C8922E"/>
          </a:solidFill>
          <a:ln w="12700">
            <a:solidFill>
              <a:srgbClr val="333333"/>
            </a:solidFill>
            <a:prstDash val="solid"/>
          </a:ln>
        </p:spPr>
      </p:sp>
      <p:sp>
        <p:nvSpPr>
          <p:cNvPr id="20" name="Text 17"/>
          <p:cNvSpPr/>
          <p:nvPr/>
        </p:nvSpPr>
        <p:spPr>
          <a:xfrm>
            <a:off x="822960" y="3547872"/>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230+ quality checkpoints</a:t>
            </a:r>
            <a:endParaRPr lang="en-US" sz="950" dirty="0"/>
          </a:p>
        </p:txBody>
      </p:sp>
      <p:sp>
        <p:nvSpPr>
          <p:cNvPr id="21" name="Text 18"/>
          <p:cNvSpPr/>
          <p:nvPr/>
        </p:nvSpPr>
        <p:spPr>
          <a:xfrm>
            <a:off x="6126480" y="3547872"/>
            <a:ext cx="1737360" cy="201168"/>
          </a:xfrm>
          <a:prstGeom prst="rect">
            <a:avLst/>
          </a:prstGeom>
          <a:noFill/>
          <a:ln/>
        </p:spPr>
        <p:txBody>
          <a:bodyPr wrap="square" lIns="0" tIns="0" rIns="0" bIns="0" rtlCol="0" anchor="ctr"/>
          <a:lstStyle/>
          <a:p>
            <a:pPr algn="r" indent="0" marL="0">
              <a:buNone/>
            </a:pPr>
            <a:r>
              <a:rPr lang="en-US" sz="1000" b="1" dirty="0">
                <a:solidFill>
                  <a:srgbClr val="C8922E"/>
                </a:solidFill>
                <a:latin typeface="Nunito Sans" pitchFamily="34" charset="0"/>
                <a:ea typeface="Nunito Sans" pitchFamily="34" charset="-122"/>
                <a:cs typeface="Nunito Sans" pitchFamily="34" charset="-120"/>
              </a:rPr>
              <a:t>12–18 months</a:t>
            </a:r>
            <a:endParaRPr lang="en-US" sz="1000" dirty="0"/>
          </a:p>
        </p:txBody>
      </p:sp>
      <p:sp>
        <p:nvSpPr>
          <p:cNvPr id="22" name="Shape 19"/>
          <p:cNvSpPr/>
          <p:nvPr/>
        </p:nvSpPr>
        <p:spPr>
          <a:xfrm>
            <a:off x="822960" y="3767328"/>
            <a:ext cx="7040880" cy="118872"/>
          </a:xfrm>
          <a:prstGeom prst="roundRect">
            <a:avLst>
              <a:gd name="adj" fmla="val 50000"/>
            </a:avLst>
          </a:prstGeom>
          <a:solidFill>
            <a:srgbClr val="EDE4D4"/>
          </a:solidFill>
          <a:ln w="12700">
            <a:solidFill>
              <a:srgbClr val="333333"/>
            </a:solidFill>
            <a:prstDash val="solid"/>
          </a:ln>
        </p:spPr>
      </p:sp>
      <p:sp>
        <p:nvSpPr>
          <p:cNvPr id="23" name="Shape 20"/>
          <p:cNvSpPr/>
          <p:nvPr/>
        </p:nvSpPr>
        <p:spPr>
          <a:xfrm>
            <a:off x="822960" y="3767328"/>
            <a:ext cx="1508760" cy="118872"/>
          </a:xfrm>
          <a:prstGeom prst="roundRect">
            <a:avLst>
              <a:gd name="adj" fmla="val 50000"/>
            </a:avLst>
          </a:prstGeom>
          <a:solidFill>
            <a:srgbClr val="C8922E"/>
          </a:solidFill>
          <a:ln w="12700">
            <a:solidFill>
              <a:srgbClr val="333333"/>
            </a:solidFill>
            <a:prstDash val="solid"/>
          </a:ln>
        </p:spPr>
      </p:sp>
      <p:sp>
        <p:nvSpPr>
          <p:cNvPr id="24" name="Text 21"/>
          <p:cNvSpPr/>
          <p:nvPr/>
        </p:nvSpPr>
        <p:spPr>
          <a:xfrm>
            <a:off x="822960" y="3931920"/>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QR batch traceability</a:t>
            </a:r>
            <a:endParaRPr lang="en-US" sz="950" dirty="0"/>
          </a:p>
        </p:txBody>
      </p:sp>
      <p:sp>
        <p:nvSpPr>
          <p:cNvPr id="25" name="Text 22"/>
          <p:cNvSpPr/>
          <p:nvPr/>
        </p:nvSpPr>
        <p:spPr>
          <a:xfrm>
            <a:off x="6126480" y="3931920"/>
            <a:ext cx="1737360" cy="201168"/>
          </a:xfrm>
          <a:prstGeom prst="rect">
            <a:avLst/>
          </a:prstGeom>
          <a:noFill/>
          <a:ln/>
        </p:spPr>
        <p:txBody>
          <a:bodyPr wrap="square" lIns="0" tIns="0" rIns="0" bIns="0" rtlCol="0" anchor="ctr"/>
          <a:lstStyle/>
          <a:p>
            <a:pPr algn="r" indent="0" marL="0">
              <a:buNone/>
            </a:pPr>
            <a:r>
              <a:rPr lang="en-US" sz="1000" b="1" dirty="0">
                <a:solidFill>
                  <a:srgbClr val="6688BE"/>
                </a:solidFill>
                <a:latin typeface="Nunito Sans" pitchFamily="34" charset="0"/>
                <a:ea typeface="Nunito Sans" pitchFamily="34" charset="-122"/>
                <a:cs typeface="Nunito Sans" pitchFamily="34" charset="-120"/>
              </a:rPr>
              <a:t>12–18 months</a:t>
            </a:r>
            <a:endParaRPr lang="en-US" sz="1000" dirty="0"/>
          </a:p>
        </p:txBody>
      </p:sp>
      <p:sp>
        <p:nvSpPr>
          <p:cNvPr id="26" name="Shape 23"/>
          <p:cNvSpPr/>
          <p:nvPr/>
        </p:nvSpPr>
        <p:spPr>
          <a:xfrm>
            <a:off x="822960" y="4151376"/>
            <a:ext cx="7040880" cy="118872"/>
          </a:xfrm>
          <a:prstGeom prst="roundRect">
            <a:avLst>
              <a:gd name="adj" fmla="val 50000"/>
            </a:avLst>
          </a:prstGeom>
          <a:solidFill>
            <a:srgbClr val="EDE4D4"/>
          </a:solidFill>
          <a:ln w="12700">
            <a:solidFill>
              <a:srgbClr val="333333"/>
            </a:solidFill>
            <a:prstDash val="solid"/>
          </a:ln>
        </p:spPr>
      </p:sp>
      <p:sp>
        <p:nvSpPr>
          <p:cNvPr id="27" name="Shape 24"/>
          <p:cNvSpPr/>
          <p:nvPr/>
        </p:nvSpPr>
        <p:spPr>
          <a:xfrm>
            <a:off x="822960" y="4151376"/>
            <a:ext cx="1508760" cy="118872"/>
          </a:xfrm>
          <a:prstGeom prst="roundRect">
            <a:avLst>
              <a:gd name="adj" fmla="val 50000"/>
            </a:avLst>
          </a:prstGeom>
          <a:solidFill>
            <a:srgbClr val="6688BE"/>
          </a:solidFill>
          <a:ln w="12700">
            <a:solidFill>
              <a:srgbClr val="333333"/>
            </a:solidFill>
            <a:prstDash val="solid"/>
          </a:ln>
        </p:spPr>
      </p:sp>
      <p:sp>
        <p:nvSpPr>
          <p:cNvPr id="28" name="Text 25"/>
          <p:cNvSpPr/>
          <p:nvPr/>
        </p:nvSpPr>
        <p:spPr>
          <a:xfrm>
            <a:off x="822960" y="4315968"/>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Farm-level residue testing</a:t>
            </a:r>
            <a:endParaRPr lang="en-US" sz="950" dirty="0"/>
          </a:p>
        </p:txBody>
      </p:sp>
      <p:sp>
        <p:nvSpPr>
          <p:cNvPr id="29" name="Text 26"/>
          <p:cNvSpPr/>
          <p:nvPr/>
        </p:nvSpPr>
        <p:spPr>
          <a:xfrm>
            <a:off x="6126480" y="4315968"/>
            <a:ext cx="1737360" cy="201168"/>
          </a:xfrm>
          <a:prstGeom prst="rect">
            <a:avLst/>
          </a:prstGeom>
          <a:noFill/>
          <a:ln/>
        </p:spPr>
        <p:txBody>
          <a:bodyPr wrap="square" lIns="0" tIns="0" rIns="0" bIns="0" rtlCol="0" anchor="ctr"/>
          <a:lstStyle/>
          <a:p>
            <a:pPr algn="r" indent="0" marL="0">
              <a:buNone/>
            </a:pPr>
            <a:r>
              <a:rPr lang="en-US" sz="1000" b="1" dirty="0">
                <a:solidFill>
                  <a:srgbClr val="3A5D97"/>
                </a:solidFill>
                <a:latin typeface="Nunito Sans" pitchFamily="34" charset="0"/>
                <a:ea typeface="Nunito Sans" pitchFamily="34" charset="-122"/>
                <a:cs typeface="Nunito Sans" pitchFamily="34" charset="-120"/>
              </a:rPr>
              <a:t>18–24 months</a:t>
            </a:r>
            <a:endParaRPr lang="en-US" sz="1000" dirty="0"/>
          </a:p>
        </p:txBody>
      </p:sp>
      <p:sp>
        <p:nvSpPr>
          <p:cNvPr id="30" name="Shape 27"/>
          <p:cNvSpPr/>
          <p:nvPr/>
        </p:nvSpPr>
        <p:spPr>
          <a:xfrm>
            <a:off x="822960" y="4535424"/>
            <a:ext cx="7040880" cy="118872"/>
          </a:xfrm>
          <a:prstGeom prst="roundRect">
            <a:avLst>
              <a:gd name="adj" fmla="val 50000"/>
            </a:avLst>
          </a:prstGeom>
          <a:solidFill>
            <a:srgbClr val="EDE4D4"/>
          </a:solidFill>
          <a:ln w="12700">
            <a:solidFill>
              <a:srgbClr val="333333"/>
            </a:solidFill>
            <a:prstDash val="solid"/>
          </a:ln>
        </p:spPr>
      </p:sp>
      <p:sp>
        <p:nvSpPr>
          <p:cNvPr id="31" name="Shape 28"/>
          <p:cNvSpPr/>
          <p:nvPr/>
        </p:nvSpPr>
        <p:spPr>
          <a:xfrm>
            <a:off x="822960" y="4535424"/>
            <a:ext cx="2112264" cy="118872"/>
          </a:xfrm>
          <a:prstGeom prst="roundRect">
            <a:avLst>
              <a:gd name="adj" fmla="val 50000"/>
            </a:avLst>
          </a:prstGeom>
          <a:solidFill>
            <a:srgbClr val="3A5D97"/>
          </a:solidFill>
          <a:ln w="12700">
            <a:solidFill>
              <a:srgbClr val="333333"/>
            </a:solidFill>
            <a:prstDash val="solid"/>
          </a:ln>
        </p:spPr>
      </p:sp>
      <p:sp>
        <p:nvSpPr>
          <p:cNvPr id="32" name="Text 29"/>
          <p:cNvSpPr/>
          <p:nvPr/>
        </p:nvSpPr>
        <p:spPr>
          <a:xfrm>
            <a:off x="822960" y="4700016"/>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Curated 5,000-farmer cohort</a:t>
            </a:r>
            <a:endParaRPr lang="en-US" sz="950" dirty="0"/>
          </a:p>
        </p:txBody>
      </p:sp>
      <p:sp>
        <p:nvSpPr>
          <p:cNvPr id="33" name="Text 30"/>
          <p:cNvSpPr/>
          <p:nvPr/>
        </p:nvSpPr>
        <p:spPr>
          <a:xfrm>
            <a:off x="6126480" y="4700016"/>
            <a:ext cx="1737360" cy="201168"/>
          </a:xfrm>
          <a:prstGeom prst="rect">
            <a:avLst/>
          </a:prstGeom>
          <a:noFill/>
          <a:ln/>
        </p:spPr>
        <p:txBody>
          <a:bodyPr wrap="square" lIns="0" tIns="0" rIns="0" bIns="0" rtlCol="0" anchor="ctr"/>
          <a:lstStyle/>
          <a:p>
            <a:pPr algn="r" indent="0" marL="0">
              <a:buNone/>
            </a:pPr>
            <a:r>
              <a:rPr lang="en-US" sz="1000" b="1" dirty="0">
                <a:solidFill>
                  <a:srgbClr val="2FA362"/>
                </a:solidFill>
                <a:latin typeface="Nunito Sans" pitchFamily="34" charset="0"/>
                <a:ea typeface="Nunito Sans" pitchFamily="34" charset="-122"/>
                <a:cs typeface="Nunito Sans" pitchFamily="34" charset="-120"/>
              </a:rPr>
              <a:t>24–36 months</a:t>
            </a:r>
            <a:endParaRPr lang="en-US" sz="1000" dirty="0"/>
          </a:p>
        </p:txBody>
      </p:sp>
      <p:sp>
        <p:nvSpPr>
          <p:cNvPr id="34" name="Shape 31"/>
          <p:cNvSpPr/>
          <p:nvPr/>
        </p:nvSpPr>
        <p:spPr>
          <a:xfrm>
            <a:off x="822960" y="4919472"/>
            <a:ext cx="7040880" cy="118872"/>
          </a:xfrm>
          <a:prstGeom prst="roundRect">
            <a:avLst>
              <a:gd name="adj" fmla="val 50000"/>
            </a:avLst>
          </a:prstGeom>
          <a:solidFill>
            <a:srgbClr val="EDE4D4"/>
          </a:solidFill>
          <a:ln w="12700">
            <a:solidFill>
              <a:srgbClr val="333333"/>
            </a:solidFill>
            <a:prstDash val="solid"/>
          </a:ln>
        </p:spPr>
      </p:sp>
      <p:sp>
        <p:nvSpPr>
          <p:cNvPr id="35" name="Shape 32"/>
          <p:cNvSpPr/>
          <p:nvPr/>
        </p:nvSpPr>
        <p:spPr>
          <a:xfrm>
            <a:off x="822960" y="4919472"/>
            <a:ext cx="3017520" cy="118872"/>
          </a:xfrm>
          <a:prstGeom prst="roundRect">
            <a:avLst>
              <a:gd name="adj" fmla="val 50000"/>
            </a:avLst>
          </a:prstGeom>
          <a:solidFill>
            <a:srgbClr val="2FA362"/>
          </a:solidFill>
          <a:ln w="12700">
            <a:solidFill>
              <a:srgbClr val="333333"/>
            </a:solidFill>
            <a:prstDash val="solid"/>
          </a:ln>
        </p:spPr>
      </p:sp>
      <p:sp>
        <p:nvSpPr>
          <p:cNvPr id="36" name="Text 33"/>
          <p:cNvSpPr/>
          <p:nvPr/>
        </p:nvSpPr>
        <p:spPr>
          <a:xfrm>
            <a:off x="822960" y="5084064"/>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Farmer margin model</a:t>
            </a:r>
            <a:endParaRPr lang="en-US" sz="950" dirty="0"/>
          </a:p>
        </p:txBody>
      </p:sp>
      <p:sp>
        <p:nvSpPr>
          <p:cNvPr id="37" name="Text 34"/>
          <p:cNvSpPr/>
          <p:nvPr/>
        </p:nvSpPr>
        <p:spPr>
          <a:xfrm>
            <a:off x="6126480" y="5084064"/>
            <a:ext cx="1737360" cy="201168"/>
          </a:xfrm>
          <a:prstGeom prst="rect">
            <a:avLst/>
          </a:prstGeom>
          <a:noFill/>
          <a:ln/>
        </p:spPr>
        <p:txBody>
          <a:bodyPr wrap="square" lIns="0" tIns="0" rIns="0" bIns="0" rtlCol="0" anchor="ctr"/>
          <a:lstStyle/>
          <a:p>
            <a:pPr algn="r" indent="0" marL="0">
              <a:buNone/>
            </a:pPr>
            <a:r>
              <a:rPr lang="en-US" sz="1000" b="1" dirty="0">
                <a:solidFill>
                  <a:srgbClr val="177A46"/>
                </a:solidFill>
                <a:latin typeface="Nunito Sans" pitchFamily="34" charset="0"/>
                <a:ea typeface="Nunito Sans" pitchFamily="34" charset="-122"/>
                <a:cs typeface="Nunito Sans" pitchFamily="34" charset="-120"/>
              </a:rPr>
              <a:t>3–5 years</a:t>
            </a:r>
            <a:endParaRPr lang="en-US" sz="1000" dirty="0"/>
          </a:p>
        </p:txBody>
      </p:sp>
      <p:sp>
        <p:nvSpPr>
          <p:cNvPr id="38" name="Shape 35"/>
          <p:cNvSpPr/>
          <p:nvPr/>
        </p:nvSpPr>
        <p:spPr>
          <a:xfrm>
            <a:off x="822960" y="5303520"/>
            <a:ext cx="7040880" cy="118872"/>
          </a:xfrm>
          <a:prstGeom prst="roundRect">
            <a:avLst>
              <a:gd name="adj" fmla="val 50000"/>
            </a:avLst>
          </a:prstGeom>
          <a:solidFill>
            <a:srgbClr val="EDE4D4"/>
          </a:solidFill>
          <a:ln w="12700">
            <a:solidFill>
              <a:srgbClr val="333333"/>
            </a:solidFill>
            <a:prstDash val="solid"/>
          </a:ln>
        </p:spPr>
      </p:sp>
      <p:sp>
        <p:nvSpPr>
          <p:cNvPr id="39" name="Shape 36"/>
          <p:cNvSpPr/>
          <p:nvPr/>
        </p:nvSpPr>
        <p:spPr>
          <a:xfrm>
            <a:off x="822960" y="5303520"/>
            <a:ext cx="4828032" cy="118872"/>
          </a:xfrm>
          <a:prstGeom prst="roundRect">
            <a:avLst>
              <a:gd name="adj" fmla="val 50000"/>
            </a:avLst>
          </a:prstGeom>
          <a:solidFill>
            <a:srgbClr val="177A46"/>
          </a:solidFill>
          <a:ln w="12700">
            <a:solidFill>
              <a:srgbClr val="333333"/>
            </a:solidFill>
            <a:prstDash val="solid"/>
          </a:ln>
        </p:spPr>
      </p:sp>
      <p:sp>
        <p:nvSpPr>
          <p:cNvPr id="40" name="Text 37"/>
          <p:cNvSpPr/>
          <p:nvPr/>
        </p:nvSpPr>
        <p:spPr>
          <a:xfrm>
            <a:off x="822960" y="5468112"/>
            <a:ext cx="53035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DeHaat agritech input control</a:t>
            </a:r>
            <a:endParaRPr lang="en-US" sz="950" dirty="0"/>
          </a:p>
        </p:txBody>
      </p:sp>
      <p:sp>
        <p:nvSpPr>
          <p:cNvPr id="41" name="Text 38"/>
          <p:cNvSpPr/>
          <p:nvPr/>
        </p:nvSpPr>
        <p:spPr>
          <a:xfrm>
            <a:off x="6126480" y="5468112"/>
            <a:ext cx="1737360" cy="201168"/>
          </a:xfrm>
          <a:prstGeom prst="rect">
            <a:avLst/>
          </a:prstGeom>
          <a:noFill/>
          <a:ln/>
        </p:spPr>
        <p:txBody>
          <a:bodyPr wrap="square" lIns="0" tIns="0" rIns="0" bIns="0" rtlCol="0" anchor="ctr"/>
          <a:lstStyle/>
          <a:p>
            <a:pPr algn="r" indent="0" marL="0">
              <a:buNone/>
            </a:pPr>
            <a:r>
              <a:rPr lang="en-US" sz="1000" b="1" dirty="0">
                <a:solidFill>
                  <a:srgbClr val="177A46"/>
                </a:solidFill>
                <a:latin typeface="Nunito Sans" pitchFamily="34" charset="0"/>
                <a:ea typeface="Nunito Sans" pitchFamily="34" charset="-122"/>
                <a:cs typeface="Nunito Sans" pitchFamily="34" charset="-120"/>
              </a:rPr>
              <a:t>5+ years</a:t>
            </a:r>
            <a:endParaRPr lang="en-US" sz="1000" dirty="0"/>
          </a:p>
        </p:txBody>
      </p:sp>
      <p:sp>
        <p:nvSpPr>
          <p:cNvPr id="42" name="Shape 39"/>
          <p:cNvSpPr/>
          <p:nvPr/>
        </p:nvSpPr>
        <p:spPr>
          <a:xfrm>
            <a:off x="822960" y="5687568"/>
            <a:ext cx="7040880" cy="118872"/>
          </a:xfrm>
          <a:prstGeom prst="roundRect">
            <a:avLst>
              <a:gd name="adj" fmla="val 50000"/>
            </a:avLst>
          </a:prstGeom>
          <a:solidFill>
            <a:srgbClr val="EDE4D4"/>
          </a:solidFill>
          <a:ln w="12700">
            <a:solidFill>
              <a:srgbClr val="333333"/>
            </a:solidFill>
            <a:prstDash val="solid"/>
          </a:ln>
        </p:spPr>
      </p:sp>
      <p:sp>
        <p:nvSpPr>
          <p:cNvPr id="43" name="Shape 40"/>
          <p:cNvSpPr/>
          <p:nvPr/>
        </p:nvSpPr>
        <p:spPr>
          <a:xfrm>
            <a:off x="822960" y="5687568"/>
            <a:ext cx="6638544" cy="118872"/>
          </a:xfrm>
          <a:prstGeom prst="roundRect">
            <a:avLst>
              <a:gd name="adj" fmla="val 50000"/>
            </a:avLst>
          </a:prstGeom>
          <a:solidFill>
            <a:srgbClr val="177A46"/>
          </a:solidFill>
          <a:ln w="12700">
            <a:solidFill>
              <a:srgbClr val="333333"/>
            </a:solidFill>
            <a:prstDash val="solid"/>
          </a:ln>
        </p:spPr>
      </p:sp>
      <p:sp>
        <p:nvSpPr>
          <p:cNvPr id="44" name="Shape 41"/>
          <p:cNvSpPr/>
          <p:nvPr/>
        </p:nvSpPr>
        <p:spPr>
          <a:xfrm>
            <a:off x="8458200" y="2121408"/>
            <a:ext cx="3230575" cy="1417320"/>
          </a:xfrm>
          <a:prstGeom prst="roundRect">
            <a:avLst>
              <a:gd name="adj" fmla="val 6452"/>
            </a:avLst>
          </a:prstGeom>
          <a:solidFill>
            <a:srgbClr val="FBE9E3"/>
          </a:solidFill>
          <a:ln w="6350">
            <a:solidFill>
              <a:srgbClr val="FBE9E3"/>
            </a:solidFill>
            <a:prstDash val="solid"/>
          </a:ln>
        </p:spPr>
      </p:sp>
      <p:sp>
        <p:nvSpPr>
          <p:cNvPr id="45" name="Text 42"/>
          <p:cNvSpPr/>
          <p:nvPr/>
        </p:nvSpPr>
        <p:spPr>
          <a:xfrm>
            <a:off x="8659368" y="2240280"/>
            <a:ext cx="2828239" cy="402336"/>
          </a:xfrm>
          <a:prstGeom prst="rect">
            <a:avLst/>
          </a:prstGeom>
          <a:noFill/>
          <a:ln/>
        </p:spPr>
        <p:txBody>
          <a:bodyPr wrap="square" lIns="0" tIns="0" rIns="0" bIns="0" rtlCol="0" anchor="t"/>
          <a:lstStyle/>
          <a:p>
            <a:pPr indent="0" marL="0">
              <a:lnSpc>
                <a:spcPct val="102000"/>
              </a:lnSpc>
              <a:buNone/>
            </a:pPr>
            <a:r>
              <a:rPr lang="en-US" sz="1050" b="1" dirty="0">
                <a:solidFill>
                  <a:srgbClr val="9E3A24"/>
                </a:solidFill>
                <a:latin typeface="Nunito Sans" pitchFamily="34" charset="0"/>
                <a:ea typeface="Nunito Sans" pitchFamily="34" charset="-122"/>
                <a:cs typeface="Nunito Sans" pitchFamily="34" charset="-120"/>
              </a:rPr>
              <a:t>Everything below the line is table stakes.</a:t>
            </a:r>
            <a:endParaRPr lang="en-US" sz="1050" dirty="0"/>
          </a:p>
        </p:txBody>
      </p:sp>
      <p:sp>
        <p:nvSpPr>
          <p:cNvPr id="46" name="Text 43"/>
          <p:cNvSpPr/>
          <p:nvPr/>
        </p:nvSpPr>
        <p:spPr>
          <a:xfrm>
            <a:off x="8659368" y="2670048"/>
            <a:ext cx="2828239" cy="77724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A label claim, SKU breadth and quick-commerce presence buy nothing durable. They are the cost of entry, not the moat.</a:t>
            </a:r>
            <a:endParaRPr lang="en-US" sz="900" dirty="0"/>
          </a:p>
        </p:txBody>
      </p:sp>
      <p:sp>
        <p:nvSpPr>
          <p:cNvPr id="47" name="Shape 44"/>
          <p:cNvSpPr/>
          <p:nvPr/>
        </p:nvSpPr>
        <p:spPr>
          <a:xfrm>
            <a:off x="8458200" y="3694176"/>
            <a:ext cx="3230575" cy="2194560"/>
          </a:xfrm>
          <a:prstGeom prst="roundRect">
            <a:avLst>
              <a:gd name="adj" fmla="val 4167"/>
            </a:avLst>
          </a:prstGeom>
          <a:solidFill>
            <a:srgbClr val="E4F2EA"/>
          </a:solidFill>
          <a:ln w="6350">
            <a:solidFill>
              <a:srgbClr val="E4F2EA"/>
            </a:solidFill>
            <a:prstDash val="solid"/>
          </a:ln>
        </p:spPr>
      </p:sp>
      <p:sp>
        <p:nvSpPr>
          <p:cNvPr id="48" name="Text 45"/>
          <p:cNvSpPr/>
          <p:nvPr/>
        </p:nvSpPr>
        <p:spPr>
          <a:xfrm>
            <a:off x="8659368" y="3813048"/>
            <a:ext cx="2828239" cy="219456"/>
          </a:xfrm>
          <a:prstGeom prst="rect">
            <a:avLst/>
          </a:prstGeom>
          <a:noFill/>
          <a:ln/>
        </p:spPr>
        <p:txBody>
          <a:bodyPr wrap="square" lIns="0" tIns="0" rIns="0" bIns="0" rtlCol="0" anchor="t"/>
          <a:lstStyle/>
          <a:p>
            <a:pPr indent="0" marL="0">
              <a:lnSpc>
                <a:spcPct val="102000"/>
              </a:lnSpc>
              <a:buNone/>
            </a:pPr>
            <a:r>
              <a:rPr lang="en-US" sz="1050" b="1" dirty="0">
                <a:solidFill>
                  <a:srgbClr val="177A46"/>
                </a:solidFill>
                <a:latin typeface="Nunito Sans" pitchFamily="34" charset="0"/>
                <a:ea typeface="Nunito Sans" pitchFamily="34" charset="-122"/>
                <a:cs typeface="Nunito Sans" pitchFamily="34" charset="-120"/>
              </a:rPr>
              <a:t>Only the bottom three survive.</a:t>
            </a:r>
            <a:endParaRPr lang="en-US" sz="1050" dirty="0"/>
          </a:p>
        </p:txBody>
      </p:sp>
      <p:sp>
        <p:nvSpPr>
          <p:cNvPr id="49" name="Text 46"/>
          <p:cNvSpPr/>
          <p:nvPr/>
        </p:nvSpPr>
        <p:spPr>
          <a:xfrm>
            <a:off x="8659368" y="4059936"/>
            <a:ext cx="2828239" cy="173736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The curated farmer cohort, the farmer margin model and DeHaat's agritech input control take three to five-plus years to replicate — because they are relationships and systems, not features. Those are what the brand should be built on.</a:t>
            </a:r>
            <a:endParaRPr lang="en-US" sz="900" dirty="0"/>
          </a:p>
        </p:txBody>
      </p:sp>
      <p:sp>
        <p:nvSpPr>
          <p:cNvPr id="50" name="Shape 47"/>
          <p:cNvSpPr/>
          <p:nvPr/>
        </p:nvSpPr>
        <p:spPr>
          <a:xfrm>
            <a:off x="502920" y="6455664"/>
            <a:ext cx="11185855" cy="0"/>
          </a:xfrm>
          <a:prstGeom prst="line">
            <a:avLst/>
          </a:prstGeom>
          <a:noFill/>
          <a:ln w="9525">
            <a:solidFill>
              <a:srgbClr val="E5DCCB"/>
            </a:solidFill>
            <a:prstDash val="solid"/>
          </a:ln>
        </p:spPr>
      </p:sp>
      <p:sp>
        <p:nvSpPr>
          <p:cNvPr id="51" name="Text 48"/>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02 · THE CATEGORY</a:t>
            </a:r>
            <a:endParaRPr lang="en-US" sz="800" dirty="0"/>
          </a:p>
        </p:txBody>
      </p:sp>
      <p:sp>
        <p:nvSpPr>
          <p:cNvPr id="52" name="Text 49"/>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09</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249424"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249424"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UNTAPPED OPPORTUNITY</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DeHaat Honest Farms is a system-led challenger.</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Every other player proves safety by testing the harvest or buying a certificate. DHF is the only one that can prevent the problem at the input — because it already runs the agritech network the farmer plants with.</a:t>
            </a:r>
            <a:endParaRPr lang="en-US" sz="1100" dirty="0"/>
          </a:p>
        </p:txBody>
      </p:sp>
      <p:sp>
        <p:nvSpPr>
          <p:cNvPr id="7" name="Shape 4"/>
          <p:cNvSpPr/>
          <p:nvPr/>
        </p:nvSpPr>
        <p:spPr>
          <a:xfrm>
            <a:off x="502920" y="2121408"/>
            <a:ext cx="6766560" cy="1005840"/>
          </a:xfrm>
          <a:prstGeom prst="roundRect">
            <a:avLst>
              <a:gd name="adj" fmla="val 9091"/>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8" name="Shape 5"/>
          <p:cNvSpPr/>
          <p:nvPr/>
        </p:nvSpPr>
        <p:spPr>
          <a:xfrm>
            <a:off x="704088" y="2304288"/>
            <a:ext cx="384048" cy="384048"/>
          </a:xfrm>
          <a:prstGeom prst="roundRect">
            <a:avLst>
              <a:gd name="adj" fmla="val 19048"/>
            </a:avLst>
          </a:prstGeom>
          <a:solidFill>
            <a:srgbClr val="177A46"/>
          </a:solidFill>
          <a:ln w="12700">
            <a:solidFill>
              <a:srgbClr val="333333"/>
            </a:solidFill>
            <a:prstDash val="solid"/>
          </a:ln>
        </p:spPr>
      </p:sp>
      <p:sp>
        <p:nvSpPr>
          <p:cNvPr id="9" name="Text 6"/>
          <p:cNvSpPr/>
          <p:nvPr/>
        </p:nvSpPr>
        <p:spPr>
          <a:xfrm>
            <a:off x="704088" y="2304288"/>
            <a:ext cx="384048" cy="384048"/>
          </a:xfrm>
          <a:prstGeom prst="rect">
            <a:avLst/>
          </a:prstGeom>
          <a:noFill/>
          <a:ln/>
        </p:spPr>
        <p:txBody>
          <a:bodyPr wrap="square" lIns="0" tIns="0" rIns="0" bIns="0" rtlCol="0" anchor="ctr"/>
          <a:lstStyle/>
          <a:p>
            <a:pPr algn="ctr" indent="0" marL="0">
              <a:buNone/>
            </a:pPr>
            <a:r>
              <a:rPr lang="en-US" sz="900" dirty="0">
                <a:solidFill>
                  <a:srgbClr val="FFFFFF"/>
                </a:solidFill>
                <a:latin typeface="Archivo Black" pitchFamily="34" charset="0"/>
                <a:ea typeface="Archivo Black" pitchFamily="34" charset="-122"/>
                <a:cs typeface="Archivo Black" pitchFamily="34" charset="-120"/>
              </a:rPr>
              <a:t>01</a:t>
            </a:r>
            <a:endParaRPr lang="en-US" sz="900" dirty="0"/>
          </a:p>
        </p:txBody>
      </p:sp>
      <p:sp>
        <p:nvSpPr>
          <p:cNvPr id="10" name="Text 7"/>
          <p:cNvSpPr/>
          <p:nvPr/>
        </p:nvSpPr>
        <p:spPr>
          <a:xfrm>
            <a:off x="1216152" y="2267712"/>
            <a:ext cx="5852160" cy="256032"/>
          </a:xfrm>
          <a:prstGeom prst="rect">
            <a:avLst/>
          </a:prstGeom>
          <a:noFill/>
          <a:ln/>
        </p:spPr>
        <p:txBody>
          <a:bodyPr wrap="square" lIns="0" tIns="0" rIns="0" bIns="0" rtlCol="0" anchor="t"/>
          <a:lstStyle/>
          <a:p>
            <a:pPr indent="0" marL="0">
              <a:buNone/>
            </a:pPr>
            <a:r>
              <a:rPr lang="en-US" sz="1150" b="1" dirty="0">
                <a:solidFill>
                  <a:srgbClr val="0C1A2B"/>
                </a:solidFill>
                <a:latin typeface="Nunito Sans" pitchFamily="34" charset="0"/>
                <a:ea typeface="Nunito Sans" pitchFamily="34" charset="-122"/>
                <a:cs typeface="Nunito Sans" pitchFamily="34" charset="-120"/>
              </a:rPr>
              <a:t>AgriTech-embedded input control</a:t>
            </a:r>
            <a:endParaRPr lang="en-US" sz="1150" dirty="0"/>
          </a:p>
        </p:txBody>
      </p:sp>
      <p:sp>
        <p:nvSpPr>
          <p:cNvPr id="11" name="Text 8"/>
          <p:cNvSpPr/>
          <p:nvPr/>
        </p:nvSpPr>
        <p:spPr>
          <a:xfrm>
            <a:off x="1216152" y="2523744"/>
            <a:ext cx="5852160" cy="274320"/>
          </a:xfrm>
          <a:prstGeom prst="rect">
            <a:avLst/>
          </a:prstGeom>
          <a:noFill/>
          <a:ln/>
        </p:spPr>
        <p:txBody>
          <a:bodyPr wrap="square" lIns="0" tIns="0" rIns="0" bIns="0" rtlCol="0" anchor="t"/>
          <a:lstStyle/>
          <a:p>
            <a:pPr indent="0" marL="0">
              <a:buNone/>
            </a:pPr>
            <a:r>
              <a:rPr lang="en-US" sz="950" dirty="0">
                <a:solidFill>
                  <a:srgbClr val="54606F"/>
                </a:solidFill>
                <a:latin typeface="Nunito Sans" pitchFamily="34" charset="0"/>
                <a:ea typeface="Nunito Sans" pitchFamily="34" charset="-122"/>
                <a:cs typeface="Nunito Sans" pitchFamily="34" charset="-120"/>
              </a:rPr>
              <a:t>We prevent pesticide use at source, rather than testing for it afterward.</a:t>
            </a:r>
            <a:endParaRPr lang="en-US" sz="950" dirty="0"/>
          </a:p>
        </p:txBody>
      </p:sp>
      <p:sp>
        <p:nvSpPr>
          <p:cNvPr id="12" name="Text 9"/>
          <p:cNvSpPr/>
          <p:nvPr/>
        </p:nvSpPr>
        <p:spPr>
          <a:xfrm>
            <a:off x="1216152" y="2816352"/>
            <a:ext cx="5852160" cy="219456"/>
          </a:xfrm>
          <a:prstGeom prst="rect">
            <a:avLst/>
          </a:prstGeom>
          <a:noFill/>
          <a:ln/>
        </p:spPr>
        <p:txBody>
          <a:bodyPr wrap="square" lIns="0" tIns="0" rIns="0" bIns="0" rtlCol="0" anchor="t"/>
          <a:lstStyle/>
          <a:p>
            <a:pPr indent="0" marL="0">
              <a:buNone/>
            </a:pPr>
            <a:r>
              <a:rPr lang="en-US" sz="800" b="1" spc="80" kern="0" dirty="0">
                <a:solidFill>
                  <a:srgbClr val="9E3A24"/>
                </a:solidFill>
                <a:latin typeface="Nunito Sans" pitchFamily="34" charset="0"/>
                <a:ea typeface="Nunito Sans" pitchFamily="34" charset="-122"/>
                <a:cs typeface="Nunito Sans" pitchFamily="34" charset="-120"/>
              </a:rPr>
              <a:t>CURRENT USE IN BRAND COMMUNICATION: NEAR ZERO</a:t>
            </a:r>
            <a:endParaRPr lang="en-US" sz="800" dirty="0"/>
          </a:p>
        </p:txBody>
      </p:sp>
      <p:sp>
        <p:nvSpPr>
          <p:cNvPr id="13" name="Shape 10"/>
          <p:cNvSpPr/>
          <p:nvPr/>
        </p:nvSpPr>
        <p:spPr>
          <a:xfrm>
            <a:off x="502920" y="3255264"/>
            <a:ext cx="6766560" cy="1005840"/>
          </a:xfrm>
          <a:prstGeom prst="roundRect">
            <a:avLst>
              <a:gd name="adj" fmla="val 9091"/>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14" name="Shape 11"/>
          <p:cNvSpPr/>
          <p:nvPr/>
        </p:nvSpPr>
        <p:spPr>
          <a:xfrm>
            <a:off x="704088" y="3438144"/>
            <a:ext cx="384048" cy="384048"/>
          </a:xfrm>
          <a:prstGeom prst="roundRect">
            <a:avLst>
              <a:gd name="adj" fmla="val 19048"/>
            </a:avLst>
          </a:prstGeom>
          <a:solidFill>
            <a:srgbClr val="177A46"/>
          </a:solidFill>
          <a:ln w="12700">
            <a:solidFill>
              <a:srgbClr val="333333"/>
            </a:solidFill>
            <a:prstDash val="solid"/>
          </a:ln>
        </p:spPr>
      </p:sp>
      <p:sp>
        <p:nvSpPr>
          <p:cNvPr id="15" name="Text 12"/>
          <p:cNvSpPr/>
          <p:nvPr/>
        </p:nvSpPr>
        <p:spPr>
          <a:xfrm>
            <a:off x="704088" y="3438144"/>
            <a:ext cx="384048" cy="384048"/>
          </a:xfrm>
          <a:prstGeom prst="rect">
            <a:avLst/>
          </a:prstGeom>
          <a:noFill/>
          <a:ln/>
        </p:spPr>
        <p:txBody>
          <a:bodyPr wrap="square" lIns="0" tIns="0" rIns="0" bIns="0" rtlCol="0" anchor="ctr"/>
          <a:lstStyle/>
          <a:p>
            <a:pPr algn="ctr" indent="0" marL="0">
              <a:buNone/>
            </a:pPr>
            <a:r>
              <a:rPr lang="en-US" sz="900" dirty="0">
                <a:solidFill>
                  <a:srgbClr val="FFFFFF"/>
                </a:solidFill>
                <a:latin typeface="Archivo Black" pitchFamily="34" charset="0"/>
                <a:ea typeface="Archivo Black" pitchFamily="34" charset="-122"/>
                <a:cs typeface="Archivo Black" pitchFamily="34" charset="-120"/>
              </a:rPr>
              <a:t>02</a:t>
            </a:r>
            <a:endParaRPr lang="en-US" sz="900" dirty="0"/>
          </a:p>
        </p:txBody>
      </p:sp>
      <p:sp>
        <p:nvSpPr>
          <p:cNvPr id="16" name="Text 13"/>
          <p:cNvSpPr/>
          <p:nvPr/>
        </p:nvSpPr>
        <p:spPr>
          <a:xfrm>
            <a:off x="1216152" y="3401568"/>
            <a:ext cx="5852160" cy="256032"/>
          </a:xfrm>
          <a:prstGeom prst="rect">
            <a:avLst/>
          </a:prstGeom>
          <a:noFill/>
          <a:ln/>
        </p:spPr>
        <p:txBody>
          <a:bodyPr wrap="square" lIns="0" tIns="0" rIns="0" bIns="0" rtlCol="0" anchor="t"/>
          <a:lstStyle/>
          <a:p>
            <a:pPr indent="0" marL="0">
              <a:buNone/>
            </a:pPr>
            <a:r>
              <a:rPr lang="en-US" sz="1150" b="1" dirty="0">
                <a:solidFill>
                  <a:srgbClr val="0C1A2B"/>
                </a:solidFill>
                <a:latin typeface="Nunito Sans" pitchFamily="34" charset="0"/>
                <a:ea typeface="Nunito Sans" pitchFamily="34" charset="-122"/>
                <a:cs typeface="Nunito Sans" pitchFamily="34" charset="-120"/>
              </a:rPr>
              <a:t>Continuous quality intelligence across 2M farms</a:t>
            </a:r>
            <a:endParaRPr lang="en-US" sz="1150" dirty="0"/>
          </a:p>
        </p:txBody>
      </p:sp>
      <p:sp>
        <p:nvSpPr>
          <p:cNvPr id="17" name="Text 14"/>
          <p:cNvSpPr/>
          <p:nvPr/>
        </p:nvSpPr>
        <p:spPr>
          <a:xfrm>
            <a:off x="1216152" y="3657600"/>
            <a:ext cx="5852160" cy="274320"/>
          </a:xfrm>
          <a:prstGeom prst="rect">
            <a:avLst/>
          </a:prstGeom>
          <a:noFill/>
          <a:ln/>
        </p:spPr>
        <p:txBody>
          <a:bodyPr wrap="square" lIns="0" tIns="0" rIns="0" bIns="0" rtlCol="0" anchor="t"/>
          <a:lstStyle/>
          <a:p>
            <a:pPr indent="0" marL="0">
              <a:buNone/>
            </a:pPr>
            <a:r>
              <a:rPr lang="en-US" sz="950" dirty="0">
                <a:solidFill>
                  <a:srgbClr val="54606F"/>
                </a:solidFill>
                <a:latin typeface="Nunito Sans" pitchFamily="34" charset="0"/>
                <a:ea typeface="Nunito Sans" pitchFamily="34" charset="-122"/>
                <a:cs typeface="Nunito Sans" pitchFamily="34" charset="-120"/>
              </a:rPr>
              <a:t>Quality trajectory is known before harvest, not after rejection.</a:t>
            </a:r>
            <a:endParaRPr lang="en-US" sz="950" dirty="0"/>
          </a:p>
        </p:txBody>
      </p:sp>
      <p:sp>
        <p:nvSpPr>
          <p:cNvPr id="18" name="Text 15"/>
          <p:cNvSpPr/>
          <p:nvPr/>
        </p:nvSpPr>
        <p:spPr>
          <a:xfrm>
            <a:off x="1216152" y="3950208"/>
            <a:ext cx="5852160" cy="219456"/>
          </a:xfrm>
          <a:prstGeom prst="rect">
            <a:avLst/>
          </a:prstGeom>
          <a:noFill/>
          <a:ln/>
        </p:spPr>
        <p:txBody>
          <a:bodyPr wrap="square" lIns="0" tIns="0" rIns="0" bIns="0" rtlCol="0" anchor="t"/>
          <a:lstStyle/>
          <a:p>
            <a:pPr indent="0" marL="0">
              <a:buNone/>
            </a:pPr>
            <a:r>
              <a:rPr lang="en-US" sz="800" b="1" spc="80" kern="0" dirty="0">
                <a:solidFill>
                  <a:srgbClr val="9E3A24"/>
                </a:solidFill>
                <a:latin typeface="Nunito Sans" pitchFamily="34" charset="0"/>
                <a:ea typeface="Nunito Sans" pitchFamily="34" charset="-122"/>
                <a:cs typeface="Nunito Sans" pitchFamily="34" charset="-120"/>
              </a:rPr>
              <a:t>CURRENT USE IN BRAND COMMUNICATION: ZERO</a:t>
            </a:r>
            <a:endParaRPr lang="en-US" sz="800" dirty="0"/>
          </a:p>
        </p:txBody>
      </p:sp>
      <p:sp>
        <p:nvSpPr>
          <p:cNvPr id="19" name="Shape 16"/>
          <p:cNvSpPr/>
          <p:nvPr/>
        </p:nvSpPr>
        <p:spPr>
          <a:xfrm>
            <a:off x="502920" y="4389120"/>
            <a:ext cx="6766560" cy="1005840"/>
          </a:xfrm>
          <a:prstGeom prst="roundRect">
            <a:avLst>
              <a:gd name="adj" fmla="val 9091"/>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20" name="Shape 17"/>
          <p:cNvSpPr/>
          <p:nvPr/>
        </p:nvSpPr>
        <p:spPr>
          <a:xfrm>
            <a:off x="704088" y="4572000"/>
            <a:ext cx="384048" cy="384048"/>
          </a:xfrm>
          <a:prstGeom prst="roundRect">
            <a:avLst>
              <a:gd name="adj" fmla="val 19048"/>
            </a:avLst>
          </a:prstGeom>
          <a:solidFill>
            <a:srgbClr val="177A46"/>
          </a:solidFill>
          <a:ln w="12700">
            <a:solidFill>
              <a:srgbClr val="333333"/>
            </a:solidFill>
            <a:prstDash val="solid"/>
          </a:ln>
        </p:spPr>
      </p:sp>
      <p:sp>
        <p:nvSpPr>
          <p:cNvPr id="21" name="Text 18"/>
          <p:cNvSpPr/>
          <p:nvPr/>
        </p:nvSpPr>
        <p:spPr>
          <a:xfrm>
            <a:off x="704088" y="4572000"/>
            <a:ext cx="384048" cy="384048"/>
          </a:xfrm>
          <a:prstGeom prst="rect">
            <a:avLst/>
          </a:prstGeom>
          <a:noFill/>
          <a:ln/>
        </p:spPr>
        <p:txBody>
          <a:bodyPr wrap="square" lIns="0" tIns="0" rIns="0" bIns="0" rtlCol="0" anchor="ctr"/>
          <a:lstStyle/>
          <a:p>
            <a:pPr algn="ctr" indent="0" marL="0">
              <a:buNone/>
            </a:pPr>
            <a:r>
              <a:rPr lang="en-US" sz="900" dirty="0">
                <a:solidFill>
                  <a:srgbClr val="FFFFFF"/>
                </a:solidFill>
                <a:latin typeface="Archivo Black" pitchFamily="34" charset="0"/>
                <a:ea typeface="Archivo Black" pitchFamily="34" charset="-122"/>
                <a:cs typeface="Archivo Black" pitchFamily="34" charset="-120"/>
              </a:rPr>
              <a:t>03</a:t>
            </a:r>
            <a:endParaRPr lang="en-US" sz="900" dirty="0"/>
          </a:p>
        </p:txBody>
      </p:sp>
      <p:sp>
        <p:nvSpPr>
          <p:cNvPr id="22" name="Text 19"/>
          <p:cNvSpPr/>
          <p:nvPr/>
        </p:nvSpPr>
        <p:spPr>
          <a:xfrm>
            <a:off x="1216152" y="4535424"/>
            <a:ext cx="5852160" cy="256032"/>
          </a:xfrm>
          <a:prstGeom prst="rect">
            <a:avLst/>
          </a:prstGeom>
          <a:noFill/>
          <a:ln/>
        </p:spPr>
        <p:txBody>
          <a:bodyPr wrap="square" lIns="0" tIns="0" rIns="0" bIns="0" rtlCol="0" anchor="t"/>
          <a:lstStyle/>
          <a:p>
            <a:pPr indent="0" marL="0">
              <a:buNone/>
            </a:pPr>
            <a:r>
              <a:rPr lang="en-US" sz="1150" b="1" dirty="0">
                <a:solidFill>
                  <a:srgbClr val="0C1A2B"/>
                </a:solidFill>
                <a:latin typeface="Nunito Sans" pitchFamily="34" charset="0"/>
                <a:ea typeface="Nunito Sans" pitchFamily="34" charset="-122"/>
                <a:cs typeface="Nunito Sans" pitchFamily="34" charset="-120"/>
              </a:rPr>
              <a:t>Farmer economic ecosystem</a:t>
            </a:r>
            <a:endParaRPr lang="en-US" sz="1150" dirty="0"/>
          </a:p>
        </p:txBody>
      </p:sp>
      <p:sp>
        <p:nvSpPr>
          <p:cNvPr id="23" name="Text 20"/>
          <p:cNvSpPr/>
          <p:nvPr/>
        </p:nvSpPr>
        <p:spPr>
          <a:xfrm>
            <a:off x="1216152" y="4791456"/>
            <a:ext cx="5852160" cy="274320"/>
          </a:xfrm>
          <a:prstGeom prst="rect">
            <a:avLst/>
          </a:prstGeom>
          <a:noFill/>
          <a:ln/>
        </p:spPr>
        <p:txBody>
          <a:bodyPr wrap="square" lIns="0" tIns="0" rIns="0" bIns="0" rtlCol="0" anchor="t"/>
          <a:lstStyle/>
          <a:p>
            <a:pPr indent="0" marL="0">
              <a:buNone/>
            </a:pPr>
            <a:r>
              <a:rPr lang="en-US" sz="950" dirty="0">
                <a:solidFill>
                  <a:srgbClr val="54606F"/>
                </a:solidFill>
                <a:latin typeface="Nunito Sans" pitchFamily="34" charset="0"/>
                <a:ea typeface="Nunito Sans" pitchFamily="34" charset="-122"/>
                <a:cs typeface="Nunito Sans" pitchFamily="34" charset="-120"/>
              </a:rPr>
              <a:t>Supply exclusivity earned through 30 to 50% better farmer returns.</a:t>
            </a:r>
            <a:endParaRPr lang="en-US" sz="950" dirty="0"/>
          </a:p>
        </p:txBody>
      </p:sp>
      <p:sp>
        <p:nvSpPr>
          <p:cNvPr id="24" name="Text 21"/>
          <p:cNvSpPr/>
          <p:nvPr/>
        </p:nvSpPr>
        <p:spPr>
          <a:xfrm>
            <a:off x="1216152" y="5084064"/>
            <a:ext cx="5852160" cy="219456"/>
          </a:xfrm>
          <a:prstGeom prst="rect">
            <a:avLst/>
          </a:prstGeom>
          <a:noFill/>
          <a:ln/>
        </p:spPr>
        <p:txBody>
          <a:bodyPr wrap="square" lIns="0" tIns="0" rIns="0" bIns="0" rtlCol="0" anchor="t"/>
          <a:lstStyle/>
          <a:p>
            <a:pPr indent="0" marL="0">
              <a:buNone/>
            </a:pPr>
            <a:r>
              <a:rPr lang="en-US" sz="800" b="1" spc="80" kern="0" dirty="0">
                <a:solidFill>
                  <a:srgbClr val="9E3A24"/>
                </a:solidFill>
                <a:latin typeface="Nunito Sans" pitchFamily="34" charset="0"/>
                <a:ea typeface="Nunito Sans" pitchFamily="34" charset="-122"/>
                <a:cs typeface="Nunito Sans" pitchFamily="34" charset="-120"/>
              </a:rPr>
              <a:t>CURRENT USE IN BRAND COMMUNICATION: MINIMAL</a:t>
            </a:r>
            <a:endParaRPr lang="en-US" sz="800" dirty="0"/>
          </a:p>
        </p:txBody>
      </p:sp>
      <p:sp>
        <p:nvSpPr>
          <p:cNvPr id="25" name="Shape 22"/>
          <p:cNvSpPr/>
          <p:nvPr/>
        </p:nvSpPr>
        <p:spPr>
          <a:xfrm>
            <a:off x="7543800" y="2121408"/>
            <a:ext cx="4144975" cy="2377440"/>
          </a:xfrm>
          <a:prstGeom prst="roundRect">
            <a:avLst>
              <a:gd name="adj" fmla="val 3846"/>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pic>
        <p:nvPicPr>
          <p:cNvPr id="26" name="Image 1" descr="/home/user/hopper-tessarakt/site/assets/pack-toordal.jpg">    </p:cNvPr>
          <p:cNvPicPr>
            <a:picLocks noChangeAspect="1"/>
          </p:cNvPicPr>
          <p:nvPr/>
        </p:nvPicPr>
        <p:blipFill>
          <a:blip r:embed="rId2"/>
          <a:srcRect l="0" r="0" t="0" b="0"/>
          <a:stretch/>
        </p:blipFill>
        <p:spPr>
          <a:xfrm>
            <a:off x="8732520" y="2258568"/>
            <a:ext cx="1737360" cy="2103120"/>
          </a:xfrm>
          <a:prstGeom prst="rect">
            <a:avLst/>
          </a:prstGeom>
        </p:spPr>
      </p:pic>
      <p:sp>
        <p:nvSpPr>
          <p:cNvPr id="27" name="Text 23"/>
          <p:cNvSpPr/>
          <p:nvPr/>
        </p:nvSpPr>
        <p:spPr>
          <a:xfrm>
            <a:off x="7543800" y="4590288"/>
            <a:ext cx="4144975" cy="45720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The asset is already on pack and under-worked: a Know Your Farmer QR, 230+ pesticide checks, and a pesticide-free call-out.</a:t>
            </a:r>
            <a:endParaRPr lang="en-US" sz="850" dirty="0"/>
          </a:p>
        </p:txBody>
      </p:sp>
      <p:sp>
        <p:nvSpPr>
          <p:cNvPr id="28" name="Shape 24"/>
          <p:cNvSpPr/>
          <p:nvPr/>
        </p:nvSpPr>
        <p:spPr>
          <a:xfrm>
            <a:off x="7543800" y="5138928"/>
            <a:ext cx="4144975" cy="1143000"/>
          </a:xfrm>
          <a:prstGeom prst="roundRect">
            <a:avLst>
              <a:gd name="adj" fmla="val 8000"/>
            </a:avLst>
          </a:prstGeom>
          <a:solidFill>
            <a:srgbClr val="FBE9E3"/>
          </a:solidFill>
          <a:ln w="6350">
            <a:solidFill>
              <a:srgbClr val="FBE9E3"/>
            </a:solidFill>
            <a:prstDash val="solid"/>
          </a:ln>
        </p:spPr>
      </p:sp>
      <p:sp>
        <p:nvSpPr>
          <p:cNvPr id="29" name="Text 25"/>
          <p:cNvSpPr/>
          <p:nvPr/>
        </p:nvSpPr>
        <p:spPr>
          <a:xfrm>
            <a:off x="7744968" y="5257800"/>
            <a:ext cx="3742639" cy="219456"/>
          </a:xfrm>
          <a:prstGeom prst="rect">
            <a:avLst/>
          </a:prstGeom>
          <a:noFill/>
          <a:ln/>
        </p:spPr>
        <p:txBody>
          <a:bodyPr wrap="square" lIns="0" tIns="0" rIns="0" bIns="0" rtlCol="0" anchor="t"/>
          <a:lstStyle/>
          <a:p>
            <a:pPr indent="0" marL="0">
              <a:lnSpc>
                <a:spcPct val="102000"/>
              </a:lnSpc>
              <a:buNone/>
            </a:pPr>
            <a:r>
              <a:rPr lang="en-US" sz="1050" b="1" dirty="0">
                <a:solidFill>
                  <a:srgbClr val="9E3A24"/>
                </a:solidFill>
                <a:latin typeface="Nunito Sans" pitchFamily="34" charset="0"/>
                <a:ea typeface="Nunito Sans" pitchFamily="34" charset="-122"/>
                <a:cs typeface="Nunito Sans" pitchFamily="34" charset="-120"/>
              </a:rPr>
              <a:t>One thing to fix first.</a:t>
            </a:r>
            <a:endParaRPr lang="en-US" sz="1050" dirty="0"/>
          </a:p>
        </p:txBody>
      </p:sp>
      <p:sp>
        <p:nvSpPr>
          <p:cNvPr id="30" name="Text 26"/>
          <p:cNvSpPr/>
          <p:nvPr/>
        </p:nvSpPr>
        <p:spPr>
          <a:xfrm>
            <a:off x="7744968" y="5504688"/>
            <a:ext cx="3742639" cy="68580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DHF's shelf price is inconsistent across platforms. The accessible-premium corridor is only defensible if the price is coherent everywhere the shopper looks.</a:t>
            </a:r>
            <a:endParaRPr lang="en-US" sz="900" dirty="0"/>
          </a:p>
        </p:txBody>
      </p:sp>
      <p:sp>
        <p:nvSpPr>
          <p:cNvPr id="31" name="Shape 27"/>
          <p:cNvSpPr/>
          <p:nvPr/>
        </p:nvSpPr>
        <p:spPr>
          <a:xfrm>
            <a:off x="502920" y="6455664"/>
            <a:ext cx="11185855" cy="0"/>
          </a:xfrm>
          <a:prstGeom prst="line">
            <a:avLst/>
          </a:prstGeom>
          <a:noFill/>
          <a:ln w="9525">
            <a:solidFill>
              <a:srgbClr val="E5DCCB"/>
            </a:solidFill>
            <a:prstDash val="solid"/>
          </a:ln>
        </p:spPr>
      </p:sp>
      <p:sp>
        <p:nvSpPr>
          <p:cNvPr id="32" name="Text 28"/>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02 · THE CATEGORY</a:t>
            </a:r>
            <a:endParaRPr lang="en-US" sz="800" dirty="0"/>
          </a:p>
        </p:txBody>
      </p:sp>
      <p:sp>
        <p:nvSpPr>
          <p:cNvPr id="33" name="Text 29"/>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10</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logo.png">    </p:cNvPr>
          <p:cNvPicPr>
            <a:picLocks noChangeAspect="1"/>
          </p:cNvPicPr>
          <p:nvPr/>
        </p:nvPicPr>
        <p:blipFill>
          <a:blip r:embed="rId1"/>
          <a:stretch>
            <a:fillRect/>
          </a:stretch>
        </p:blipFill>
        <p:spPr>
          <a:xfrm>
            <a:off x="10317175" y="457200"/>
            <a:ext cx="1371600" cy="502920"/>
          </a:xfrm>
          <a:prstGeom prst="rect">
            <a:avLst/>
          </a:prstGeom>
        </p:spPr>
      </p:pic>
      <p:sp>
        <p:nvSpPr>
          <p:cNvPr id="3" name="Shape 0"/>
          <p:cNvSpPr/>
          <p:nvPr/>
        </p:nvSpPr>
        <p:spPr>
          <a:xfrm>
            <a:off x="502920" y="2212848"/>
            <a:ext cx="1005840" cy="64008"/>
          </a:xfrm>
          <a:prstGeom prst="rect">
            <a:avLst/>
          </a:prstGeom>
          <a:solidFill>
            <a:srgbClr val="5FC28C"/>
          </a:solidFill>
          <a:ln w="6350">
            <a:solidFill>
              <a:srgbClr val="5FC28C"/>
            </a:solidFill>
            <a:prstDash val="solid"/>
          </a:ln>
        </p:spPr>
      </p:sp>
      <p:sp>
        <p:nvSpPr>
          <p:cNvPr id="4" name="Text 1"/>
          <p:cNvSpPr/>
          <p:nvPr/>
        </p:nvSpPr>
        <p:spPr>
          <a:xfrm>
            <a:off x="502920" y="2432304"/>
            <a:ext cx="7315200" cy="256032"/>
          </a:xfrm>
          <a:prstGeom prst="rect">
            <a:avLst/>
          </a:prstGeom>
          <a:noFill/>
          <a:ln/>
        </p:spPr>
        <p:txBody>
          <a:bodyPr wrap="square" lIns="0" tIns="0" rIns="0" bIns="0" rtlCol="0" anchor="ctr"/>
          <a:lstStyle/>
          <a:p>
            <a:pPr indent="0" marL="0">
              <a:buNone/>
            </a:pPr>
            <a:r>
              <a:rPr lang="en-US" sz="950" b="1" spc="260" kern="0" dirty="0">
                <a:solidFill>
                  <a:srgbClr val="5FC28C"/>
                </a:solidFill>
                <a:latin typeface="Nunito Sans" pitchFamily="34" charset="0"/>
                <a:ea typeface="Nunito Sans" pitchFamily="34" charset="-122"/>
                <a:cs typeface="Nunito Sans" pitchFamily="34" charset="-120"/>
              </a:rPr>
              <a:t>THE GAP IN PART 02</a:t>
            </a:r>
            <a:endParaRPr lang="en-US" sz="950" dirty="0"/>
          </a:p>
        </p:txBody>
      </p:sp>
      <p:sp>
        <p:nvSpPr>
          <p:cNvPr id="5" name="Text 2"/>
          <p:cNvSpPr/>
          <p:nvPr/>
        </p:nvSpPr>
        <p:spPr>
          <a:xfrm>
            <a:off x="502920" y="2788920"/>
            <a:ext cx="9509760" cy="1920240"/>
          </a:xfrm>
          <a:prstGeom prst="rect">
            <a:avLst/>
          </a:prstGeom>
          <a:noFill/>
          <a:ln/>
        </p:spPr>
        <p:txBody>
          <a:bodyPr wrap="square" lIns="0" tIns="0" rIns="0" bIns="0" rtlCol="0" anchor="t"/>
          <a:lstStyle/>
          <a:p>
            <a:pPr indent="0" marL="0">
              <a:lnSpc>
                <a:spcPct val="106000"/>
              </a:lnSpc>
              <a:buNone/>
            </a:pPr>
            <a:r>
              <a:rPr lang="en-US" sz="3000" dirty="0">
                <a:solidFill>
                  <a:srgbClr val="FFFFFF"/>
                </a:solidFill>
                <a:latin typeface="Archivo Black" pitchFamily="34" charset="0"/>
                <a:ea typeface="Archivo Black" pitchFamily="34" charset="-122"/>
                <a:cs typeface="Archivo Black" pitchFamily="34" charset="-120"/>
              </a:rPr>
              <a:t>DHF generates more proof than anyone in the set, and communicates the least of it.</a:t>
            </a:r>
            <a:endParaRPr lang="en-US" sz="3000" dirty="0"/>
          </a:p>
        </p:txBody>
      </p:sp>
      <p:sp>
        <p:nvSpPr>
          <p:cNvPr id="6" name="Text 3"/>
          <p:cNvSpPr/>
          <p:nvPr/>
        </p:nvSpPr>
        <p:spPr>
          <a:xfrm>
            <a:off x="502920" y="4846320"/>
            <a:ext cx="7863840" cy="457200"/>
          </a:xfrm>
          <a:prstGeom prst="rect">
            <a:avLst/>
          </a:prstGeom>
          <a:noFill/>
          <a:ln/>
        </p:spPr>
        <p:txBody>
          <a:bodyPr wrap="square" lIns="0" tIns="0" rIns="0" bIns="0" rtlCol="0" anchor="t"/>
          <a:lstStyle/>
          <a:p>
            <a:pPr indent="0" marL="0">
              <a:lnSpc>
                <a:spcPct val="112000"/>
              </a:lnSpc>
              <a:buNone/>
            </a:pPr>
            <a:r>
              <a:rPr lang="en-US" sz="1200" dirty="0">
                <a:solidFill>
                  <a:srgbClr val="A9B6C7"/>
                </a:solidFill>
                <a:latin typeface="Nunito Sans" pitchFamily="34" charset="0"/>
                <a:ea typeface="Nunito Sans" pitchFamily="34" charset="-122"/>
                <a:cs typeface="Nunito Sans" pitchFamily="34" charset="-120"/>
              </a:rPr>
              <a:t>The one gap that is entirely self-inflicted — and the fastest to close.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div-03.jpg">    </p:cNvPr>
          <p:cNvPicPr>
            <a:picLocks noChangeAspect="1"/>
          </p:cNvPicPr>
          <p:nvPr/>
        </p:nvPicPr>
        <p:blipFill>
          <a:blip r:embed="rId1"/>
          <a:srcRect l="0" r="0" t="0" b="0"/>
          <a:stretch/>
        </p:blipFill>
        <p:spPr>
          <a:xfrm>
            <a:off x="0" y="0"/>
            <a:ext cx="12191695" cy="6858000"/>
          </a:xfrm>
          <a:prstGeom prst="rect">
            <a:avLst/>
          </a:prstGeom>
        </p:spPr>
      </p:pic>
      <p:pic>
        <p:nvPicPr>
          <p:cNvPr id="3" name="Image 1" descr="/home/user/hopper-tessarakt/site/assets/logo.png">    </p:cNvPr>
          <p:cNvPicPr>
            <a:picLocks noChangeAspect="1"/>
          </p:cNvPicPr>
          <p:nvPr/>
        </p:nvPicPr>
        <p:blipFill>
          <a:blip r:embed="rId2"/>
          <a:stretch>
            <a:fillRect/>
          </a:stretch>
        </p:blipFill>
        <p:spPr>
          <a:xfrm>
            <a:off x="10317175" y="457200"/>
            <a:ext cx="1371600" cy="502920"/>
          </a:xfrm>
          <a:prstGeom prst="rect">
            <a:avLst/>
          </a:prstGeom>
        </p:spPr>
      </p:pic>
      <p:sp>
        <p:nvSpPr>
          <p:cNvPr id="4" name="Text 0"/>
          <p:cNvSpPr/>
          <p:nvPr/>
        </p:nvSpPr>
        <p:spPr>
          <a:xfrm>
            <a:off x="502920" y="3200400"/>
            <a:ext cx="5486400" cy="274320"/>
          </a:xfrm>
          <a:prstGeom prst="rect">
            <a:avLst/>
          </a:prstGeom>
          <a:noFill/>
          <a:ln/>
        </p:spPr>
        <p:txBody>
          <a:bodyPr wrap="square" lIns="0" tIns="0" rIns="0" bIns="0" rtlCol="0" anchor="ctr"/>
          <a:lstStyle/>
          <a:p>
            <a:pPr indent="0" marL="0">
              <a:buNone/>
            </a:pPr>
            <a:r>
              <a:rPr lang="en-US" sz="1000" b="1" spc="320" kern="0" dirty="0">
                <a:solidFill>
                  <a:srgbClr val="5FC28C"/>
                </a:solidFill>
                <a:latin typeface="Nunito Sans" pitchFamily="34" charset="0"/>
                <a:ea typeface="Nunito Sans" pitchFamily="34" charset="-122"/>
                <a:cs typeface="Nunito Sans" pitchFamily="34" charset="-120"/>
              </a:rPr>
              <a:t>PART 03</a:t>
            </a:r>
            <a:endParaRPr lang="en-US" sz="1000" dirty="0"/>
          </a:p>
        </p:txBody>
      </p:sp>
      <p:sp>
        <p:nvSpPr>
          <p:cNvPr id="5" name="Text 1"/>
          <p:cNvSpPr/>
          <p:nvPr/>
        </p:nvSpPr>
        <p:spPr>
          <a:xfrm>
            <a:off x="502920" y="3529584"/>
            <a:ext cx="8595360" cy="960120"/>
          </a:xfrm>
          <a:prstGeom prst="rect">
            <a:avLst/>
          </a:prstGeom>
          <a:noFill/>
          <a:ln/>
        </p:spPr>
        <p:txBody>
          <a:bodyPr wrap="square" lIns="0" tIns="0" rIns="0" bIns="0" rtlCol="0" anchor="t"/>
          <a:lstStyle/>
          <a:p>
            <a:pPr indent="0" marL="0">
              <a:buNone/>
            </a:pPr>
            <a:r>
              <a:rPr lang="en-US" sz="4000" dirty="0">
                <a:solidFill>
                  <a:srgbClr val="FFFFFF"/>
                </a:solidFill>
                <a:latin typeface="Archivo Black" pitchFamily="34" charset="0"/>
                <a:ea typeface="Archivo Black" pitchFamily="34" charset="-122"/>
                <a:cs typeface="Archivo Black" pitchFamily="34" charset="-120"/>
              </a:rPr>
              <a:t>The Consumer</a:t>
            </a:r>
            <a:endParaRPr lang="en-US" sz="4000" dirty="0"/>
          </a:p>
        </p:txBody>
      </p:sp>
      <p:sp>
        <p:nvSpPr>
          <p:cNvPr id="6" name="Text 2"/>
          <p:cNvSpPr/>
          <p:nvPr/>
        </p:nvSpPr>
        <p:spPr>
          <a:xfrm>
            <a:off x="502920" y="4553712"/>
            <a:ext cx="7498080" cy="457200"/>
          </a:xfrm>
          <a:prstGeom prst="rect">
            <a:avLst/>
          </a:prstGeom>
          <a:noFill/>
          <a:ln/>
        </p:spPr>
        <p:txBody>
          <a:bodyPr wrap="square" lIns="0" tIns="0" rIns="0" bIns="0" rtlCol="0" anchor="t"/>
          <a:lstStyle/>
          <a:p>
            <a:pPr indent="0" marL="0">
              <a:lnSpc>
                <a:spcPct val="114000"/>
              </a:lnSpc>
              <a:buNone/>
            </a:pPr>
            <a:r>
              <a:rPr lang="en-US" sz="1300" dirty="0">
                <a:solidFill>
                  <a:srgbClr val="A9B6C7"/>
                </a:solidFill>
                <a:latin typeface="Nunito Sans" pitchFamily="34" charset="0"/>
                <a:ea typeface="Nunito Sans" pitchFamily="34" charset="-122"/>
                <a:cs typeface="Nunito Sans" pitchFamily="34" charset="-120"/>
              </a:rPr>
              <a:t>Thirty-one conversations and 305 surveys, turned into four people you can sell to.</a:t>
            </a:r>
            <a:endParaRPr lang="en-US" sz="1300" dirty="0"/>
          </a:p>
        </p:txBody>
      </p:sp>
      <p:sp>
        <p:nvSpPr>
          <p:cNvPr id="7" name="Shape 3"/>
          <p:cNvSpPr/>
          <p:nvPr/>
        </p:nvSpPr>
        <p:spPr>
          <a:xfrm>
            <a:off x="502920" y="5413248"/>
            <a:ext cx="3362858" cy="0"/>
          </a:xfrm>
          <a:prstGeom prst="line">
            <a:avLst/>
          </a:prstGeom>
          <a:noFill/>
          <a:ln w="9525">
            <a:solidFill>
              <a:srgbClr val="FFFFFF">
                <a:alpha val="28000"/>
              </a:srgbClr>
            </a:solidFill>
            <a:prstDash val="solid"/>
          </a:ln>
        </p:spPr>
      </p:sp>
      <p:sp>
        <p:nvSpPr>
          <p:cNvPr id="8" name="Text 4"/>
          <p:cNvSpPr/>
          <p:nvPr/>
        </p:nvSpPr>
        <p:spPr>
          <a:xfrm>
            <a:off x="502920"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Four tensions beneath the category</a:t>
            </a:r>
            <a:endParaRPr lang="en-US" sz="950" dirty="0"/>
          </a:p>
        </p:txBody>
      </p:sp>
      <p:sp>
        <p:nvSpPr>
          <p:cNvPr id="9" name="Shape 5"/>
          <p:cNvSpPr/>
          <p:nvPr/>
        </p:nvSpPr>
        <p:spPr>
          <a:xfrm>
            <a:off x="4231538" y="5413248"/>
            <a:ext cx="3362858" cy="0"/>
          </a:xfrm>
          <a:prstGeom prst="line">
            <a:avLst/>
          </a:prstGeom>
          <a:noFill/>
          <a:ln w="9525">
            <a:solidFill>
              <a:srgbClr val="FFFFFF">
                <a:alpha val="28000"/>
              </a:srgbClr>
            </a:solidFill>
            <a:prstDash val="solid"/>
          </a:ln>
        </p:spPr>
      </p:sp>
      <p:sp>
        <p:nvSpPr>
          <p:cNvPr id="10" name="Text 6"/>
          <p:cNvSpPr/>
          <p:nvPr/>
        </p:nvSpPr>
        <p:spPr>
          <a:xfrm>
            <a:off x="4231538"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Factor analysis on 15 attitude statements</a:t>
            </a:r>
            <a:endParaRPr lang="en-US" sz="950" dirty="0"/>
          </a:p>
        </p:txBody>
      </p:sp>
      <p:sp>
        <p:nvSpPr>
          <p:cNvPr id="11" name="Shape 7"/>
          <p:cNvSpPr/>
          <p:nvPr/>
        </p:nvSpPr>
        <p:spPr>
          <a:xfrm>
            <a:off x="7960157" y="5413248"/>
            <a:ext cx="3362858" cy="0"/>
          </a:xfrm>
          <a:prstGeom prst="line">
            <a:avLst/>
          </a:prstGeom>
          <a:noFill/>
          <a:ln w="9525">
            <a:solidFill>
              <a:srgbClr val="FFFFFF">
                <a:alpha val="28000"/>
              </a:srgbClr>
            </a:solidFill>
            <a:prstDash val="solid"/>
          </a:ln>
        </p:spPr>
      </p:sp>
      <p:sp>
        <p:nvSpPr>
          <p:cNvPr id="12" name="Text 8"/>
          <p:cNvSpPr/>
          <p:nvPr/>
        </p:nvSpPr>
        <p:spPr>
          <a:xfrm>
            <a:off x="7960157"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Four segments, four definitions of proof</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4668926"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4668926"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QUALITATIVE RESEARCH · 31 RESPONDENTS, 6 CITIES</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Shoppers care enormously. They just don't know what the words mean.</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Qualitative research by the team — 31 respondents across 6 cities. In-market intercepts, IDIs and ethnography, run before a single survey question was written.</a:t>
            </a:r>
            <a:endParaRPr lang="en-US" sz="1100" dirty="0"/>
          </a:p>
        </p:txBody>
      </p:sp>
      <p:sp>
        <p:nvSpPr>
          <p:cNvPr id="7" name="Shape 4"/>
          <p:cNvSpPr/>
          <p:nvPr/>
        </p:nvSpPr>
        <p:spPr>
          <a:xfrm>
            <a:off x="502920" y="2121408"/>
            <a:ext cx="3545738" cy="0"/>
          </a:xfrm>
          <a:prstGeom prst="line">
            <a:avLst/>
          </a:prstGeom>
          <a:noFill/>
          <a:ln w="25400">
            <a:solidFill>
              <a:srgbClr val="9E3A24"/>
            </a:solidFill>
            <a:prstDash val="solid"/>
          </a:ln>
        </p:spPr>
      </p:sp>
      <p:sp>
        <p:nvSpPr>
          <p:cNvPr id="8" name="Text 5"/>
          <p:cNvSpPr/>
          <p:nvPr/>
        </p:nvSpPr>
        <p:spPr>
          <a:xfrm>
            <a:off x="502920" y="2267712"/>
            <a:ext cx="3545738" cy="430276"/>
          </a:xfrm>
          <a:prstGeom prst="rect">
            <a:avLst/>
          </a:prstGeom>
          <a:noFill/>
          <a:ln/>
        </p:spPr>
        <p:txBody>
          <a:bodyPr wrap="square" lIns="0" tIns="0" rIns="0" bIns="0" rtlCol="0" anchor="t"/>
          <a:lstStyle/>
          <a:p>
            <a:pPr indent="0" marL="0">
              <a:buNone/>
            </a:pPr>
            <a:r>
              <a:rPr lang="en-US" sz="2500" dirty="0">
                <a:solidFill>
                  <a:srgbClr val="9E3A24"/>
                </a:solidFill>
                <a:latin typeface="Archivo Black" pitchFamily="34" charset="0"/>
                <a:ea typeface="Archivo Black" pitchFamily="34" charset="-122"/>
                <a:cs typeface="Archivo Black" pitchFamily="34" charset="-120"/>
              </a:rPr>
              <a:t>70%</a:t>
            </a:r>
            <a:endParaRPr lang="en-US" sz="2500" dirty="0"/>
          </a:p>
        </p:txBody>
      </p:sp>
      <p:sp>
        <p:nvSpPr>
          <p:cNvPr id="9" name="Text 6"/>
          <p:cNvSpPr/>
          <p:nvPr/>
        </p:nvSpPr>
        <p:spPr>
          <a:xfrm>
            <a:off x="502920" y="2734564"/>
            <a:ext cx="3408578" cy="447548"/>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of in-market shoppers could not distinguish "organic" from "pesticide-free"</a:t>
            </a:r>
            <a:endParaRPr lang="en-US" sz="850" dirty="0"/>
          </a:p>
        </p:txBody>
      </p:sp>
      <p:sp>
        <p:nvSpPr>
          <p:cNvPr id="10" name="Shape 7"/>
          <p:cNvSpPr/>
          <p:nvPr/>
        </p:nvSpPr>
        <p:spPr>
          <a:xfrm>
            <a:off x="4322978" y="2121408"/>
            <a:ext cx="3545738" cy="0"/>
          </a:xfrm>
          <a:prstGeom prst="line">
            <a:avLst/>
          </a:prstGeom>
          <a:noFill/>
          <a:ln w="25400">
            <a:solidFill>
              <a:srgbClr val="177A46"/>
            </a:solidFill>
            <a:prstDash val="solid"/>
          </a:ln>
        </p:spPr>
      </p:sp>
      <p:sp>
        <p:nvSpPr>
          <p:cNvPr id="11" name="Text 8"/>
          <p:cNvSpPr/>
          <p:nvPr/>
        </p:nvSpPr>
        <p:spPr>
          <a:xfrm>
            <a:off x="4322978" y="2267712"/>
            <a:ext cx="3545738" cy="430276"/>
          </a:xfrm>
          <a:prstGeom prst="rect">
            <a:avLst/>
          </a:prstGeom>
          <a:noFill/>
          <a:ln/>
        </p:spPr>
        <p:txBody>
          <a:bodyPr wrap="square" lIns="0" tIns="0" rIns="0" bIns="0" rtlCol="0" anchor="t"/>
          <a:lstStyle/>
          <a:p>
            <a:pPr indent="0" marL="0">
              <a:buNone/>
            </a:pPr>
            <a:r>
              <a:rPr lang="en-US" sz="2500" dirty="0">
                <a:solidFill>
                  <a:srgbClr val="177A46"/>
                </a:solidFill>
                <a:latin typeface="Archivo Black" pitchFamily="34" charset="0"/>
                <a:ea typeface="Archivo Black" pitchFamily="34" charset="-122"/>
                <a:cs typeface="Archivo Black" pitchFamily="34" charset="-120"/>
              </a:rPr>
              <a:t>100%</a:t>
            </a:r>
            <a:endParaRPr lang="en-US" sz="2500" dirty="0"/>
          </a:p>
        </p:txBody>
      </p:sp>
      <p:sp>
        <p:nvSpPr>
          <p:cNvPr id="12" name="Text 9"/>
          <p:cNvSpPr/>
          <p:nvPr/>
        </p:nvSpPr>
        <p:spPr>
          <a:xfrm>
            <a:off x="4322978" y="2734564"/>
            <a:ext cx="3408578" cy="447548"/>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cited health of self &amp; family as their primary food purchase driver</a:t>
            </a:r>
            <a:endParaRPr lang="en-US" sz="850" dirty="0"/>
          </a:p>
        </p:txBody>
      </p:sp>
      <p:sp>
        <p:nvSpPr>
          <p:cNvPr id="13" name="Shape 10"/>
          <p:cNvSpPr/>
          <p:nvPr/>
        </p:nvSpPr>
        <p:spPr>
          <a:xfrm>
            <a:off x="8143037" y="2121408"/>
            <a:ext cx="3545738" cy="0"/>
          </a:xfrm>
          <a:prstGeom prst="line">
            <a:avLst/>
          </a:prstGeom>
          <a:noFill/>
          <a:ln w="25400">
            <a:solidFill>
              <a:srgbClr val="3A5D97"/>
            </a:solidFill>
            <a:prstDash val="solid"/>
          </a:ln>
        </p:spPr>
      </p:sp>
      <p:sp>
        <p:nvSpPr>
          <p:cNvPr id="14" name="Text 11"/>
          <p:cNvSpPr/>
          <p:nvPr/>
        </p:nvSpPr>
        <p:spPr>
          <a:xfrm>
            <a:off x="8143037" y="2267712"/>
            <a:ext cx="3545738" cy="430276"/>
          </a:xfrm>
          <a:prstGeom prst="rect">
            <a:avLst/>
          </a:prstGeom>
          <a:noFill/>
          <a:ln/>
        </p:spPr>
        <p:txBody>
          <a:bodyPr wrap="square" lIns="0" tIns="0" rIns="0" bIns="0" rtlCol="0" anchor="t"/>
          <a:lstStyle/>
          <a:p>
            <a:pPr indent="0" marL="0">
              <a:buNone/>
            </a:pPr>
            <a:r>
              <a:rPr lang="en-US" sz="2500" dirty="0">
                <a:solidFill>
                  <a:srgbClr val="3A5D97"/>
                </a:solidFill>
                <a:latin typeface="Archivo Black" pitchFamily="34" charset="0"/>
                <a:ea typeface="Archivo Black" pitchFamily="34" charset="-122"/>
                <a:cs typeface="Archivo Black" pitchFamily="34" charset="-120"/>
              </a:rPr>
              <a:t>0%</a:t>
            </a:r>
            <a:endParaRPr lang="en-US" sz="2500" dirty="0"/>
          </a:p>
        </p:txBody>
      </p:sp>
      <p:sp>
        <p:nvSpPr>
          <p:cNvPr id="15" name="Text 12"/>
          <p:cNvSpPr/>
          <p:nvPr/>
        </p:nvSpPr>
        <p:spPr>
          <a:xfrm>
            <a:off x="8143037" y="2734564"/>
            <a:ext cx="3408578" cy="447548"/>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connected the word "pure" to pesticide residue — a language gap, not an interest gap</a:t>
            </a:r>
            <a:endParaRPr lang="en-US" sz="850" dirty="0"/>
          </a:p>
        </p:txBody>
      </p:sp>
      <p:sp>
        <p:nvSpPr>
          <p:cNvPr id="16" name="Text 13"/>
          <p:cNvSpPr/>
          <p:nvPr/>
        </p:nvSpPr>
        <p:spPr>
          <a:xfrm>
            <a:off x="502920" y="3438144"/>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FOUR TENSIONS BENEATH THE CATEGORY</a:t>
            </a:r>
            <a:endParaRPr lang="en-US" sz="950" dirty="0"/>
          </a:p>
        </p:txBody>
      </p:sp>
      <p:sp>
        <p:nvSpPr>
          <p:cNvPr id="17" name="Shape 14"/>
          <p:cNvSpPr/>
          <p:nvPr/>
        </p:nvSpPr>
        <p:spPr>
          <a:xfrm>
            <a:off x="502920" y="3712464"/>
            <a:ext cx="5760720" cy="603504"/>
          </a:xfrm>
          <a:prstGeom prst="roundRect">
            <a:avLst>
              <a:gd name="adj" fmla="val 7576"/>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18" name="Shape 15"/>
          <p:cNvSpPr/>
          <p:nvPr/>
        </p:nvSpPr>
        <p:spPr>
          <a:xfrm>
            <a:off x="502920" y="3712464"/>
            <a:ext cx="41148" cy="603504"/>
          </a:xfrm>
          <a:prstGeom prst="rect">
            <a:avLst/>
          </a:prstGeom>
          <a:solidFill>
            <a:srgbClr val="3A5D97"/>
          </a:solidFill>
          <a:ln w="12700">
            <a:solidFill>
              <a:srgbClr val="333333"/>
            </a:solidFill>
            <a:prstDash val="solid"/>
          </a:ln>
        </p:spPr>
      </p:sp>
      <p:sp>
        <p:nvSpPr>
          <p:cNvPr id="19" name="Text 16"/>
          <p:cNvSpPr/>
          <p:nvPr/>
        </p:nvSpPr>
        <p:spPr>
          <a:xfrm>
            <a:off x="685800" y="3776472"/>
            <a:ext cx="5486400" cy="201168"/>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01  Conceptual fog, not an information gap</a:t>
            </a:r>
            <a:endParaRPr lang="en-US" sz="1000" dirty="0"/>
          </a:p>
        </p:txBody>
      </p:sp>
      <p:sp>
        <p:nvSpPr>
          <p:cNvPr id="20" name="Text 17"/>
          <p:cNvSpPr/>
          <p:nvPr/>
        </p:nvSpPr>
        <p:spPr>
          <a:xfrm>
            <a:off x="685800" y="3968496"/>
            <a:ext cx="5486400" cy="329184"/>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Consumers do not merely lack information — they hold incorrect information that feels correct.</a:t>
            </a:r>
            <a:endParaRPr lang="en-US" sz="800" dirty="0"/>
          </a:p>
        </p:txBody>
      </p:sp>
      <p:sp>
        <p:nvSpPr>
          <p:cNvPr id="21" name="Shape 18"/>
          <p:cNvSpPr/>
          <p:nvPr/>
        </p:nvSpPr>
        <p:spPr>
          <a:xfrm>
            <a:off x="502920" y="4398264"/>
            <a:ext cx="5760720" cy="603504"/>
          </a:xfrm>
          <a:prstGeom prst="roundRect">
            <a:avLst>
              <a:gd name="adj" fmla="val 7576"/>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22" name="Shape 19"/>
          <p:cNvSpPr/>
          <p:nvPr/>
        </p:nvSpPr>
        <p:spPr>
          <a:xfrm>
            <a:off x="502920" y="4398264"/>
            <a:ext cx="41148" cy="603504"/>
          </a:xfrm>
          <a:prstGeom prst="rect">
            <a:avLst/>
          </a:prstGeom>
          <a:solidFill>
            <a:srgbClr val="3A5D97"/>
          </a:solidFill>
          <a:ln w="12700">
            <a:solidFill>
              <a:srgbClr val="333333"/>
            </a:solidFill>
            <a:prstDash val="solid"/>
          </a:ln>
        </p:spPr>
      </p:sp>
      <p:sp>
        <p:nvSpPr>
          <p:cNvPr id="23" name="Text 20"/>
          <p:cNvSpPr/>
          <p:nvPr/>
        </p:nvSpPr>
        <p:spPr>
          <a:xfrm>
            <a:off x="685800" y="4462272"/>
            <a:ext cx="5486400" cy="201168"/>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02  Adulteration fatalism</a:t>
            </a:r>
            <a:endParaRPr lang="en-US" sz="1000" dirty="0"/>
          </a:p>
        </p:txBody>
      </p:sp>
      <p:sp>
        <p:nvSpPr>
          <p:cNvPr id="24" name="Text 21"/>
          <p:cNvSpPr/>
          <p:nvPr/>
        </p:nvSpPr>
        <p:spPr>
          <a:xfrm>
            <a:off x="685800" y="4654296"/>
            <a:ext cx="5486400" cy="329184"/>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73% agree some adulteration is unavoidable. The risk is known and quietly accepted — highest in chilli.</a:t>
            </a:r>
            <a:endParaRPr lang="en-US" sz="800" dirty="0"/>
          </a:p>
        </p:txBody>
      </p:sp>
      <p:sp>
        <p:nvSpPr>
          <p:cNvPr id="25" name="Shape 22"/>
          <p:cNvSpPr/>
          <p:nvPr/>
        </p:nvSpPr>
        <p:spPr>
          <a:xfrm>
            <a:off x="502920" y="5084064"/>
            <a:ext cx="5760720" cy="603504"/>
          </a:xfrm>
          <a:prstGeom prst="roundRect">
            <a:avLst>
              <a:gd name="adj" fmla="val 7576"/>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26" name="Shape 23"/>
          <p:cNvSpPr/>
          <p:nvPr/>
        </p:nvSpPr>
        <p:spPr>
          <a:xfrm>
            <a:off x="502920" y="5084064"/>
            <a:ext cx="41148" cy="603504"/>
          </a:xfrm>
          <a:prstGeom prst="rect">
            <a:avLst/>
          </a:prstGeom>
          <a:solidFill>
            <a:srgbClr val="3A5D97"/>
          </a:solidFill>
          <a:ln w="12700">
            <a:solidFill>
              <a:srgbClr val="333333"/>
            </a:solidFill>
            <a:prstDash val="solid"/>
          </a:ln>
        </p:spPr>
      </p:sp>
      <p:sp>
        <p:nvSpPr>
          <p:cNvPr id="27" name="Text 24"/>
          <p:cNvSpPr/>
          <p:nvPr/>
        </p:nvSpPr>
        <p:spPr>
          <a:xfrm>
            <a:off x="685800" y="5148072"/>
            <a:ext cx="5486400" cy="201168"/>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03  Bodily proof beats label proof</a:t>
            </a:r>
            <a:endParaRPr lang="en-US" sz="1000" dirty="0"/>
          </a:p>
        </p:txBody>
      </p:sp>
      <p:sp>
        <p:nvSpPr>
          <p:cNvPr id="28" name="Text 25"/>
          <p:cNvSpPr/>
          <p:nvPr/>
        </p:nvSpPr>
        <p:spPr>
          <a:xfrm>
            <a:off x="685800" y="5340096"/>
            <a:ext cx="5486400" cy="329184"/>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Confidence comes from energy, weight and blood work of self and family members.</a:t>
            </a:r>
            <a:endParaRPr lang="en-US" sz="800" dirty="0"/>
          </a:p>
        </p:txBody>
      </p:sp>
      <p:sp>
        <p:nvSpPr>
          <p:cNvPr id="29" name="Shape 26"/>
          <p:cNvSpPr/>
          <p:nvPr/>
        </p:nvSpPr>
        <p:spPr>
          <a:xfrm>
            <a:off x="502920" y="5769864"/>
            <a:ext cx="5760720" cy="603504"/>
          </a:xfrm>
          <a:prstGeom prst="roundRect">
            <a:avLst>
              <a:gd name="adj" fmla="val 7576"/>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30" name="Shape 27"/>
          <p:cNvSpPr/>
          <p:nvPr/>
        </p:nvSpPr>
        <p:spPr>
          <a:xfrm>
            <a:off x="502920" y="5769864"/>
            <a:ext cx="41148" cy="603504"/>
          </a:xfrm>
          <a:prstGeom prst="rect">
            <a:avLst/>
          </a:prstGeom>
          <a:solidFill>
            <a:srgbClr val="3A5D97"/>
          </a:solidFill>
          <a:ln w="12700">
            <a:solidFill>
              <a:srgbClr val="333333"/>
            </a:solidFill>
            <a:prstDash val="solid"/>
          </a:ln>
        </p:spPr>
      </p:sp>
      <p:sp>
        <p:nvSpPr>
          <p:cNvPr id="31" name="Text 28"/>
          <p:cNvSpPr/>
          <p:nvPr/>
        </p:nvSpPr>
        <p:spPr>
          <a:xfrm>
            <a:off x="685800" y="5833872"/>
            <a:ext cx="5486400" cy="201168"/>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04  Assumed safety in makhana</a:t>
            </a:r>
            <a:endParaRPr lang="en-US" sz="1000" dirty="0"/>
          </a:p>
        </p:txBody>
      </p:sp>
      <p:sp>
        <p:nvSpPr>
          <p:cNvPr id="32" name="Text 29"/>
          <p:cNvSpPr/>
          <p:nvPr/>
        </p:nvSpPr>
        <p:spPr>
          <a:xfrm>
            <a:off x="685800" y="6025896"/>
            <a:ext cx="5486400" cy="329184"/>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Believed to be "grown from lotus stems" and "processed like popcorn". Neither is accurate, and it is the only category with no residue conversation.</a:t>
            </a:r>
            <a:endParaRPr lang="en-US" sz="800" dirty="0"/>
          </a:p>
        </p:txBody>
      </p:sp>
      <p:sp>
        <p:nvSpPr>
          <p:cNvPr id="33" name="Text 30"/>
          <p:cNvSpPr/>
          <p:nvPr/>
        </p:nvSpPr>
        <p:spPr>
          <a:xfrm>
            <a:off x="6537960" y="3438144"/>
            <a:ext cx="5150815"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IN THEIR OWN WORDS</a:t>
            </a:r>
            <a:endParaRPr lang="en-US" sz="950" dirty="0"/>
          </a:p>
        </p:txBody>
      </p:sp>
      <p:sp>
        <p:nvSpPr>
          <p:cNvPr id="34" name="Shape 31"/>
          <p:cNvSpPr/>
          <p:nvPr/>
        </p:nvSpPr>
        <p:spPr>
          <a:xfrm>
            <a:off x="6537960" y="3712464"/>
            <a:ext cx="5150815" cy="603504"/>
          </a:xfrm>
          <a:prstGeom prst="roundRect">
            <a:avLst>
              <a:gd name="adj" fmla="val 7576"/>
            </a:avLst>
          </a:prstGeom>
          <a:solidFill>
            <a:srgbClr val="F3ECE0"/>
          </a:solidFill>
          <a:ln w="6350">
            <a:solidFill>
              <a:srgbClr val="F3ECE0"/>
            </a:solidFill>
            <a:prstDash val="solid"/>
          </a:ln>
          <a:effectLst>
            <a:outerShdw sx="100000" sy="100000" kx="0" ky="0" algn="bl" rotWithShape="0" blurRad="228600" dist="25400" dir="5400000">
              <a:srgbClr val="0C1A2B">
                <a:alpha val="7000"/>
              </a:srgbClr>
            </a:outerShdw>
          </a:effectLst>
        </p:spPr>
      </p:sp>
      <p:sp>
        <p:nvSpPr>
          <p:cNvPr id="35" name="Text 32"/>
          <p:cNvSpPr/>
          <p:nvPr/>
        </p:nvSpPr>
        <p:spPr>
          <a:xfrm>
            <a:off x="6720840" y="3758184"/>
            <a:ext cx="4785055" cy="365760"/>
          </a:xfrm>
          <a:prstGeom prst="rect">
            <a:avLst/>
          </a:prstGeom>
          <a:noFill/>
          <a:ln/>
        </p:spPr>
        <p:txBody>
          <a:bodyPr wrap="square" lIns="0" tIns="0" rIns="0" bIns="0" rtlCol="0" anchor="t"/>
          <a:lstStyle/>
          <a:p>
            <a:pPr indent="0" marL="0">
              <a:lnSpc>
                <a:spcPct val="102000"/>
              </a:lnSpc>
              <a:buNone/>
            </a:pPr>
            <a:r>
              <a:rPr lang="en-US" sz="900" i="1" dirty="0">
                <a:solidFill>
                  <a:srgbClr val="0C1A2B"/>
                </a:solidFill>
                <a:latin typeface="Nunito Sans" pitchFamily="34" charset="0"/>
                <a:ea typeface="Nunito Sans" pitchFamily="34" charset="-122"/>
                <a:cs typeface="Nunito Sans" pitchFamily="34" charset="-120"/>
              </a:rPr>
              <a:t>"Pesticides are sometimes put in soil, not on fruits. This makes them pesticide-free."</a:t>
            </a:r>
            <a:endParaRPr lang="en-US" sz="900" dirty="0"/>
          </a:p>
        </p:txBody>
      </p:sp>
      <p:sp>
        <p:nvSpPr>
          <p:cNvPr id="36" name="Text 33"/>
          <p:cNvSpPr/>
          <p:nvPr/>
        </p:nvSpPr>
        <p:spPr>
          <a:xfrm>
            <a:off x="6720840" y="4123944"/>
            <a:ext cx="4785055" cy="164592"/>
          </a:xfrm>
          <a:prstGeom prst="rect">
            <a:avLst/>
          </a:prstGeom>
          <a:noFill/>
          <a:ln/>
        </p:spPr>
        <p:txBody>
          <a:bodyPr wrap="square" lIns="0" tIns="0" rIns="0" bIns="0" rtlCol="0" anchor="t"/>
          <a:lstStyle/>
          <a:p>
            <a:pPr indent="0" marL="0">
              <a:buNone/>
            </a:pPr>
            <a:r>
              <a:rPr lang="en-US" sz="700" dirty="0">
                <a:solidFill>
                  <a:srgbClr val="8B95A2"/>
                </a:solidFill>
                <a:latin typeface="Nunito Sans" pitchFamily="34" charset="0"/>
                <a:ea typeface="Nunito Sans" pitchFamily="34" charset="-122"/>
                <a:cs typeface="Nunito Sans" pitchFamily="34" charset="-120"/>
              </a:rPr>
              <a:t>In-market intercept, Bengaluru</a:t>
            </a:r>
            <a:endParaRPr lang="en-US" sz="700" dirty="0"/>
          </a:p>
        </p:txBody>
      </p:sp>
      <p:sp>
        <p:nvSpPr>
          <p:cNvPr id="37" name="Shape 34"/>
          <p:cNvSpPr/>
          <p:nvPr/>
        </p:nvSpPr>
        <p:spPr>
          <a:xfrm>
            <a:off x="6537960" y="4398264"/>
            <a:ext cx="5150815" cy="603504"/>
          </a:xfrm>
          <a:prstGeom prst="roundRect">
            <a:avLst>
              <a:gd name="adj" fmla="val 7576"/>
            </a:avLst>
          </a:prstGeom>
          <a:solidFill>
            <a:srgbClr val="F3ECE0"/>
          </a:solidFill>
          <a:ln w="6350">
            <a:solidFill>
              <a:srgbClr val="F3ECE0"/>
            </a:solidFill>
            <a:prstDash val="solid"/>
          </a:ln>
          <a:effectLst>
            <a:outerShdw sx="100000" sy="100000" kx="0" ky="0" algn="bl" rotWithShape="0" blurRad="228600" dist="25400" dir="5400000">
              <a:srgbClr val="0C1A2B">
                <a:alpha val="7000"/>
              </a:srgbClr>
            </a:outerShdw>
          </a:effectLst>
        </p:spPr>
      </p:sp>
      <p:sp>
        <p:nvSpPr>
          <p:cNvPr id="38" name="Text 35"/>
          <p:cNvSpPr/>
          <p:nvPr/>
        </p:nvSpPr>
        <p:spPr>
          <a:xfrm>
            <a:off x="6720840" y="4443984"/>
            <a:ext cx="4785055" cy="365760"/>
          </a:xfrm>
          <a:prstGeom prst="rect">
            <a:avLst/>
          </a:prstGeom>
          <a:noFill/>
          <a:ln/>
        </p:spPr>
        <p:txBody>
          <a:bodyPr wrap="square" lIns="0" tIns="0" rIns="0" bIns="0" rtlCol="0" anchor="t"/>
          <a:lstStyle/>
          <a:p>
            <a:pPr indent="0" marL="0">
              <a:lnSpc>
                <a:spcPct val="102000"/>
              </a:lnSpc>
              <a:buNone/>
            </a:pPr>
            <a:r>
              <a:rPr lang="en-US" sz="900" i="1" dirty="0">
                <a:solidFill>
                  <a:srgbClr val="0C1A2B"/>
                </a:solidFill>
                <a:latin typeface="Nunito Sans" pitchFamily="34" charset="0"/>
                <a:ea typeface="Nunito Sans" pitchFamily="34" charset="-122"/>
                <a:cs typeface="Nunito Sans" pitchFamily="34" charset="-120"/>
              </a:rPr>
              <a:t>"There is no such thing as Pesticide-Free. We have done enough research."</a:t>
            </a:r>
            <a:endParaRPr lang="en-US" sz="900" dirty="0"/>
          </a:p>
        </p:txBody>
      </p:sp>
      <p:sp>
        <p:nvSpPr>
          <p:cNvPr id="39" name="Text 36"/>
          <p:cNvSpPr/>
          <p:nvPr/>
        </p:nvSpPr>
        <p:spPr>
          <a:xfrm>
            <a:off x="6720840" y="4809744"/>
            <a:ext cx="4785055" cy="164592"/>
          </a:xfrm>
          <a:prstGeom prst="rect">
            <a:avLst/>
          </a:prstGeom>
          <a:noFill/>
          <a:ln/>
        </p:spPr>
        <p:txBody>
          <a:bodyPr wrap="square" lIns="0" tIns="0" rIns="0" bIns="0" rtlCol="0" anchor="t"/>
          <a:lstStyle/>
          <a:p>
            <a:pPr indent="0" marL="0">
              <a:buNone/>
            </a:pPr>
            <a:r>
              <a:rPr lang="en-US" sz="700" dirty="0">
                <a:solidFill>
                  <a:srgbClr val="8B95A2"/>
                </a:solidFill>
                <a:latin typeface="Nunito Sans" pitchFamily="34" charset="0"/>
                <a:ea typeface="Nunito Sans" pitchFamily="34" charset="-122"/>
                <a:cs typeface="Nunito Sans" pitchFamily="34" charset="-120"/>
              </a:rPr>
              <a:t>In-market intercept, Bengaluru</a:t>
            </a:r>
            <a:endParaRPr lang="en-US" sz="700" dirty="0"/>
          </a:p>
        </p:txBody>
      </p:sp>
      <p:sp>
        <p:nvSpPr>
          <p:cNvPr id="40" name="Shape 37"/>
          <p:cNvSpPr/>
          <p:nvPr/>
        </p:nvSpPr>
        <p:spPr>
          <a:xfrm>
            <a:off x="6537960" y="5084064"/>
            <a:ext cx="5150815" cy="603504"/>
          </a:xfrm>
          <a:prstGeom prst="roundRect">
            <a:avLst>
              <a:gd name="adj" fmla="val 7576"/>
            </a:avLst>
          </a:prstGeom>
          <a:solidFill>
            <a:srgbClr val="F3ECE0"/>
          </a:solidFill>
          <a:ln w="6350">
            <a:solidFill>
              <a:srgbClr val="F3ECE0"/>
            </a:solidFill>
            <a:prstDash val="solid"/>
          </a:ln>
          <a:effectLst>
            <a:outerShdw sx="100000" sy="100000" kx="0" ky="0" algn="bl" rotWithShape="0" blurRad="228600" dist="25400" dir="5400000">
              <a:srgbClr val="0C1A2B">
                <a:alpha val="7000"/>
              </a:srgbClr>
            </a:outerShdw>
          </a:effectLst>
        </p:spPr>
      </p:sp>
      <p:sp>
        <p:nvSpPr>
          <p:cNvPr id="41" name="Text 38"/>
          <p:cNvSpPr/>
          <p:nvPr/>
        </p:nvSpPr>
        <p:spPr>
          <a:xfrm>
            <a:off x="6720840" y="5129784"/>
            <a:ext cx="4785055" cy="365760"/>
          </a:xfrm>
          <a:prstGeom prst="rect">
            <a:avLst/>
          </a:prstGeom>
          <a:noFill/>
          <a:ln/>
        </p:spPr>
        <p:txBody>
          <a:bodyPr wrap="square" lIns="0" tIns="0" rIns="0" bIns="0" rtlCol="0" anchor="t"/>
          <a:lstStyle/>
          <a:p>
            <a:pPr indent="0" marL="0">
              <a:lnSpc>
                <a:spcPct val="102000"/>
              </a:lnSpc>
              <a:buNone/>
            </a:pPr>
            <a:r>
              <a:rPr lang="en-US" sz="900" i="1" dirty="0">
                <a:solidFill>
                  <a:srgbClr val="0C1A2B"/>
                </a:solidFill>
                <a:latin typeface="Nunito Sans" pitchFamily="34" charset="0"/>
                <a:ea typeface="Nunito Sans" pitchFamily="34" charset="-122"/>
                <a:cs typeface="Nunito Sans" pitchFamily="34" charset="-120"/>
              </a:rPr>
              <a:t>"Pesticide-free means no use of pesticides at any stage of the lifecycle of the produce."</a:t>
            </a:r>
            <a:endParaRPr lang="en-US" sz="900" dirty="0"/>
          </a:p>
        </p:txBody>
      </p:sp>
      <p:sp>
        <p:nvSpPr>
          <p:cNvPr id="42" name="Text 39"/>
          <p:cNvSpPr/>
          <p:nvPr/>
        </p:nvSpPr>
        <p:spPr>
          <a:xfrm>
            <a:off x="6720840" y="5495544"/>
            <a:ext cx="4785055" cy="164592"/>
          </a:xfrm>
          <a:prstGeom prst="rect">
            <a:avLst/>
          </a:prstGeom>
          <a:noFill/>
          <a:ln/>
        </p:spPr>
        <p:txBody>
          <a:bodyPr wrap="square" lIns="0" tIns="0" rIns="0" bIns="0" rtlCol="0" anchor="t"/>
          <a:lstStyle/>
          <a:p>
            <a:pPr indent="0" marL="0">
              <a:buNone/>
            </a:pPr>
            <a:r>
              <a:rPr lang="en-US" sz="700" dirty="0">
                <a:solidFill>
                  <a:srgbClr val="8B95A2"/>
                </a:solidFill>
                <a:latin typeface="Nunito Sans" pitchFamily="34" charset="0"/>
                <a:ea typeface="Nunito Sans" pitchFamily="34" charset="-122"/>
                <a:cs typeface="Nunito Sans" pitchFamily="34" charset="-120"/>
              </a:rPr>
              <a:t>Organic farmer, Hyderabad — the most accurate definition in the sample</a:t>
            </a:r>
            <a:endParaRPr lang="en-US" sz="700" dirty="0"/>
          </a:p>
        </p:txBody>
      </p:sp>
      <p:sp>
        <p:nvSpPr>
          <p:cNvPr id="43" name="Shape 40"/>
          <p:cNvSpPr/>
          <p:nvPr/>
        </p:nvSpPr>
        <p:spPr>
          <a:xfrm>
            <a:off x="6537960" y="5769864"/>
            <a:ext cx="5150815" cy="603504"/>
          </a:xfrm>
          <a:prstGeom prst="roundRect">
            <a:avLst>
              <a:gd name="adj" fmla="val 7576"/>
            </a:avLst>
          </a:prstGeom>
          <a:solidFill>
            <a:srgbClr val="F3ECE0"/>
          </a:solidFill>
          <a:ln w="6350">
            <a:solidFill>
              <a:srgbClr val="F3ECE0"/>
            </a:solidFill>
            <a:prstDash val="solid"/>
          </a:ln>
          <a:effectLst>
            <a:outerShdw sx="100000" sy="100000" kx="0" ky="0" algn="bl" rotWithShape="0" blurRad="228600" dist="25400" dir="5400000">
              <a:srgbClr val="0C1A2B">
                <a:alpha val="7000"/>
              </a:srgbClr>
            </a:outerShdw>
          </a:effectLst>
        </p:spPr>
      </p:sp>
      <p:sp>
        <p:nvSpPr>
          <p:cNvPr id="44" name="Text 41"/>
          <p:cNvSpPr/>
          <p:nvPr/>
        </p:nvSpPr>
        <p:spPr>
          <a:xfrm>
            <a:off x="6720840" y="5815584"/>
            <a:ext cx="4785055" cy="365760"/>
          </a:xfrm>
          <a:prstGeom prst="rect">
            <a:avLst/>
          </a:prstGeom>
          <a:noFill/>
          <a:ln/>
        </p:spPr>
        <p:txBody>
          <a:bodyPr wrap="square" lIns="0" tIns="0" rIns="0" bIns="0" rtlCol="0" anchor="t"/>
          <a:lstStyle/>
          <a:p>
            <a:pPr indent="0" marL="0">
              <a:lnSpc>
                <a:spcPct val="102000"/>
              </a:lnSpc>
              <a:buNone/>
            </a:pPr>
            <a:r>
              <a:rPr lang="en-US" sz="900" i="1" dirty="0">
                <a:solidFill>
                  <a:srgbClr val="0C1A2B"/>
                </a:solidFill>
                <a:latin typeface="Nunito Sans" pitchFamily="34" charset="0"/>
                <a:ea typeface="Nunito Sans" pitchFamily="34" charset="-122"/>
                <a:cs typeface="Nunito Sans" pitchFamily="34" charset="-120"/>
              </a:rPr>
              <a:t>"Testing information plays a very important role. Knowing the source and certifications matters most in rice and dal — they are staples."</a:t>
            </a:r>
            <a:endParaRPr lang="en-US" sz="900" dirty="0"/>
          </a:p>
        </p:txBody>
      </p:sp>
      <p:sp>
        <p:nvSpPr>
          <p:cNvPr id="45" name="Text 42"/>
          <p:cNvSpPr/>
          <p:nvPr/>
        </p:nvSpPr>
        <p:spPr>
          <a:xfrm>
            <a:off x="6720840" y="6181344"/>
            <a:ext cx="4785055" cy="164592"/>
          </a:xfrm>
          <a:prstGeom prst="rect">
            <a:avLst/>
          </a:prstGeom>
          <a:noFill/>
          <a:ln/>
        </p:spPr>
        <p:txBody>
          <a:bodyPr wrap="square" lIns="0" tIns="0" rIns="0" bIns="0" rtlCol="0" anchor="t"/>
          <a:lstStyle/>
          <a:p>
            <a:pPr indent="0" marL="0">
              <a:buNone/>
            </a:pPr>
            <a:r>
              <a:rPr lang="en-US" sz="700" dirty="0">
                <a:solidFill>
                  <a:srgbClr val="8B95A2"/>
                </a:solidFill>
                <a:latin typeface="Nunito Sans" pitchFamily="34" charset="0"/>
                <a:ea typeface="Nunito Sans" pitchFamily="34" charset="-122"/>
                <a:cs typeface="Nunito Sans" pitchFamily="34" charset="-120"/>
              </a:rPr>
              <a:t>Benifer Lewis, 45, Mumbai</a:t>
            </a:r>
            <a:endParaRPr lang="en-US" sz="700" dirty="0"/>
          </a:p>
        </p:txBody>
      </p:sp>
      <p:sp>
        <p:nvSpPr>
          <p:cNvPr id="46" name="Shape 43"/>
          <p:cNvSpPr/>
          <p:nvPr/>
        </p:nvSpPr>
        <p:spPr>
          <a:xfrm>
            <a:off x="502920" y="6455664"/>
            <a:ext cx="11185855" cy="0"/>
          </a:xfrm>
          <a:prstGeom prst="line">
            <a:avLst/>
          </a:prstGeom>
          <a:noFill/>
          <a:ln w="9525">
            <a:solidFill>
              <a:srgbClr val="E5DCCB"/>
            </a:solidFill>
            <a:prstDash val="solid"/>
          </a:ln>
        </p:spPr>
      </p:sp>
      <p:sp>
        <p:nvSpPr>
          <p:cNvPr id="47" name="Text 44"/>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03 · THE CONSUMER</a:t>
            </a:r>
            <a:endParaRPr lang="en-US" sz="800" dirty="0"/>
          </a:p>
        </p:txBody>
      </p:sp>
      <p:sp>
        <p:nvSpPr>
          <p:cNvPr id="48" name="Text 45"/>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13</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5296205"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5296205"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QUANTITATIVE RESEARCH BY 1LATTICE, COMMISSIONED BY DHF</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How the survey was built, and who answered it.</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The survey was designed backwards from the analysis we intended to run — a 15-item attitude battery written specifically so factors could be extracted from it afterwards.</a:t>
            </a:r>
            <a:endParaRPr lang="en-US" sz="1100" dirty="0"/>
          </a:p>
        </p:txBody>
      </p:sp>
      <p:sp>
        <p:nvSpPr>
          <p:cNvPr id="7" name="Text 4"/>
          <p:cNvSpPr/>
          <p:nvPr/>
        </p:nvSpPr>
        <p:spPr>
          <a:xfrm>
            <a:off x="502920" y="2121408"/>
            <a:ext cx="45720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INSTRUMENT DESIGN</a:t>
            </a:r>
            <a:endParaRPr lang="en-US" sz="950" dirty="0"/>
          </a:p>
        </p:txBody>
      </p:sp>
      <p:sp>
        <p:nvSpPr>
          <p:cNvPr id="8" name="Shape 5"/>
          <p:cNvSpPr/>
          <p:nvPr/>
        </p:nvSpPr>
        <p:spPr>
          <a:xfrm>
            <a:off x="502920" y="2414016"/>
            <a:ext cx="2679192" cy="859536"/>
          </a:xfrm>
          <a:prstGeom prst="roundRect">
            <a:avLst>
              <a:gd name="adj" fmla="val 10638"/>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9" name="Text 6"/>
          <p:cNvSpPr/>
          <p:nvPr/>
        </p:nvSpPr>
        <p:spPr>
          <a:xfrm>
            <a:off x="667512" y="2505456"/>
            <a:ext cx="2350008" cy="256032"/>
          </a:xfrm>
          <a:prstGeom prst="rect">
            <a:avLst/>
          </a:prstGeom>
          <a:noFill/>
          <a:ln/>
        </p:spPr>
        <p:txBody>
          <a:bodyPr wrap="square" lIns="0" tIns="0" rIns="0" bIns="0" rtlCol="0" anchor="t"/>
          <a:lstStyle/>
          <a:p>
            <a:pPr indent="0" marL="0">
              <a:buNone/>
            </a:pPr>
            <a:r>
              <a:rPr lang="en-US" sz="1200" dirty="0">
                <a:solidFill>
                  <a:srgbClr val="3A5D97"/>
                </a:solidFill>
                <a:latin typeface="Archivo Black" pitchFamily="34" charset="0"/>
                <a:ea typeface="Archivo Black" pitchFamily="34" charset="-122"/>
                <a:cs typeface="Archivo Black" pitchFamily="34" charset="-120"/>
              </a:rPr>
              <a:t>~18 min</a:t>
            </a:r>
            <a:endParaRPr lang="en-US" sz="1200" dirty="0"/>
          </a:p>
        </p:txBody>
      </p:sp>
      <p:sp>
        <p:nvSpPr>
          <p:cNvPr id="10" name="Text 7"/>
          <p:cNvSpPr/>
          <p:nvPr/>
        </p:nvSpPr>
        <p:spPr>
          <a:xfrm>
            <a:off x="667512" y="2779776"/>
            <a:ext cx="2350008" cy="438912"/>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50 questions across 10 topics and 4 food categories</a:t>
            </a:r>
            <a:endParaRPr lang="en-US" sz="800" dirty="0"/>
          </a:p>
        </p:txBody>
      </p:sp>
      <p:sp>
        <p:nvSpPr>
          <p:cNvPr id="11" name="Shape 8"/>
          <p:cNvSpPr/>
          <p:nvPr/>
        </p:nvSpPr>
        <p:spPr>
          <a:xfrm>
            <a:off x="3401568" y="2414016"/>
            <a:ext cx="2679192" cy="859536"/>
          </a:xfrm>
          <a:prstGeom prst="roundRect">
            <a:avLst>
              <a:gd name="adj" fmla="val 10638"/>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12" name="Text 9"/>
          <p:cNvSpPr/>
          <p:nvPr/>
        </p:nvSpPr>
        <p:spPr>
          <a:xfrm>
            <a:off x="3566160" y="2505456"/>
            <a:ext cx="2350008" cy="256032"/>
          </a:xfrm>
          <a:prstGeom prst="rect">
            <a:avLst/>
          </a:prstGeom>
          <a:noFill/>
          <a:ln/>
        </p:spPr>
        <p:txBody>
          <a:bodyPr wrap="square" lIns="0" tIns="0" rIns="0" bIns="0" rtlCol="0" anchor="t"/>
          <a:lstStyle/>
          <a:p>
            <a:pPr indent="0" marL="0">
              <a:buNone/>
            </a:pPr>
            <a:r>
              <a:rPr lang="en-US" sz="1200" dirty="0">
                <a:solidFill>
                  <a:srgbClr val="3A5D97"/>
                </a:solidFill>
                <a:latin typeface="Archivo Black" pitchFamily="34" charset="0"/>
                <a:ea typeface="Archivo Black" pitchFamily="34" charset="-122"/>
                <a:cs typeface="Archivo Black" pitchFamily="34" charset="-120"/>
              </a:rPr>
              <a:t>4 screens</a:t>
            </a:r>
            <a:endParaRPr lang="en-US" sz="1200" dirty="0"/>
          </a:p>
        </p:txBody>
      </p:sp>
      <p:sp>
        <p:nvSpPr>
          <p:cNvPr id="13" name="Text 10"/>
          <p:cNvSpPr/>
          <p:nvPr/>
        </p:nvSpPr>
        <p:spPr>
          <a:xfrm>
            <a:off x="3566160" y="2779776"/>
            <a:ext cx="2350008" cy="438912"/>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Decision-maker role, purchase frequency, ≥2 of 4 categories, income — SEC D/E and sub-monthly buyers terminated</a:t>
            </a:r>
            <a:endParaRPr lang="en-US" sz="800" dirty="0"/>
          </a:p>
        </p:txBody>
      </p:sp>
      <p:sp>
        <p:nvSpPr>
          <p:cNvPr id="14" name="Shape 11"/>
          <p:cNvSpPr/>
          <p:nvPr/>
        </p:nvSpPr>
        <p:spPr>
          <a:xfrm>
            <a:off x="502920" y="3383280"/>
            <a:ext cx="2679192" cy="859536"/>
          </a:xfrm>
          <a:prstGeom prst="roundRect">
            <a:avLst>
              <a:gd name="adj" fmla="val 10638"/>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15" name="Text 12"/>
          <p:cNvSpPr/>
          <p:nvPr/>
        </p:nvSpPr>
        <p:spPr>
          <a:xfrm>
            <a:off x="667512" y="3474720"/>
            <a:ext cx="2350008" cy="256032"/>
          </a:xfrm>
          <a:prstGeom prst="rect">
            <a:avLst/>
          </a:prstGeom>
          <a:noFill/>
          <a:ln/>
        </p:spPr>
        <p:txBody>
          <a:bodyPr wrap="square" lIns="0" tIns="0" rIns="0" bIns="0" rtlCol="0" anchor="t"/>
          <a:lstStyle/>
          <a:p>
            <a:pPr indent="0" marL="0">
              <a:buNone/>
            </a:pPr>
            <a:r>
              <a:rPr lang="en-US" sz="1200" dirty="0">
                <a:solidFill>
                  <a:srgbClr val="3A5D97"/>
                </a:solidFill>
                <a:latin typeface="Archivo Black" pitchFamily="34" charset="0"/>
                <a:ea typeface="Archivo Black" pitchFamily="34" charset="-122"/>
                <a:cs typeface="Archivo Black" pitchFamily="34" charset="-120"/>
              </a:rPr>
              <a:t>15-item battery</a:t>
            </a:r>
            <a:endParaRPr lang="en-US" sz="1200" dirty="0"/>
          </a:p>
        </p:txBody>
      </p:sp>
      <p:sp>
        <p:nvSpPr>
          <p:cNvPr id="16" name="Text 13"/>
          <p:cNvSpPr/>
          <p:nvPr/>
        </p:nvSpPr>
        <p:spPr>
          <a:xfrm>
            <a:off x="667512" y="3749040"/>
            <a:ext cx="2350008" cy="438912"/>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Five-point Likert attitude statements, written for post-survey factor extraction</a:t>
            </a:r>
            <a:endParaRPr lang="en-US" sz="800" dirty="0"/>
          </a:p>
        </p:txBody>
      </p:sp>
      <p:sp>
        <p:nvSpPr>
          <p:cNvPr id="17" name="Shape 14"/>
          <p:cNvSpPr/>
          <p:nvPr/>
        </p:nvSpPr>
        <p:spPr>
          <a:xfrm>
            <a:off x="3401568" y="3383280"/>
            <a:ext cx="2679192" cy="859536"/>
          </a:xfrm>
          <a:prstGeom prst="roundRect">
            <a:avLst>
              <a:gd name="adj" fmla="val 10638"/>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18" name="Text 15"/>
          <p:cNvSpPr/>
          <p:nvPr/>
        </p:nvSpPr>
        <p:spPr>
          <a:xfrm>
            <a:off x="3566160" y="3474720"/>
            <a:ext cx="2350008" cy="256032"/>
          </a:xfrm>
          <a:prstGeom prst="rect">
            <a:avLst/>
          </a:prstGeom>
          <a:noFill/>
          <a:ln/>
        </p:spPr>
        <p:txBody>
          <a:bodyPr wrap="square" lIns="0" tIns="0" rIns="0" bIns="0" rtlCol="0" anchor="t"/>
          <a:lstStyle/>
          <a:p>
            <a:pPr indent="0" marL="0">
              <a:buNone/>
            </a:pPr>
            <a:r>
              <a:rPr lang="en-US" sz="1200" dirty="0">
                <a:solidFill>
                  <a:srgbClr val="3A5D97"/>
                </a:solidFill>
                <a:latin typeface="Archivo Black" pitchFamily="34" charset="0"/>
                <a:ea typeface="Archivo Black" pitchFamily="34" charset="-122"/>
                <a:cs typeface="Archivo Black" pitchFamily="34" charset="-120"/>
              </a:rPr>
              <a:t>2 trust grids</a:t>
            </a:r>
            <a:endParaRPr lang="en-US" sz="1200" dirty="0"/>
          </a:p>
        </p:txBody>
      </p:sp>
      <p:sp>
        <p:nvSpPr>
          <p:cNvPr id="19" name="Text 16"/>
          <p:cNvSpPr/>
          <p:nvPr/>
        </p:nvSpPr>
        <p:spPr>
          <a:xfrm>
            <a:off x="3566160" y="3749040"/>
            <a:ext cx="2350008" cy="438912"/>
          </a:xfrm>
          <a:prstGeom prst="rect">
            <a:avLst/>
          </a:prstGeom>
          <a:noFill/>
          <a:ln/>
        </p:spPr>
        <p:txBody>
          <a:bodyPr wrap="square" lIns="0" tIns="0" rIns="0" bIns="0" rtlCol="0" anchor="t"/>
          <a:lstStyle/>
          <a:p>
            <a:pPr indent="0" marL="0">
              <a:lnSpc>
                <a:spcPct val="106000"/>
              </a:lnSpc>
              <a:buNone/>
            </a:pPr>
            <a:r>
              <a:rPr lang="en-US" sz="800" dirty="0">
                <a:solidFill>
                  <a:srgbClr val="54606F"/>
                </a:solidFill>
                <a:latin typeface="Nunito Sans" pitchFamily="34" charset="0"/>
                <a:ea typeface="Nunito Sans" pitchFamily="34" charset="-122"/>
                <a:cs typeface="Nunito Sans" pitchFamily="34" charset="-120"/>
              </a:rPr>
              <a:t>Six claims tested twice — once bare, once with an independent certificate attached</a:t>
            </a:r>
            <a:endParaRPr lang="en-US" sz="800" dirty="0"/>
          </a:p>
        </p:txBody>
      </p:sp>
      <p:sp>
        <p:nvSpPr>
          <p:cNvPr id="20" name="Shape 17"/>
          <p:cNvSpPr/>
          <p:nvPr/>
        </p:nvSpPr>
        <p:spPr>
          <a:xfrm>
            <a:off x="502920" y="4407408"/>
            <a:ext cx="5577840" cy="1481328"/>
          </a:xfrm>
          <a:prstGeom prst="roundRect">
            <a:avLst>
              <a:gd name="adj" fmla="val 6173"/>
            </a:avLst>
          </a:prstGeom>
          <a:solidFill>
            <a:srgbClr val="F3ECE0"/>
          </a:solidFill>
          <a:ln w="15875">
            <a:solidFill>
              <a:srgbClr val="EDE4D4"/>
            </a:solidFill>
            <a:prstDash val="solid"/>
          </a:ln>
          <a:effectLst>
            <a:outerShdw sx="100000" sy="100000" kx="0" ky="0" algn="bl" rotWithShape="0" blurRad="228600" dist="25400" dir="5400000">
              <a:srgbClr val="0C1A2B">
                <a:alpha val="7000"/>
              </a:srgbClr>
            </a:outerShdw>
          </a:effectLst>
        </p:spPr>
      </p:sp>
      <p:sp>
        <p:nvSpPr>
          <p:cNvPr id="21" name="Text 18"/>
          <p:cNvSpPr/>
          <p:nvPr/>
        </p:nvSpPr>
        <p:spPr>
          <a:xfrm>
            <a:off x="685800" y="4517136"/>
            <a:ext cx="36576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FIELDWORK &amp; GOVERNANCE</a:t>
            </a:r>
            <a:endParaRPr lang="en-US" sz="950" dirty="0"/>
          </a:p>
        </p:txBody>
      </p:sp>
      <p:sp>
        <p:nvSpPr>
          <p:cNvPr id="22" name="Text 19"/>
          <p:cNvSpPr/>
          <p:nvPr/>
        </p:nvSpPr>
        <p:spPr>
          <a:xfrm>
            <a:off x="685800" y="4773168"/>
            <a:ext cx="5212080" cy="1042416"/>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Online panel, fielded by 1Lattice, 28–29 May 2026. n = 305 after quality screening. Report dated 12 June 2026.</a:t>
            </a:r>
            <a:endParaRPr lang="en-US" sz="850" dirty="0"/>
          </a:p>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Five metros: Delhi NCR 31% · Bengaluru 21% · Mumbai 17% · Ahmedabad 15% · Pune 15%.</a:t>
            </a:r>
            <a:endParaRPr lang="en-US" sz="850" dirty="0"/>
          </a:p>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Category bases: rice n=253 · tur dal n=241 · red chilli n=164 · makhana n=58. Makhana is reported as directional only. Every segment claim rests on the full n=305 base, not on a category sub-base.</a:t>
            </a:r>
            <a:endParaRPr lang="en-US" sz="850" dirty="0"/>
          </a:p>
        </p:txBody>
      </p:sp>
      <p:sp>
        <p:nvSpPr>
          <p:cNvPr id="23" name="Text 20"/>
          <p:cNvSpPr/>
          <p:nvPr/>
        </p:nvSpPr>
        <p:spPr>
          <a:xfrm>
            <a:off x="6355080" y="2121408"/>
            <a:ext cx="45720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CONSUMER PROFILE</a:t>
            </a:r>
            <a:endParaRPr lang="en-US" sz="950" dirty="0"/>
          </a:p>
        </p:txBody>
      </p:sp>
      <p:sp>
        <p:nvSpPr>
          <p:cNvPr id="24" name="Text 21"/>
          <p:cNvSpPr/>
          <p:nvPr/>
        </p:nvSpPr>
        <p:spPr>
          <a:xfrm>
            <a:off x="6355080" y="2395728"/>
            <a:ext cx="1196264" cy="329184"/>
          </a:xfrm>
          <a:prstGeom prst="rect">
            <a:avLst/>
          </a:prstGeom>
          <a:noFill/>
          <a:ln/>
        </p:spPr>
        <p:txBody>
          <a:bodyPr wrap="square" lIns="0" tIns="0" rIns="0" bIns="0" rtlCol="0" anchor="t"/>
          <a:lstStyle/>
          <a:p>
            <a:pPr indent="0" marL="0">
              <a:buNone/>
            </a:pPr>
            <a:r>
              <a:rPr lang="en-US" sz="1700" dirty="0">
                <a:solidFill>
                  <a:srgbClr val="177A46"/>
                </a:solidFill>
                <a:latin typeface="Archivo Black" pitchFamily="34" charset="0"/>
                <a:ea typeface="Archivo Black" pitchFamily="34" charset="-122"/>
                <a:cs typeface="Archivo Black" pitchFamily="34" charset="-120"/>
              </a:rPr>
              <a:t>78%</a:t>
            </a:r>
            <a:endParaRPr lang="en-US" sz="1700" dirty="0"/>
          </a:p>
        </p:txBody>
      </p:sp>
      <p:sp>
        <p:nvSpPr>
          <p:cNvPr id="25" name="Text 22"/>
          <p:cNvSpPr/>
          <p:nvPr/>
        </p:nvSpPr>
        <p:spPr>
          <a:xfrm>
            <a:off x="6355080" y="2743200"/>
            <a:ext cx="1196264" cy="56692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have a child under 12 and / or an elderly member at home</a:t>
            </a:r>
            <a:endParaRPr lang="en-US" sz="800" dirty="0"/>
          </a:p>
        </p:txBody>
      </p:sp>
      <p:sp>
        <p:nvSpPr>
          <p:cNvPr id="26" name="Text 23"/>
          <p:cNvSpPr/>
          <p:nvPr/>
        </p:nvSpPr>
        <p:spPr>
          <a:xfrm>
            <a:off x="7734224" y="2395728"/>
            <a:ext cx="1196264" cy="329184"/>
          </a:xfrm>
          <a:prstGeom prst="rect">
            <a:avLst/>
          </a:prstGeom>
          <a:noFill/>
          <a:ln/>
        </p:spPr>
        <p:txBody>
          <a:bodyPr wrap="square" lIns="0" tIns="0" rIns="0" bIns="0" rtlCol="0" anchor="t"/>
          <a:lstStyle/>
          <a:p>
            <a:pPr indent="0" marL="0">
              <a:buNone/>
            </a:pPr>
            <a:r>
              <a:rPr lang="en-US" sz="1700" dirty="0">
                <a:solidFill>
                  <a:srgbClr val="177A46"/>
                </a:solidFill>
                <a:latin typeface="Archivo Black" pitchFamily="34" charset="0"/>
                <a:ea typeface="Archivo Black" pitchFamily="34" charset="-122"/>
                <a:cs typeface="Archivo Black" pitchFamily="34" charset="-120"/>
              </a:rPr>
              <a:t>82%</a:t>
            </a:r>
            <a:endParaRPr lang="en-US" sz="1700" dirty="0"/>
          </a:p>
        </p:txBody>
      </p:sp>
      <p:sp>
        <p:nvSpPr>
          <p:cNvPr id="27" name="Text 24"/>
          <p:cNvSpPr/>
          <p:nvPr/>
        </p:nvSpPr>
        <p:spPr>
          <a:xfrm>
            <a:off x="7734224" y="2743200"/>
            <a:ext cx="1196264" cy="56692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do the household grocery shopping entirely themselves</a:t>
            </a:r>
            <a:endParaRPr lang="en-US" sz="800" dirty="0"/>
          </a:p>
        </p:txBody>
      </p:sp>
      <p:sp>
        <p:nvSpPr>
          <p:cNvPr id="28" name="Text 25"/>
          <p:cNvSpPr/>
          <p:nvPr/>
        </p:nvSpPr>
        <p:spPr>
          <a:xfrm>
            <a:off x="9113368" y="2395728"/>
            <a:ext cx="1196264" cy="329184"/>
          </a:xfrm>
          <a:prstGeom prst="rect">
            <a:avLst/>
          </a:prstGeom>
          <a:noFill/>
          <a:ln/>
        </p:spPr>
        <p:txBody>
          <a:bodyPr wrap="square" lIns="0" tIns="0" rIns="0" bIns="0" rtlCol="0" anchor="t"/>
          <a:lstStyle/>
          <a:p>
            <a:pPr indent="0" marL="0">
              <a:buNone/>
            </a:pPr>
            <a:r>
              <a:rPr lang="en-US" sz="1700" dirty="0">
                <a:solidFill>
                  <a:srgbClr val="177A46"/>
                </a:solidFill>
                <a:latin typeface="Archivo Black" pitchFamily="34" charset="0"/>
                <a:ea typeface="Archivo Black" pitchFamily="34" charset="-122"/>
                <a:cs typeface="Archivo Black" pitchFamily="34" charset="-120"/>
              </a:rPr>
              <a:t>63%</a:t>
            </a:r>
            <a:endParaRPr lang="en-US" sz="1700" dirty="0"/>
          </a:p>
        </p:txBody>
      </p:sp>
      <p:sp>
        <p:nvSpPr>
          <p:cNvPr id="29" name="Text 26"/>
          <p:cNvSpPr/>
          <p:nvPr/>
        </p:nvSpPr>
        <p:spPr>
          <a:xfrm>
            <a:off x="9113368" y="2743200"/>
            <a:ext cx="1196264" cy="56692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earn ₹1–2.5 Lakh per month</a:t>
            </a:r>
            <a:endParaRPr lang="en-US" sz="800" dirty="0"/>
          </a:p>
        </p:txBody>
      </p:sp>
      <p:sp>
        <p:nvSpPr>
          <p:cNvPr id="30" name="Text 27"/>
          <p:cNvSpPr/>
          <p:nvPr/>
        </p:nvSpPr>
        <p:spPr>
          <a:xfrm>
            <a:off x="10492511" y="2395728"/>
            <a:ext cx="1196264" cy="329184"/>
          </a:xfrm>
          <a:prstGeom prst="rect">
            <a:avLst/>
          </a:prstGeom>
          <a:noFill/>
          <a:ln/>
        </p:spPr>
        <p:txBody>
          <a:bodyPr wrap="square" lIns="0" tIns="0" rIns="0" bIns="0" rtlCol="0" anchor="t"/>
          <a:lstStyle/>
          <a:p>
            <a:pPr indent="0" marL="0">
              <a:buNone/>
            </a:pPr>
            <a:r>
              <a:rPr lang="en-US" sz="1700" dirty="0">
                <a:solidFill>
                  <a:srgbClr val="177A46"/>
                </a:solidFill>
                <a:latin typeface="Archivo Black" pitchFamily="34" charset="0"/>
                <a:ea typeface="Archivo Black" pitchFamily="34" charset="-122"/>
                <a:cs typeface="Archivo Black" pitchFamily="34" charset="-120"/>
              </a:rPr>
              <a:t>58%</a:t>
            </a:r>
            <a:endParaRPr lang="en-US" sz="1700" dirty="0"/>
          </a:p>
        </p:txBody>
      </p:sp>
      <p:sp>
        <p:nvSpPr>
          <p:cNvPr id="31" name="Text 28"/>
          <p:cNvSpPr/>
          <p:nvPr/>
        </p:nvSpPr>
        <p:spPr>
          <a:xfrm>
            <a:off x="10492511" y="2743200"/>
            <a:ext cx="1196264" cy="56692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shop for groceries three or more times a week</a:t>
            </a:r>
            <a:endParaRPr lang="en-US" sz="800" dirty="0"/>
          </a:p>
        </p:txBody>
      </p:sp>
      <p:sp>
        <p:nvSpPr>
          <p:cNvPr id="32" name="Text 29"/>
          <p:cNvSpPr/>
          <p:nvPr/>
        </p:nvSpPr>
        <p:spPr>
          <a:xfrm>
            <a:off x="6355080" y="3419856"/>
            <a:ext cx="5333695"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WHERE THEY SHOP  (% USING, MULTI-SELECT)</a:t>
            </a:r>
            <a:endParaRPr lang="en-US" sz="950" dirty="0"/>
          </a:p>
        </p:txBody>
      </p:sp>
      <p:sp>
        <p:nvSpPr>
          <p:cNvPr id="33" name="Text 30"/>
          <p:cNvSpPr/>
          <p:nvPr/>
        </p:nvSpPr>
        <p:spPr>
          <a:xfrm>
            <a:off x="6355080" y="3730752"/>
            <a:ext cx="3596335"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Blinkit</a:t>
            </a:r>
            <a:endParaRPr lang="en-US" sz="950" dirty="0"/>
          </a:p>
        </p:txBody>
      </p:sp>
      <p:sp>
        <p:nvSpPr>
          <p:cNvPr id="34" name="Text 31"/>
          <p:cNvSpPr/>
          <p:nvPr/>
        </p:nvSpPr>
        <p:spPr>
          <a:xfrm>
            <a:off x="9951415" y="3730752"/>
            <a:ext cx="1737360" cy="201168"/>
          </a:xfrm>
          <a:prstGeom prst="rect">
            <a:avLst/>
          </a:prstGeom>
          <a:noFill/>
          <a:ln/>
        </p:spPr>
        <p:txBody>
          <a:bodyPr wrap="square" lIns="0" tIns="0" rIns="0" bIns="0" rtlCol="0" anchor="ctr"/>
          <a:lstStyle/>
          <a:p>
            <a:pPr algn="r" indent="0" marL="0">
              <a:buNone/>
            </a:pPr>
            <a:r>
              <a:rPr lang="en-US" sz="1000" b="1" dirty="0">
                <a:solidFill>
                  <a:srgbClr val="3A5D97"/>
                </a:solidFill>
                <a:latin typeface="Nunito Sans" pitchFamily="34" charset="0"/>
                <a:ea typeface="Nunito Sans" pitchFamily="34" charset="-122"/>
                <a:cs typeface="Nunito Sans" pitchFamily="34" charset="-120"/>
              </a:rPr>
              <a:t>53%</a:t>
            </a:r>
            <a:endParaRPr lang="en-US" sz="1000" dirty="0"/>
          </a:p>
        </p:txBody>
      </p:sp>
      <p:sp>
        <p:nvSpPr>
          <p:cNvPr id="35" name="Shape 32"/>
          <p:cNvSpPr/>
          <p:nvPr/>
        </p:nvSpPr>
        <p:spPr>
          <a:xfrm>
            <a:off x="6355080" y="3950208"/>
            <a:ext cx="5333695" cy="109728"/>
          </a:xfrm>
          <a:prstGeom prst="roundRect">
            <a:avLst>
              <a:gd name="adj" fmla="val 50000"/>
            </a:avLst>
          </a:prstGeom>
          <a:solidFill>
            <a:srgbClr val="EDE4D4"/>
          </a:solidFill>
          <a:ln w="12700">
            <a:solidFill>
              <a:srgbClr val="333333"/>
            </a:solidFill>
            <a:prstDash val="solid"/>
          </a:ln>
        </p:spPr>
      </p:sp>
      <p:sp>
        <p:nvSpPr>
          <p:cNvPr id="36" name="Shape 33"/>
          <p:cNvSpPr/>
          <p:nvPr/>
        </p:nvSpPr>
        <p:spPr>
          <a:xfrm>
            <a:off x="6355080" y="3950208"/>
            <a:ext cx="4711431" cy="109728"/>
          </a:xfrm>
          <a:prstGeom prst="roundRect">
            <a:avLst>
              <a:gd name="adj" fmla="val 50000"/>
            </a:avLst>
          </a:prstGeom>
          <a:solidFill>
            <a:srgbClr val="3A5D97"/>
          </a:solidFill>
          <a:ln w="12700">
            <a:solidFill>
              <a:srgbClr val="333333"/>
            </a:solidFill>
            <a:prstDash val="solid"/>
          </a:ln>
        </p:spPr>
      </p:sp>
      <p:sp>
        <p:nvSpPr>
          <p:cNvPr id="37" name="Text 34"/>
          <p:cNvSpPr/>
          <p:nvPr/>
        </p:nvSpPr>
        <p:spPr>
          <a:xfrm>
            <a:off x="6355080" y="4041648"/>
            <a:ext cx="3596335"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Swiggy Instamart</a:t>
            </a:r>
            <a:endParaRPr lang="en-US" sz="950" dirty="0"/>
          </a:p>
        </p:txBody>
      </p:sp>
      <p:sp>
        <p:nvSpPr>
          <p:cNvPr id="38" name="Text 35"/>
          <p:cNvSpPr/>
          <p:nvPr/>
        </p:nvSpPr>
        <p:spPr>
          <a:xfrm>
            <a:off x="9951415" y="4041648"/>
            <a:ext cx="1737360" cy="201168"/>
          </a:xfrm>
          <a:prstGeom prst="rect">
            <a:avLst/>
          </a:prstGeom>
          <a:noFill/>
          <a:ln/>
        </p:spPr>
        <p:txBody>
          <a:bodyPr wrap="square" lIns="0" tIns="0" rIns="0" bIns="0" rtlCol="0" anchor="ctr"/>
          <a:lstStyle/>
          <a:p>
            <a:pPr algn="r" indent="0" marL="0">
              <a:buNone/>
            </a:pPr>
            <a:r>
              <a:rPr lang="en-US" sz="1000" b="1" dirty="0">
                <a:solidFill>
                  <a:srgbClr val="3A5D97"/>
                </a:solidFill>
                <a:latin typeface="Nunito Sans" pitchFamily="34" charset="0"/>
                <a:ea typeface="Nunito Sans" pitchFamily="34" charset="-122"/>
                <a:cs typeface="Nunito Sans" pitchFamily="34" charset="-120"/>
              </a:rPr>
              <a:t>43%</a:t>
            </a:r>
            <a:endParaRPr lang="en-US" sz="1000" dirty="0"/>
          </a:p>
        </p:txBody>
      </p:sp>
      <p:sp>
        <p:nvSpPr>
          <p:cNvPr id="39" name="Shape 36"/>
          <p:cNvSpPr/>
          <p:nvPr/>
        </p:nvSpPr>
        <p:spPr>
          <a:xfrm>
            <a:off x="6355080" y="4261104"/>
            <a:ext cx="5333695" cy="109728"/>
          </a:xfrm>
          <a:prstGeom prst="roundRect">
            <a:avLst>
              <a:gd name="adj" fmla="val 50000"/>
            </a:avLst>
          </a:prstGeom>
          <a:solidFill>
            <a:srgbClr val="EDE4D4"/>
          </a:solidFill>
          <a:ln w="12700">
            <a:solidFill>
              <a:srgbClr val="333333"/>
            </a:solidFill>
            <a:prstDash val="solid"/>
          </a:ln>
        </p:spPr>
      </p:sp>
      <p:sp>
        <p:nvSpPr>
          <p:cNvPr id="40" name="Shape 37"/>
          <p:cNvSpPr/>
          <p:nvPr/>
        </p:nvSpPr>
        <p:spPr>
          <a:xfrm>
            <a:off x="6355080" y="4261104"/>
            <a:ext cx="3822482" cy="109728"/>
          </a:xfrm>
          <a:prstGeom prst="roundRect">
            <a:avLst>
              <a:gd name="adj" fmla="val 50000"/>
            </a:avLst>
          </a:prstGeom>
          <a:solidFill>
            <a:srgbClr val="3A5D97"/>
          </a:solidFill>
          <a:ln w="12700">
            <a:solidFill>
              <a:srgbClr val="333333"/>
            </a:solidFill>
            <a:prstDash val="solid"/>
          </a:ln>
        </p:spPr>
      </p:sp>
      <p:sp>
        <p:nvSpPr>
          <p:cNvPr id="41" name="Text 38"/>
          <p:cNvSpPr/>
          <p:nvPr/>
        </p:nvSpPr>
        <p:spPr>
          <a:xfrm>
            <a:off x="6355080" y="4352544"/>
            <a:ext cx="3596335"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Kirana</a:t>
            </a:r>
            <a:endParaRPr lang="en-US" sz="950" dirty="0"/>
          </a:p>
        </p:txBody>
      </p:sp>
      <p:sp>
        <p:nvSpPr>
          <p:cNvPr id="42" name="Text 39"/>
          <p:cNvSpPr/>
          <p:nvPr/>
        </p:nvSpPr>
        <p:spPr>
          <a:xfrm>
            <a:off x="9951415" y="4352544"/>
            <a:ext cx="1737360" cy="201168"/>
          </a:xfrm>
          <a:prstGeom prst="rect">
            <a:avLst/>
          </a:prstGeom>
          <a:noFill/>
          <a:ln/>
        </p:spPr>
        <p:txBody>
          <a:bodyPr wrap="square" lIns="0" tIns="0" rIns="0" bIns="0" rtlCol="0" anchor="ctr"/>
          <a:lstStyle/>
          <a:p>
            <a:pPr algn="r" indent="0" marL="0">
              <a:buNone/>
            </a:pPr>
            <a:r>
              <a:rPr lang="en-US" sz="1000" b="1" dirty="0">
                <a:solidFill>
                  <a:srgbClr val="6688BE"/>
                </a:solidFill>
                <a:latin typeface="Nunito Sans" pitchFamily="34" charset="0"/>
                <a:ea typeface="Nunito Sans" pitchFamily="34" charset="-122"/>
                <a:cs typeface="Nunito Sans" pitchFamily="34" charset="-120"/>
              </a:rPr>
              <a:t>41%</a:t>
            </a:r>
            <a:endParaRPr lang="en-US" sz="1000" dirty="0"/>
          </a:p>
        </p:txBody>
      </p:sp>
      <p:sp>
        <p:nvSpPr>
          <p:cNvPr id="43" name="Shape 40"/>
          <p:cNvSpPr/>
          <p:nvPr/>
        </p:nvSpPr>
        <p:spPr>
          <a:xfrm>
            <a:off x="6355080" y="4572000"/>
            <a:ext cx="5333695" cy="109728"/>
          </a:xfrm>
          <a:prstGeom prst="roundRect">
            <a:avLst>
              <a:gd name="adj" fmla="val 50000"/>
            </a:avLst>
          </a:prstGeom>
          <a:solidFill>
            <a:srgbClr val="EDE4D4"/>
          </a:solidFill>
          <a:ln w="12700">
            <a:solidFill>
              <a:srgbClr val="333333"/>
            </a:solidFill>
            <a:prstDash val="solid"/>
          </a:ln>
        </p:spPr>
      </p:sp>
      <p:sp>
        <p:nvSpPr>
          <p:cNvPr id="44" name="Shape 41"/>
          <p:cNvSpPr/>
          <p:nvPr/>
        </p:nvSpPr>
        <p:spPr>
          <a:xfrm>
            <a:off x="6355080" y="4572000"/>
            <a:ext cx="3644692" cy="109728"/>
          </a:xfrm>
          <a:prstGeom prst="roundRect">
            <a:avLst>
              <a:gd name="adj" fmla="val 50000"/>
            </a:avLst>
          </a:prstGeom>
          <a:solidFill>
            <a:srgbClr val="6688BE"/>
          </a:solidFill>
          <a:ln w="12700">
            <a:solidFill>
              <a:srgbClr val="333333"/>
            </a:solidFill>
            <a:prstDash val="solid"/>
          </a:ln>
        </p:spPr>
      </p:sp>
      <p:sp>
        <p:nvSpPr>
          <p:cNvPr id="45" name="Text 42"/>
          <p:cNvSpPr/>
          <p:nvPr/>
        </p:nvSpPr>
        <p:spPr>
          <a:xfrm>
            <a:off x="6355080" y="4663440"/>
            <a:ext cx="3596335"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BigBasket</a:t>
            </a:r>
            <a:endParaRPr lang="en-US" sz="950" dirty="0"/>
          </a:p>
        </p:txBody>
      </p:sp>
      <p:sp>
        <p:nvSpPr>
          <p:cNvPr id="46" name="Text 43"/>
          <p:cNvSpPr/>
          <p:nvPr/>
        </p:nvSpPr>
        <p:spPr>
          <a:xfrm>
            <a:off x="9951415" y="4663440"/>
            <a:ext cx="1737360" cy="201168"/>
          </a:xfrm>
          <a:prstGeom prst="rect">
            <a:avLst/>
          </a:prstGeom>
          <a:noFill/>
          <a:ln/>
        </p:spPr>
        <p:txBody>
          <a:bodyPr wrap="square" lIns="0" tIns="0" rIns="0" bIns="0" rtlCol="0" anchor="ctr"/>
          <a:lstStyle/>
          <a:p>
            <a:pPr algn="r" indent="0" marL="0">
              <a:buNone/>
            </a:pPr>
            <a:r>
              <a:rPr lang="en-US" sz="1000" b="1" dirty="0">
                <a:solidFill>
                  <a:srgbClr val="6688BE"/>
                </a:solidFill>
                <a:latin typeface="Nunito Sans" pitchFamily="34" charset="0"/>
                <a:ea typeface="Nunito Sans" pitchFamily="34" charset="-122"/>
                <a:cs typeface="Nunito Sans" pitchFamily="34" charset="-120"/>
              </a:rPr>
              <a:t>34%</a:t>
            </a:r>
            <a:endParaRPr lang="en-US" sz="1000" dirty="0"/>
          </a:p>
        </p:txBody>
      </p:sp>
      <p:sp>
        <p:nvSpPr>
          <p:cNvPr id="47" name="Shape 44"/>
          <p:cNvSpPr/>
          <p:nvPr/>
        </p:nvSpPr>
        <p:spPr>
          <a:xfrm>
            <a:off x="6355080" y="4882896"/>
            <a:ext cx="5333695" cy="109728"/>
          </a:xfrm>
          <a:prstGeom prst="roundRect">
            <a:avLst>
              <a:gd name="adj" fmla="val 50000"/>
            </a:avLst>
          </a:prstGeom>
          <a:solidFill>
            <a:srgbClr val="EDE4D4"/>
          </a:solidFill>
          <a:ln w="12700">
            <a:solidFill>
              <a:srgbClr val="333333"/>
            </a:solidFill>
            <a:prstDash val="solid"/>
          </a:ln>
        </p:spPr>
      </p:sp>
      <p:sp>
        <p:nvSpPr>
          <p:cNvPr id="48" name="Shape 45"/>
          <p:cNvSpPr/>
          <p:nvPr/>
        </p:nvSpPr>
        <p:spPr>
          <a:xfrm>
            <a:off x="6355080" y="4882896"/>
            <a:ext cx="3022427" cy="109728"/>
          </a:xfrm>
          <a:prstGeom prst="roundRect">
            <a:avLst>
              <a:gd name="adj" fmla="val 50000"/>
            </a:avLst>
          </a:prstGeom>
          <a:solidFill>
            <a:srgbClr val="6688BE"/>
          </a:solidFill>
          <a:ln w="12700">
            <a:solidFill>
              <a:srgbClr val="333333"/>
            </a:solidFill>
            <a:prstDash val="solid"/>
          </a:ln>
        </p:spPr>
      </p:sp>
      <p:sp>
        <p:nvSpPr>
          <p:cNvPr id="49" name="Text 46"/>
          <p:cNvSpPr/>
          <p:nvPr/>
        </p:nvSpPr>
        <p:spPr>
          <a:xfrm>
            <a:off x="6355080" y="4974336"/>
            <a:ext cx="3596335"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Amazon / JioMart</a:t>
            </a:r>
            <a:endParaRPr lang="en-US" sz="950" dirty="0"/>
          </a:p>
        </p:txBody>
      </p:sp>
      <p:sp>
        <p:nvSpPr>
          <p:cNvPr id="50" name="Text 47"/>
          <p:cNvSpPr/>
          <p:nvPr/>
        </p:nvSpPr>
        <p:spPr>
          <a:xfrm>
            <a:off x="9951415" y="4974336"/>
            <a:ext cx="1737360" cy="201168"/>
          </a:xfrm>
          <a:prstGeom prst="rect">
            <a:avLst/>
          </a:prstGeom>
          <a:noFill/>
          <a:ln/>
        </p:spPr>
        <p:txBody>
          <a:bodyPr wrap="square" lIns="0" tIns="0" rIns="0" bIns="0" rtlCol="0" anchor="ctr"/>
          <a:lstStyle/>
          <a:p>
            <a:pPr algn="r" indent="0" marL="0">
              <a:buNone/>
            </a:pPr>
            <a:r>
              <a:rPr lang="en-US" sz="1000" b="1" dirty="0">
                <a:solidFill>
                  <a:srgbClr val="6688BE"/>
                </a:solidFill>
                <a:latin typeface="Nunito Sans" pitchFamily="34" charset="0"/>
                <a:ea typeface="Nunito Sans" pitchFamily="34" charset="-122"/>
                <a:cs typeface="Nunito Sans" pitchFamily="34" charset="-120"/>
              </a:rPr>
              <a:t>30%</a:t>
            </a:r>
            <a:endParaRPr lang="en-US" sz="1000" dirty="0"/>
          </a:p>
        </p:txBody>
      </p:sp>
      <p:sp>
        <p:nvSpPr>
          <p:cNvPr id="51" name="Shape 48"/>
          <p:cNvSpPr/>
          <p:nvPr/>
        </p:nvSpPr>
        <p:spPr>
          <a:xfrm>
            <a:off x="6355080" y="5193792"/>
            <a:ext cx="5333695" cy="109728"/>
          </a:xfrm>
          <a:prstGeom prst="roundRect">
            <a:avLst>
              <a:gd name="adj" fmla="val 50000"/>
            </a:avLst>
          </a:prstGeom>
          <a:solidFill>
            <a:srgbClr val="EDE4D4"/>
          </a:solidFill>
          <a:ln w="12700">
            <a:solidFill>
              <a:srgbClr val="333333"/>
            </a:solidFill>
            <a:prstDash val="solid"/>
          </a:ln>
        </p:spPr>
      </p:sp>
      <p:sp>
        <p:nvSpPr>
          <p:cNvPr id="52" name="Shape 49"/>
          <p:cNvSpPr/>
          <p:nvPr/>
        </p:nvSpPr>
        <p:spPr>
          <a:xfrm>
            <a:off x="6355080" y="5193792"/>
            <a:ext cx="2666848" cy="109728"/>
          </a:xfrm>
          <a:prstGeom prst="roundRect">
            <a:avLst>
              <a:gd name="adj" fmla="val 50000"/>
            </a:avLst>
          </a:prstGeom>
          <a:solidFill>
            <a:srgbClr val="6688BE"/>
          </a:solidFill>
          <a:ln w="12700">
            <a:solidFill>
              <a:srgbClr val="333333"/>
            </a:solidFill>
            <a:prstDash val="solid"/>
          </a:ln>
        </p:spPr>
      </p:sp>
      <p:sp>
        <p:nvSpPr>
          <p:cNvPr id="53" name="Text 50"/>
          <p:cNvSpPr/>
          <p:nvPr/>
        </p:nvSpPr>
        <p:spPr>
          <a:xfrm>
            <a:off x="6355080" y="5285232"/>
            <a:ext cx="3596335"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Zepto</a:t>
            </a:r>
            <a:endParaRPr lang="en-US" sz="950" dirty="0"/>
          </a:p>
        </p:txBody>
      </p:sp>
      <p:sp>
        <p:nvSpPr>
          <p:cNvPr id="54" name="Text 51"/>
          <p:cNvSpPr/>
          <p:nvPr/>
        </p:nvSpPr>
        <p:spPr>
          <a:xfrm>
            <a:off x="9951415" y="5285232"/>
            <a:ext cx="1737360" cy="201168"/>
          </a:xfrm>
          <a:prstGeom prst="rect">
            <a:avLst/>
          </a:prstGeom>
          <a:noFill/>
          <a:ln/>
        </p:spPr>
        <p:txBody>
          <a:bodyPr wrap="square" lIns="0" tIns="0" rIns="0" bIns="0" rtlCol="0" anchor="ctr"/>
          <a:lstStyle/>
          <a:p>
            <a:pPr algn="r" indent="0" marL="0">
              <a:buNone/>
            </a:pPr>
            <a:r>
              <a:rPr lang="en-US" sz="1000" b="1" dirty="0">
                <a:solidFill>
                  <a:srgbClr val="3A5D97"/>
                </a:solidFill>
                <a:latin typeface="Nunito Sans" pitchFamily="34" charset="0"/>
                <a:ea typeface="Nunito Sans" pitchFamily="34" charset="-122"/>
                <a:cs typeface="Nunito Sans" pitchFamily="34" charset="-120"/>
              </a:rPr>
              <a:t>29%</a:t>
            </a:r>
            <a:endParaRPr lang="en-US" sz="1000" dirty="0"/>
          </a:p>
        </p:txBody>
      </p:sp>
      <p:sp>
        <p:nvSpPr>
          <p:cNvPr id="55" name="Shape 52"/>
          <p:cNvSpPr/>
          <p:nvPr/>
        </p:nvSpPr>
        <p:spPr>
          <a:xfrm>
            <a:off x="6355080" y="5504688"/>
            <a:ext cx="5333695" cy="109728"/>
          </a:xfrm>
          <a:prstGeom prst="roundRect">
            <a:avLst>
              <a:gd name="adj" fmla="val 50000"/>
            </a:avLst>
          </a:prstGeom>
          <a:solidFill>
            <a:srgbClr val="EDE4D4"/>
          </a:solidFill>
          <a:ln w="12700">
            <a:solidFill>
              <a:srgbClr val="333333"/>
            </a:solidFill>
            <a:prstDash val="solid"/>
          </a:ln>
        </p:spPr>
      </p:sp>
      <p:sp>
        <p:nvSpPr>
          <p:cNvPr id="56" name="Shape 53"/>
          <p:cNvSpPr/>
          <p:nvPr/>
        </p:nvSpPr>
        <p:spPr>
          <a:xfrm>
            <a:off x="6355080" y="5504688"/>
            <a:ext cx="2577953" cy="109728"/>
          </a:xfrm>
          <a:prstGeom prst="roundRect">
            <a:avLst>
              <a:gd name="adj" fmla="val 50000"/>
            </a:avLst>
          </a:prstGeom>
          <a:solidFill>
            <a:srgbClr val="3A5D97"/>
          </a:solidFill>
          <a:ln w="12700">
            <a:solidFill>
              <a:srgbClr val="333333"/>
            </a:solidFill>
            <a:prstDash val="solid"/>
          </a:ln>
        </p:spPr>
      </p:sp>
      <p:sp>
        <p:nvSpPr>
          <p:cNvPr id="57" name="Text 54"/>
          <p:cNvSpPr/>
          <p:nvPr/>
        </p:nvSpPr>
        <p:spPr>
          <a:xfrm>
            <a:off x="6355080" y="5596128"/>
            <a:ext cx="3596335"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Supermarkets</a:t>
            </a:r>
            <a:endParaRPr lang="en-US" sz="950" dirty="0"/>
          </a:p>
        </p:txBody>
      </p:sp>
      <p:sp>
        <p:nvSpPr>
          <p:cNvPr id="58" name="Text 55"/>
          <p:cNvSpPr/>
          <p:nvPr/>
        </p:nvSpPr>
        <p:spPr>
          <a:xfrm>
            <a:off x="9951415" y="5596128"/>
            <a:ext cx="1737360" cy="201168"/>
          </a:xfrm>
          <a:prstGeom prst="rect">
            <a:avLst/>
          </a:prstGeom>
          <a:noFill/>
          <a:ln/>
        </p:spPr>
        <p:txBody>
          <a:bodyPr wrap="square" lIns="0" tIns="0" rIns="0" bIns="0" rtlCol="0" anchor="ctr"/>
          <a:lstStyle/>
          <a:p>
            <a:pPr algn="r" indent="0" marL="0">
              <a:buNone/>
            </a:pPr>
            <a:r>
              <a:rPr lang="en-US" sz="1000" b="1" dirty="0">
                <a:solidFill>
                  <a:srgbClr val="B5AD9C"/>
                </a:solidFill>
                <a:latin typeface="Nunito Sans" pitchFamily="34" charset="0"/>
                <a:ea typeface="Nunito Sans" pitchFamily="34" charset="-122"/>
                <a:cs typeface="Nunito Sans" pitchFamily="34" charset="-120"/>
              </a:rPr>
              <a:t>10%</a:t>
            </a:r>
            <a:endParaRPr lang="en-US" sz="1000" dirty="0"/>
          </a:p>
        </p:txBody>
      </p:sp>
      <p:sp>
        <p:nvSpPr>
          <p:cNvPr id="59" name="Shape 56"/>
          <p:cNvSpPr/>
          <p:nvPr/>
        </p:nvSpPr>
        <p:spPr>
          <a:xfrm>
            <a:off x="6355080" y="5815584"/>
            <a:ext cx="5333695" cy="109728"/>
          </a:xfrm>
          <a:prstGeom prst="roundRect">
            <a:avLst>
              <a:gd name="adj" fmla="val 50000"/>
            </a:avLst>
          </a:prstGeom>
          <a:solidFill>
            <a:srgbClr val="EDE4D4"/>
          </a:solidFill>
          <a:ln w="12700">
            <a:solidFill>
              <a:srgbClr val="333333"/>
            </a:solidFill>
            <a:prstDash val="solid"/>
          </a:ln>
        </p:spPr>
      </p:sp>
      <p:sp>
        <p:nvSpPr>
          <p:cNvPr id="60" name="Shape 57"/>
          <p:cNvSpPr/>
          <p:nvPr/>
        </p:nvSpPr>
        <p:spPr>
          <a:xfrm>
            <a:off x="6355080" y="5815584"/>
            <a:ext cx="888949" cy="109728"/>
          </a:xfrm>
          <a:prstGeom prst="roundRect">
            <a:avLst>
              <a:gd name="adj" fmla="val 50000"/>
            </a:avLst>
          </a:prstGeom>
          <a:solidFill>
            <a:srgbClr val="B5AD9C"/>
          </a:solidFill>
          <a:ln w="12700">
            <a:solidFill>
              <a:srgbClr val="333333"/>
            </a:solidFill>
            <a:prstDash val="solid"/>
          </a:ln>
        </p:spPr>
      </p:sp>
      <p:sp>
        <p:nvSpPr>
          <p:cNvPr id="61" name="Shape 58"/>
          <p:cNvSpPr/>
          <p:nvPr/>
        </p:nvSpPr>
        <p:spPr>
          <a:xfrm>
            <a:off x="6355080" y="5943600"/>
            <a:ext cx="5333695" cy="548640"/>
          </a:xfrm>
          <a:prstGeom prst="roundRect">
            <a:avLst>
              <a:gd name="adj" fmla="val 16667"/>
            </a:avLst>
          </a:prstGeom>
          <a:solidFill>
            <a:srgbClr val="EAF0F8"/>
          </a:solidFill>
          <a:ln w="6350">
            <a:solidFill>
              <a:srgbClr val="EAF0F8"/>
            </a:solidFill>
            <a:prstDash val="solid"/>
          </a:ln>
        </p:spPr>
      </p:sp>
      <p:sp>
        <p:nvSpPr>
          <p:cNvPr id="62" name="Text 59"/>
          <p:cNvSpPr/>
          <p:nvPr/>
        </p:nvSpPr>
        <p:spPr>
          <a:xfrm>
            <a:off x="6556248" y="6062472"/>
            <a:ext cx="4931359" cy="338328"/>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A quick-commerce-first, metro sample: the exact cohort DHF already sells to, and the cohort that will decide whether the category forms.</a:t>
            </a:r>
            <a:endParaRPr lang="en-US" sz="900" dirty="0"/>
          </a:p>
        </p:txBody>
      </p:sp>
      <p:sp>
        <p:nvSpPr>
          <p:cNvPr id="63" name="Shape 60"/>
          <p:cNvSpPr/>
          <p:nvPr/>
        </p:nvSpPr>
        <p:spPr>
          <a:xfrm>
            <a:off x="502920" y="6455664"/>
            <a:ext cx="11185855" cy="0"/>
          </a:xfrm>
          <a:prstGeom prst="line">
            <a:avLst/>
          </a:prstGeom>
          <a:noFill/>
          <a:ln w="9525">
            <a:solidFill>
              <a:srgbClr val="E5DCCB"/>
            </a:solidFill>
            <a:prstDash val="solid"/>
          </a:ln>
        </p:spPr>
      </p:sp>
      <p:sp>
        <p:nvSpPr>
          <p:cNvPr id="64" name="Text 61"/>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03 · THE CONSUMER</a:t>
            </a:r>
            <a:endParaRPr lang="en-US" sz="800" dirty="0"/>
          </a:p>
        </p:txBody>
      </p:sp>
      <p:sp>
        <p:nvSpPr>
          <p:cNvPr id="65" name="Text 62"/>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14</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518258"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518258"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THE ANALYTICAL PIPELINE</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Factor analysis and k-means on 15 attitude statements.</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Rather than segment on age or income — poor predictors in this data — we let the attitudes group themselves.</a:t>
            </a:r>
            <a:endParaRPr lang="en-US" sz="1100" dirty="0"/>
          </a:p>
        </p:txBody>
      </p:sp>
      <p:sp>
        <p:nvSpPr>
          <p:cNvPr id="7" name="Shape 4"/>
          <p:cNvSpPr/>
          <p:nvPr/>
        </p:nvSpPr>
        <p:spPr>
          <a:xfrm>
            <a:off x="502920" y="2121408"/>
            <a:ext cx="2061606" cy="1143000"/>
          </a:xfrm>
          <a:prstGeom prst="roundRect">
            <a:avLst>
              <a:gd name="adj" fmla="val 8000"/>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8" name="Shape 5"/>
          <p:cNvSpPr/>
          <p:nvPr/>
        </p:nvSpPr>
        <p:spPr>
          <a:xfrm>
            <a:off x="685800" y="2267712"/>
            <a:ext cx="292608" cy="292608"/>
          </a:xfrm>
          <a:prstGeom prst="ellipse">
            <a:avLst/>
          </a:prstGeom>
          <a:solidFill>
            <a:srgbClr val="EAF0F8"/>
          </a:solidFill>
          <a:ln w="12700">
            <a:solidFill>
              <a:srgbClr val="333333"/>
            </a:solidFill>
            <a:prstDash val="solid"/>
          </a:ln>
        </p:spPr>
      </p:sp>
      <p:sp>
        <p:nvSpPr>
          <p:cNvPr id="9" name="Text 6"/>
          <p:cNvSpPr/>
          <p:nvPr/>
        </p:nvSpPr>
        <p:spPr>
          <a:xfrm>
            <a:off x="685800" y="2267712"/>
            <a:ext cx="292608" cy="292608"/>
          </a:xfrm>
          <a:prstGeom prst="rect">
            <a:avLst/>
          </a:prstGeom>
          <a:noFill/>
          <a:ln/>
        </p:spPr>
        <p:txBody>
          <a:bodyPr wrap="square" lIns="0" tIns="0" rIns="0" bIns="0" rtlCol="0" anchor="ctr"/>
          <a:lstStyle/>
          <a:p>
            <a:pPr algn="ctr" indent="0" marL="0">
              <a:buNone/>
            </a:pPr>
            <a:r>
              <a:rPr lang="en-US" sz="900" dirty="0">
                <a:solidFill>
                  <a:srgbClr val="3A5D97"/>
                </a:solidFill>
                <a:latin typeface="Archivo Black" pitchFamily="34" charset="0"/>
                <a:ea typeface="Archivo Black" pitchFamily="34" charset="-122"/>
                <a:cs typeface="Archivo Black" pitchFamily="34" charset="-120"/>
              </a:rPr>
              <a:t>1</a:t>
            </a:r>
            <a:endParaRPr lang="en-US" sz="900" dirty="0"/>
          </a:p>
        </p:txBody>
      </p:sp>
      <p:sp>
        <p:nvSpPr>
          <p:cNvPr id="10" name="Text 7"/>
          <p:cNvSpPr/>
          <p:nvPr/>
        </p:nvSpPr>
        <p:spPr>
          <a:xfrm>
            <a:off x="685800" y="2615184"/>
            <a:ext cx="1695846" cy="329184"/>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305 × 15 matrix</a:t>
            </a:r>
            <a:endParaRPr lang="en-US" sz="950" dirty="0"/>
          </a:p>
        </p:txBody>
      </p:sp>
      <p:sp>
        <p:nvSpPr>
          <p:cNvPr id="11" name="Text 8"/>
          <p:cNvSpPr/>
          <p:nvPr/>
        </p:nvSpPr>
        <p:spPr>
          <a:xfrm>
            <a:off x="685800" y="2962656"/>
            <a:ext cx="1695846" cy="274320"/>
          </a:xfrm>
          <a:prstGeom prst="rect">
            <a:avLst/>
          </a:prstGeom>
          <a:noFill/>
          <a:ln/>
        </p:spPr>
        <p:txBody>
          <a:bodyPr wrap="square" lIns="0" tIns="0" rIns="0" bIns="0" rtlCol="0" anchor="t"/>
          <a:lstStyle/>
          <a:p>
            <a:pPr indent="0" marL="0">
              <a:lnSpc>
                <a:spcPct val="104000"/>
              </a:lnSpc>
              <a:buNone/>
            </a:pPr>
            <a:r>
              <a:rPr lang="en-US" sz="750" dirty="0">
                <a:solidFill>
                  <a:srgbClr val="54606F"/>
                </a:solidFill>
                <a:latin typeface="Nunito Sans" pitchFamily="34" charset="0"/>
                <a:ea typeface="Nunito Sans" pitchFamily="34" charset="-122"/>
                <a:cs typeface="Nunito Sans" pitchFamily="34" charset="-120"/>
              </a:rPr>
              <a:t>Every respondent scored on 15 five-point attitude statements</a:t>
            </a:r>
            <a:endParaRPr lang="en-US" sz="750" dirty="0"/>
          </a:p>
        </p:txBody>
      </p:sp>
      <p:sp>
        <p:nvSpPr>
          <p:cNvPr id="12" name="Shape 9"/>
          <p:cNvSpPr/>
          <p:nvPr/>
        </p:nvSpPr>
        <p:spPr>
          <a:xfrm>
            <a:off x="2783982" y="2121408"/>
            <a:ext cx="2061606" cy="1143000"/>
          </a:xfrm>
          <a:prstGeom prst="roundRect">
            <a:avLst>
              <a:gd name="adj" fmla="val 8000"/>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13" name="Shape 10"/>
          <p:cNvSpPr/>
          <p:nvPr/>
        </p:nvSpPr>
        <p:spPr>
          <a:xfrm>
            <a:off x="2966862" y="2267712"/>
            <a:ext cx="292608" cy="292608"/>
          </a:xfrm>
          <a:prstGeom prst="ellipse">
            <a:avLst/>
          </a:prstGeom>
          <a:solidFill>
            <a:srgbClr val="EAF0F8"/>
          </a:solidFill>
          <a:ln w="12700">
            <a:solidFill>
              <a:srgbClr val="333333"/>
            </a:solidFill>
            <a:prstDash val="solid"/>
          </a:ln>
        </p:spPr>
      </p:sp>
      <p:sp>
        <p:nvSpPr>
          <p:cNvPr id="14" name="Text 11"/>
          <p:cNvSpPr/>
          <p:nvPr/>
        </p:nvSpPr>
        <p:spPr>
          <a:xfrm>
            <a:off x="2966862" y="2267712"/>
            <a:ext cx="292608" cy="292608"/>
          </a:xfrm>
          <a:prstGeom prst="rect">
            <a:avLst/>
          </a:prstGeom>
          <a:noFill/>
          <a:ln/>
        </p:spPr>
        <p:txBody>
          <a:bodyPr wrap="square" lIns="0" tIns="0" rIns="0" bIns="0" rtlCol="0" anchor="ctr"/>
          <a:lstStyle/>
          <a:p>
            <a:pPr algn="ctr" indent="0" marL="0">
              <a:buNone/>
            </a:pPr>
            <a:r>
              <a:rPr lang="en-US" sz="900" dirty="0">
                <a:solidFill>
                  <a:srgbClr val="3A5D97"/>
                </a:solidFill>
                <a:latin typeface="Archivo Black" pitchFamily="34" charset="0"/>
                <a:ea typeface="Archivo Black" pitchFamily="34" charset="-122"/>
                <a:cs typeface="Archivo Black" pitchFamily="34" charset="-120"/>
              </a:rPr>
              <a:t>2</a:t>
            </a:r>
            <a:endParaRPr lang="en-US" sz="900" dirty="0"/>
          </a:p>
        </p:txBody>
      </p:sp>
      <p:sp>
        <p:nvSpPr>
          <p:cNvPr id="15" name="Text 12"/>
          <p:cNvSpPr/>
          <p:nvPr/>
        </p:nvSpPr>
        <p:spPr>
          <a:xfrm>
            <a:off x="2966862" y="2615184"/>
            <a:ext cx="1695846" cy="329184"/>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Exploratory factor analysis</a:t>
            </a:r>
            <a:endParaRPr lang="en-US" sz="950" dirty="0"/>
          </a:p>
        </p:txBody>
      </p:sp>
      <p:sp>
        <p:nvSpPr>
          <p:cNvPr id="16" name="Text 13"/>
          <p:cNvSpPr/>
          <p:nvPr/>
        </p:nvSpPr>
        <p:spPr>
          <a:xfrm>
            <a:off x="2966862" y="2962656"/>
            <a:ext cx="1695846" cy="274320"/>
          </a:xfrm>
          <a:prstGeom prst="rect">
            <a:avLst/>
          </a:prstGeom>
          <a:noFill/>
          <a:ln/>
        </p:spPr>
        <p:txBody>
          <a:bodyPr wrap="square" lIns="0" tIns="0" rIns="0" bIns="0" rtlCol="0" anchor="t"/>
          <a:lstStyle/>
          <a:p>
            <a:pPr indent="0" marL="0">
              <a:lnSpc>
                <a:spcPct val="104000"/>
              </a:lnSpc>
              <a:buNone/>
            </a:pPr>
            <a:r>
              <a:rPr lang="en-US" sz="750" dirty="0">
                <a:solidFill>
                  <a:srgbClr val="54606F"/>
                </a:solidFill>
                <a:latin typeface="Nunito Sans" pitchFamily="34" charset="0"/>
                <a:ea typeface="Nunito Sans" pitchFamily="34" charset="-122"/>
                <a:cs typeface="Nunito Sans" pitchFamily="34" charset="-120"/>
              </a:rPr>
              <a:t>Principal-axis factoring with Varimax rotation</a:t>
            </a:r>
            <a:endParaRPr lang="en-US" sz="750" dirty="0"/>
          </a:p>
        </p:txBody>
      </p:sp>
      <p:sp>
        <p:nvSpPr>
          <p:cNvPr id="17" name="Shape 14"/>
          <p:cNvSpPr/>
          <p:nvPr/>
        </p:nvSpPr>
        <p:spPr>
          <a:xfrm>
            <a:off x="5065044" y="2121408"/>
            <a:ext cx="2061606" cy="1143000"/>
          </a:xfrm>
          <a:prstGeom prst="roundRect">
            <a:avLst>
              <a:gd name="adj" fmla="val 8000"/>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18" name="Shape 15"/>
          <p:cNvSpPr/>
          <p:nvPr/>
        </p:nvSpPr>
        <p:spPr>
          <a:xfrm>
            <a:off x="5247924" y="2267712"/>
            <a:ext cx="292608" cy="292608"/>
          </a:xfrm>
          <a:prstGeom prst="ellipse">
            <a:avLst/>
          </a:prstGeom>
          <a:solidFill>
            <a:srgbClr val="EAF0F8"/>
          </a:solidFill>
          <a:ln w="12700">
            <a:solidFill>
              <a:srgbClr val="333333"/>
            </a:solidFill>
            <a:prstDash val="solid"/>
          </a:ln>
        </p:spPr>
      </p:sp>
      <p:sp>
        <p:nvSpPr>
          <p:cNvPr id="19" name="Text 16"/>
          <p:cNvSpPr/>
          <p:nvPr/>
        </p:nvSpPr>
        <p:spPr>
          <a:xfrm>
            <a:off x="5247924" y="2267712"/>
            <a:ext cx="292608" cy="292608"/>
          </a:xfrm>
          <a:prstGeom prst="rect">
            <a:avLst/>
          </a:prstGeom>
          <a:noFill/>
          <a:ln/>
        </p:spPr>
        <p:txBody>
          <a:bodyPr wrap="square" lIns="0" tIns="0" rIns="0" bIns="0" rtlCol="0" anchor="ctr"/>
          <a:lstStyle/>
          <a:p>
            <a:pPr algn="ctr" indent="0" marL="0">
              <a:buNone/>
            </a:pPr>
            <a:r>
              <a:rPr lang="en-US" sz="900" dirty="0">
                <a:solidFill>
                  <a:srgbClr val="3A5D97"/>
                </a:solidFill>
                <a:latin typeface="Archivo Black" pitchFamily="34" charset="0"/>
                <a:ea typeface="Archivo Black" pitchFamily="34" charset="-122"/>
                <a:cs typeface="Archivo Black" pitchFamily="34" charset="-120"/>
              </a:rPr>
              <a:t>3</a:t>
            </a:r>
            <a:endParaRPr lang="en-US" sz="900" dirty="0"/>
          </a:p>
        </p:txBody>
      </p:sp>
      <p:sp>
        <p:nvSpPr>
          <p:cNvPr id="20" name="Text 17"/>
          <p:cNvSpPr/>
          <p:nvPr/>
        </p:nvSpPr>
        <p:spPr>
          <a:xfrm>
            <a:off x="5247924" y="2615184"/>
            <a:ext cx="1695846" cy="329184"/>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3 latent factors retained</a:t>
            </a:r>
            <a:endParaRPr lang="en-US" sz="950" dirty="0"/>
          </a:p>
        </p:txBody>
      </p:sp>
      <p:sp>
        <p:nvSpPr>
          <p:cNvPr id="21" name="Text 18"/>
          <p:cNvSpPr/>
          <p:nvPr/>
        </p:nvSpPr>
        <p:spPr>
          <a:xfrm>
            <a:off x="5247924" y="2962656"/>
            <a:ext cx="1695846" cy="274320"/>
          </a:xfrm>
          <a:prstGeom prst="rect">
            <a:avLst/>
          </a:prstGeom>
          <a:noFill/>
          <a:ln/>
        </p:spPr>
        <p:txBody>
          <a:bodyPr wrap="square" lIns="0" tIns="0" rIns="0" bIns="0" rtlCol="0" anchor="t"/>
          <a:lstStyle/>
          <a:p>
            <a:pPr indent="0" marL="0">
              <a:lnSpc>
                <a:spcPct val="104000"/>
              </a:lnSpc>
              <a:buNone/>
            </a:pPr>
            <a:r>
              <a:rPr lang="en-US" sz="750" dirty="0">
                <a:solidFill>
                  <a:srgbClr val="54606F"/>
                </a:solidFill>
                <a:latin typeface="Nunito Sans" pitchFamily="34" charset="0"/>
                <a:ea typeface="Nunito Sans" pitchFamily="34" charset="-122"/>
                <a:cs typeface="Nunito Sans" pitchFamily="34" charset="-120"/>
              </a:rPr>
              <a:t>Eigenvalues 5.55 · 1.50 · 1.03 — cumulative variance 42.6%</a:t>
            </a:r>
            <a:endParaRPr lang="en-US" sz="750" dirty="0"/>
          </a:p>
        </p:txBody>
      </p:sp>
      <p:sp>
        <p:nvSpPr>
          <p:cNvPr id="22" name="Shape 19"/>
          <p:cNvSpPr/>
          <p:nvPr/>
        </p:nvSpPr>
        <p:spPr>
          <a:xfrm>
            <a:off x="7346107" y="2121408"/>
            <a:ext cx="2061606" cy="1143000"/>
          </a:xfrm>
          <a:prstGeom prst="roundRect">
            <a:avLst>
              <a:gd name="adj" fmla="val 8000"/>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23" name="Shape 20"/>
          <p:cNvSpPr/>
          <p:nvPr/>
        </p:nvSpPr>
        <p:spPr>
          <a:xfrm>
            <a:off x="7528987" y="2267712"/>
            <a:ext cx="292608" cy="292608"/>
          </a:xfrm>
          <a:prstGeom prst="ellipse">
            <a:avLst/>
          </a:prstGeom>
          <a:solidFill>
            <a:srgbClr val="EAF0F8"/>
          </a:solidFill>
          <a:ln w="12700">
            <a:solidFill>
              <a:srgbClr val="333333"/>
            </a:solidFill>
            <a:prstDash val="solid"/>
          </a:ln>
        </p:spPr>
      </p:sp>
      <p:sp>
        <p:nvSpPr>
          <p:cNvPr id="24" name="Text 21"/>
          <p:cNvSpPr/>
          <p:nvPr/>
        </p:nvSpPr>
        <p:spPr>
          <a:xfrm>
            <a:off x="7528987" y="2267712"/>
            <a:ext cx="292608" cy="292608"/>
          </a:xfrm>
          <a:prstGeom prst="rect">
            <a:avLst/>
          </a:prstGeom>
          <a:noFill/>
          <a:ln/>
        </p:spPr>
        <p:txBody>
          <a:bodyPr wrap="square" lIns="0" tIns="0" rIns="0" bIns="0" rtlCol="0" anchor="ctr"/>
          <a:lstStyle/>
          <a:p>
            <a:pPr algn="ctr" indent="0" marL="0">
              <a:buNone/>
            </a:pPr>
            <a:r>
              <a:rPr lang="en-US" sz="900" dirty="0">
                <a:solidFill>
                  <a:srgbClr val="3A5D97"/>
                </a:solidFill>
                <a:latin typeface="Archivo Black" pitchFamily="34" charset="0"/>
                <a:ea typeface="Archivo Black" pitchFamily="34" charset="-122"/>
                <a:cs typeface="Archivo Black" pitchFamily="34" charset="-120"/>
              </a:rPr>
              <a:t>4</a:t>
            </a:r>
            <a:endParaRPr lang="en-US" sz="900" dirty="0"/>
          </a:p>
        </p:txBody>
      </p:sp>
      <p:sp>
        <p:nvSpPr>
          <p:cNvPr id="25" name="Text 22"/>
          <p:cNvSpPr/>
          <p:nvPr/>
        </p:nvSpPr>
        <p:spPr>
          <a:xfrm>
            <a:off x="7528987" y="2615184"/>
            <a:ext cx="1695846" cy="329184"/>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K-means clustering (k=4)</a:t>
            </a:r>
            <a:endParaRPr lang="en-US" sz="950" dirty="0"/>
          </a:p>
        </p:txBody>
      </p:sp>
      <p:sp>
        <p:nvSpPr>
          <p:cNvPr id="26" name="Text 23"/>
          <p:cNvSpPr/>
          <p:nvPr/>
        </p:nvSpPr>
        <p:spPr>
          <a:xfrm>
            <a:off x="7528987" y="2962656"/>
            <a:ext cx="1695846" cy="274320"/>
          </a:xfrm>
          <a:prstGeom prst="rect">
            <a:avLst/>
          </a:prstGeom>
          <a:noFill/>
          <a:ln/>
        </p:spPr>
        <p:txBody>
          <a:bodyPr wrap="square" lIns="0" tIns="0" rIns="0" bIns="0" rtlCol="0" anchor="t"/>
          <a:lstStyle/>
          <a:p>
            <a:pPr indent="0" marL="0">
              <a:lnSpc>
                <a:spcPct val="104000"/>
              </a:lnSpc>
              <a:buNone/>
            </a:pPr>
            <a:r>
              <a:rPr lang="en-US" sz="750" dirty="0">
                <a:solidFill>
                  <a:srgbClr val="54606F"/>
                </a:solidFill>
                <a:latin typeface="Nunito Sans" pitchFamily="34" charset="0"/>
                <a:ea typeface="Nunito Sans" pitchFamily="34" charset="-122"/>
                <a:cs typeface="Nunito Sans" pitchFamily="34" charset="-120"/>
              </a:rPr>
              <a:t>Run on standardised factor scores, n_init = 20</a:t>
            </a:r>
            <a:endParaRPr lang="en-US" sz="750" dirty="0"/>
          </a:p>
        </p:txBody>
      </p:sp>
      <p:sp>
        <p:nvSpPr>
          <p:cNvPr id="27" name="Shape 24"/>
          <p:cNvSpPr/>
          <p:nvPr/>
        </p:nvSpPr>
        <p:spPr>
          <a:xfrm>
            <a:off x="9627169" y="2121408"/>
            <a:ext cx="2061606" cy="1143000"/>
          </a:xfrm>
          <a:prstGeom prst="roundRect">
            <a:avLst>
              <a:gd name="adj" fmla="val 8000"/>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28" name="Shape 25"/>
          <p:cNvSpPr/>
          <p:nvPr/>
        </p:nvSpPr>
        <p:spPr>
          <a:xfrm>
            <a:off x="9810049" y="2267712"/>
            <a:ext cx="292608" cy="292608"/>
          </a:xfrm>
          <a:prstGeom prst="ellipse">
            <a:avLst/>
          </a:prstGeom>
          <a:solidFill>
            <a:srgbClr val="EAF0F8"/>
          </a:solidFill>
          <a:ln w="12700">
            <a:solidFill>
              <a:srgbClr val="333333"/>
            </a:solidFill>
            <a:prstDash val="solid"/>
          </a:ln>
        </p:spPr>
      </p:sp>
      <p:sp>
        <p:nvSpPr>
          <p:cNvPr id="29" name="Text 26"/>
          <p:cNvSpPr/>
          <p:nvPr/>
        </p:nvSpPr>
        <p:spPr>
          <a:xfrm>
            <a:off x="9810049" y="2267712"/>
            <a:ext cx="292608" cy="292608"/>
          </a:xfrm>
          <a:prstGeom prst="rect">
            <a:avLst/>
          </a:prstGeom>
          <a:noFill/>
          <a:ln/>
        </p:spPr>
        <p:txBody>
          <a:bodyPr wrap="square" lIns="0" tIns="0" rIns="0" bIns="0" rtlCol="0" anchor="ctr"/>
          <a:lstStyle/>
          <a:p>
            <a:pPr algn="ctr" indent="0" marL="0">
              <a:buNone/>
            </a:pPr>
            <a:r>
              <a:rPr lang="en-US" sz="900" dirty="0">
                <a:solidFill>
                  <a:srgbClr val="3A5D97"/>
                </a:solidFill>
                <a:latin typeface="Archivo Black" pitchFamily="34" charset="0"/>
                <a:ea typeface="Archivo Black" pitchFamily="34" charset="-122"/>
                <a:cs typeface="Archivo Black" pitchFamily="34" charset="-120"/>
              </a:rPr>
              <a:t>5</a:t>
            </a:r>
            <a:endParaRPr lang="en-US" sz="900" dirty="0"/>
          </a:p>
        </p:txBody>
      </p:sp>
      <p:sp>
        <p:nvSpPr>
          <p:cNvPr id="30" name="Text 27"/>
          <p:cNvSpPr/>
          <p:nvPr/>
        </p:nvSpPr>
        <p:spPr>
          <a:xfrm>
            <a:off x="9810049" y="2615184"/>
            <a:ext cx="1695846" cy="329184"/>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4 archetypes</a:t>
            </a:r>
            <a:endParaRPr lang="en-US" sz="950" dirty="0"/>
          </a:p>
        </p:txBody>
      </p:sp>
      <p:sp>
        <p:nvSpPr>
          <p:cNvPr id="31" name="Text 28"/>
          <p:cNvSpPr/>
          <p:nvPr/>
        </p:nvSpPr>
        <p:spPr>
          <a:xfrm>
            <a:off x="9810049" y="2962656"/>
            <a:ext cx="1695846" cy="274320"/>
          </a:xfrm>
          <a:prstGeom prst="rect">
            <a:avLst/>
          </a:prstGeom>
          <a:noFill/>
          <a:ln/>
        </p:spPr>
        <p:txBody>
          <a:bodyPr wrap="square" lIns="0" tIns="0" rIns="0" bIns="0" rtlCol="0" anchor="t"/>
          <a:lstStyle/>
          <a:p>
            <a:pPr indent="0" marL="0">
              <a:lnSpc>
                <a:spcPct val="104000"/>
              </a:lnSpc>
              <a:buNone/>
            </a:pPr>
            <a:r>
              <a:rPr lang="en-US" sz="750" dirty="0">
                <a:solidFill>
                  <a:srgbClr val="54606F"/>
                </a:solidFill>
                <a:latin typeface="Nunito Sans" pitchFamily="34" charset="0"/>
                <a:ea typeface="Nunito Sans" pitchFamily="34" charset="-122"/>
                <a:cs typeface="Nunito Sans" pitchFamily="34" charset="-120"/>
              </a:rPr>
              <a:t>Named, sized, and profiled on trigger, barrier and channel</a:t>
            </a:r>
            <a:endParaRPr lang="en-US" sz="750" dirty="0"/>
          </a:p>
        </p:txBody>
      </p:sp>
      <p:sp>
        <p:nvSpPr>
          <p:cNvPr id="32" name="Shape 29"/>
          <p:cNvSpPr/>
          <p:nvPr/>
        </p:nvSpPr>
        <p:spPr>
          <a:xfrm>
            <a:off x="502920" y="3419856"/>
            <a:ext cx="11185855" cy="640080"/>
          </a:xfrm>
          <a:prstGeom prst="roundRect">
            <a:avLst>
              <a:gd name="adj" fmla="val 14286"/>
            </a:avLst>
          </a:prstGeom>
          <a:solidFill>
            <a:srgbClr val="0C1A2B"/>
          </a:solidFill>
          <a:ln w="15875">
            <a:solidFill>
              <a:srgbClr val="0C1A2B"/>
            </a:solidFill>
            <a:prstDash val="solid"/>
          </a:ln>
          <a:effectLst>
            <a:outerShdw sx="100000" sy="100000" kx="0" ky="0" algn="bl" rotWithShape="0" blurRad="228600" dist="25400" dir="5400000">
              <a:srgbClr val="0C1A2B">
                <a:alpha val="7000"/>
              </a:srgbClr>
            </a:outerShdw>
          </a:effectLst>
        </p:spPr>
      </p:sp>
      <p:sp>
        <p:nvSpPr>
          <p:cNvPr id="33" name="Text 30"/>
          <p:cNvSpPr/>
          <p:nvPr/>
        </p:nvSpPr>
        <p:spPr>
          <a:xfrm>
            <a:off x="731520" y="3419856"/>
            <a:ext cx="4023360" cy="640080"/>
          </a:xfrm>
          <a:prstGeom prst="rect">
            <a:avLst/>
          </a:prstGeom>
          <a:noFill/>
          <a:ln/>
        </p:spPr>
        <p:txBody>
          <a:bodyPr wrap="square" lIns="0" tIns="0" rIns="0" bIns="0" rtlCol="0" anchor="ctr"/>
          <a:lstStyle/>
          <a:p>
            <a:pPr indent="0" marL="0">
              <a:buNone/>
            </a:pPr>
            <a:r>
              <a:rPr lang="en-US" sz="900" b="1" spc="120" kern="0" dirty="0">
                <a:solidFill>
                  <a:srgbClr val="5FC28C"/>
                </a:solidFill>
                <a:latin typeface="Nunito Sans" pitchFamily="34" charset="0"/>
                <a:ea typeface="Nunito Sans" pitchFamily="34" charset="-122"/>
                <a:cs typeface="Nunito Sans" pitchFamily="34" charset="-120"/>
              </a:rPr>
              <a:t>ADEQUACY — BOTH TESTS PASSED BEFORE EXTRACTION</a:t>
            </a:r>
            <a:endParaRPr lang="en-US" sz="900" dirty="0"/>
          </a:p>
        </p:txBody>
      </p:sp>
      <p:sp>
        <p:nvSpPr>
          <p:cNvPr id="34" name="Text 31"/>
          <p:cNvSpPr/>
          <p:nvPr/>
        </p:nvSpPr>
        <p:spPr>
          <a:xfrm>
            <a:off x="5120640" y="3493008"/>
            <a:ext cx="914400" cy="237744"/>
          </a:xfrm>
          <a:prstGeom prst="rect">
            <a:avLst/>
          </a:prstGeom>
          <a:noFill/>
          <a:ln/>
        </p:spPr>
        <p:txBody>
          <a:bodyPr wrap="square" lIns="0" tIns="0" rIns="0" bIns="0" rtlCol="0" anchor="ctr"/>
          <a:lstStyle/>
          <a:p>
            <a:pPr indent="0" marL="0">
              <a:buNone/>
            </a:pPr>
            <a:r>
              <a:rPr lang="en-US" sz="750" b="1" spc="100" kern="0" dirty="0">
                <a:solidFill>
                  <a:srgbClr val="A9B6C7"/>
                </a:solidFill>
                <a:latin typeface="Nunito Sans" pitchFamily="34" charset="0"/>
                <a:ea typeface="Nunito Sans" pitchFamily="34" charset="-122"/>
                <a:cs typeface="Nunito Sans" pitchFamily="34" charset="-120"/>
              </a:rPr>
              <a:t>KMO</a:t>
            </a:r>
            <a:endParaRPr lang="en-US" sz="750" dirty="0"/>
          </a:p>
        </p:txBody>
      </p:sp>
      <p:sp>
        <p:nvSpPr>
          <p:cNvPr id="35" name="Text 32"/>
          <p:cNvSpPr/>
          <p:nvPr/>
        </p:nvSpPr>
        <p:spPr>
          <a:xfrm>
            <a:off x="5120640" y="3694176"/>
            <a:ext cx="1051560" cy="292608"/>
          </a:xfrm>
          <a:prstGeom prst="rect">
            <a:avLst/>
          </a:prstGeom>
          <a:noFill/>
          <a:ln/>
        </p:spPr>
        <p:txBody>
          <a:bodyPr wrap="square" lIns="0" tIns="0" rIns="0" bIns="0" rtlCol="0" anchor="ctr"/>
          <a:lstStyle/>
          <a:p>
            <a:pPr indent="0" marL="0">
              <a:buNone/>
            </a:pPr>
            <a:r>
              <a:rPr lang="en-US" sz="1200" dirty="0">
                <a:solidFill>
                  <a:srgbClr val="FFFFFF"/>
                </a:solidFill>
                <a:latin typeface="Archivo Black" pitchFamily="34" charset="0"/>
                <a:ea typeface="Archivo Black" pitchFamily="34" charset="-122"/>
                <a:cs typeface="Archivo Black" pitchFamily="34" charset="-120"/>
              </a:rPr>
              <a:t>0.886</a:t>
            </a:r>
            <a:endParaRPr lang="en-US" sz="1200" dirty="0"/>
          </a:p>
        </p:txBody>
      </p:sp>
      <p:sp>
        <p:nvSpPr>
          <p:cNvPr id="36" name="Text 33"/>
          <p:cNvSpPr/>
          <p:nvPr/>
        </p:nvSpPr>
        <p:spPr>
          <a:xfrm>
            <a:off x="6217920" y="3694176"/>
            <a:ext cx="1097280" cy="292608"/>
          </a:xfrm>
          <a:prstGeom prst="rect">
            <a:avLst/>
          </a:prstGeom>
          <a:noFill/>
          <a:ln/>
        </p:spPr>
        <p:txBody>
          <a:bodyPr wrap="square" lIns="0" tIns="0" rIns="0" bIns="0" rtlCol="0" anchor="ctr"/>
          <a:lstStyle/>
          <a:p>
            <a:pPr indent="0" marL="0">
              <a:buNone/>
            </a:pPr>
            <a:r>
              <a:rPr lang="en-US" sz="750" i="1" dirty="0">
                <a:solidFill>
                  <a:srgbClr val="A9B6C7"/>
                </a:solidFill>
                <a:latin typeface="Nunito Sans" pitchFamily="34" charset="0"/>
                <a:ea typeface="Nunito Sans" pitchFamily="34" charset="-122"/>
                <a:cs typeface="Nunito Sans" pitchFamily="34" charset="-120"/>
              </a:rPr>
              <a:t>"meritorious"</a:t>
            </a:r>
            <a:endParaRPr lang="en-US" sz="750" dirty="0"/>
          </a:p>
        </p:txBody>
      </p:sp>
      <p:sp>
        <p:nvSpPr>
          <p:cNvPr id="37" name="Text 34"/>
          <p:cNvSpPr/>
          <p:nvPr/>
        </p:nvSpPr>
        <p:spPr>
          <a:xfrm>
            <a:off x="7360920" y="3493008"/>
            <a:ext cx="914400" cy="237744"/>
          </a:xfrm>
          <a:prstGeom prst="rect">
            <a:avLst/>
          </a:prstGeom>
          <a:noFill/>
          <a:ln/>
        </p:spPr>
        <p:txBody>
          <a:bodyPr wrap="square" lIns="0" tIns="0" rIns="0" bIns="0" rtlCol="0" anchor="ctr"/>
          <a:lstStyle/>
          <a:p>
            <a:pPr indent="0" marL="0">
              <a:buNone/>
            </a:pPr>
            <a:r>
              <a:rPr lang="en-US" sz="750" b="1" spc="100" kern="0" dirty="0">
                <a:solidFill>
                  <a:srgbClr val="A9B6C7"/>
                </a:solidFill>
                <a:latin typeface="Nunito Sans" pitchFamily="34" charset="0"/>
                <a:ea typeface="Nunito Sans" pitchFamily="34" charset="-122"/>
                <a:cs typeface="Nunito Sans" pitchFamily="34" charset="-120"/>
              </a:rPr>
              <a:t>BARTLETT</a:t>
            </a:r>
            <a:endParaRPr lang="en-US" sz="750" dirty="0"/>
          </a:p>
        </p:txBody>
      </p:sp>
      <p:sp>
        <p:nvSpPr>
          <p:cNvPr id="38" name="Text 35"/>
          <p:cNvSpPr/>
          <p:nvPr/>
        </p:nvSpPr>
        <p:spPr>
          <a:xfrm>
            <a:off x="7360920" y="3694176"/>
            <a:ext cx="1051560" cy="292608"/>
          </a:xfrm>
          <a:prstGeom prst="rect">
            <a:avLst/>
          </a:prstGeom>
          <a:noFill/>
          <a:ln/>
        </p:spPr>
        <p:txBody>
          <a:bodyPr wrap="square" lIns="0" tIns="0" rIns="0" bIns="0" rtlCol="0" anchor="ctr"/>
          <a:lstStyle/>
          <a:p>
            <a:pPr indent="0" marL="0">
              <a:buNone/>
            </a:pPr>
            <a:r>
              <a:rPr lang="en-US" sz="1200" dirty="0">
                <a:solidFill>
                  <a:srgbClr val="FFFFFF"/>
                </a:solidFill>
                <a:latin typeface="Archivo Black" pitchFamily="34" charset="0"/>
                <a:ea typeface="Archivo Black" pitchFamily="34" charset="-122"/>
                <a:cs typeface="Archivo Black" pitchFamily="34" charset="-120"/>
              </a:rPr>
              <a:t>p &lt; 0.001</a:t>
            </a:r>
            <a:endParaRPr lang="en-US" sz="1200" dirty="0"/>
          </a:p>
        </p:txBody>
      </p:sp>
      <p:sp>
        <p:nvSpPr>
          <p:cNvPr id="39" name="Text 36"/>
          <p:cNvSpPr/>
          <p:nvPr/>
        </p:nvSpPr>
        <p:spPr>
          <a:xfrm>
            <a:off x="8458200" y="3694176"/>
            <a:ext cx="1097280" cy="292608"/>
          </a:xfrm>
          <a:prstGeom prst="rect">
            <a:avLst/>
          </a:prstGeom>
          <a:noFill/>
          <a:ln/>
        </p:spPr>
        <p:txBody>
          <a:bodyPr wrap="square" lIns="0" tIns="0" rIns="0" bIns="0" rtlCol="0" anchor="ctr"/>
          <a:lstStyle/>
          <a:p>
            <a:pPr indent="0" marL="0">
              <a:buNone/>
            </a:pPr>
            <a:r>
              <a:rPr lang="en-US" sz="750" i="1" dirty="0">
                <a:solidFill>
                  <a:srgbClr val="A9B6C7"/>
                </a:solidFill>
                <a:latin typeface="Nunito Sans" pitchFamily="34" charset="0"/>
                <a:ea typeface="Nunito Sans" pitchFamily="34" charset="-122"/>
                <a:cs typeface="Nunito Sans" pitchFamily="34" charset="-120"/>
              </a:rPr>
              <a:t>sphericity rejected</a:t>
            </a:r>
            <a:endParaRPr lang="en-US" sz="750" dirty="0"/>
          </a:p>
        </p:txBody>
      </p:sp>
      <p:sp>
        <p:nvSpPr>
          <p:cNvPr id="40" name="Text 37"/>
          <p:cNvSpPr/>
          <p:nvPr/>
        </p:nvSpPr>
        <p:spPr>
          <a:xfrm>
            <a:off x="9601200" y="3493008"/>
            <a:ext cx="914400" cy="237744"/>
          </a:xfrm>
          <a:prstGeom prst="rect">
            <a:avLst/>
          </a:prstGeom>
          <a:noFill/>
          <a:ln/>
        </p:spPr>
        <p:txBody>
          <a:bodyPr wrap="square" lIns="0" tIns="0" rIns="0" bIns="0" rtlCol="0" anchor="ctr"/>
          <a:lstStyle/>
          <a:p>
            <a:pPr indent="0" marL="0">
              <a:buNone/>
            </a:pPr>
            <a:r>
              <a:rPr lang="en-US" sz="750" b="1" spc="100" kern="0" dirty="0">
                <a:solidFill>
                  <a:srgbClr val="A9B6C7"/>
                </a:solidFill>
                <a:latin typeface="Nunito Sans" pitchFamily="34" charset="0"/>
                <a:ea typeface="Nunito Sans" pitchFamily="34" charset="-122"/>
                <a:cs typeface="Nunito Sans" pitchFamily="34" charset="-120"/>
              </a:rPr>
              <a:t>SILHOUETTE</a:t>
            </a:r>
            <a:endParaRPr lang="en-US" sz="750" dirty="0"/>
          </a:p>
        </p:txBody>
      </p:sp>
      <p:sp>
        <p:nvSpPr>
          <p:cNvPr id="41" name="Text 38"/>
          <p:cNvSpPr/>
          <p:nvPr/>
        </p:nvSpPr>
        <p:spPr>
          <a:xfrm>
            <a:off x="9601200" y="3694176"/>
            <a:ext cx="1051560" cy="292608"/>
          </a:xfrm>
          <a:prstGeom prst="rect">
            <a:avLst/>
          </a:prstGeom>
          <a:noFill/>
          <a:ln/>
        </p:spPr>
        <p:txBody>
          <a:bodyPr wrap="square" lIns="0" tIns="0" rIns="0" bIns="0" rtlCol="0" anchor="ctr"/>
          <a:lstStyle/>
          <a:p>
            <a:pPr indent="0" marL="0">
              <a:buNone/>
            </a:pPr>
            <a:r>
              <a:rPr lang="en-US" sz="1200" dirty="0">
                <a:solidFill>
                  <a:srgbClr val="FFFFFF"/>
                </a:solidFill>
                <a:latin typeface="Archivo Black" pitchFamily="34" charset="0"/>
                <a:ea typeface="Archivo Black" pitchFamily="34" charset="-122"/>
                <a:cs typeface="Archivo Black" pitchFamily="34" charset="-120"/>
              </a:rPr>
              <a:t>0.347</a:t>
            </a:r>
            <a:endParaRPr lang="en-US" sz="1200" dirty="0"/>
          </a:p>
        </p:txBody>
      </p:sp>
      <p:sp>
        <p:nvSpPr>
          <p:cNvPr id="42" name="Text 39"/>
          <p:cNvSpPr/>
          <p:nvPr/>
        </p:nvSpPr>
        <p:spPr>
          <a:xfrm>
            <a:off x="10698480" y="3694176"/>
            <a:ext cx="1097280" cy="292608"/>
          </a:xfrm>
          <a:prstGeom prst="rect">
            <a:avLst/>
          </a:prstGeom>
          <a:noFill/>
          <a:ln/>
        </p:spPr>
        <p:txBody>
          <a:bodyPr wrap="square" lIns="0" tIns="0" rIns="0" bIns="0" rtlCol="0" anchor="ctr"/>
          <a:lstStyle/>
          <a:p>
            <a:pPr indent="0" marL="0">
              <a:buNone/>
            </a:pPr>
            <a:r>
              <a:rPr lang="en-US" sz="750" i="1" dirty="0">
                <a:solidFill>
                  <a:srgbClr val="A9B6C7"/>
                </a:solidFill>
                <a:latin typeface="Nunito Sans" pitchFamily="34" charset="0"/>
                <a:ea typeface="Nunito Sans" pitchFamily="34" charset="-122"/>
                <a:cs typeface="Nunito Sans" pitchFamily="34" charset="-120"/>
              </a:rPr>
              <a:t>highest at k=4</a:t>
            </a:r>
            <a:endParaRPr lang="en-US" sz="750" dirty="0"/>
          </a:p>
        </p:txBody>
      </p:sp>
      <p:sp>
        <p:nvSpPr>
          <p:cNvPr id="43" name="Text 40"/>
          <p:cNvSpPr/>
          <p:nvPr/>
        </p:nvSpPr>
        <p:spPr>
          <a:xfrm>
            <a:off x="502920" y="4206240"/>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THREE FACTORS — AND THEIR DEFINING STATEMENTS</a:t>
            </a:r>
            <a:endParaRPr lang="en-US" sz="950" dirty="0"/>
          </a:p>
        </p:txBody>
      </p:sp>
      <p:sp>
        <p:nvSpPr>
          <p:cNvPr id="44" name="Shape 41"/>
          <p:cNvSpPr/>
          <p:nvPr/>
        </p:nvSpPr>
        <p:spPr>
          <a:xfrm>
            <a:off x="502920" y="4498848"/>
            <a:ext cx="3545738" cy="1975104"/>
          </a:xfrm>
          <a:prstGeom prst="roundRect">
            <a:avLst>
              <a:gd name="adj" fmla="val 4630"/>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45" name="Shape 42"/>
          <p:cNvSpPr/>
          <p:nvPr/>
        </p:nvSpPr>
        <p:spPr>
          <a:xfrm>
            <a:off x="502920" y="4498848"/>
            <a:ext cx="3545738" cy="45720"/>
          </a:xfrm>
          <a:prstGeom prst="rect">
            <a:avLst/>
          </a:prstGeom>
          <a:solidFill>
            <a:srgbClr val="3A5D97"/>
          </a:solidFill>
          <a:ln w="12700">
            <a:solidFill>
              <a:srgbClr val="333333"/>
            </a:solidFill>
            <a:prstDash val="solid"/>
          </a:ln>
        </p:spPr>
      </p:sp>
      <p:sp>
        <p:nvSpPr>
          <p:cNvPr id="46" name="Text 43"/>
          <p:cNvSpPr/>
          <p:nvPr/>
        </p:nvSpPr>
        <p:spPr>
          <a:xfrm>
            <a:off x="685800" y="4626864"/>
            <a:ext cx="317997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F1 — Social &amp; experiential trust</a:t>
            </a:r>
            <a:endParaRPr lang="en-US" sz="1000" dirty="0"/>
          </a:p>
        </p:txBody>
      </p:sp>
      <p:sp>
        <p:nvSpPr>
          <p:cNvPr id="47" name="Text 44"/>
          <p:cNvSpPr/>
          <p:nvPr/>
        </p:nvSpPr>
        <p:spPr>
          <a:xfrm>
            <a:off x="685800" y="4846320"/>
            <a:ext cx="3179978" cy="365760"/>
          </a:xfrm>
          <a:prstGeom prst="rect">
            <a:avLst/>
          </a:prstGeom>
          <a:noFill/>
          <a:ln/>
        </p:spPr>
        <p:txBody>
          <a:bodyPr wrap="square" lIns="0" tIns="0" rIns="0" bIns="0" rtlCol="0" anchor="t"/>
          <a:lstStyle/>
          <a:p>
            <a:pPr indent="0" marL="0">
              <a:lnSpc>
                <a:spcPct val="106000"/>
              </a:lnSpc>
              <a:buNone/>
            </a:pPr>
            <a:r>
              <a:rPr lang="en-US" sz="800" i="1" dirty="0">
                <a:solidFill>
                  <a:srgbClr val="54606F"/>
                </a:solidFill>
                <a:latin typeface="Nunito Sans" pitchFamily="34" charset="0"/>
                <a:ea typeface="Nunito Sans" pitchFamily="34" charset="-122"/>
                <a:cs typeface="Nunito Sans" pitchFamily="34" charset="-120"/>
              </a:rPr>
              <a:t>Trust is earned through people and events, not systems and symbols.</a:t>
            </a:r>
            <a:endParaRPr lang="en-US" sz="800" dirty="0"/>
          </a:p>
        </p:txBody>
      </p:sp>
      <p:sp>
        <p:nvSpPr>
          <p:cNvPr id="48" name="Text 45"/>
          <p:cNvSpPr/>
          <p:nvPr/>
        </p:nvSpPr>
        <p:spPr>
          <a:xfrm>
            <a:off x="685800" y="5212080"/>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Stopped buying after a news story</a:t>
            </a:r>
            <a:endParaRPr lang="en-US" sz="850" dirty="0"/>
          </a:p>
        </p:txBody>
      </p:sp>
      <p:sp>
        <p:nvSpPr>
          <p:cNvPr id="49" name="Text 46"/>
          <p:cNvSpPr/>
          <p:nvPr/>
        </p:nvSpPr>
        <p:spPr>
          <a:xfrm>
            <a:off x="3408578" y="5212080"/>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0.68</a:t>
            </a:r>
            <a:endParaRPr lang="en-US" sz="850" dirty="0"/>
          </a:p>
        </p:txBody>
      </p:sp>
      <p:sp>
        <p:nvSpPr>
          <p:cNvPr id="50" name="Shape 47"/>
          <p:cNvSpPr/>
          <p:nvPr/>
        </p:nvSpPr>
        <p:spPr>
          <a:xfrm>
            <a:off x="685800" y="5394960"/>
            <a:ext cx="3179978" cy="45720"/>
          </a:xfrm>
          <a:prstGeom prst="roundRect">
            <a:avLst>
              <a:gd name="adj" fmla="val 50000"/>
            </a:avLst>
          </a:prstGeom>
          <a:solidFill>
            <a:srgbClr val="EDE4D4"/>
          </a:solidFill>
          <a:ln w="12700">
            <a:solidFill>
              <a:srgbClr val="333333"/>
            </a:solidFill>
            <a:prstDash val="solid"/>
          </a:ln>
        </p:spPr>
      </p:sp>
      <p:sp>
        <p:nvSpPr>
          <p:cNvPr id="51" name="Shape 48"/>
          <p:cNvSpPr/>
          <p:nvPr/>
        </p:nvSpPr>
        <p:spPr>
          <a:xfrm>
            <a:off x="685800" y="5394960"/>
            <a:ext cx="2162385" cy="45720"/>
          </a:xfrm>
          <a:prstGeom prst="roundRect">
            <a:avLst>
              <a:gd name="adj" fmla="val 50000"/>
            </a:avLst>
          </a:prstGeom>
          <a:solidFill>
            <a:srgbClr val="3A5D97"/>
          </a:solidFill>
          <a:ln w="12700">
            <a:solidFill>
              <a:srgbClr val="333333"/>
            </a:solidFill>
            <a:prstDash val="solid"/>
          </a:ln>
        </p:spPr>
      </p:sp>
      <p:sp>
        <p:nvSpPr>
          <p:cNvPr id="52" name="Text 49"/>
          <p:cNvSpPr/>
          <p:nvPr/>
        </p:nvSpPr>
        <p:spPr>
          <a:xfrm>
            <a:off x="685800" y="5495544"/>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A doctor beats any pack logo</a:t>
            </a:r>
            <a:endParaRPr lang="en-US" sz="850" dirty="0"/>
          </a:p>
        </p:txBody>
      </p:sp>
      <p:sp>
        <p:nvSpPr>
          <p:cNvPr id="53" name="Text 50"/>
          <p:cNvSpPr/>
          <p:nvPr/>
        </p:nvSpPr>
        <p:spPr>
          <a:xfrm>
            <a:off x="3408578" y="5495544"/>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0.62</a:t>
            </a:r>
            <a:endParaRPr lang="en-US" sz="850" dirty="0"/>
          </a:p>
        </p:txBody>
      </p:sp>
      <p:sp>
        <p:nvSpPr>
          <p:cNvPr id="54" name="Shape 51"/>
          <p:cNvSpPr/>
          <p:nvPr/>
        </p:nvSpPr>
        <p:spPr>
          <a:xfrm>
            <a:off x="685800" y="5678424"/>
            <a:ext cx="3179978" cy="45720"/>
          </a:xfrm>
          <a:prstGeom prst="roundRect">
            <a:avLst>
              <a:gd name="adj" fmla="val 50000"/>
            </a:avLst>
          </a:prstGeom>
          <a:solidFill>
            <a:srgbClr val="EDE4D4"/>
          </a:solidFill>
          <a:ln w="12700">
            <a:solidFill>
              <a:srgbClr val="333333"/>
            </a:solidFill>
            <a:prstDash val="solid"/>
          </a:ln>
        </p:spPr>
      </p:sp>
      <p:sp>
        <p:nvSpPr>
          <p:cNvPr id="55" name="Shape 52"/>
          <p:cNvSpPr/>
          <p:nvPr/>
        </p:nvSpPr>
        <p:spPr>
          <a:xfrm>
            <a:off x="685800" y="5678424"/>
            <a:ext cx="1971587" cy="45720"/>
          </a:xfrm>
          <a:prstGeom prst="roundRect">
            <a:avLst>
              <a:gd name="adj" fmla="val 50000"/>
            </a:avLst>
          </a:prstGeom>
          <a:solidFill>
            <a:srgbClr val="3A5D97"/>
          </a:solidFill>
          <a:ln w="12700">
            <a:solidFill>
              <a:srgbClr val="333333"/>
            </a:solidFill>
            <a:prstDash val="solid"/>
          </a:ln>
        </p:spPr>
      </p:sp>
      <p:sp>
        <p:nvSpPr>
          <p:cNvPr id="56" name="Text 53"/>
          <p:cNvSpPr/>
          <p:nvPr/>
        </p:nvSpPr>
        <p:spPr>
          <a:xfrm>
            <a:off x="685800" y="5779008"/>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I trust a farmer I know by name</a:t>
            </a:r>
            <a:endParaRPr lang="en-US" sz="850" dirty="0"/>
          </a:p>
        </p:txBody>
      </p:sp>
      <p:sp>
        <p:nvSpPr>
          <p:cNvPr id="57" name="Text 54"/>
          <p:cNvSpPr/>
          <p:nvPr/>
        </p:nvSpPr>
        <p:spPr>
          <a:xfrm>
            <a:off x="3408578" y="5779008"/>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0.59</a:t>
            </a:r>
            <a:endParaRPr lang="en-US" sz="850" dirty="0"/>
          </a:p>
        </p:txBody>
      </p:sp>
      <p:sp>
        <p:nvSpPr>
          <p:cNvPr id="58" name="Shape 55"/>
          <p:cNvSpPr/>
          <p:nvPr/>
        </p:nvSpPr>
        <p:spPr>
          <a:xfrm>
            <a:off x="685800" y="5961888"/>
            <a:ext cx="3179978" cy="45720"/>
          </a:xfrm>
          <a:prstGeom prst="roundRect">
            <a:avLst>
              <a:gd name="adj" fmla="val 50000"/>
            </a:avLst>
          </a:prstGeom>
          <a:solidFill>
            <a:srgbClr val="EDE4D4"/>
          </a:solidFill>
          <a:ln w="12700">
            <a:solidFill>
              <a:srgbClr val="333333"/>
            </a:solidFill>
            <a:prstDash val="solid"/>
          </a:ln>
        </p:spPr>
      </p:sp>
      <p:sp>
        <p:nvSpPr>
          <p:cNvPr id="59" name="Shape 56"/>
          <p:cNvSpPr/>
          <p:nvPr/>
        </p:nvSpPr>
        <p:spPr>
          <a:xfrm>
            <a:off x="685800" y="5961888"/>
            <a:ext cx="1876187" cy="45720"/>
          </a:xfrm>
          <a:prstGeom prst="roundRect">
            <a:avLst>
              <a:gd name="adj" fmla="val 50000"/>
            </a:avLst>
          </a:prstGeom>
          <a:solidFill>
            <a:srgbClr val="3A5D97"/>
          </a:solidFill>
          <a:ln w="12700">
            <a:solidFill>
              <a:srgbClr val="333333"/>
            </a:solidFill>
            <a:prstDash val="solid"/>
          </a:ln>
        </p:spPr>
      </p:sp>
      <p:sp>
        <p:nvSpPr>
          <p:cNvPr id="60" name="Text 57"/>
          <p:cNvSpPr/>
          <p:nvPr/>
        </p:nvSpPr>
        <p:spPr>
          <a:xfrm>
            <a:off x="685800" y="6062472"/>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I prefer smaller brands</a:t>
            </a:r>
            <a:endParaRPr lang="en-US" sz="850" dirty="0"/>
          </a:p>
        </p:txBody>
      </p:sp>
      <p:sp>
        <p:nvSpPr>
          <p:cNvPr id="61" name="Text 58"/>
          <p:cNvSpPr/>
          <p:nvPr/>
        </p:nvSpPr>
        <p:spPr>
          <a:xfrm>
            <a:off x="3408578" y="6062472"/>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0.53</a:t>
            </a:r>
            <a:endParaRPr lang="en-US" sz="850" dirty="0"/>
          </a:p>
        </p:txBody>
      </p:sp>
      <p:sp>
        <p:nvSpPr>
          <p:cNvPr id="62" name="Shape 59"/>
          <p:cNvSpPr/>
          <p:nvPr/>
        </p:nvSpPr>
        <p:spPr>
          <a:xfrm>
            <a:off x="685800" y="6245352"/>
            <a:ext cx="3179978" cy="45720"/>
          </a:xfrm>
          <a:prstGeom prst="roundRect">
            <a:avLst>
              <a:gd name="adj" fmla="val 50000"/>
            </a:avLst>
          </a:prstGeom>
          <a:solidFill>
            <a:srgbClr val="EDE4D4"/>
          </a:solidFill>
          <a:ln w="12700">
            <a:solidFill>
              <a:srgbClr val="333333"/>
            </a:solidFill>
            <a:prstDash val="solid"/>
          </a:ln>
        </p:spPr>
      </p:sp>
      <p:sp>
        <p:nvSpPr>
          <p:cNvPr id="63" name="Shape 60"/>
          <p:cNvSpPr/>
          <p:nvPr/>
        </p:nvSpPr>
        <p:spPr>
          <a:xfrm>
            <a:off x="685800" y="6245352"/>
            <a:ext cx="1685389" cy="45720"/>
          </a:xfrm>
          <a:prstGeom prst="roundRect">
            <a:avLst>
              <a:gd name="adj" fmla="val 50000"/>
            </a:avLst>
          </a:prstGeom>
          <a:solidFill>
            <a:srgbClr val="3A5D97"/>
          </a:solidFill>
          <a:ln w="12700">
            <a:solidFill>
              <a:srgbClr val="333333"/>
            </a:solidFill>
            <a:prstDash val="solid"/>
          </a:ln>
        </p:spPr>
      </p:sp>
      <p:sp>
        <p:nvSpPr>
          <p:cNvPr id="64" name="Shape 61"/>
          <p:cNvSpPr/>
          <p:nvPr/>
        </p:nvSpPr>
        <p:spPr>
          <a:xfrm>
            <a:off x="4322978" y="4498848"/>
            <a:ext cx="3545738" cy="1975104"/>
          </a:xfrm>
          <a:prstGeom prst="roundRect">
            <a:avLst>
              <a:gd name="adj" fmla="val 4630"/>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65" name="Shape 62"/>
          <p:cNvSpPr/>
          <p:nvPr/>
        </p:nvSpPr>
        <p:spPr>
          <a:xfrm>
            <a:off x="4322978" y="4498848"/>
            <a:ext cx="3545738" cy="45720"/>
          </a:xfrm>
          <a:prstGeom prst="rect">
            <a:avLst/>
          </a:prstGeom>
          <a:solidFill>
            <a:srgbClr val="9E3A24"/>
          </a:solidFill>
          <a:ln w="12700">
            <a:solidFill>
              <a:srgbClr val="333333"/>
            </a:solidFill>
            <a:prstDash val="solid"/>
          </a:ln>
        </p:spPr>
      </p:sp>
      <p:sp>
        <p:nvSpPr>
          <p:cNvPr id="66" name="Text 63"/>
          <p:cNvSpPr/>
          <p:nvPr/>
        </p:nvSpPr>
        <p:spPr>
          <a:xfrm>
            <a:off x="4505858" y="4626864"/>
            <a:ext cx="317997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F2 — System distrust &amp; premium intent</a:t>
            </a:r>
            <a:endParaRPr lang="en-US" sz="1000" dirty="0"/>
          </a:p>
        </p:txBody>
      </p:sp>
      <p:sp>
        <p:nvSpPr>
          <p:cNvPr id="67" name="Text 64"/>
          <p:cNvSpPr/>
          <p:nvPr/>
        </p:nvSpPr>
        <p:spPr>
          <a:xfrm>
            <a:off x="4505858" y="4846320"/>
            <a:ext cx="3179978" cy="365760"/>
          </a:xfrm>
          <a:prstGeom prst="rect">
            <a:avLst/>
          </a:prstGeom>
          <a:noFill/>
          <a:ln/>
        </p:spPr>
        <p:txBody>
          <a:bodyPr wrap="square" lIns="0" tIns="0" rIns="0" bIns="0" rtlCol="0" anchor="t"/>
          <a:lstStyle/>
          <a:p>
            <a:pPr indent="0" marL="0">
              <a:lnSpc>
                <a:spcPct val="106000"/>
              </a:lnSpc>
              <a:buNone/>
            </a:pPr>
            <a:r>
              <a:rPr lang="en-US" sz="800" i="1" dirty="0">
                <a:solidFill>
                  <a:srgbClr val="54606F"/>
                </a:solidFill>
                <a:latin typeface="Nunito Sans" pitchFamily="34" charset="0"/>
                <a:ea typeface="Nunito Sans" pitchFamily="34" charset="-122"/>
                <a:cs typeface="Nunito Sans" pitchFamily="34" charset="-120"/>
              </a:rPr>
              <a:t>The system is corrupt, and I will pay to exit it. This is the financial engine of premium food brands.</a:t>
            </a:r>
            <a:endParaRPr lang="en-US" sz="800" dirty="0"/>
          </a:p>
        </p:txBody>
      </p:sp>
      <p:sp>
        <p:nvSpPr>
          <p:cNvPr id="68" name="Text 65"/>
          <p:cNvSpPr/>
          <p:nvPr/>
        </p:nvSpPr>
        <p:spPr>
          <a:xfrm>
            <a:off x="4505858" y="5212080"/>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Factories cannot be genuinely clean</a:t>
            </a:r>
            <a:endParaRPr lang="en-US" sz="850" dirty="0"/>
          </a:p>
        </p:txBody>
      </p:sp>
      <p:sp>
        <p:nvSpPr>
          <p:cNvPr id="69" name="Text 66"/>
          <p:cNvSpPr/>
          <p:nvPr/>
        </p:nvSpPr>
        <p:spPr>
          <a:xfrm>
            <a:off x="7228637" y="5212080"/>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0.65</a:t>
            </a:r>
            <a:endParaRPr lang="en-US" sz="850" dirty="0"/>
          </a:p>
        </p:txBody>
      </p:sp>
      <p:sp>
        <p:nvSpPr>
          <p:cNvPr id="70" name="Shape 67"/>
          <p:cNvSpPr/>
          <p:nvPr/>
        </p:nvSpPr>
        <p:spPr>
          <a:xfrm>
            <a:off x="4505858" y="5394960"/>
            <a:ext cx="3179978" cy="45720"/>
          </a:xfrm>
          <a:prstGeom prst="roundRect">
            <a:avLst>
              <a:gd name="adj" fmla="val 50000"/>
            </a:avLst>
          </a:prstGeom>
          <a:solidFill>
            <a:srgbClr val="EDE4D4"/>
          </a:solidFill>
          <a:ln w="12700">
            <a:solidFill>
              <a:srgbClr val="333333"/>
            </a:solidFill>
            <a:prstDash val="solid"/>
          </a:ln>
        </p:spPr>
      </p:sp>
      <p:sp>
        <p:nvSpPr>
          <p:cNvPr id="71" name="Shape 68"/>
          <p:cNvSpPr/>
          <p:nvPr/>
        </p:nvSpPr>
        <p:spPr>
          <a:xfrm>
            <a:off x="4505858" y="5394960"/>
            <a:ext cx="2066986" cy="45720"/>
          </a:xfrm>
          <a:prstGeom prst="roundRect">
            <a:avLst>
              <a:gd name="adj" fmla="val 50000"/>
            </a:avLst>
          </a:prstGeom>
          <a:solidFill>
            <a:srgbClr val="9E3A24"/>
          </a:solidFill>
          <a:ln w="12700">
            <a:solidFill>
              <a:srgbClr val="333333"/>
            </a:solidFill>
            <a:prstDash val="solid"/>
          </a:ln>
        </p:spPr>
      </p:sp>
      <p:sp>
        <p:nvSpPr>
          <p:cNvPr id="72" name="Text 69"/>
          <p:cNvSpPr/>
          <p:nvPr/>
        </p:nvSpPr>
        <p:spPr>
          <a:xfrm>
            <a:off x="4505858" y="5495544"/>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Some adulteration is unavoidable</a:t>
            </a:r>
            <a:endParaRPr lang="en-US" sz="850" dirty="0"/>
          </a:p>
        </p:txBody>
      </p:sp>
      <p:sp>
        <p:nvSpPr>
          <p:cNvPr id="73" name="Text 70"/>
          <p:cNvSpPr/>
          <p:nvPr/>
        </p:nvSpPr>
        <p:spPr>
          <a:xfrm>
            <a:off x="7228637" y="5495544"/>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0.50</a:t>
            </a:r>
            <a:endParaRPr lang="en-US" sz="850" dirty="0"/>
          </a:p>
        </p:txBody>
      </p:sp>
      <p:sp>
        <p:nvSpPr>
          <p:cNvPr id="74" name="Shape 71"/>
          <p:cNvSpPr/>
          <p:nvPr/>
        </p:nvSpPr>
        <p:spPr>
          <a:xfrm>
            <a:off x="4505858" y="5678424"/>
            <a:ext cx="3179978" cy="45720"/>
          </a:xfrm>
          <a:prstGeom prst="roundRect">
            <a:avLst>
              <a:gd name="adj" fmla="val 50000"/>
            </a:avLst>
          </a:prstGeom>
          <a:solidFill>
            <a:srgbClr val="EDE4D4"/>
          </a:solidFill>
          <a:ln w="12700">
            <a:solidFill>
              <a:srgbClr val="333333"/>
            </a:solidFill>
            <a:prstDash val="solid"/>
          </a:ln>
        </p:spPr>
      </p:sp>
      <p:sp>
        <p:nvSpPr>
          <p:cNvPr id="75" name="Shape 72"/>
          <p:cNvSpPr/>
          <p:nvPr/>
        </p:nvSpPr>
        <p:spPr>
          <a:xfrm>
            <a:off x="4505858" y="5678424"/>
            <a:ext cx="1589989" cy="45720"/>
          </a:xfrm>
          <a:prstGeom prst="roundRect">
            <a:avLst>
              <a:gd name="adj" fmla="val 50000"/>
            </a:avLst>
          </a:prstGeom>
          <a:solidFill>
            <a:srgbClr val="9E3A24"/>
          </a:solidFill>
          <a:ln w="12700">
            <a:solidFill>
              <a:srgbClr val="333333"/>
            </a:solidFill>
            <a:prstDash val="solid"/>
          </a:ln>
        </p:spPr>
      </p:sp>
      <p:sp>
        <p:nvSpPr>
          <p:cNvPr id="76" name="Text 73"/>
          <p:cNvSpPr/>
          <p:nvPr/>
        </p:nvSpPr>
        <p:spPr>
          <a:xfrm>
            <a:off x="4505858" y="5779008"/>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I would pay 20–30% more</a:t>
            </a:r>
            <a:endParaRPr lang="en-US" sz="850" dirty="0"/>
          </a:p>
        </p:txBody>
      </p:sp>
      <p:sp>
        <p:nvSpPr>
          <p:cNvPr id="77" name="Text 74"/>
          <p:cNvSpPr/>
          <p:nvPr/>
        </p:nvSpPr>
        <p:spPr>
          <a:xfrm>
            <a:off x="7228637" y="5779008"/>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0.48</a:t>
            </a:r>
            <a:endParaRPr lang="en-US" sz="850" dirty="0"/>
          </a:p>
        </p:txBody>
      </p:sp>
      <p:sp>
        <p:nvSpPr>
          <p:cNvPr id="78" name="Shape 75"/>
          <p:cNvSpPr/>
          <p:nvPr/>
        </p:nvSpPr>
        <p:spPr>
          <a:xfrm>
            <a:off x="4505858" y="5961888"/>
            <a:ext cx="3179978" cy="45720"/>
          </a:xfrm>
          <a:prstGeom prst="roundRect">
            <a:avLst>
              <a:gd name="adj" fmla="val 50000"/>
            </a:avLst>
          </a:prstGeom>
          <a:solidFill>
            <a:srgbClr val="EDE4D4"/>
          </a:solidFill>
          <a:ln w="12700">
            <a:solidFill>
              <a:srgbClr val="333333"/>
            </a:solidFill>
            <a:prstDash val="solid"/>
          </a:ln>
        </p:spPr>
      </p:sp>
      <p:sp>
        <p:nvSpPr>
          <p:cNvPr id="79" name="Shape 76"/>
          <p:cNvSpPr/>
          <p:nvPr/>
        </p:nvSpPr>
        <p:spPr>
          <a:xfrm>
            <a:off x="4505858" y="5961888"/>
            <a:ext cx="1526390" cy="45720"/>
          </a:xfrm>
          <a:prstGeom prst="roundRect">
            <a:avLst>
              <a:gd name="adj" fmla="val 50000"/>
            </a:avLst>
          </a:prstGeom>
          <a:solidFill>
            <a:srgbClr val="9E3A24"/>
          </a:solidFill>
          <a:ln w="12700">
            <a:solidFill>
              <a:srgbClr val="333333"/>
            </a:solidFill>
            <a:prstDash val="solid"/>
          </a:ln>
        </p:spPr>
      </p:sp>
      <p:sp>
        <p:nvSpPr>
          <p:cNvPr id="80" name="Text 77"/>
          <p:cNvSpPr/>
          <p:nvPr/>
        </p:nvSpPr>
        <p:spPr>
          <a:xfrm>
            <a:off x="4505858" y="6062472"/>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The problem is proof, not cost</a:t>
            </a:r>
            <a:endParaRPr lang="en-US" sz="850" dirty="0"/>
          </a:p>
        </p:txBody>
      </p:sp>
      <p:sp>
        <p:nvSpPr>
          <p:cNvPr id="81" name="Text 78"/>
          <p:cNvSpPr/>
          <p:nvPr/>
        </p:nvSpPr>
        <p:spPr>
          <a:xfrm>
            <a:off x="7228637" y="6062472"/>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0.47</a:t>
            </a:r>
            <a:endParaRPr lang="en-US" sz="850" dirty="0"/>
          </a:p>
        </p:txBody>
      </p:sp>
      <p:sp>
        <p:nvSpPr>
          <p:cNvPr id="82" name="Shape 79"/>
          <p:cNvSpPr/>
          <p:nvPr/>
        </p:nvSpPr>
        <p:spPr>
          <a:xfrm>
            <a:off x="4505858" y="6245352"/>
            <a:ext cx="3179978" cy="45720"/>
          </a:xfrm>
          <a:prstGeom prst="roundRect">
            <a:avLst>
              <a:gd name="adj" fmla="val 50000"/>
            </a:avLst>
          </a:prstGeom>
          <a:solidFill>
            <a:srgbClr val="EDE4D4"/>
          </a:solidFill>
          <a:ln w="12700">
            <a:solidFill>
              <a:srgbClr val="333333"/>
            </a:solidFill>
            <a:prstDash val="solid"/>
          </a:ln>
        </p:spPr>
      </p:sp>
      <p:sp>
        <p:nvSpPr>
          <p:cNvPr id="83" name="Shape 80"/>
          <p:cNvSpPr/>
          <p:nvPr/>
        </p:nvSpPr>
        <p:spPr>
          <a:xfrm>
            <a:off x="4505858" y="6245352"/>
            <a:ext cx="1494590" cy="45720"/>
          </a:xfrm>
          <a:prstGeom prst="roundRect">
            <a:avLst>
              <a:gd name="adj" fmla="val 50000"/>
            </a:avLst>
          </a:prstGeom>
          <a:solidFill>
            <a:srgbClr val="9E3A24"/>
          </a:solidFill>
          <a:ln w="12700">
            <a:solidFill>
              <a:srgbClr val="333333"/>
            </a:solidFill>
            <a:prstDash val="solid"/>
          </a:ln>
        </p:spPr>
      </p:sp>
      <p:sp>
        <p:nvSpPr>
          <p:cNvPr id="84" name="Shape 81"/>
          <p:cNvSpPr/>
          <p:nvPr/>
        </p:nvSpPr>
        <p:spPr>
          <a:xfrm>
            <a:off x="8143037" y="4498848"/>
            <a:ext cx="3545738" cy="1975104"/>
          </a:xfrm>
          <a:prstGeom prst="roundRect">
            <a:avLst>
              <a:gd name="adj" fmla="val 4630"/>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85" name="Shape 82"/>
          <p:cNvSpPr/>
          <p:nvPr/>
        </p:nvSpPr>
        <p:spPr>
          <a:xfrm>
            <a:off x="8143037" y="4498848"/>
            <a:ext cx="3545738" cy="45720"/>
          </a:xfrm>
          <a:prstGeom prst="rect">
            <a:avLst/>
          </a:prstGeom>
          <a:solidFill>
            <a:srgbClr val="177A46"/>
          </a:solidFill>
          <a:ln w="12700">
            <a:solidFill>
              <a:srgbClr val="333333"/>
            </a:solidFill>
            <a:prstDash val="solid"/>
          </a:ln>
        </p:spPr>
      </p:sp>
      <p:sp>
        <p:nvSpPr>
          <p:cNvPr id="86" name="Text 83"/>
          <p:cNvSpPr/>
          <p:nvPr/>
        </p:nvSpPr>
        <p:spPr>
          <a:xfrm>
            <a:off x="8325917" y="4626864"/>
            <a:ext cx="317997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F3 — Proof-demanding vigilance</a:t>
            </a:r>
            <a:endParaRPr lang="en-US" sz="1000" dirty="0"/>
          </a:p>
        </p:txBody>
      </p:sp>
      <p:sp>
        <p:nvSpPr>
          <p:cNvPr id="87" name="Text 84"/>
          <p:cNvSpPr/>
          <p:nvPr/>
        </p:nvSpPr>
        <p:spPr>
          <a:xfrm>
            <a:off x="8325917" y="4846320"/>
            <a:ext cx="3179978" cy="365760"/>
          </a:xfrm>
          <a:prstGeom prst="rect">
            <a:avLst/>
          </a:prstGeom>
          <a:noFill/>
          <a:ln/>
        </p:spPr>
        <p:txBody>
          <a:bodyPr wrap="square" lIns="0" tIns="0" rIns="0" bIns="0" rtlCol="0" anchor="t"/>
          <a:lstStyle/>
          <a:p>
            <a:pPr indent="0" marL="0">
              <a:lnSpc>
                <a:spcPct val="106000"/>
              </a:lnSpc>
              <a:buNone/>
            </a:pPr>
            <a:r>
              <a:rPr lang="en-US" sz="800" i="1" dirty="0">
                <a:solidFill>
                  <a:srgbClr val="54606F"/>
                </a:solidFill>
                <a:latin typeface="Nunito Sans" pitchFamily="34" charset="0"/>
                <a:ea typeface="Nunito Sans" pitchFamily="34" charset="-122"/>
                <a:cs typeface="Nunito Sans" pitchFamily="34" charset="-120"/>
              </a:rPr>
              <a:t>I will check it myself. Show me the evidence.</a:t>
            </a:r>
            <a:endParaRPr lang="en-US" sz="800" dirty="0"/>
          </a:p>
        </p:txBody>
      </p:sp>
      <p:sp>
        <p:nvSpPr>
          <p:cNvPr id="88" name="Text 85"/>
          <p:cNvSpPr/>
          <p:nvPr/>
        </p:nvSpPr>
        <p:spPr>
          <a:xfrm>
            <a:off x="8325917" y="5212080"/>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I will pay only if a test is shown</a:t>
            </a:r>
            <a:endParaRPr lang="en-US" sz="850" dirty="0"/>
          </a:p>
        </p:txBody>
      </p:sp>
      <p:sp>
        <p:nvSpPr>
          <p:cNvPr id="89" name="Text 86"/>
          <p:cNvSpPr/>
          <p:nvPr/>
        </p:nvSpPr>
        <p:spPr>
          <a:xfrm>
            <a:off x="11048695" y="5212080"/>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0.64</a:t>
            </a:r>
            <a:endParaRPr lang="en-US" sz="850" dirty="0"/>
          </a:p>
        </p:txBody>
      </p:sp>
      <p:sp>
        <p:nvSpPr>
          <p:cNvPr id="90" name="Shape 87"/>
          <p:cNvSpPr/>
          <p:nvPr/>
        </p:nvSpPr>
        <p:spPr>
          <a:xfrm>
            <a:off x="8325917" y="5394960"/>
            <a:ext cx="3179978" cy="45720"/>
          </a:xfrm>
          <a:prstGeom prst="roundRect">
            <a:avLst>
              <a:gd name="adj" fmla="val 50000"/>
            </a:avLst>
          </a:prstGeom>
          <a:solidFill>
            <a:srgbClr val="EDE4D4"/>
          </a:solidFill>
          <a:ln w="12700">
            <a:solidFill>
              <a:srgbClr val="333333"/>
            </a:solidFill>
            <a:prstDash val="solid"/>
          </a:ln>
        </p:spPr>
      </p:sp>
      <p:sp>
        <p:nvSpPr>
          <p:cNvPr id="91" name="Shape 88"/>
          <p:cNvSpPr/>
          <p:nvPr/>
        </p:nvSpPr>
        <p:spPr>
          <a:xfrm>
            <a:off x="8325917" y="5394960"/>
            <a:ext cx="2035186" cy="45720"/>
          </a:xfrm>
          <a:prstGeom prst="roundRect">
            <a:avLst>
              <a:gd name="adj" fmla="val 50000"/>
            </a:avLst>
          </a:prstGeom>
          <a:solidFill>
            <a:srgbClr val="177A46"/>
          </a:solidFill>
          <a:ln w="12700">
            <a:solidFill>
              <a:srgbClr val="333333"/>
            </a:solidFill>
            <a:prstDash val="solid"/>
          </a:ln>
        </p:spPr>
      </p:sp>
      <p:sp>
        <p:nvSpPr>
          <p:cNvPr id="92" name="Text 89"/>
          <p:cNvSpPr/>
          <p:nvPr/>
        </p:nvSpPr>
        <p:spPr>
          <a:xfrm>
            <a:off x="8325917" y="5495544"/>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I need to verify proof myself</a:t>
            </a:r>
            <a:endParaRPr lang="en-US" sz="850" dirty="0"/>
          </a:p>
        </p:txBody>
      </p:sp>
      <p:sp>
        <p:nvSpPr>
          <p:cNvPr id="93" name="Text 90"/>
          <p:cNvSpPr/>
          <p:nvPr/>
        </p:nvSpPr>
        <p:spPr>
          <a:xfrm>
            <a:off x="11048695" y="5495544"/>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0.60</a:t>
            </a:r>
            <a:endParaRPr lang="en-US" sz="850" dirty="0"/>
          </a:p>
        </p:txBody>
      </p:sp>
      <p:sp>
        <p:nvSpPr>
          <p:cNvPr id="94" name="Shape 91"/>
          <p:cNvSpPr/>
          <p:nvPr/>
        </p:nvSpPr>
        <p:spPr>
          <a:xfrm>
            <a:off x="8325917" y="5678424"/>
            <a:ext cx="3179978" cy="45720"/>
          </a:xfrm>
          <a:prstGeom prst="roundRect">
            <a:avLst>
              <a:gd name="adj" fmla="val 50000"/>
            </a:avLst>
          </a:prstGeom>
          <a:solidFill>
            <a:srgbClr val="EDE4D4"/>
          </a:solidFill>
          <a:ln w="12700">
            <a:solidFill>
              <a:srgbClr val="333333"/>
            </a:solidFill>
            <a:prstDash val="solid"/>
          </a:ln>
        </p:spPr>
      </p:sp>
      <p:sp>
        <p:nvSpPr>
          <p:cNvPr id="95" name="Shape 92"/>
          <p:cNvSpPr/>
          <p:nvPr/>
        </p:nvSpPr>
        <p:spPr>
          <a:xfrm>
            <a:off x="8325917" y="5678424"/>
            <a:ext cx="1907987" cy="45720"/>
          </a:xfrm>
          <a:prstGeom prst="roundRect">
            <a:avLst>
              <a:gd name="adj" fmla="val 50000"/>
            </a:avLst>
          </a:prstGeom>
          <a:solidFill>
            <a:srgbClr val="177A46"/>
          </a:solidFill>
          <a:ln w="12700">
            <a:solidFill>
              <a:srgbClr val="333333"/>
            </a:solidFill>
            <a:prstDash val="solid"/>
          </a:ln>
        </p:spPr>
      </p:sp>
      <p:sp>
        <p:nvSpPr>
          <p:cNvPr id="96" name="Text 93"/>
          <p:cNvSpPr/>
          <p:nvPr/>
        </p:nvSpPr>
        <p:spPr>
          <a:xfrm>
            <a:off x="8325917" y="5779008"/>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I can spot a genuine claim</a:t>
            </a:r>
            <a:endParaRPr lang="en-US" sz="850" dirty="0"/>
          </a:p>
        </p:txBody>
      </p:sp>
      <p:sp>
        <p:nvSpPr>
          <p:cNvPr id="97" name="Text 94"/>
          <p:cNvSpPr/>
          <p:nvPr/>
        </p:nvSpPr>
        <p:spPr>
          <a:xfrm>
            <a:off x="11048695" y="5779008"/>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0.55</a:t>
            </a:r>
            <a:endParaRPr lang="en-US" sz="850" dirty="0"/>
          </a:p>
        </p:txBody>
      </p:sp>
      <p:sp>
        <p:nvSpPr>
          <p:cNvPr id="98" name="Shape 95"/>
          <p:cNvSpPr/>
          <p:nvPr/>
        </p:nvSpPr>
        <p:spPr>
          <a:xfrm>
            <a:off x="8325917" y="5961888"/>
            <a:ext cx="3179978" cy="45720"/>
          </a:xfrm>
          <a:prstGeom prst="roundRect">
            <a:avLst>
              <a:gd name="adj" fmla="val 50000"/>
            </a:avLst>
          </a:prstGeom>
          <a:solidFill>
            <a:srgbClr val="EDE4D4"/>
          </a:solidFill>
          <a:ln w="12700">
            <a:solidFill>
              <a:srgbClr val="333333"/>
            </a:solidFill>
            <a:prstDash val="solid"/>
          </a:ln>
        </p:spPr>
      </p:sp>
      <p:sp>
        <p:nvSpPr>
          <p:cNvPr id="99" name="Shape 96"/>
          <p:cNvSpPr/>
          <p:nvPr/>
        </p:nvSpPr>
        <p:spPr>
          <a:xfrm>
            <a:off x="8325917" y="5961888"/>
            <a:ext cx="1748988" cy="45720"/>
          </a:xfrm>
          <a:prstGeom prst="roundRect">
            <a:avLst>
              <a:gd name="adj" fmla="val 50000"/>
            </a:avLst>
          </a:prstGeom>
          <a:solidFill>
            <a:srgbClr val="177A46"/>
          </a:solidFill>
          <a:ln w="12700">
            <a:solidFill>
              <a:srgbClr val="333333"/>
            </a:solidFill>
            <a:prstDash val="solid"/>
          </a:ln>
        </p:spPr>
      </p:sp>
      <p:sp>
        <p:nvSpPr>
          <p:cNvPr id="100" name="Text 97"/>
          <p:cNvSpPr/>
          <p:nvPr/>
        </p:nvSpPr>
        <p:spPr>
          <a:xfrm>
            <a:off x="8325917" y="6062472"/>
            <a:ext cx="2722778" cy="182880"/>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Cost blocks me from safer food</a:t>
            </a:r>
            <a:endParaRPr lang="en-US" sz="850" dirty="0"/>
          </a:p>
        </p:txBody>
      </p:sp>
      <p:sp>
        <p:nvSpPr>
          <p:cNvPr id="101" name="Text 98"/>
          <p:cNvSpPr/>
          <p:nvPr/>
        </p:nvSpPr>
        <p:spPr>
          <a:xfrm>
            <a:off x="11048695" y="6062472"/>
            <a:ext cx="457200" cy="182880"/>
          </a:xfrm>
          <a:prstGeom prst="rect">
            <a:avLst/>
          </a:prstGeom>
          <a:noFill/>
          <a:ln/>
        </p:spPr>
        <p:txBody>
          <a:bodyPr wrap="square" lIns="0" tIns="0" rIns="0" bIns="0" rtlCol="0" anchor="ctr"/>
          <a:lstStyle/>
          <a:p>
            <a:pPr algn="r" indent="0" marL="0">
              <a:buNone/>
            </a:pPr>
            <a:r>
              <a:rPr lang="en-US" sz="850" b="1" dirty="0">
                <a:solidFill>
                  <a:srgbClr val="0C1A2B"/>
                </a:solidFill>
                <a:latin typeface="Nunito Sans" pitchFamily="34" charset="0"/>
                <a:ea typeface="Nunito Sans" pitchFamily="34" charset="-122"/>
                <a:cs typeface="Nunito Sans" pitchFamily="34" charset="-120"/>
              </a:rPr>
              <a:t>0.48</a:t>
            </a:r>
            <a:endParaRPr lang="en-US" sz="850" dirty="0"/>
          </a:p>
        </p:txBody>
      </p:sp>
      <p:sp>
        <p:nvSpPr>
          <p:cNvPr id="102" name="Shape 99"/>
          <p:cNvSpPr/>
          <p:nvPr/>
        </p:nvSpPr>
        <p:spPr>
          <a:xfrm>
            <a:off x="8325917" y="6245352"/>
            <a:ext cx="3179978" cy="45720"/>
          </a:xfrm>
          <a:prstGeom prst="roundRect">
            <a:avLst>
              <a:gd name="adj" fmla="val 50000"/>
            </a:avLst>
          </a:prstGeom>
          <a:solidFill>
            <a:srgbClr val="EDE4D4"/>
          </a:solidFill>
          <a:ln w="12700">
            <a:solidFill>
              <a:srgbClr val="333333"/>
            </a:solidFill>
            <a:prstDash val="solid"/>
          </a:ln>
        </p:spPr>
      </p:sp>
      <p:sp>
        <p:nvSpPr>
          <p:cNvPr id="103" name="Shape 100"/>
          <p:cNvSpPr/>
          <p:nvPr/>
        </p:nvSpPr>
        <p:spPr>
          <a:xfrm>
            <a:off x="8325917" y="6245352"/>
            <a:ext cx="1526390" cy="45720"/>
          </a:xfrm>
          <a:prstGeom prst="roundRect">
            <a:avLst>
              <a:gd name="adj" fmla="val 50000"/>
            </a:avLst>
          </a:prstGeom>
          <a:solidFill>
            <a:srgbClr val="177A46"/>
          </a:solidFill>
          <a:ln w="12700">
            <a:solidFill>
              <a:srgbClr val="333333"/>
            </a:solidFill>
            <a:prstDash val="solid"/>
          </a:ln>
        </p:spPr>
      </p:sp>
      <p:sp>
        <p:nvSpPr>
          <p:cNvPr id="105" name="Shape 101"/>
          <p:cNvSpPr/>
          <p:nvPr/>
        </p:nvSpPr>
        <p:spPr>
          <a:xfrm>
            <a:off x="502920" y="6455664"/>
            <a:ext cx="11185855" cy="0"/>
          </a:xfrm>
          <a:prstGeom prst="line">
            <a:avLst/>
          </a:prstGeom>
          <a:noFill/>
          <a:ln w="9525">
            <a:solidFill>
              <a:srgbClr val="E5DCCB"/>
            </a:solidFill>
            <a:prstDash val="solid"/>
          </a:ln>
        </p:spPr>
      </p:sp>
      <p:sp>
        <p:nvSpPr>
          <p:cNvPr id="106" name="Text 102"/>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03 · THE CONSUMER</a:t>
            </a:r>
            <a:endParaRPr lang="en-US" sz="800" dirty="0"/>
          </a:p>
        </p:txBody>
      </p:sp>
      <p:sp>
        <p:nvSpPr>
          <p:cNvPr id="107" name="Text 103"/>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15</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159813"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159813"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SEGMENTATION OUTPUT</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Four customer segments emerged from the research.</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Factor scores are standardised — 0 is the sample mean. Guardians are the only cluster positive on all three factors simultaneously.</a:t>
            </a:r>
            <a:endParaRPr lang="en-US" sz="1100" dirty="0"/>
          </a:p>
        </p:txBody>
      </p:sp>
      <p:sp>
        <p:nvSpPr>
          <p:cNvPr id="7" name="Shape 4"/>
          <p:cNvSpPr/>
          <p:nvPr/>
        </p:nvSpPr>
        <p:spPr>
          <a:xfrm>
            <a:off x="502920" y="2121408"/>
            <a:ext cx="10058400" cy="384048"/>
          </a:xfrm>
          <a:prstGeom prst="roundRect">
            <a:avLst>
              <a:gd name="adj" fmla="val 9524"/>
            </a:avLst>
          </a:prstGeom>
          <a:solidFill>
            <a:srgbClr val="F3ECE0"/>
          </a:solidFill>
          <a:ln w="15875">
            <a:solidFill>
              <a:srgbClr val="EDE4D4"/>
            </a:solidFill>
            <a:prstDash val="solid"/>
          </a:ln>
          <a:effectLst>
            <a:outerShdw sx="100000" sy="100000" kx="0" ky="0" algn="bl" rotWithShape="0" blurRad="228600" dist="25400" dir="5400000">
              <a:srgbClr val="0C1A2B">
                <a:alpha val="7000"/>
              </a:srgbClr>
            </a:outerShdw>
          </a:effectLst>
        </p:spPr>
      </p:sp>
      <p:sp>
        <p:nvSpPr>
          <p:cNvPr id="8" name="Text 5"/>
          <p:cNvSpPr/>
          <p:nvPr/>
        </p:nvSpPr>
        <p:spPr>
          <a:xfrm>
            <a:off x="630936" y="2121408"/>
            <a:ext cx="2560320" cy="384048"/>
          </a:xfrm>
          <a:prstGeom prst="rect">
            <a:avLst/>
          </a:prstGeom>
          <a:noFill/>
          <a:ln/>
        </p:spPr>
        <p:txBody>
          <a:bodyPr wrap="square" lIns="0" tIns="0" rIns="0" bIns="0" rtlCol="0" anchor="ctr"/>
          <a:lstStyle/>
          <a:p>
            <a:pPr algn="l" indent="0" marL="0">
              <a:buNone/>
            </a:pPr>
            <a:r>
              <a:rPr lang="en-US" sz="750" b="1" spc="80" kern="0" dirty="0">
                <a:solidFill>
                  <a:srgbClr val="8B95A2"/>
                </a:solidFill>
                <a:latin typeface="Nunito Sans" pitchFamily="34" charset="0"/>
                <a:ea typeface="Nunito Sans" pitchFamily="34" charset="-122"/>
                <a:cs typeface="Nunito Sans" pitchFamily="34" charset="-120"/>
              </a:rPr>
              <a:t>SEGMENT</a:t>
            </a:r>
            <a:endParaRPr lang="en-US" sz="750" dirty="0"/>
          </a:p>
        </p:txBody>
      </p:sp>
      <p:sp>
        <p:nvSpPr>
          <p:cNvPr id="9" name="Text 6"/>
          <p:cNvSpPr/>
          <p:nvPr/>
        </p:nvSpPr>
        <p:spPr>
          <a:xfrm>
            <a:off x="3374136" y="2121408"/>
            <a:ext cx="1005840" cy="384048"/>
          </a:xfrm>
          <a:prstGeom prst="rect">
            <a:avLst/>
          </a:prstGeom>
          <a:noFill/>
          <a:ln/>
        </p:spPr>
        <p:txBody>
          <a:bodyPr wrap="square" lIns="0" tIns="0" rIns="0" bIns="0" rtlCol="0" anchor="ctr"/>
          <a:lstStyle/>
          <a:p>
            <a:pPr algn="r" indent="0" marL="0">
              <a:buNone/>
            </a:pPr>
            <a:r>
              <a:rPr lang="en-US" sz="750" b="1" spc="80" kern="0" dirty="0">
                <a:solidFill>
                  <a:srgbClr val="8B95A2"/>
                </a:solidFill>
                <a:latin typeface="Nunito Sans" pitchFamily="34" charset="0"/>
                <a:ea typeface="Nunito Sans" pitchFamily="34" charset="-122"/>
                <a:cs typeface="Nunito Sans" pitchFamily="34" charset="-120"/>
              </a:rPr>
              <a:t>N (%)</a:t>
            </a:r>
            <a:endParaRPr lang="en-US" sz="750" dirty="0"/>
          </a:p>
        </p:txBody>
      </p:sp>
      <p:sp>
        <p:nvSpPr>
          <p:cNvPr id="10" name="Text 7"/>
          <p:cNvSpPr/>
          <p:nvPr/>
        </p:nvSpPr>
        <p:spPr>
          <a:xfrm>
            <a:off x="4562856" y="2121408"/>
            <a:ext cx="914400" cy="384048"/>
          </a:xfrm>
          <a:prstGeom prst="rect">
            <a:avLst/>
          </a:prstGeom>
          <a:noFill/>
          <a:ln/>
        </p:spPr>
        <p:txBody>
          <a:bodyPr wrap="square" lIns="0" tIns="0" rIns="0" bIns="0" rtlCol="0" anchor="ctr"/>
          <a:lstStyle/>
          <a:p>
            <a:pPr algn="r" indent="0" marL="0">
              <a:buNone/>
            </a:pPr>
            <a:r>
              <a:rPr lang="en-US" sz="750" b="1" spc="80" kern="0" dirty="0">
                <a:solidFill>
                  <a:srgbClr val="8B95A2"/>
                </a:solidFill>
                <a:latin typeface="Nunito Sans" pitchFamily="34" charset="0"/>
                <a:ea typeface="Nunito Sans" pitchFamily="34" charset="-122"/>
                <a:cs typeface="Nunito Sans" pitchFamily="34" charset="-120"/>
              </a:rPr>
              <a:t>F1 SOCIAL</a:t>
            </a:r>
            <a:endParaRPr lang="en-US" sz="750" dirty="0"/>
          </a:p>
        </p:txBody>
      </p:sp>
      <p:sp>
        <p:nvSpPr>
          <p:cNvPr id="11" name="Text 8"/>
          <p:cNvSpPr/>
          <p:nvPr/>
        </p:nvSpPr>
        <p:spPr>
          <a:xfrm>
            <a:off x="5660136" y="2121408"/>
            <a:ext cx="960120" cy="384048"/>
          </a:xfrm>
          <a:prstGeom prst="rect">
            <a:avLst/>
          </a:prstGeom>
          <a:noFill/>
          <a:ln/>
        </p:spPr>
        <p:txBody>
          <a:bodyPr wrap="square" lIns="0" tIns="0" rIns="0" bIns="0" rtlCol="0" anchor="ctr"/>
          <a:lstStyle/>
          <a:p>
            <a:pPr algn="r" indent="0" marL="0">
              <a:buNone/>
            </a:pPr>
            <a:r>
              <a:rPr lang="en-US" sz="750" b="1" spc="80" kern="0" dirty="0">
                <a:solidFill>
                  <a:srgbClr val="8B95A2"/>
                </a:solidFill>
                <a:latin typeface="Nunito Sans" pitchFamily="34" charset="0"/>
                <a:ea typeface="Nunito Sans" pitchFamily="34" charset="-122"/>
                <a:cs typeface="Nunito Sans" pitchFamily="34" charset="-120"/>
              </a:rPr>
              <a:t>F2 DISTRUST</a:t>
            </a:r>
            <a:endParaRPr lang="en-US" sz="750" dirty="0"/>
          </a:p>
        </p:txBody>
      </p:sp>
      <p:sp>
        <p:nvSpPr>
          <p:cNvPr id="12" name="Text 9"/>
          <p:cNvSpPr/>
          <p:nvPr/>
        </p:nvSpPr>
        <p:spPr>
          <a:xfrm>
            <a:off x="6803136" y="2121408"/>
            <a:ext cx="1005840" cy="384048"/>
          </a:xfrm>
          <a:prstGeom prst="rect">
            <a:avLst/>
          </a:prstGeom>
          <a:noFill/>
          <a:ln/>
        </p:spPr>
        <p:txBody>
          <a:bodyPr wrap="square" lIns="0" tIns="0" rIns="0" bIns="0" rtlCol="0" anchor="ctr"/>
          <a:lstStyle/>
          <a:p>
            <a:pPr algn="r" indent="0" marL="0">
              <a:buNone/>
            </a:pPr>
            <a:r>
              <a:rPr lang="en-US" sz="750" b="1" spc="80" kern="0" dirty="0">
                <a:solidFill>
                  <a:srgbClr val="8B95A2"/>
                </a:solidFill>
                <a:latin typeface="Nunito Sans" pitchFamily="34" charset="0"/>
                <a:ea typeface="Nunito Sans" pitchFamily="34" charset="-122"/>
                <a:cs typeface="Nunito Sans" pitchFamily="34" charset="-120"/>
              </a:rPr>
              <a:t>F3 VIGILANCE</a:t>
            </a:r>
            <a:endParaRPr lang="en-US" sz="750" dirty="0"/>
          </a:p>
        </p:txBody>
      </p:sp>
      <p:sp>
        <p:nvSpPr>
          <p:cNvPr id="13" name="Text 10"/>
          <p:cNvSpPr/>
          <p:nvPr/>
        </p:nvSpPr>
        <p:spPr>
          <a:xfrm>
            <a:off x="7991856" y="2121408"/>
            <a:ext cx="1234440" cy="384048"/>
          </a:xfrm>
          <a:prstGeom prst="rect">
            <a:avLst/>
          </a:prstGeom>
          <a:noFill/>
          <a:ln/>
        </p:spPr>
        <p:txBody>
          <a:bodyPr wrap="square" lIns="0" tIns="0" rIns="0" bIns="0" rtlCol="0" anchor="ctr"/>
          <a:lstStyle/>
          <a:p>
            <a:pPr algn="r" indent="0" marL="0">
              <a:buNone/>
            </a:pPr>
            <a:r>
              <a:rPr lang="en-US" sz="750" b="1" spc="80" kern="0" dirty="0">
                <a:solidFill>
                  <a:srgbClr val="8B95A2"/>
                </a:solidFill>
                <a:latin typeface="Nunito Sans" pitchFamily="34" charset="0"/>
                <a:ea typeface="Nunito Sans" pitchFamily="34" charset="-122"/>
                <a:cs typeface="Nunito Sans" pitchFamily="34" charset="-120"/>
              </a:rPr>
              <a:t>TRUST IN CERT. CLAIM</a:t>
            </a:r>
            <a:endParaRPr lang="en-US" sz="750" dirty="0"/>
          </a:p>
        </p:txBody>
      </p:sp>
      <p:sp>
        <p:nvSpPr>
          <p:cNvPr id="14" name="Text 11"/>
          <p:cNvSpPr/>
          <p:nvPr/>
        </p:nvSpPr>
        <p:spPr>
          <a:xfrm>
            <a:off x="9409176" y="2121408"/>
            <a:ext cx="1097280" cy="384048"/>
          </a:xfrm>
          <a:prstGeom prst="rect">
            <a:avLst/>
          </a:prstGeom>
          <a:noFill/>
          <a:ln/>
        </p:spPr>
        <p:txBody>
          <a:bodyPr wrap="square" lIns="0" tIns="0" rIns="0" bIns="0" rtlCol="0" anchor="ctr"/>
          <a:lstStyle/>
          <a:p>
            <a:pPr algn="r" indent="0" marL="0">
              <a:buNone/>
            </a:pPr>
            <a:r>
              <a:rPr lang="en-US" sz="750" b="1" spc="80" kern="0" dirty="0">
                <a:solidFill>
                  <a:srgbClr val="8B95A2"/>
                </a:solidFill>
                <a:latin typeface="Nunito Sans" pitchFamily="34" charset="0"/>
                <a:ea typeface="Nunito Sans" pitchFamily="34" charset="-122"/>
                <a:cs typeface="Nunito Sans" pitchFamily="34" charset="-120"/>
              </a:rPr>
              <a:t>WOULD PAY 11%+</a:t>
            </a:r>
            <a:endParaRPr lang="en-US" sz="750" dirty="0"/>
          </a:p>
        </p:txBody>
      </p:sp>
      <p:sp>
        <p:nvSpPr>
          <p:cNvPr id="15" name="Shape 12"/>
          <p:cNvSpPr/>
          <p:nvPr/>
        </p:nvSpPr>
        <p:spPr>
          <a:xfrm>
            <a:off x="502920" y="2505456"/>
            <a:ext cx="10058400" cy="402336"/>
          </a:xfrm>
          <a:prstGeom prst="rect">
            <a:avLst/>
          </a:prstGeom>
          <a:solidFill>
            <a:srgbClr val="FFFFFF"/>
          </a:solidFill>
          <a:ln w="5080">
            <a:solidFill>
              <a:srgbClr val="E5DCCB"/>
            </a:solidFill>
            <a:prstDash val="solid"/>
          </a:ln>
        </p:spPr>
      </p:sp>
      <p:sp>
        <p:nvSpPr>
          <p:cNvPr id="16" name="Shape 13"/>
          <p:cNvSpPr/>
          <p:nvPr/>
        </p:nvSpPr>
        <p:spPr>
          <a:xfrm>
            <a:off x="502920" y="2505456"/>
            <a:ext cx="45720" cy="402336"/>
          </a:xfrm>
          <a:prstGeom prst="rect">
            <a:avLst/>
          </a:prstGeom>
          <a:solidFill>
            <a:srgbClr val="177A46"/>
          </a:solidFill>
          <a:ln w="12700">
            <a:solidFill>
              <a:srgbClr val="333333"/>
            </a:solidFill>
            <a:prstDash val="solid"/>
          </a:ln>
        </p:spPr>
      </p:sp>
      <p:sp>
        <p:nvSpPr>
          <p:cNvPr id="17" name="Text 14"/>
          <p:cNvSpPr/>
          <p:nvPr/>
        </p:nvSpPr>
        <p:spPr>
          <a:xfrm>
            <a:off x="630936" y="2505456"/>
            <a:ext cx="2560320" cy="402336"/>
          </a:xfrm>
          <a:prstGeom prst="rect">
            <a:avLst/>
          </a:prstGeom>
          <a:noFill/>
          <a:ln/>
        </p:spPr>
        <p:txBody>
          <a:bodyPr wrap="square" lIns="0" tIns="0" rIns="0" bIns="0" rtlCol="0" anchor="ctr"/>
          <a:lstStyle/>
          <a:p>
            <a:pPr algn="l" indent="0" marL="0">
              <a:buNone/>
            </a:pPr>
            <a:r>
              <a:rPr lang="en-US" sz="900" b="1" dirty="0">
                <a:solidFill>
                  <a:srgbClr val="0C1A2B"/>
                </a:solidFill>
                <a:latin typeface="Nunito Sans" pitchFamily="34" charset="0"/>
                <a:ea typeface="Nunito Sans" pitchFamily="34" charset="-122"/>
                <a:cs typeface="Nunito Sans" pitchFamily="34" charset="-120"/>
              </a:rPr>
              <a:t>Proof-Hungry Guardians</a:t>
            </a:r>
            <a:endParaRPr lang="en-US" sz="900" dirty="0"/>
          </a:p>
        </p:txBody>
      </p:sp>
      <p:sp>
        <p:nvSpPr>
          <p:cNvPr id="18" name="Text 15"/>
          <p:cNvSpPr/>
          <p:nvPr/>
        </p:nvSpPr>
        <p:spPr>
          <a:xfrm>
            <a:off x="3374136" y="2505456"/>
            <a:ext cx="10058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109  (36%)</a:t>
            </a:r>
            <a:endParaRPr lang="en-US" sz="900" dirty="0"/>
          </a:p>
        </p:txBody>
      </p:sp>
      <p:sp>
        <p:nvSpPr>
          <p:cNvPr id="19" name="Text 16"/>
          <p:cNvSpPr/>
          <p:nvPr/>
        </p:nvSpPr>
        <p:spPr>
          <a:xfrm>
            <a:off x="4562856" y="2505456"/>
            <a:ext cx="914400" cy="402336"/>
          </a:xfrm>
          <a:prstGeom prst="rect">
            <a:avLst/>
          </a:prstGeom>
          <a:noFill/>
          <a:ln/>
        </p:spPr>
        <p:txBody>
          <a:bodyPr wrap="square" lIns="0" tIns="0" rIns="0" bIns="0" rtlCol="0" anchor="ctr"/>
          <a:lstStyle/>
          <a:p>
            <a:pPr algn="r" indent="0" marL="0">
              <a:buNone/>
            </a:pPr>
            <a:r>
              <a:rPr lang="en-US" sz="900" dirty="0">
                <a:solidFill>
                  <a:srgbClr val="177A46"/>
                </a:solidFill>
                <a:latin typeface="Nunito Sans" pitchFamily="34" charset="0"/>
                <a:ea typeface="Nunito Sans" pitchFamily="34" charset="-122"/>
                <a:cs typeface="Nunito Sans" pitchFamily="34" charset="-120"/>
              </a:rPr>
              <a:t>+0.46</a:t>
            </a:r>
            <a:endParaRPr lang="en-US" sz="900" dirty="0"/>
          </a:p>
        </p:txBody>
      </p:sp>
      <p:sp>
        <p:nvSpPr>
          <p:cNvPr id="20" name="Text 17"/>
          <p:cNvSpPr/>
          <p:nvPr/>
        </p:nvSpPr>
        <p:spPr>
          <a:xfrm>
            <a:off x="5660136" y="2505456"/>
            <a:ext cx="960120" cy="402336"/>
          </a:xfrm>
          <a:prstGeom prst="rect">
            <a:avLst/>
          </a:prstGeom>
          <a:noFill/>
          <a:ln/>
        </p:spPr>
        <p:txBody>
          <a:bodyPr wrap="square" lIns="0" tIns="0" rIns="0" bIns="0" rtlCol="0" anchor="ctr"/>
          <a:lstStyle/>
          <a:p>
            <a:pPr algn="r" indent="0" marL="0">
              <a:buNone/>
            </a:pPr>
            <a:r>
              <a:rPr lang="en-US" sz="900" dirty="0">
                <a:solidFill>
                  <a:srgbClr val="177A46"/>
                </a:solidFill>
                <a:latin typeface="Nunito Sans" pitchFamily="34" charset="0"/>
                <a:ea typeface="Nunito Sans" pitchFamily="34" charset="-122"/>
                <a:cs typeface="Nunito Sans" pitchFamily="34" charset="-120"/>
              </a:rPr>
              <a:t>+0.47</a:t>
            </a:r>
            <a:endParaRPr lang="en-US" sz="900" dirty="0"/>
          </a:p>
        </p:txBody>
      </p:sp>
      <p:sp>
        <p:nvSpPr>
          <p:cNvPr id="21" name="Text 18"/>
          <p:cNvSpPr/>
          <p:nvPr/>
        </p:nvSpPr>
        <p:spPr>
          <a:xfrm>
            <a:off x="6803136" y="2505456"/>
            <a:ext cx="1005840" cy="402336"/>
          </a:xfrm>
          <a:prstGeom prst="rect">
            <a:avLst/>
          </a:prstGeom>
          <a:noFill/>
          <a:ln/>
        </p:spPr>
        <p:txBody>
          <a:bodyPr wrap="square" lIns="0" tIns="0" rIns="0" bIns="0" rtlCol="0" anchor="ctr"/>
          <a:lstStyle/>
          <a:p>
            <a:pPr algn="r" indent="0" marL="0">
              <a:buNone/>
            </a:pPr>
            <a:r>
              <a:rPr lang="en-US" sz="900" dirty="0">
                <a:solidFill>
                  <a:srgbClr val="177A46"/>
                </a:solidFill>
                <a:latin typeface="Nunito Sans" pitchFamily="34" charset="0"/>
                <a:ea typeface="Nunito Sans" pitchFamily="34" charset="-122"/>
                <a:cs typeface="Nunito Sans" pitchFamily="34" charset="-120"/>
              </a:rPr>
              <a:t>+0.69</a:t>
            </a:r>
            <a:endParaRPr lang="en-US" sz="900" dirty="0"/>
          </a:p>
        </p:txBody>
      </p:sp>
      <p:sp>
        <p:nvSpPr>
          <p:cNvPr id="22" name="Text 19"/>
          <p:cNvSpPr/>
          <p:nvPr/>
        </p:nvSpPr>
        <p:spPr>
          <a:xfrm>
            <a:off x="7991856" y="2505456"/>
            <a:ext cx="12344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4.4 / 5</a:t>
            </a:r>
            <a:endParaRPr lang="en-US" sz="900" dirty="0"/>
          </a:p>
        </p:txBody>
      </p:sp>
      <p:sp>
        <p:nvSpPr>
          <p:cNvPr id="23" name="Text 20"/>
          <p:cNvSpPr/>
          <p:nvPr/>
        </p:nvSpPr>
        <p:spPr>
          <a:xfrm>
            <a:off x="9409176" y="2505456"/>
            <a:ext cx="1097280" cy="402336"/>
          </a:xfrm>
          <a:prstGeom prst="rect">
            <a:avLst/>
          </a:prstGeom>
          <a:noFill/>
          <a:ln/>
        </p:spPr>
        <p:txBody>
          <a:bodyPr wrap="square" lIns="0" tIns="0" rIns="0" bIns="0" rtlCol="0" anchor="ctr"/>
          <a:lstStyle/>
          <a:p>
            <a:pPr algn="r" indent="0" marL="0">
              <a:buNone/>
            </a:pPr>
            <a:r>
              <a:rPr lang="en-US" sz="900" b="1" dirty="0">
                <a:solidFill>
                  <a:srgbClr val="54606F"/>
                </a:solidFill>
                <a:latin typeface="Nunito Sans" pitchFamily="34" charset="0"/>
                <a:ea typeface="Nunito Sans" pitchFamily="34" charset="-122"/>
                <a:cs typeface="Nunito Sans" pitchFamily="34" charset="-120"/>
              </a:rPr>
              <a:t>54%</a:t>
            </a:r>
            <a:endParaRPr lang="en-US" sz="900" dirty="0"/>
          </a:p>
        </p:txBody>
      </p:sp>
      <p:sp>
        <p:nvSpPr>
          <p:cNvPr id="24" name="Shape 21"/>
          <p:cNvSpPr/>
          <p:nvPr/>
        </p:nvSpPr>
        <p:spPr>
          <a:xfrm>
            <a:off x="502920" y="2907792"/>
            <a:ext cx="10058400" cy="402336"/>
          </a:xfrm>
          <a:prstGeom prst="rect">
            <a:avLst/>
          </a:prstGeom>
          <a:solidFill>
            <a:srgbClr val="FCFAF6"/>
          </a:solidFill>
          <a:ln w="5080">
            <a:solidFill>
              <a:srgbClr val="E5DCCB"/>
            </a:solidFill>
            <a:prstDash val="solid"/>
          </a:ln>
        </p:spPr>
      </p:sp>
      <p:sp>
        <p:nvSpPr>
          <p:cNvPr id="25" name="Shape 22"/>
          <p:cNvSpPr/>
          <p:nvPr/>
        </p:nvSpPr>
        <p:spPr>
          <a:xfrm>
            <a:off x="502920" y="2907792"/>
            <a:ext cx="45720" cy="402336"/>
          </a:xfrm>
          <a:prstGeom prst="rect">
            <a:avLst/>
          </a:prstGeom>
          <a:solidFill>
            <a:srgbClr val="3A5D97"/>
          </a:solidFill>
          <a:ln w="12700">
            <a:solidFill>
              <a:srgbClr val="333333"/>
            </a:solidFill>
            <a:prstDash val="solid"/>
          </a:ln>
        </p:spPr>
      </p:sp>
      <p:sp>
        <p:nvSpPr>
          <p:cNvPr id="26" name="Text 23"/>
          <p:cNvSpPr/>
          <p:nvPr/>
        </p:nvSpPr>
        <p:spPr>
          <a:xfrm>
            <a:off x="630936" y="2907792"/>
            <a:ext cx="2560320" cy="402336"/>
          </a:xfrm>
          <a:prstGeom prst="rect">
            <a:avLst/>
          </a:prstGeom>
          <a:noFill/>
          <a:ln/>
        </p:spPr>
        <p:txBody>
          <a:bodyPr wrap="square" lIns="0" tIns="0" rIns="0" bIns="0" rtlCol="0" anchor="ctr"/>
          <a:lstStyle/>
          <a:p>
            <a:pPr algn="l" indent="0" marL="0">
              <a:buNone/>
            </a:pPr>
            <a:r>
              <a:rPr lang="en-US" sz="900" b="1" dirty="0">
                <a:solidFill>
                  <a:srgbClr val="0C1A2B"/>
                </a:solidFill>
                <a:latin typeface="Nunito Sans" pitchFamily="34" charset="0"/>
                <a:ea typeface="Nunito Sans" pitchFamily="34" charset="-122"/>
                <a:cs typeface="Nunito Sans" pitchFamily="34" charset="-120"/>
              </a:rPr>
              <a:t>Social Trusters</a:t>
            </a:r>
            <a:endParaRPr lang="en-US" sz="900" dirty="0"/>
          </a:p>
        </p:txBody>
      </p:sp>
      <p:sp>
        <p:nvSpPr>
          <p:cNvPr id="27" name="Text 24"/>
          <p:cNvSpPr/>
          <p:nvPr/>
        </p:nvSpPr>
        <p:spPr>
          <a:xfrm>
            <a:off x="3374136" y="2907792"/>
            <a:ext cx="10058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62  (20%)</a:t>
            </a:r>
            <a:endParaRPr lang="en-US" sz="900" dirty="0"/>
          </a:p>
        </p:txBody>
      </p:sp>
      <p:sp>
        <p:nvSpPr>
          <p:cNvPr id="28" name="Text 25"/>
          <p:cNvSpPr/>
          <p:nvPr/>
        </p:nvSpPr>
        <p:spPr>
          <a:xfrm>
            <a:off x="4562856" y="2907792"/>
            <a:ext cx="914400" cy="402336"/>
          </a:xfrm>
          <a:prstGeom prst="rect">
            <a:avLst/>
          </a:prstGeom>
          <a:noFill/>
          <a:ln/>
        </p:spPr>
        <p:txBody>
          <a:bodyPr wrap="square" lIns="0" tIns="0" rIns="0" bIns="0" rtlCol="0" anchor="ctr"/>
          <a:lstStyle/>
          <a:p>
            <a:pPr algn="r" indent="0" marL="0">
              <a:buNone/>
            </a:pPr>
            <a:r>
              <a:rPr lang="en-US" sz="900" dirty="0">
                <a:solidFill>
                  <a:srgbClr val="177A46"/>
                </a:solidFill>
                <a:latin typeface="Nunito Sans" pitchFamily="34" charset="0"/>
                <a:ea typeface="Nunito Sans" pitchFamily="34" charset="-122"/>
                <a:cs typeface="Nunito Sans" pitchFamily="34" charset="-120"/>
              </a:rPr>
              <a:t>+0.65</a:t>
            </a:r>
            <a:endParaRPr lang="en-US" sz="900" dirty="0"/>
          </a:p>
        </p:txBody>
      </p:sp>
      <p:sp>
        <p:nvSpPr>
          <p:cNvPr id="29" name="Text 26"/>
          <p:cNvSpPr/>
          <p:nvPr/>
        </p:nvSpPr>
        <p:spPr>
          <a:xfrm>
            <a:off x="5660136" y="2907792"/>
            <a:ext cx="960120" cy="402336"/>
          </a:xfrm>
          <a:prstGeom prst="rect">
            <a:avLst/>
          </a:prstGeom>
          <a:noFill/>
          <a:ln/>
        </p:spPr>
        <p:txBody>
          <a:bodyPr wrap="square" lIns="0" tIns="0" rIns="0" bIns="0" rtlCol="0" anchor="ctr"/>
          <a:lstStyle/>
          <a:p>
            <a:pPr algn="r" indent="0" marL="0">
              <a:buNone/>
            </a:pPr>
            <a:r>
              <a:rPr lang="en-US" sz="900" dirty="0">
                <a:solidFill>
                  <a:srgbClr val="177A46"/>
                </a:solidFill>
                <a:latin typeface="Nunito Sans" pitchFamily="34" charset="0"/>
                <a:ea typeface="Nunito Sans" pitchFamily="34" charset="-122"/>
                <a:cs typeface="Nunito Sans" pitchFamily="34" charset="-120"/>
              </a:rPr>
              <a:t>+0.17</a:t>
            </a:r>
            <a:endParaRPr lang="en-US" sz="900" dirty="0"/>
          </a:p>
        </p:txBody>
      </p:sp>
      <p:sp>
        <p:nvSpPr>
          <p:cNvPr id="30" name="Text 27"/>
          <p:cNvSpPr/>
          <p:nvPr/>
        </p:nvSpPr>
        <p:spPr>
          <a:xfrm>
            <a:off x="6803136" y="2907792"/>
            <a:ext cx="1005840" cy="402336"/>
          </a:xfrm>
          <a:prstGeom prst="rect">
            <a:avLst/>
          </a:prstGeom>
          <a:noFill/>
          <a:ln/>
        </p:spPr>
        <p:txBody>
          <a:bodyPr wrap="square" lIns="0" tIns="0" rIns="0" bIns="0" rtlCol="0" anchor="ctr"/>
          <a:lstStyle/>
          <a:p>
            <a:pPr algn="r" indent="0" marL="0">
              <a:buNone/>
            </a:pPr>
            <a:r>
              <a:rPr lang="en-US" sz="900" dirty="0">
                <a:solidFill>
                  <a:srgbClr val="9E3A24"/>
                </a:solidFill>
                <a:latin typeface="Nunito Sans" pitchFamily="34" charset="0"/>
                <a:ea typeface="Nunito Sans" pitchFamily="34" charset="-122"/>
                <a:cs typeface="Nunito Sans" pitchFamily="34" charset="-120"/>
              </a:rPr>
              <a:t>−0.89</a:t>
            </a:r>
            <a:endParaRPr lang="en-US" sz="900" dirty="0"/>
          </a:p>
        </p:txBody>
      </p:sp>
      <p:sp>
        <p:nvSpPr>
          <p:cNvPr id="31" name="Text 28"/>
          <p:cNvSpPr/>
          <p:nvPr/>
        </p:nvSpPr>
        <p:spPr>
          <a:xfrm>
            <a:off x="7991856" y="2907792"/>
            <a:ext cx="12344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3.6 / 5</a:t>
            </a:r>
            <a:endParaRPr lang="en-US" sz="900" dirty="0"/>
          </a:p>
        </p:txBody>
      </p:sp>
      <p:sp>
        <p:nvSpPr>
          <p:cNvPr id="32" name="Text 29"/>
          <p:cNvSpPr/>
          <p:nvPr/>
        </p:nvSpPr>
        <p:spPr>
          <a:xfrm>
            <a:off x="9409176" y="2907792"/>
            <a:ext cx="1097280" cy="402336"/>
          </a:xfrm>
          <a:prstGeom prst="rect">
            <a:avLst/>
          </a:prstGeom>
          <a:noFill/>
          <a:ln/>
        </p:spPr>
        <p:txBody>
          <a:bodyPr wrap="square" lIns="0" tIns="0" rIns="0" bIns="0" rtlCol="0" anchor="ctr"/>
          <a:lstStyle/>
          <a:p>
            <a:pPr algn="r" indent="0" marL="0">
              <a:buNone/>
            </a:pPr>
            <a:r>
              <a:rPr lang="en-US" sz="900" b="1" dirty="0">
                <a:solidFill>
                  <a:srgbClr val="54606F"/>
                </a:solidFill>
                <a:latin typeface="Nunito Sans" pitchFamily="34" charset="0"/>
                <a:ea typeface="Nunito Sans" pitchFamily="34" charset="-122"/>
                <a:cs typeface="Nunito Sans" pitchFamily="34" charset="-120"/>
              </a:rPr>
              <a:t>34%</a:t>
            </a:r>
            <a:endParaRPr lang="en-US" sz="900" dirty="0"/>
          </a:p>
        </p:txBody>
      </p:sp>
      <p:sp>
        <p:nvSpPr>
          <p:cNvPr id="33" name="Shape 30"/>
          <p:cNvSpPr/>
          <p:nvPr/>
        </p:nvSpPr>
        <p:spPr>
          <a:xfrm>
            <a:off x="502920" y="3310128"/>
            <a:ext cx="10058400" cy="402336"/>
          </a:xfrm>
          <a:prstGeom prst="rect">
            <a:avLst/>
          </a:prstGeom>
          <a:solidFill>
            <a:srgbClr val="FFFFFF"/>
          </a:solidFill>
          <a:ln w="5080">
            <a:solidFill>
              <a:srgbClr val="E5DCCB"/>
            </a:solidFill>
            <a:prstDash val="solid"/>
          </a:ln>
        </p:spPr>
      </p:sp>
      <p:sp>
        <p:nvSpPr>
          <p:cNvPr id="34" name="Shape 31"/>
          <p:cNvSpPr/>
          <p:nvPr/>
        </p:nvSpPr>
        <p:spPr>
          <a:xfrm>
            <a:off x="502920" y="3310128"/>
            <a:ext cx="45720" cy="402336"/>
          </a:xfrm>
          <a:prstGeom prst="rect">
            <a:avLst/>
          </a:prstGeom>
          <a:solidFill>
            <a:srgbClr val="B5AD9C"/>
          </a:solidFill>
          <a:ln w="12700">
            <a:solidFill>
              <a:srgbClr val="333333"/>
            </a:solidFill>
            <a:prstDash val="solid"/>
          </a:ln>
        </p:spPr>
      </p:sp>
      <p:sp>
        <p:nvSpPr>
          <p:cNvPr id="35" name="Text 32"/>
          <p:cNvSpPr/>
          <p:nvPr/>
        </p:nvSpPr>
        <p:spPr>
          <a:xfrm>
            <a:off x="630936" y="3310128"/>
            <a:ext cx="2560320" cy="402336"/>
          </a:xfrm>
          <a:prstGeom prst="rect">
            <a:avLst/>
          </a:prstGeom>
          <a:noFill/>
          <a:ln/>
        </p:spPr>
        <p:txBody>
          <a:bodyPr wrap="square" lIns="0" tIns="0" rIns="0" bIns="0" rtlCol="0" anchor="ctr"/>
          <a:lstStyle/>
          <a:p>
            <a:pPr algn="l" indent="0" marL="0">
              <a:buNone/>
            </a:pPr>
            <a:r>
              <a:rPr lang="en-US" sz="900" b="1" dirty="0">
                <a:solidFill>
                  <a:srgbClr val="0C1A2B"/>
                </a:solidFill>
                <a:latin typeface="Nunito Sans" pitchFamily="34" charset="0"/>
                <a:ea typeface="Nunito Sans" pitchFamily="34" charset="-122"/>
                <a:cs typeface="Nunito Sans" pitchFamily="34" charset="-120"/>
              </a:rPr>
              <a:t>Passive Defaulters</a:t>
            </a:r>
            <a:endParaRPr lang="en-US" sz="900" dirty="0"/>
          </a:p>
        </p:txBody>
      </p:sp>
      <p:sp>
        <p:nvSpPr>
          <p:cNvPr id="36" name="Text 33"/>
          <p:cNvSpPr/>
          <p:nvPr/>
        </p:nvSpPr>
        <p:spPr>
          <a:xfrm>
            <a:off x="3374136" y="3310128"/>
            <a:ext cx="10058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80  (26%)</a:t>
            </a:r>
            <a:endParaRPr lang="en-US" sz="900" dirty="0"/>
          </a:p>
        </p:txBody>
      </p:sp>
      <p:sp>
        <p:nvSpPr>
          <p:cNvPr id="37" name="Text 34"/>
          <p:cNvSpPr/>
          <p:nvPr/>
        </p:nvSpPr>
        <p:spPr>
          <a:xfrm>
            <a:off x="4562856" y="3310128"/>
            <a:ext cx="914400" cy="402336"/>
          </a:xfrm>
          <a:prstGeom prst="rect">
            <a:avLst/>
          </a:prstGeom>
          <a:noFill/>
          <a:ln/>
        </p:spPr>
        <p:txBody>
          <a:bodyPr wrap="square" lIns="0" tIns="0" rIns="0" bIns="0" rtlCol="0" anchor="ctr"/>
          <a:lstStyle/>
          <a:p>
            <a:pPr algn="r" indent="0" marL="0">
              <a:buNone/>
            </a:pPr>
            <a:r>
              <a:rPr lang="en-US" sz="900" dirty="0">
                <a:solidFill>
                  <a:srgbClr val="9E3A24"/>
                </a:solidFill>
                <a:latin typeface="Nunito Sans" pitchFamily="34" charset="0"/>
                <a:ea typeface="Nunito Sans" pitchFamily="34" charset="-122"/>
                <a:cs typeface="Nunito Sans" pitchFamily="34" charset="-120"/>
              </a:rPr>
              <a:t>−0.39</a:t>
            </a:r>
            <a:endParaRPr lang="en-US" sz="900" dirty="0"/>
          </a:p>
        </p:txBody>
      </p:sp>
      <p:sp>
        <p:nvSpPr>
          <p:cNvPr id="38" name="Text 35"/>
          <p:cNvSpPr/>
          <p:nvPr/>
        </p:nvSpPr>
        <p:spPr>
          <a:xfrm>
            <a:off x="5660136" y="3310128"/>
            <a:ext cx="960120" cy="402336"/>
          </a:xfrm>
          <a:prstGeom prst="rect">
            <a:avLst/>
          </a:prstGeom>
          <a:noFill/>
          <a:ln/>
        </p:spPr>
        <p:txBody>
          <a:bodyPr wrap="square" lIns="0" tIns="0" rIns="0" bIns="0" rtlCol="0" anchor="ctr"/>
          <a:lstStyle/>
          <a:p>
            <a:pPr algn="r" indent="0" marL="0">
              <a:buNone/>
            </a:pPr>
            <a:r>
              <a:rPr lang="en-US" sz="900" dirty="0">
                <a:solidFill>
                  <a:srgbClr val="9E3A24"/>
                </a:solidFill>
                <a:latin typeface="Nunito Sans" pitchFamily="34" charset="0"/>
                <a:ea typeface="Nunito Sans" pitchFamily="34" charset="-122"/>
                <a:cs typeface="Nunito Sans" pitchFamily="34" charset="-120"/>
              </a:rPr>
              <a:t>−1.05</a:t>
            </a:r>
            <a:endParaRPr lang="en-US" sz="900" dirty="0"/>
          </a:p>
        </p:txBody>
      </p:sp>
      <p:sp>
        <p:nvSpPr>
          <p:cNvPr id="39" name="Text 36"/>
          <p:cNvSpPr/>
          <p:nvPr/>
        </p:nvSpPr>
        <p:spPr>
          <a:xfrm>
            <a:off x="6803136" y="3310128"/>
            <a:ext cx="1005840" cy="402336"/>
          </a:xfrm>
          <a:prstGeom prst="rect">
            <a:avLst/>
          </a:prstGeom>
          <a:noFill/>
          <a:ln/>
        </p:spPr>
        <p:txBody>
          <a:bodyPr wrap="square" lIns="0" tIns="0" rIns="0" bIns="0" rtlCol="0" anchor="ctr"/>
          <a:lstStyle/>
          <a:p>
            <a:pPr algn="r" indent="0" marL="0">
              <a:buNone/>
            </a:pPr>
            <a:r>
              <a:rPr lang="en-US" sz="900" dirty="0">
                <a:solidFill>
                  <a:srgbClr val="9E3A24"/>
                </a:solidFill>
                <a:latin typeface="Nunito Sans" pitchFamily="34" charset="0"/>
                <a:ea typeface="Nunito Sans" pitchFamily="34" charset="-122"/>
                <a:cs typeface="Nunito Sans" pitchFamily="34" charset="-120"/>
              </a:rPr>
              <a:t>−0.34</a:t>
            </a:r>
            <a:endParaRPr lang="en-US" sz="900" dirty="0"/>
          </a:p>
        </p:txBody>
      </p:sp>
      <p:sp>
        <p:nvSpPr>
          <p:cNvPr id="40" name="Text 37"/>
          <p:cNvSpPr/>
          <p:nvPr/>
        </p:nvSpPr>
        <p:spPr>
          <a:xfrm>
            <a:off x="7991856" y="3310128"/>
            <a:ext cx="12344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3.5 / 5</a:t>
            </a:r>
            <a:endParaRPr lang="en-US" sz="900" dirty="0"/>
          </a:p>
        </p:txBody>
      </p:sp>
      <p:sp>
        <p:nvSpPr>
          <p:cNvPr id="41" name="Text 38"/>
          <p:cNvSpPr/>
          <p:nvPr/>
        </p:nvSpPr>
        <p:spPr>
          <a:xfrm>
            <a:off x="9409176" y="3310128"/>
            <a:ext cx="1097280" cy="402336"/>
          </a:xfrm>
          <a:prstGeom prst="rect">
            <a:avLst/>
          </a:prstGeom>
          <a:noFill/>
          <a:ln/>
        </p:spPr>
        <p:txBody>
          <a:bodyPr wrap="square" lIns="0" tIns="0" rIns="0" bIns="0" rtlCol="0" anchor="ctr"/>
          <a:lstStyle/>
          <a:p>
            <a:pPr algn="r" indent="0" marL="0">
              <a:buNone/>
            </a:pPr>
            <a:r>
              <a:rPr lang="en-US" sz="900" b="1" dirty="0">
                <a:solidFill>
                  <a:srgbClr val="54606F"/>
                </a:solidFill>
                <a:latin typeface="Nunito Sans" pitchFamily="34" charset="0"/>
                <a:ea typeface="Nunito Sans" pitchFamily="34" charset="-122"/>
                <a:cs typeface="Nunito Sans" pitchFamily="34" charset="-120"/>
              </a:rPr>
              <a:t>6%</a:t>
            </a:r>
            <a:endParaRPr lang="en-US" sz="900" dirty="0"/>
          </a:p>
        </p:txBody>
      </p:sp>
      <p:sp>
        <p:nvSpPr>
          <p:cNvPr id="42" name="Shape 39"/>
          <p:cNvSpPr/>
          <p:nvPr/>
        </p:nvSpPr>
        <p:spPr>
          <a:xfrm>
            <a:off x="502920" y="3712464"/>
            <a:ext cx="10058400" cy="402336"/>
          </a:xfrm>
          <a:prstGeom prst="rect">
            <a:avLst/>
          </a:prstGeom>
          <a:solidFill>
            <a:srgbClr val="FCFAF6"/>
          </a:solidFill>
          <a:ln w="5080">
            <a:solidFill>
              <a:srgbClr val="E5DCCB"/>
            </a:solidFill>
            <a:prstDash val="solid"/>
          </a:ln>
        </p:spPr>
      </p:sp>
      <p:sp>
        <p:nvSpPr>
          <p:cNvPr id="43" name="Shape 40"/>
          <p:cNvSpPr/>
          <p:nvPr/>
        </p:nvSpPr>
        <p:spPr>
          <a:xfrm>
            <a:off x="502920" y="3712464"/>
            <a:ext cx="45720" cy="402336"/>
          </a:xfrm>
          <a:prstGeom prst="rect">
            <a:avLst/>
          </a:prstGeom>
          <a:solidFill>
            <a:srgbClr val="9E3A24"/>
          </a:solidFill>
          <a:ln w="12700">
            <a:solidFill>
              <a:srgbClr val="333333"/>
            </a:solidFill>
            <a:prstDash val="solid"/>
          </a:ln>
        </p:spPr>
      </p:sp>
      <p:sp>
        <p:nvSpPr>
          <p:cNvPr id="44" name="Text 41"/>
          <p:cNvSpPr/>
          <p:nvPr/>
        </p:nvSpPr>
        <p:spPr>
          <a:xfrm>
            <a:off x="630936" y="3712464"/>
            <a:ext cx="2560320" cy="402336"/>
          </a:xfrm>
          <a:prstGeom prst="rect">
            <a:avLst/>
          </a:prstGeom>
          <a:noFill/>
          <a:ln/>
        </p:spPr>
        <p:txBody>
          <a:bodyPr wrap="square" lIns="0" tIns="0" rIns="0" bIns="0" rtlCol="0" anchor="ctr"/>
          <a:lstStyle/>
          <a:p>
            <a:pPr algn="l" indent="0" marL="0">
              <a:buNone/>
            </a:pPr>
            <a:r>
              <a:rPr lang="en-US" sz="900" b="1" dirty="0">
                <a:solidFill>
                  <a:srgbClr val="0C1A2B"/>
                </a:solidFill>
                <a:latin typeface="Nunito Sans" pitchFamily="34" charset="0"/>
                <a:ea typeface="Nunito Sans" pitchFamily="34" charset="-122"/>
                <a:cs typeface="Nunito Sans" pitchFamily="34" charset="-120"/>
              </a:rPr>
              <a:t>System Fatalists</a:t>
            </a:r>
            <a:endParaRPr lang="en-US" sz="900" dirty="0"/>
          </a:p>
        </p:txBody>
      </p:sp>
      <p:sp>
        <p:nvSpPr>
          <p:cNvPr id="45" name="Text 42"/>
          <p:cNvSpPr/>
          <p:nvPr/>
        </p:nvSpPr>
        <p:spPr>
          <a:xfrm>
            <a:off x="3374136" y="3712464"/>
            <a:ext cx="10058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54  (18%)</a:t>
            </a:r>
            <a:endParaRPr lang="en-US" sz="900" dirty="0"/>
          </a:p>
        </p:txBody>
      </p:sp>
      <p:sp>
        <p:nvSpPr>
          <p:cNvPr id="46" name="Text 43"/>
          <p:cNvSpPr/>
          <p:nvPr/>
        </p:nvSpPr>
        <p:spPr>
          <a:xfrm>
            <a:off x="4562856" y="3712464"/>
            <a:ext cx="914400" cy="402336"/>
          </a:xfrm>
          <a:prstGeom prst="rect">
            <a:avLst/>
          </a:prstGeom>
          <a:noFill/>
          <a:ln/>
        </p:spPr>
        <p:txBody>
          <a:bodyPr wrap="square" lIns="0" tIns="0" rIns="0" bIns="0" rtlCol="0" anchor="ctr"/>
          <a:lstStyle/>
          <a:p>
            <a:pPr algn="r" indent="0" marL="0">
              <a:buNone/>
            </a:pPr>
            <a:r>
              <a:rPr lang="en-US" sz="900" dirty="0">
                <a:solidFill>
                  <a:srgbClr val="9E3A24"/>
                </a:solidFill>
                <a:latin typeface="Nunito Sans" pitchFamily="34" charset="0"/>
                <a:ea typeface="Nunito Sans" pitchFamily="34" charset="-122"/>
                <a:cs typeface="Nunito Sans" pitchFamily="34" charset="-120"/>
              </a:rPr>
              <a:t>−1.09</a:t>
            </a:r>
            <a:endParaRPr lang="en-US" sz="900" dirty="0"/>
          </a:p>
        </p:txBody>
      </p:sp>
      <p:sp>
        <p:nvSpPr>
          <p:cNvPr id="47" name="Text 44"/>
          <p:cNvSpPr/>
          <p:nvPr/>
        </p:nvSpPr>
        <p:spPr>
          <a:xfrm>
            <a:off x="5660136" y="3712464"/>
            <a:ext cx="960120" cy="402336"/>
          </a:xfrm>
          <a:prstGeom prst="rect">
            <a:avLst/>
          </a:prstGeom>
          <a:noFill/>
          <a:ln/>
        </p:spPr>
        <p:txBody>
          <a:bodyPr wrap="square" lIns="0" tIns="0" rIns="0" bIns="0" rtlCol="0" anchor="ctr"/>
          <a:lstStyle/>
          <a:p>
            <a:pPr algn="r" indent="0" marL="0">
              <a:buNone/>
            </a:pPr>
            <a:r>
              <a:rPr lang="en-US" sz="900" dirty="0">
                <a:solidFill>
                  <a:srgbClr val="177A46"/>
                </a:solidFill>
                <a:latin typeface="Nunito Sans" pitchFamily="34" charset="0"/>
                <a:ea typeface="Nunito Sans" pitchFamily="34" charset="-122"/>
                <a:cs typeface="Nunito Sans" pitchFamily="34" charset="-120"/>
              </a:rPr>
              <a:t>+0.41</a:t>
            </a:r>
            <a:endParaRPr lang="en-US" sz="900" dirty="0"/>
          </a:p>
        </p:txBody>
      </p:sp>
      <p:sp>
        <p:nvSpPr>
          <p:cNvPr id="48" name="Text 45"/>
          <p:cNvSpPr/>
          <p:nvPr/>
        </p:nvSpPr>
        <p:spPr>
          <a:xfrm>
            <a:off x="6803136" y="3712464"/>
            <a:ext cx="1005840" cy="402336"/>
          </a:xfrm>
          <a:prstGeom prst="rect">
            <a:avLst/>
          </a:prstGeom>
          <a:noFill/>
          <a:ln/>
        </p:spPr>
        <p:txBody>
          <a:bodyPr wrap="square" lIns="0" tIns="0" rIns="0" bIns="0" rtlCol="0" anchor="ctr"/>
          <a:lstStyle/>
          <a:p>
            <a:pPr algn="r" indent="0" marL="0">
              <a:buNone/>
            </a:pPr>
            <a:r>
              <a:rPr lang="en-US" sz="900" dirty="0">
                <a:solidFill>
                  <a:srgbClr val="177A46"/>
                </a:solidFill>
                <a:latin typeface="Nunito Sans" pitchFamily="34" charset="0"/>
                <a:ea typeface="Nunito Sans" pitchFamily="34" charset="-122"/>
                <a:cs typeface="Nunito Sans" pitchFamily="34" charset="-120"/>
              </a:rPr>
              <a:t>+0.13</a:t>
            </a:r>
            <a:endParaRPr lang="en-US" sz="900" dirty="0"/>
          </a:p>
        </p:txBody>
      </p:sp>
      <p:sp>
        <p:nvSpPr>
          <p:cNvPr id="49" name="Text 46"/>
          <p:cNvSpPr/>
          <p:nvPr/>
        </p:nvSpPr>
        <p:spPr>
          <a:xfrm>
            <a:off x="7991856" y="3712464"/>
            <a:ext cx="1234440" cy="402336"/>
          </a:xfrm>
          <a:prstGeom prst="rect">
            <a:avLst/>
          </a:prstGeom>
          <a:noFill/>
          <a:ln/>
        </p:spPr>
        <p:txBody>
          <a:bodyPr wrap="square" lIns="0" tIns="0" rIns="0" bIns="0" rtlCol="0" anchor="ctr"/>
          <a:lstStyle/>
          <a:p>
            <a:pPr algn="r" indent="0" marL="0">
              <a:buNone/>
            </a:pPr>
            <a:r>
              <a:rPr lang="en-US" sz="900" dirty="0">
                <a:solidFill>
                  <a:srgbClr val="54606F"/>
                </a:solidFill>
                <a:latin typeface="Nunito Sans" pitchFamily="34" charset="0"/>
                <a:ea typeface="Nunito Sans" pitchFamily="34" charset="-122"/>
                <a:cs typeface="Nunito Sans" pitchFamily="34" charset="-120"/>
              </a:rPr>
              <a:t>3.6 / 5</a:t>
            </a:r>
            <a:endParaRPr lang="en-US" sz="900" dirty="0"/>
          </a:p>
        </p:txBody>
      </p:sp>
      <p:sp>
        <p:nvSpPr>
          <p:cNvPr id="50" name="Text 47"/>
          <p:cNvSpPr/>
          <p:nvPr/>
        </p:nvSpPr>
        <p:spPr>
          <a:xfrm>
            <a:off x="9409176" y="3712464"/>
            <a:ext cx="1097280" cy="402336"/>
          </a:xfrm>
          <a:prstGeom prst="rect">
            <a:avLst/>
          </a:prstGeom>
          <a:noFill/>
          <a:ln/>
        </p:spPr>
        <p:txBody>
          <a:bodyPr wrap="square" lIns="0" tIns="0" rIns="0" bIns="0" rtlCol="0" anchor="ctr"/>
          <a:lstStyle/>
          <a:p>
            <a:pPr algn="r" indent="0" marL="0">
              <a:buNone/>
            </a:pPr>
            <a:r>
              <a:rPr lang="en-US" sz="900" b="1" dirty="0">
                <a:solidFill>
                  <a:srgbClr val="54606F"/>
                </a:solidFill>
                <a:latin typeface="Nunito Sans" pitchFamily="34" charset="0"/>
                <a:ea typeface="Nunito Sans" pitchFamily="34" charset="-122"/>
                <a:cs typeface="Nunito Sans" pitchFamily="34" charset="-120"/>
              </a:rPr>
              <a:t>22%</a:t>
            </a:r>
            <a:endParaRPr lang="en-US" sz="900" dirty="0"/>
          </a:p>
        </p:txBody>
      </p:sp>
      <p:sp>
        <p:nvSpPr>
          <p:cNvPr id="51" name="Text 48"/>
          <p:cNvSpPr/>
          <p:nvPr/>
        </p:nvSpPr>
        <p:spPr>
          <a:xfrm>
            <a:off x="502920" y="4315968"/>
            <a:ext cx="448056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 OF SEGMENT WILLING TO PAY 11%+</a:t>
            </a:r>
            <a:endParaRPr lang="en-US" sz="950" dirty="0"/>
          </a:p>
        </p:txBody>
      </p:sp>
      <p:sp>
        <p:nvSpPr>
          <p:cNvPr id="52" name="Shape 49"/>
          <p:cNvSpPr/>
          <p:nvPr/>
        </p:nvSpPr>
        <p:spPr>
          <a:xfrm>
            <a:off x="502920" y="4572000"/>
            <a:ext cx="4480560" cy="1783080"/>
          </a:xfrm>
          <a:prstGeom prst="roundRect">
            <a:avLst>
              <a:gd name="adj" fmla="val 5128"/>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53" name="Shape 50"/>
          <p:cNvSpPr/>
          <p:nvPr/>
        </p:nvSpPr>
        <p:spPr>
          <a:xfrm>
            <a:off x="868680" y="5719572"/>
            <a:ext cx="3749040" cy="0"/>
          </a:xfrm>
          <a:prstGeom prst="line">
            <a:avLst/>
          </a:prstGeom>
          <a:noFill/>
          <a:ln w="6350">
            <a:solidFill>
              <a:srgbClr val="E5DCCB"/>
            </a:solidFill>
            <a:prstDash val="sysDot"/>
          </a:ln>
        </p:spPr>
      </p:sp>
      <p:sp>
        <p:nvSpPr>
          <p:cNvPr id="54" name="Shape 51"/>
          <p:cNvSpPr/>
          <p:nvPr/>
        </p:nvSpPr>
        <p:spPr>
          <a:xfrm>
            <a:off x="868680" y="5477256"/>
            <a:ext cx="3749040" cy="0"/>
          </a:xfrm>
          <a:prstGeom prst="line">
            <a:avLst/>
          </a:prstGeom>
          <a:noFill/>
          <a:ln w="6350">
            <a:solidFill>
              <a:srgbClr val="E5DCCB"/>
            </a:solidFill>
            <a:prstDash val="sysDot"/>
          </a:ln>
        </p:spPr>
      </p:sp>
      <p:sp>
        <p:nvSpPr>
          <p:cNvPr id="55" name="Shape 52"/>
          <p:cNvSpPr/>
          <p:nvPr/>
        </p:nvSpPr>
        <p:spPr>
          <a:xfrm>
            <a:off x="868680" y="5234940"/>
            <a:ext cx="3749040" cy="0"/>
          </a:xfrm>
          <a:prstGeom prst="line">
            <a:avLst/>
          </a:prstGeom>
          <a:noFill/>
          <a:ln w="6350">
            <a:solidFill>
              <a:srgbClr val="E5DCCB"/>
            </a:solidFill>
            <a:prstDash val="sysDot"/>
          </a:ln>
        </p:spPr>
      </p:sp>
      <p:sp>
        <p:nvSpPr>
          <p:cNvPr id="56" name="Shape 53"/>
          <p:cNvSpPr/>
          <p:nvPr/>
        </p:nvSpPr>
        <p:spPr>
          <a:xfrm>
            <a:off x="868680" y="4992624"/>
            <a:ext cx="3749040" cy="0"/>
          </a:xfrm>
          <a:prstGeom prst="line">
            <a:avLst/>
          </a:prstGeom>
          <a:noFill/>
          <a:ln w="6350">
            <a:solidFill>
              <a:srgbClr val="E5DCCB"/>
            </a:solidFill>
            <a:prstDash val="sysDot"/>
          </a:ln>
        </p:spPr>
      </p:sp>
      <p:sp>
        <p:nvSpPr>
          <p:cNvPr id="57" name="Shape 54"/>
          <p:cNvSpPr/>
          <p:nvPr/>
        </p:nvSpPr>
        <p:spPr>
          <a:xfrm>
            <a:off x="868680" y="5961888"/>
            <a:ext cx="3749040" cy="0"/>
          </a:xfrm>
          <a:prstGeom prst="line">
            <a:avLst/>
          </a:prstGeom>
          <a:noFill/>
          <a:ln w="12700">
            <a:solidFill>
              <a:srgbClr val="E5DCCB"/>
            </a:solidFill>
            <a:prstDash val="solid"/>
          </a:ln>
        </p:spPr>
      </p:sp>
      <p:sp>
        <p:nvSpPr>
          <p:cNvPr id="58" name="Shape 55"/>
          <p:cNvSpPr/>
          <p:nvPr/>
        </p:nvSpPr>
        <p:spPr>
          <a:xfrm>
            <a:off x="868680" y="5117690"/>
            <a:ext cx="786384" cy="844198"/>
          </a:xfrm>
          <a:prstGeom prst="roundRect">
            <a:avLst>
              <a:gd name="adj" fmla="val 5814"/>
            </a:avLst>
          </a:prstGeom>
          <a:solidFill>
            <a:srgbClr val="177A46"/>
          </a:solidFill>
          <a:ln w="12700">
            <a:solidFill>
              <a:srgbClr val="333333"/>
            </a:solidFill>
            <a:prstDash val="solid"/>
          </a:ln>
        </p:spPr>
      </p:sp>
      <p:sp>
        <p:nvSpPr>
          <p:cNvPr id="59" name="Text 56"/>
          <p:cNvSpPr/>
          <p:nvPr/>
        </p:nvSpPr>
        <p:spPr>
          <a:xfrm>
            <a:off x="822960" y="4843370"/>
            <a:ext cx="877824"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54%</a:t>
            </a:r>
            <a:endParaRPr lang="en-US" sz="1050" dirty="0"/>
          </a:p>
        </p:txBody>
      </p:sp>
      <p:sp>
        <p:nvSpPr>
          <p:cNvPr id="60" name="Text 57"/>
          <p:cNvSpPr/>
          <p:nvPr/>
        </p:nvSpPr>
        <p:spPr>
          <a:xfrm>
            <a:off x="822960" y="5998464"/>
            <a:ext cx="877824" cy="237744"/>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Guardians</a:t>
            </a:r>
            <a:endParaRPr lang="en-US" sz="850" dirty="0"/>
          </a:p>
        </p:txBody>
      </p:sp>
      <p:sp>
        <p:nvSpPr>
          <p:cNvPr id="61" name="Shape 58"/>
          <p:cNvSpPr/>
          <p:nvPr/>
        </p:nvSpPr>
        <p:spPr>
          <a:xfrm>
            <a:off x="1856232" y="5430356"/>
            <a:ext cx="786384" cy="531532"/>
          </a:xfrm>
          <a:prstGeom prst="roundRect">
            <a:avLst>
              <a:gd name="adj" fmla="val 8602"/>
            </a:avLst>
          </a:prstGeom>
          <a:solidFill>
            <a:srgbClr val="3A5D97"/>
          </a:solidFill>
          <a:ln w="12700">
            <a:solidFill>
              <a:srgbClr val="333333"/>
            </a:solidFill>
            <a:prstDash val="solid"/>
          </a:ln>
        </p:spPr>
      </p:sp>
      <p:sp>
        <p:nvSpPr>
          <p:cNvPr id="62" name="Text 59"/>
          <p:cNvSpPr/>
          <p:nvPr/>
        </p:nvSpPr>
        <p:spPr>
          <a:xfrm>
            <a:off x="1810512" y="5156036"/>
            <a:ext cx="877824"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34%</a:t>
            </a:r>
            <a:endParaRPr lang="en-US" sz="1050" dirty="0"/>
          </a:p>
        </p:txBody>
      </p:sp>
      <p:sp>
        <p:nvSpPr>
          <p:cNvPr id="63" name="Text 60"/>
          <p:cNvSpPr/>
          <p:nvPr/>
        </p:nvSpPr>
        <p:spPr>
          <a:xfrm>
            <a:off x="1810512" y="5998464"/>
            <a:ext cx="877824" cy="237744"/>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Trusters</a:t>
            </a:r>
            <a:endParaRPr lang="en-US" sz="850" dirty="0"/>
          </a:p>
        </p:txBody>
      </p:sp>
      <p:sp>
        <p:nvSpPr>
          <p:cNvPr id="64" name="Shape 61"/>
          <p:cNvSpPr/>
          <p:nvPr/>
        </p:nvSpPr>
        <p:spPr>
          <a:xfrm>
            <a:off x="2843784" y="5617956"/>
            <a:ext cx="786384" cy="343932"/>
          </a:xfrm>
          <a:prstGeom prst="roundRect">
            <a:avLst>
              <a:gd name="adj" fmla="val 13293"/>
            </a:avLst>
          </a:prstGeom>
          <a:solidFill>
            <a:srgbClr val="9E3A24"/>
          </a:solidFill>
          <a:ln w="12700">
            <a:solidFill>
              <a:srgbClr val="333333"/>
            </a:solidFill>
            <a:prstDash val="solid"/>
          </a:ln>
        </p:spPr>
      </p:sp>
      <p:sp>
        <p:nvSpPr>
          <p:cNvPr id="65" name="Text 62"/>
          <p:cNvSpPr/>
          <p:nvPr/>
        </p:nvSpPr>
        <p:spPr>
          <a:xfrm>
            <a:off x="2798064" y="5343636"/>
            <a:ext cx="877824"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22%</a:t>
            </a:r>
            <a:endParaRPr lang="en-US" sz="1050" dirty="0"/>
          </a:p>
        </p:txBody>
      </p:sp>
      <p:sp>
        <p:nvSpPr>
          <p:cNvPr id="66" name="Text 63"/>
          <p:cNvSpPr/>
          <p:nvPr/>
        </p:nvSpPr>
        <p:spPr>
          <a:xfrm>
            <a:off x="2798064" y="5998464"/>
            <a:ext cx="877824" cy="237744"/>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Fatalists</a:t>
            </a:r>
            <a:endParaRPr lang="en-US" sz="850" dirty="0"/>
          </a:p>
        </p:txBody>
      </p:sp>
      <p:sp>
        <p:nvSpPr>
          <p:cNvPr id="67" name="Shape 64"/>
          <p:cNvSpPr/>
          <p:nvPr/>
        </p:nvSpPr>
        <p:spPr>
          <a:xfrm>
            <a:off x="3831336" y="5868088"/>
            <a:ext cx="786384" cy="93800"/>
          </a:xfrm>
          <a:prstGeom prst="roundRect">
            <a:avLst>
              <a:gd name="adj" fmla="val 48742"/>
            </a:avLst>
          </a:prstGeom>
          <a:solidFill>
            <a:srgbClr val="B5AD9C"/>
          </a:solidFill>
          <a:ln w="12700">
            <a:solidFill>
              <a:srgbClr val="333333"/>
            </a:solidFill>
            <a:prstDash val="solid"/>
          </a:ln>
        </p:spPr>
      </p:sp>
      <p:sp>
        <p:nvSpPr>
          <p:cNvPr id="68" name="Text 65"/>
          <p:cNvSpPr/>
          <p:nvPr/>
        </p:nvSpPr>
        <p:spPr>
          <a:xfrm>
            <a:off x="3785616" y="5593768"/>
            <a:ext cx="877824"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6%</a:t>
            </a:r>
            <a:endParaRPr lang="en-US" sz="1050" dirty="0"/>
          </a:p>
        </p:txBody>
      </p:sp>
      <p:sp>
        <p:nvSpPr>
          <p:cNvPr id="69" name="Text 66"/>
          <p:cNvSpPr/>
          <p:nvPr/>
        </p:nvSpPr>
        <p:spPr>
          <a:xfrm>
            <a:off x="3785616" y="5998464"/>
            <a:ext cx="877824" cy="237744"/>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Defaulters</a:t>
            </a:r>
            <a:endParaRPr lang="en-US" sz="850" dirty="0"/>
          </a:p>
        </p:txBody>
      </p:sp>
      <p:sp>
        <p:nvSpPr>
          <p:cNvPr id="70" name="Text 67"/>
          <p:cNvSpPr/>
          <p:nvPr/>
        </p:nvSpPr>
        <p:spPr>
          <a:xfrm>
            <a:off x="5257800" y="4315968"/>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TRUST WALL, NOT THE WALLET WALL</a:t>
            </a:r>
            <a:endParaRPr lang="en-US" sz="950" dirty="0"/>
          </a:p>
        </p:txBody>
      </p:sp>
      <p:sp>
        <p:nvSpPr>
          <p:cNvPr id="71" name="Text 68"/>
          <p:cNvSpPr/>
          <p:nvPr/>
        </p:nvSpPr>
        <p:spPr>
          <a:xfrm>
            <a:off x="5257800" y="4572000"/>
            <a:ext cx="6430975" cy="804672"/>
          </a:xfrm>
          <a:prstGeom prst="rect">
            <a:avLst/>
          </a:prstGeom>
          <a:noFill/>
          <a:ln/>
        </p:spPr>
        <p:txBody>
          <a:bodyPr wrap="square" lIns="0" tIns="0" rIns="0" bIns="0" rtlCol="0" anchor="t"/>
          <a:lstStyle/>
          <a:p>
            <a:pPr marL="342900" indent="-342900">
              <a:spcAft>
                <a:spcPts val="400"/>
              </a:spcAft>
              <a:buSzPct val="100000"/>
              <a:buChar char="•"/>
            </a:pPr>
            <a:r>
              <a:rPr lang="en-US" sz="900" dirty="0">
                <a:solidFill>
                  <a:srgbClr val="54606F"/>
                </a:solidFill>
                <a:latin typeface="Nunito Sans" pitchFamily="34" charset="0"/>
                <a:ea typeface="Nunito Sans" pitchFamily="34" charset="-122"/>
                <a:cs typeface="Nunito Sans" pitchFamily="34" charset="-120"/>
              </a:rPr>
              <a:t>Roughly half of every category's buyers say they would pay nothing extra — and give the reason: they do not trust the claims.</a:t>
            </a:r>
            <a:endParaRPr lang="en-US" sz="900" dirty="0"/>
          </a:p>
          <a:p>
            <a:pPr marL="342900" indent="-342900">
              <a:spcAft>
                <a:spcPts val="400"/>
              </a:spcAft>
              <a:buSzPct val="100000"/>
              <a:buChar char="•"/>
            </a:pPr>
            <a:r>
              <a:rPr lang="en-US" sz="900" dirty="0">
                <a:solidFill>
                  <a:srgbClr val="54606F"/>
                </a:solidFill>
                <a:latin typeface="Nunito Sans" pitchFamily="34" charset="0"/>
                <a:ea typeface="Nunito Sans" pitchFamily="34" charset="-122"/>
                <a:cs typeface="Nunito Sans" pitchFamily="34" charset="-120"/>
              </a:rPr>
              <a:t>44% sit inside a +10–20% corridor; only 5% accept 21–30%.</a:t>
            </a:r>
            <a:endParaRPr lang="en-US" sz="900" dirty="0"/>
          </a:p>
          <a:p>
            <a:pPr marL="342900" indent="-342900">
              <a:spcAft>
                <a:spcPts val="400"/>
              </a:spcAft>
              <a:buSzPct val="100000"/>
              <a:buChar char="•"/>
            </a:pPr>
            <a:r>
              <a:rPr lang="en-US" sz="900" dirty="0">
                <a:solidFill>
                  <a:srgbClr val="54606F"/>
                </a:solidFill>
                <a:latin typeface="Nunito Sans" pitchFamily="34" charset="0"/>
                <a:ea typeface="Nunito Sans" pitchFamily="34" charset="-122"/>
                <a:cs typeface="Nunito Sans" pitchFamily="34" charset="-120"/>
              </a:rPr>
              <a:t>Yet 60% say they would pay 20–30% more if someone they trusted had independently verified it.</a:t>
            </a:r>
            <a:endParaRPr lang="en-US" sz="900" dirty="0"/>
          </a:p>
        </p:txBody>
      </p:sp>
      <p:sp>
        <p:nvSpPr>
          <p:cNvPr id="72" name="Shape 69"/>
          <p:cNvSpPr/>
          <p:nvPr/>
        </p:nvSpPr>
        <p:spPr>
          <a:xfrm>
            <a:off x="5257800" y="5413248"/>
            <a:ext cx="6430975" cy="0"/>
          </a:xfrm>
          <a:prstGeom prst="line">
            <a:avLst/>
          </a:prstGeom>
          <a:noFill/>
          <a:ln w="25400">
            <a:solidFill>
              <a:srgbClr val="0C1A2B"/>
            </a:solidFill>
            <a:prstDash val="solid"/>
          </a:ln>
        </p:spPr>
      </p:sp>
      <p:sp>
        <p:nvSpPr>
          <p:cNvPr id="73" name="Text 70"/>
          <p:cNvSpPr/>
          <p:nvPr/>
        </p:nvSpPr>
        <p:spPr>
          <a:xfrm>
            <a:off x="5257800" y="5486400"/>
            <a:ext cx="6430975" cy="402336"/>
          </a:xfrm>
          <a:prstGeom prst="rect">
            <a:avLst/>
          </a:prstGeom>
          <a:noFill/>
          <a:ln/>
        </p:spPr>
        <p:txBody>
          <a:bodyPr wrap="square" lIns="0" tIns="0" rIns="0" bIns="0" rtlCol="0" anchor="t"/>
          <a:lstStyle/>
          <a:p>
            <a:pPr indent="0" marL="0">
              <a:lnSpc>
                <a:spcPct val="102000"/>
              </a:lnSpc>
              <a:buNone/>
            </a:pPr>
            <a:r>
              <a:rPr lang="en-US" sz="1250" dirty="0">
                <a:solidFill>
                  <a:srgbClr val="0C1A2B"/>
                </a:solidFill>
                <a:latin typeface="Archivo Black" pitchFamily="34" charset="0"/>
                <a:ea typeface="Archivo Black" pitchFamily="34" charset="-122"/>
                <a:cs typeface="Archivo Black" pitchFamily="34" charset="-120"/>
              </a:rPr>
              <a:t>Stated willingness to pay under distrust is a floor, not a ceiling.</a:t>
            </a:r>
            <a:endParaRPr lang="en-US" sz="1250" dirty="0"/>
          </a:p>
        </p:txBody>
      </p:sp>
      <p:sp>
        <p:nvSpPr>
          <p:cNvPr id="74" name="Shape 71"/>
          <p:cNvSpPr/>
          <p:nvPr/>
        </p:nvSpPr>
        <p:spPr>
          <a:xfrm>
            <a:off x="5257800" y="5925312"/>
            <a:ext cx="6430975" cy="566928"/>
          </a:xfrm>
          <a:prstGeom prst="roundRect">
            <a:avLst>
              <a:gd name="adj" fmla="val 16129"/>
            </a:avLst>
          </a:prstGeom>
          <a:solidFill>
            <a:srgbClr val="FAF0DA"/>
          </a:solidFill>
          <a:ln w="6350">
            <a:solidFill>
              <a:srgbClr val="FAF0DA"/>
            </a:solidFill>
            <a:prstDash val="solid"/>
          </a:ln>
        </p:spPr>
      </p:sp>
      <p:sp>
        <p:nvSpPr>
          <p:cNvPr id="75" name="Text 72"/>
          <p:cNvSpPr/>
          <p:nvPr/>
        </p:nvSpPr>
        <p:spPr>
          <a:xfrm>
            <a:off x="5458968" y="6044184"/>
            <a:ext cx="6028639" cy="35661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Premium willingness does not track income: it peaks in the ₹60K–1L band (71%) and falls to 32% in ₹1–1.5L. Delhi NCR 64% down to Ahmedabad 33% — the launch market on belief, not affluence.</a:t>
            </a:r>
            <a:endParaRPr lang="en-US" sz="900" dirty="0"/>
          </a:p>
        </p:txBody>
      </p:sp>
      <p:sp>
        <p:nvSpPr>
          <p:cNvPr id="76" name="Shape 73"/>
          <p:cNvSpPr/>
          <p:nvPr/>
        </p:nvSpPr>
        <p:spPr>
          <a:xfrm>
            <a:off x="502920" y="6455664"/>
            <a:ext cx="11185855" cy="0"/>
          </a:xfrm>
          <a:prstGeom prst="line">
            <a:avLst/>
          </a:prstGeom>
          <a:noFill/>
          <a:ln w="9525">
            <a:solidFill>
              <a:srgbClr val="E5DCCB"/>
            </a:solidFill>
            <a:prstDash val="solid"/>
          </a:ln>
        </p:spPr>
      </p:sp>
      <p:sp>
        <p:nvSpPr>
          <p:cNvPr id="77" name="Text 74"/>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03 · THE CONSUMER</a:t>
            </a:r>
            <a:endParaRPr lang="en-US" sz="800" dirty="0"/>
          </a:p>
        </p:txBody>
      </p:sp>
      <p:sp>
        <p:nvSpPr>
          <p:cNvPr id="78" name="Text 75"/>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16</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070202"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070202"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THE BUYER PERSONAS</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Four people, four different definitions of proof.</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Each cluster was given a face, a household and a purchase story, so a marketer, a category manager and a farmer can all picture the same person.</a:t>
            </a:r>
            <a:endParaRPr lang="en-US" sz="1100" dirty="0"/>
          </a:p>
        </p:txBody>
      </p:sp>
      <p:sp>
        <p:nvSpPr>
          <p:cNvPr id="7" name="Shape 4"/>
          <p:cNvSpPr/>
          <p:nvPr/>
        </p:nvSpPr>
        <p:spPr>
          <a:xfrm>
            <a:off x="502920" y="2121408"/>
            <a:ext cx="5455768" cy="3767328"/>
          </a:xfrm>
          <a:prstGeom prst="roundRect">
            <a:avLst>
              <a:gd name="adj" fmla="val 2427"/>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8" name="Shape 5"/>
          <p:cNvSpPr/>
          <p:nvPr/>
        </p:nvSpPr>
        <p:spPr>
          <a:xfrm>
            <a:off x="731520" y="2322576"/>
            <a:ext cx="566928" cy="566928"/>
          </a:xfrm>
          <a:prstGeom prst="ellipse">
            <a:avLst/>
          </a:prstGeom>
          <a:solidFill>
            <a:srgbClr val="3A5D97"/>
          </a:solidFill>
          <a:ln w="12700">
            <a:solidFill>
              <a:srgbClr val="333333"/>
            </a:solidFill>
            <a:prstDash val="solid"/>
          </a:ln>
        </p:spPr>
      </p:sp>
      <p:sp>
        <p:nvSpPr>
          <p:cNvPr id="9" name="Text 6"/>
          <p:cNvSpPr/>
          <p:nvPr/>
        </p:nvSpPr>
        <p:spPr>
          <a:xfrm>
            <a:off x="731520" y="2322576"/>
            <a:ext cx="566928" cy="566928"/>
          </a:xfrm>
          <a:prstGeom prst="rect">
            <a:avLst/>
          </a:prstGeom>
          <a:noFill/>
          <a:ln/>
        </p:spPr>
        <p:txBody>
          <a:bodyPr wrap="square" lIns="0" tIns="0" rIns="0" bIns="0" rtlCol="0" anchor="ctr"/>
          <a:lstStyle/>
          <a:p>
            <a:pPr algn="ctr" indent="0" marL="0">
              <a:buNone/>
            </a:pPr>
            <a:r>
              <a:rPr lang="en-US" sz="1600" dirty="0">
                <a:solidFill>
                  <a:srgbClr val="FFFFFF"/>
                </a:solidFill>
                <a:latin typeface="Archivo Black" pitchFamily="34" charset="0"/>
                <a:ea typeface="Archivo Black" pitchFamily="34" charset="-122"/>
                <a:cs typeface="Archivo Black" pitchFamily="34" charset="-120"/>
              </a:rPr>
              <a:t>V</a:t>
            </a:r>
            <a:endParaRPr lang="en-US" sz="1600" dirty="0"/>
          </a:p>
        </p:txBody>
      </p:sp>
      <p:sp>
        <p:nvSpPr>
          <p:cNvPr id="10" name="Text 7"/>
          <p:cNvSpPr/>
          <p:nvPr/>
        </p:nvSpPr>
        <p:spPr>
          <a:xfrm>
            <a:off x="1417320" y="2350008"/>
            <a:ext cx="4312768" cy="274320"/>
          </a:xfrm>
          <a:prstGeom prst="rect">
            <a:avLst/>
          </a:prstGeom>
          <a:noFill/>
          <a:ln/>
        </p:spPr>
        <p:txBody>
          <a:bodyPr wrap="square" lIns="0" tIns="0" rIns="0" bIns="0" rtlCol="0" anchor="ctr"/>
          <a:lstStyle/>
          <a:p>
            <a:pPr indent="0" marL="0">
              <a:buNone/>
            </a:pPr>
            <a:r>
              <a:rPr lang="en-US" sz="1400" b="1" dirty="0">
                <a:solidFill>
                  <a:srgbClr val="0C1A2B"/>
                </a:solidFill>
                <a:latin typeface="Nunito Sans" pitchFamily="34" charset="0"/>
                <a:ea typeface="Nunito Sans" pitchFamily="34" charset="-122"/>
                <a:cs typeface="Nunito Sans" pitchFamily="34" charset="-120"/>
              </a:rPr>
              <a:t>Vandana Iyer</a:t>
            </a:r>
            <a:endParaRPr lang="en-US" sz="1400" dirty="0"/>
          </a:p>
        </p:txBody>
      </p:sp>
      <p:sp>
        <p:nvSpPr>
          <p:cNvPr id="11" name="Text 8"/>
          <p:cNvSpPr/>
          <p:nvPr/>
        </p:nvSpPr>
        <p:spPr>
          <a:xfrm>
            <a:off x="1417320" y="2624328"/>
            <a:ext cx="4312768" cy="237744"/>
          </a:xfrm>
          <a:prstGeom prst="rect">
            <a:avLst/>
          </a:prstGeom>
          <a:noFill/>
          <a:ln/>
        </p:spPr>
        <p:txBody>
          <a:bodyPr wrap="square" lIns="0" tIns="0" rIns="0" bIns="0" rtlCol="0" anchor="ctr"/>
          <a:lstStyle/>
          <a:p>
            <a:pPr indent="0" marL="0">
              <a:buNone/>
            </a:pPr>
            <a:r>
              <a:rPr lang="en-US" sz="850" b="1" spc="120" kern="0" dirty="0">
                <a:solidFill>
                  <a:srgbClr val="3A5D97"/>
                </a:solidFill>
                <a:latin typeface="Nunito Sans" pitchFamily="34" charset="0"/>
                <a:ea typeface="Nunito Sans" pitchFamily="34" charset="-122"/>
                <a:cs typeface="Nunito Sans" pitchFamily="34" charset="-120"/>
              </a:rPr>
              <a:t>THE VERIFIER · 36%</a:t>
            </a:r>
            <a:endParaRPr lang="en-US" sz="850" dirty="0"/>
          </a:p>
        </p:txBody>
      </p:sp>
      <p:sp>
        <p:nvSpPr>
          <p:cNvPr id="12" name="Text 9"/>
          <p:cNvSpPr/>
          <p:nvPr/>
        </p:nvSpPr>
        <p:spPr>
          <a:xfrm>
            <a:off x="731520" y="3017520"/>
            <a:ext cx="4998568" cy="658368"/>
          </a:xfrm>
          <a:prstGeom prst="rect">
            <a:avLst/>
          </a:prstGeom>
          <a:noFill/>
          <a:ln/>
        </p:spPr>
        <p:txBody>
          <a:bodyPr wrap="square" lIns="0" tIns="0" rIns="0" bIns="0" rtlCol="0" anchor="t"/>
          <a:lstStyle/>
          <a:p>
            <a:pPr indent="0" marL="0">
              <a:lnSpc>
                <a:spcPct val="106000"/>
              </a:lnSpc>
              <a:buNone/>
            </a:pPr>
            <a:r>
              <a:rPr lang="en-US" sz="1100" i="1" dirty="0">
                <a:solidFill>
                  <a:srgbClr val="0C1A2B"/>
                </a:solidFill>
                <a:latin typeface="Nunito Sans" pitchFamily="34" charset="0"/>
                <a:ea typeface="Nunito Sans" pitchFamily="34" charset="-122"/>
                <a:cs typeface="Nunito Sans" pitchFamily="34" charset="-120"/>
              </a:rPr>
              <a:t>"The word organic on a label means nothing to me anymore. Show me the actual test report for this batch and I'll happily pay more."</a:t>
            </a:r>
            <a:endParaRPr lang="en-US" sz="1100" dirty="0"/>
          </a:p>
        </p:txBody>
      </p:sp>
      <p:sp>
        <p:nvSpPr>
          <p:cNvPr id="13" name="Shape 10"/>
          <p:cNvSpPr/>
          <p:nvPr/>
        </p:nvSpPr>
        <p:spPr>
          <a:xfrm>
            <a:off x="731520" y="3749040"/>
            <a:ext cx="4998568" cy="0"/>
          </a:xfrm>
          <a:prstGeom prst="line">
            <a:avLst/>
          </a:prstGeom>
          <a:noFill/>
          <a:ln w="7620">
            <a:solidFill>
              <a:srgbClr val="E5DCCB"/>
            </a:solidFill>
            <a:prstDash val="dash"/>
          </a:ln>
        </p:spPr>
      </p:sp>
      <p:sp>
        <p:nvSpPr>
          <p:cNvPr id="14" name="Text 11"/>
          <p:cNvSpPr/>
          <p:nvPr/>
        </p:nvSpPr>
        <p:spPr>
          <a:xfrm>
            <a:off x="731520" y="3785616"/>
            <a:ext cx="4998568"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PROFILE</a:t>
            </a:r>
            <a:endParaRPr lang="en-US" sz="950" dirty="0"/>
          </a:p>
        </p:txBody>
      </p:sp>
      <p:sp>
        <p:nvSpPr>
          <p:cNvPr id="15" name="Text 12"/>
          <p:cNvSpPr/>
          <p:nvPr/>
        </p:nvSpPr>
        <p:spPr>
          <a:xfrm>
            <a:off x="731520" y="3986784"/>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34–45 · postgraduate · senior professional · nuclear family with young children · ₹1.5–2.5L+/month · Tier-1 metro</a:t>
            </a:r>
            <a:endParaRPr lang="en-US" sz="850" dirty="0"/>
          </a:p>
        </p:txBody>
      </p:sp>
      <p:sp>
        <p:nvSpPr>
          <p:cNvPr id="16" name="Text 13"/>
          <p:cNvSpPr/>
          <p:nvPr/>
        </p:nvSpPr>
        <p:spPr>
          <a:xfrm>
            <a:off x="731520" y="4315968"/>
            <a:ext cx="4998568"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WHAT CONVERTS HER / HIM</a:t>
            </a:r>
            <a:endParaRPr lang="en-US" sz="950" dirty="0"/>
          </a:p>
        </p:txBody>
      </p:sp>
      <p:sp>
        <p:nvSpPr>
          <p:cNvPr id="17" name="Text 14"/>
          <p:cNvSpPr/>
          <p:nvPr/>
        </p:nvSpPr>
        <p:spPr>
          <a:xfrm>
            <a:off x="731520" y="4517136"/>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Batch-specific lab report by QR; "below detectable limits"; a specialist who has personally reviewed it</a:t>
            </a:r>
            <a:endParaRPr lang="en-US" sz="850" dirty="0"/>
          </a:p>
        </p:txBody>
      </p:sp>
      <p:sp>
        <p:nvSpPr>
          <p:cNvPr id="18" name="Text 15"/>
          <p:cNvSpPr/>
          <p:nvPr/>
        </p:nvSpPr>
        <p:spPr>
          <a:xfrm>
            <a:off x="731520" y="4846320"/>
            <a:ext cx="4998568" cy="219456"/>
          </a:xfrm>
          <a:prstGeom prst="rect">
            <a:avLst/>
          </a:prstGeom>
          <a:noFill/>
          <a:ln/>
        </p:spPr>
        <p:txBody>
          <a:bodyPr wrap="square" lIns="0" tIns="0" rIns="0" bIns="0" rtlCol="0" anchor="ctr"/>
          <a:lstStyle/>
          <a:p>
            <a:pPr indent="0" marL="0">
              <a:buNone/>
            </a:pPr>
            <a:r>
              <a:rPr lang="en-US" sz="950" b="1" spc="180" kern="0" dirty="0">
                <a:solidFill>
                  <a:srgbClr val="9E3A24"/>
                </a:solidFill>
                <a:latin typeface="Nunito Sans" pitchFamily="34" charset="0"/>
                <a:ea typeface="Nunito Sans" pitchFamily="34" charset="-122"/>
                <a:cs typeface="Nunito Sans" pitchFamily="34" charset="-120"/>
              </a:rPr>
              <a:t>WHAT BLOCKS THE SALE</a:t>
            </a:r>
            <a:endParaRPr lang="en-US" sz="950" dirty="0"/>
          </a:p>
        </p:txBody>
      </p:sp>
      <p:sp>
        <p:nvSpPr>
          <p:cNvPr id="19" name="Text 16"/>
          <p:cNvSpPr/>
          <p:nvPr/>
        </p:nvSpPr>
        <p:spPr>
          <a:xfrm>
            <a:off x="731520" y="5047488"/>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No way to verify independently; greenwashing fatigue; a scan, not a research project</a:t>
            </a:r>
            <a:endParaRPr lang="en-US" sz="850" dirty="0"/>
          </a:p>
        </p:txBody>
      </p:sp>
      <p:sp>
        <p:nvSpPr>
          <p:cNvPr id="20" name="Shape 17"/>
          <p:cNvSpPr/>
          <p:nvPr/>
        </p:nvSpPr>
        <p:spPr>
          <a:xfrm>
            <a:off x="731520" y="5468112"/>
            <a:ext cx="4998568" cy="0"/>
          </a:xfrm>
          <a:prstGeom prst="line">
            <a:avLst/>
          </a:prstGeom>
          <a:noFill/>
          <a:ln w="6350">
            <a:solidFill>
              <a:srgbClr val="E5DCCB"/>
            </a:solidFill>
            <a:prstDash val="dash"/>
          </a:ln>
        </p:spPr>
      </p:sp>
      <p:sp>
        <p:nvSpPr>
          <p:cNvPr id="21" name="Text 18"/>
          <p:cNvSpPr/>
          <p:nvPr/>
        </p:nvSpPr>
        <p:spPr>
          <a:xfrm>
            <a:off x="731520" y="5522976"/>
            <a:ext cx="4998568" cy="292608"/>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n = 109   ·   Trust in certified claim 4.4/5   ·   Would pay 11%+ · 54%     |     F1 +0.46   ·   F2 +0.47   ·   F3 +0.69</a:t>
            </a:r>
            <a:endParaRPr lang="en-US" sz="800" dirty="0"/>
          </a:p>
        </p:txBody>
      </p:sp>
      <p:sp>
        <p:nvSpPr>
          <p:cNvPr id="22" name="Shape 19"/>
          <p:cNvSpPr/>
          <p:nvPr/>
        </p:nvSpPr>
        <p:spPr>
          <a:xfrm>
            <a:off x="6233008" y="2121408"/>
            <a:ext cx="5455768" cy="3767328"/>
          </a:xfrm>
          <a:prstGeom prst="roundRect">
            <a:avLst>
              <a:gd name="adj" fmla="val 2427"/>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23" name="Shape 20"/>
          <p:cNvSpPr/>
          <p:nvPr/>
        </p:nvSpPr>
        <p:spPr>
          <a:xfrm>
            <a:off x="6461608" y="2322576"/>
            <a:ext cx="566928" cy="566928"/>
          </a:xfrm>
          <a:prstGeom prst="ellipse">
            <a:avLst/>
          </a:prstGeom>
          <a:solidFill>
            <a:srgbClr val="177A46"/>
          </a:solidFill>
          <a:ln w="12700">
            <a:solidFill>
              <a:srgbClr val="333333"/>
            </a:solidFill>
            <a:prstDash val="solid"/>
          </a:ln>
        </p:spPr>
      </p:sp>
      <p:sp>
        <p:nvSpPr>
          <p:cNvPr id="24" name="Text 21"/>
          <p:cNvSpPr/>
          <p:nvPr/>
        </p:nvSpPr>
        <p:spPr>
          <a:xfrm>
            <a:off x="6461608" y="2322576"/>
            <a:ext cx="566928" cy="566928"/>
          </a:xfrm>
          <a:prstGeom prst="rect">
            <a:avLst/>
          </a:prstGeom>
          <a:noFill/>
          <a:ln/>
        </p:spPr>
        <p:txBody>
          <a:bodyPr wrap="square" lIns="0" tIns="0" rIns="0" bIns="0" rtlCol="0" anchor="ctr"/>
          <a:lstStyle/>
          <a:p>
            <a:pPr algn="ctr" indent="0" marL="0">
              <a:buNone/>
            </a:pPr>
            <a:r>
              <a:rPr lang="en-US" sz="1600" dirty="0">
                <a:solidFill>
                  <a:srgbClr val="FFFFFF"/>
                </a:solidFill>
                <a:latin typeface="Archivo Black" pitchFamily="34" charset="0"/>
                <a:ea typeface="Archivo Black" pitchFamily="34" charset="-122"/>
                <a:cs typeface="Archivo Black" pitchFamily="34" charset="-120"/>
              </a:rPr>
              <a:t>M</a:t>
            </a:r>
            <a:endParaRPr lang="en-US" sz="1600" dirty="0"/>
          </a:p>
        </p:txBody>
      </p:sp>
      <p:sp>
        <p:nvSpPr>
          <p:cNvPr id="25" name="Text 22"/>
          <p:cNvSpPr/>
          <p:nvPr/>
        </p:nvSpPr>
        <p:spPr>
          <a:xfrm>
            <a:off x="7147408" y="2350008"/>
            <a:ext cx="4312768" cy="274320"/>
          </a:xfrm>
          <a:prstGeom prst="rect">
            <a:avLst/>
          </a:prstGeom>
          <a:noFill/>
          <a:ln/>
        </p:spPr>
        <p:txBody>
          <a:bodyPr wrap="square" lIns="0" tIns="0" rIns="0" bIns="0" rtlCol="0" anchor="ctr"/>
          <a:lstStyle/>
          <a:p>
            <a:pPr indent="0" marL="0">
              <a:buNone/>
            </a:pPr>
            <a:r>
              <a:rPr lang="en-US" sz="1400" b="1" dirty="0">
                <a:solidFill>
                  <a:srgbClr val="0C1A2B"/>
                </a:solidFill>
                <a:latin typeface="Nunito Sans" pitchFamily="34" charset="0"/>
                <a:ea typeface="Nunito Sans" pitchFamily="34" charset="-122"/>
                <a:cs typeface="Nunito Sans" pitchFamily="34" charset="-120"/>
              </a:rPr>
              <a:t>Meera Nair</a:t>
            </a:r>
            <a:endParaRPr lang="en-US" sz="1400" dirty="0"/>
          </a:p>
        </p:txBody>
      </p:sp>
      <p:sp>
        <p:nvSpPr>
          <p:cNvPr id="26" name="Text 23"/>
          <p:cNvSpPr/>
          <p:nvPr/>
        </p:nvSpPr>
        <p:spPr>
          <a:xfrm>
            <a:off x="7147408" y="2624328"/>
            <a:ext cx="4312768" cy="237744"/>
          </a:xfrm>
          <a:prstGeom prst="rect">
            <a:avLst/>
          </a:prstGeom>
          <a:noFill/>
          <a:ln/>
        </p:spPr>
        <p:txBody>
          <a:bodyPr wrap="square" lIns="0" tIns="0" rIns="0" bIns="0" rtlCol="0" anchor="ctr"/>
          <a:lstStyle/>
          <a:p>
            <a:pPr indent="0" marL="0">
              <a:buNone/>
            </a:pPr>
            <a:r>
              <a:rPr lang="en-US" sz="850" b="1" spc="120" kern="0" dirty="0">
                <a:solidFill>
                  <a:srgbClr val="177A46"/>
                </a:solidFill>
                <a:latin typeface="Nunito Sans" pitchFamily="34" charset="0"/>
                <a:ea typeface="Nunito Sans" pitchFamily="34" charset="-122"/>
                <a:cs typeface="Nunito Sans" pitchFamily="34" charset="-120"/>
              </a:rPr>
              <a:t>THE BELIEVER · 20%</a:t>
            </a:r>
            <a:endParaRPr lang="en-US" sz="850" dirty="0"/>
          </a:p>
        </p:txBody>
      </p:sp>
      <p:sp>
        <p:nvSpPr>
          <p:cNvPr id="27" name="Text 24"/>
          <p:cNvSpPr/>
          <p:nvPr/>
        </p:nvSpPr>
        <p:spPr>
          <a:xfrm>
            <a:off x="6461608" y="3017520"/>
            <a:ext cx="4998568" cy="658368"/>
          </a:xfrm>
          <a:prstGeom prst="rect">
            <a:avLst/>
          </a:prstGeom>
          <a:noFill/>
          <a:ln/>
        </p:spPr>
        <p:txBody>
          <a:bodyPr wrap="square" lIns="0" tIns="0" rIns="0" bIns="0" rtlCol="0" anchor="t"/>
          <a:lstStyle/>
          <a:p>
            <a:pPr indent="0" marL="0">
              <a:lnSpc>
                <a:spcPct val="106000"/>
              </a:lnSpc>
              <a:buNone/>
            </a:pPr>
            <a:r>
              <a:rPr lang="en-US" sz="1100" i="1" dirty="0">
                <a:solidFill>
                  <a:srgbClr val="0C1A2B"/>
                </a:solidFill>
                <a:latin typeface="Nunito Sans" pitchFamily="34" charset="0"/>
                <a:ea typeface="Nunito Sans" pitchFamily="34" charset="-122"/>
                <a:cs typeface="Nunito Sans" pitchFamily="34" charset="-120"/>
              </a:rPr>
              <a:t>"If my doctor and my sister both say it's good for the family, that's all the proof I need. I'm not going to scan codes and read reports."</a:t>
            </a:r>
            <a:endParaRPr lang="en-US" sz="1100" dirty="0"/>
          </a:p>
        </p:txBody>
      </p:sp>
      <p:sp>
        <p:nvSpPr>
          <p:cNvPr id="28" name="Shape 25"/>
          <p:cNvSpPr/>
          <p:nvPr/>
        </p:nvSpPr>
        <p:spPr>
          <a:xfrm>
            <a:off x="6461608" y="3749040"/>
            <a:ext cx="4998568" cy="0"/>
          </a:xfrm>
          <a:prstGeom prst="line">
            <a:avLst/>
          </a:prstGeom>
          <a:noFill/>
          <a:ln w="7620">
            <a:solidFill>
              <a:srgbClr val="E5DCCB"/>
            </a:solidFill>
            <a:prstDash val="dash"/>
          </a:ln>
        </p:spPr>
      </p:sp>
      <p:sp>
        <p:nvSpPr>
          <p:cNvPr id="29" name="Text 26"/>
          <p:cNvSpPr/>
          <p:nvPr/>
        </p:nvSpPr>
        <p:spPr>
          <a:xfrm>
            <a:off x="6461608" y="3785616"/>
            <a:ext cx="4998568"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PROFILE</a:t>
            </a:r>
            <a:endParaRPr lang="en-US" sz="950" dirty="0"/>
          </a:p>
        </p:txBody>
      </p:sp>
      <p:sp>
        <p:nvSpPr>
          <p:cNvPr id="30" name="Text 27"/>
          <p:cNvSpPr/>
          <p:nvPr/>
        </p:nvSpPr>
        <p:spPr>
          <a:xfrm>
            <a:off x="6461608" y="3986784"/>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30–50 · graduate · homemaker or teacher · joint or extended family · ₹1–1.5L/month · Tier-1 and Tier-2</a:t>
            </a:r>
            <a:endParaRPr lang="en-US" sz="850" dirty="0"/>
          </a:p>
        </p:txBody>
      </p:sp>
      <p:sp>
        <p:nvSpPr>
          <p:cNvPr id="31" name="Text 28"/>
          <p:cNvSpPr/>
          <p:nvPr/>
        </p:nvSpPr>
        <p:spPr>
          <a:xfrm>
            <a:off x="6461608" y="4315968"/>
            <a:ext cx="4998568"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WHAT CONVERTS HER / HIM</a:t>
            </a:r>
            <a:endParaRPr lang="en-US" sz="950" dirty="0"/>
          </a:p>
        </p:txBody>
      </p:sp>
      <p:sp>
        <p:nvSpPr>
          <p:cNvPr id="32" name="Text 29"/>
          <p:cNvSpPr/>
          <p:nvPr/>
        </p:nvSpPr>
        <p:spPr>
          <a:xfrm>
            <a:off x="6461608" y="4517136"/>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Doctor and dietitian endorsement; a trusted person already using it; warm, relatable word of mouth</a:t>
            </a:r>
            <a:endParaRPr lang="en-US" sz="850" dirty="0"/>
          </a:p>
        </p:txBody>
      </p:sp>
      <p:sp>
        <p:nvSpPr>
          <p:cNvPr id="33" name="Text 30"/>
          <p:cNvSpPr/>
          <p:nvPr/>
        </p:nvSpPr>
        <p:spPr>
          <a:xfrm>
            <a:off x="6461608" y="4846320"/>
            <a:ext cx="4998568" cy="219456"/>
          </a:xfrm>
          <a:prstGeom prst="rect">
            <a:avLst/>
          </a:prstGeom>
          <a:noFill/>
          <a:ln/>
        </p:spPr>
        <p:txBody>
          <a:bodyPr wrap="square" lIns="0" tIns="0" rIns="0" bIns="0" rtlCol="0" anchor="ctr"/>
          <a:lstStyle/>
          <a:p>
            <a:pPr indent="0" marL="0">
              <a:buNone/>
            </a:pPr>
            <a:r>
              <a:rPr lang="en-US" sz="950" b="1" spc="180" kern="0" dirty="0">
                <a:solidFill>
                  <a:srgbClr val="9E3A24"/>
                </a:solidFill>
                <a:latin typeface="Nunito Sans" pitchFamily="34" charset="0"/>
                <a:ea typeface="Nunito Sans" pitchFamily="34" charset="-122"/>
                <a:cs typeface="Nunito Sans" pitchFamily="34" charset="-120"/>
              </a:rPr>
              <a:t>WHAT BLOCKS THE SALE</a:t>
            </a:r>
            <a:endParaRPr lang="en-US" sz="950" dirty="0"/>
          </a:p>
        </p:txBody>
      </p:sp>
      <p:sp>
        <p:nvSpPr>
          <p:cNvPr id="34" name="Text 31"/>
          <p:cNvSpPr/>
          <p:nvPr/>
        </p:nvSpPr>
        <p:spPr>
          <a:xfrm>
            <a:off x="6461608" y="5047488"/>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Clinical, jargon-heavy messaging; conflicting opinions in her circle; nobody she trusts has vouched</a:t>
            </a:r>
            <a:endParaRPr lang="en-US" sz="850" dirty="0"/>
          </a:p>
        </p:txBody>
      </p:sp>
      <p:sp>
        <p:nvSpPr>
          <p:cNvPr id="35" name="Shape 32"/>
          <p:cNvSpPr/>
          <p:nvPr/>
        </p:nvSpPr>
        <p:spPr>
          <a:xfrm>
            <a:off x="6461608" y="5468112"/>
            <a:ext cx="4998568" cy="0"/>
          </a:xfrm>
          <a:prstGeom prst="line">
            <a:avLst/>
          </a:prstGeom>
          <a:noFill/>
          <a:ln w="6350">
            <a:solidFill>
              <a:srgbClr val="E5DCCB"/>
            </a:solidFill>
            <a:prstDash val="dash"/>
          </a:ln>
        </p:spPr>
      </p:sp>
      <p:sp>
        <p:nvSpPr>
          <p:cNvPr id="36" name="Text 33"/>
          <p:cNvSpPr/>
          <p:nvPr/>
        </p:nvSpPr>
        <p:spPr>
          <a:xfrm>
            <a:off x="6461608" y="5522976"/>
            <a:ext cx="4998568" cy="292608"/>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n = 62   ·   Trust in certified claim 3.6/5   ·   Would pay 11%+ · 34%     |     F1 +0.65   ·   F2 +0.17   ·   F3 −0.89</a:t>
            </a:r>
            <a:endParaRPr lang="en-US" sz="800" dirty="0"/>
          </a:p>
        </p:txBody>
      </p:sp>
      <p:sp>
        <p:nvSpPr>
          <p:cNvPr id="37" name="Shape 34"/>
          <p:cNvSpPr/>
          <p:nvPr/>
        </p:nvSpPr>
        <p:spPr>
          <a:xfrm>
            <a:off x="502920" y="5961888"/>
            <a:ext cx="11185855" cy="548640"/>
          </a:xfrm>
          <a:prstGeom prst="roundRect">
            <a:avLst>
              <a:gd name="adj" fmla="val 16667"/>
            </a:avLst>
          </a:prstGeom>
          <a:solidFill>
            <a:srgbClr val="E4F2EA"/>
          </a:solidFill>
          <a:ln w="6350">
            <a:solidFill>
              <a:srgbClr val="E4F2EA"/>
            </a:solidFill>
            <a:prstDash val="solid"/>
          </a:ln>
        </p:spPr>
      </p:sp>
      <p:sp>
        <p:nvSpPr>
          <p:cNvPr id="38" name="Text 35"/>
          <p:cNvSpPr/>
          <p:nvPr/>
        </p:nvSpPr>
        <p:spPr>
          <a:xfrm>
            <a:off x="704088" y="6080760"/>
            <a:ext cx="10783519" cy="338328"/>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Guardians convert fast on facts. Trusters need a voice of assurance — and the doctor endorsement bridges both segments at once.</a:t>
            </a:r>
            <a:endParaRPr lang="en-US" sz="900" dirty="0"/>
          </a:p>
        </p:txBody>
      </p:sp>
      <p:sp>
        <p:nvSpPr>
          <p:cNvPr id="39" name="Shape 36"/>
          <p:cNvSpPr/>
          <p:nvPr/>
        </p:nvSpPr>
        <p:spPr>
          <a:xfrm>
            <a:off x="502920" y="6455664"/>
            <a:ext cx="11185855" cy="0"/>
          </a:xfrm>
          <a:prstGeom prst="line">
            <a:avLst/>
          </a:prstGeom>
          <a:noFill/>
          <a:ln w="9525">
            <a:solidFill>
              <a:srgbClr val="E5DCCB"/>
            </a:solidFill>
            <a:prstDash val="solid"/>
          </a:ln>
        </p:spPr>
      </p:sp>
      <p:sp>
        <p:nvSpPr>
          <p:cNvPr id="40" name="Text 37"/>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03 · THE CONSUMER</a:t>
            </a:r>
            <a:endParaRPr lang="en-US" sz="800" dirty="0"/>
          </a:p>
        </p:txBody>
      </p:sp>
      <p:sp>
        <p:nvSpPr>
          <p:cNvPr id="41" name="Text 38"/>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17</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070202"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070202"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THE BUYER PERSONAS</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The two hardest segments to win — and how.</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Defaulters need shelf presence and price parity. Fatalists need to be shown the imperfections before they will believe the perfections.</a:t>
            </a:r>
            <a:endParaRPr lang="en-US" sz="1100" dirty="0"/>
          </a:p>
        </p:txBody>
      </p:sp>
      <p:sp>
        <p:nvSpPr>
          <p:cNvPr id="7" name="Shape 4"/>
          <p:cNvSpPr/>
          <p:nvPr/>
        </p:nvSpPr>
        <p:spPr>
          <a:xfrm>
            <a:off x="502920" y="2121408"/>
            <a:ext cx="5455768" cy="3767328"/>
          </a:xfrm>
          <a:prstGeom prst="roundRect">
            <a:avLst>
              <a:gd name="adj" fmla="val 2427"/>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8" name="Shape 5"/>
          <p:cNvSpPr/>
          <p:nvPr/>
        </p:nvSpPr>
        <p:spPr>
          <a:xfrm>
            <a:off x="731520" y="2322576"/>
            <a:ext cx="566928" cy="566928"/>
          </a:xfrm>
          <a:prstGeom prst="ellipse">
            <a:avLst/>
          </a:prstGeom>
          <a:solidFill>
            <a:srgbClr val="8A8474"/>
          </a:solidFill>
          <a:ln w="12700">
            <a:solidFill>
              <a:srgbClr val="333333"/>
            </a:solidFill>
            <a:prstDash val="solid"/>
          </a:ln>
        </p:spPr>
      </p:sp>
      <p:sp>
        <p:nvSpPr>
          <p:cNvPr id="9" name="Text 6"/>
          <p:cNvSpPr/>
          <p:nvPr/>
        </p:nvSpPr>
        <p:spPr>
          <a:xfrm>
            <a:off x="731520" y="2322576"/>
            <a:ext cx="566928" cy="566928"/>
          </a:xfrm>
          <a:prstGeom prst="rect">
            <a:avLst/>
          </a:prstGeom>
          <a:noFill/>
          <a:ln/>
        </p:spPr>
        <p:txBody>
          <a:bodyPr wrap="square" lIns="0" tIns="0" rIns="0" bIns="0" rtlCol="0" anchor="ctr"/>
          <a:lstStyle/>
          <a:p>
            <a:pPr algn="ctr" indent="0" marL="0">
              <a:buNone/>
            </a:pPr>
            <a:r>
              <a:rPr lang="en-US" sz="1600" dirty="0">
                <a:solidFill>
                  <a:srgbClr val="FFFFFF"/>
                </a:solidFill>
                <a:latin typeface="Archivo Black" pitchFamily="34" charset="0"/>
                <a:ea typeface="Archivo Black" pitchFamily="34" charset="-122"/>
                <a:cs typeface="Archivo Black" pitchFamily="34" charset="-120"/>
              </a:rPr>
              <a:t>K</a:t>
            </a:r>
            <a:endParaRPr lang="en-US" sz="1600" dirty="0"/>
          </a:p>
        </p:txBody>
      </p:sp>
      <p:sp>
        <p:nvSpPr>
          <p:cNvPr id="10" name="Text 7"/>
          <p:cNvSpPr/>
          <p:nvPr/>
        </p:nvSpPr>
        <p:spPr>
          <a:xfrm>
            <a:off x="1417320" y="2350008"/>
            <a:ext cx="4312768" cy="274320"/>
          </a:xfrm>
          <a:prstGeom prst="rect">
            <a:avLst/>
          </a:prstGeom>
          <a:noFill/>
          <a:ln/>
        </p:spPr>
        <p:txBody>
          <a:bodyPr wrap="square" lIns="0" tIns="0" rIns="0" bIns="0" rtlCol="0" anchor="ctr"/>
          <a:lstStyle/>
          <a:p>
            <a:pPr indent="0" marL="0">
              <a:buNone/>
            </a:pPr>
            <a:r>
              <a:rPr lang="en-US" sz="1400" b="1" dirty="0">
                <a:solidFill>
                  <a:srgbClr val="0C1A2B"/>
                </a:solidFill>
                <a:latin typeface="Nunito Sans" pitchFamily="34" charset="0"/>
                <a:ea typeface="Nunito Sans" pitchFamily="34" charset="-122"/>
                <a:cs typeface="Nunito Sans" pitchFamily="34" charset="-120"/>
              </a:rPr>
              <a:t>Karan Mehta</a:t>
            </a:r>
            <a:endParaRPr lang="en-US" sz="1400" dirty="0"/>
          </a:p>
        </p:txBody>
      </p:sp>
      <p:sp>
        <p:nvSpPr>
          <p:cNvPr id="11" name="Text 8"/>
          <p:cNvSpPr/>
          <p:nvPr/>
        </p:nvSpPr>
        <p:spPr>
          <a:xfrm>
            <a:off x="1417320" y="2624328"/>
            <a:ext cx="4312768" cy="237744"/>
          </a:xfrm>
          <a:prstGeom prst="rect">
            <a:avLst/>
          </a:prstGeom>
          <a:noFill/>
          <a:ln/>
        </p:spPr>
        <p:txBody>
          <a:bodyPr wrap="square" lIns="0" tIns="0" rIns="0" bIns="0" rtlCol="0" anchor="ctr"/>
          <a:lstStyle/>
          <a:p>
            <a:pPr indent="0" marL="0">
              <a:buNone/>
            </a:pPr>
            <a:r>
              <a:rPr lang="en-US" sz="850" b="1" spc="120" kern="0" dirty="0">
                <a:solidFill>
                  <a:srgbClr val="8A8474"/>
                </a:solidFill>
                <a:latin typeface="Nunito Sans" pitchFamily="34" charset="0"/>
                <a:ea typeface="Nunito Sans" pitchFamily="34" charset="-122"/>
                <a:cs typeface="Nunito Sans" pitchFamily="34" charset="-120"/>
              </a:rPr>
              <a:t>THE CRUISE-CONTROLLER · 26%</a:t>
            </a:r>
            <a:endParaRPr lang="en-US" sz="850" dirty="0"/>
          </a:p>
        </p:txBody>
      </p:sp>
      <p:sp>
        <p:nvSpPr>
          <p:cNvPr id="12" name="Text 9"/>
          <p:cNvSpPr/>
          <p:nvPr/>
        </p:nvSpPr>
        <p:spPr>
          <a:xfrm>
            <a:off x="731520" y="3017520"/>
            <a:ext cx="4998568" cy="658368"/>
          </a:xfrm>
          <a:prstGeom prst="rect">
            <a:avLst/>
          </a:prstGeom>
          <a:noFill/>
          <a:ln/>
        </p:spPr>
        <p:txBody>
          <a:bodyPr wrap="square" lIns="0" tIns="0" rIns="0" bIns="0" rtlCol="0" anchor="t"/>
          <a:lstStyle/>
          <a:p>
            <a:pPr indent="0" marL="0">
              <a:lnSpc>
                <a:spcPct val="106000"/>
              </a:lnSpc>
              <a:buNone/>
            </a:pPr>
            <a:r>
              <a:rPr lang="en-US" sz="1100" i="1" dirty="0">
                <a:solidFill>
                  <a:srgbClr val="0C1A2B"/>
                </a:solidFill>
                <a:latin typeface="Nunito Sans" pitchFamily="34" charset="0"/>
                <a:ea typeface="Nunito Sans" pitchFamily="34" charset="-122"/>
                <a:cs typeface="Nunito Sans" pitchFamily="34" charset="-120"/>
              </a:rPr>
              <a:t>"Honestly, I just buy whatever brand I know that looks decent and isn't overpriced. Food safety isn't something I lose sleep over."</a:t>
            </a:r>
            <a:endParaRPr lang="en-US" sz="1100" dirty="0"/>
          </a:p>
        </p:txBody>
      </p:sp>
      <p:sp>
        <p:nvSpPr>
          <p:cNvPr id="13" name="Shape 10"/>
          <p:cNvSpPr/>
          <p:nvPr/>
        </p:nvSpPr>
        <p:spPr>
          <a:xfrm>
            <a:off x="731520" y="3749040"/>
            <a:ext cx="4998568" cy="0"/>
          </a:xfrm>
          <a:prstGeom prst="line">
            <a:avLst/>
          </a:prstGeom>
          <a:noFill/>
          <a:ln w="7620">
            <a:solidFill>
              <a:srgbClr val="E5DCCB"/>
            </a:solidFill>
            <a:prstDash val="dash"/>
          </a:ln>
        </p:spPr>
      </p:sp>
      <p:sp>
        <p:nvSpPr>
          <p:cNvPr id="14" name="Text 11"/>
          <p:cNvSpPr/>
          <p:nvPr/>
        </p:nvSpPr>
        <p:spPr>
          <a:xfrm>
            <a:off x="731520" y="3785616"/>
            <a:ext cx="4998568"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PROFILE</a:t>
            </a:r>
            <a:endParaRPr lang="en-US" sz="950" dirty="0"/>
          </a:p>
        </p:txBody>
      </p:sp>
      <p:sp>
        <p:nvSpPr>
          <p:cNvPr id="15" name="Text 12"/>
          <p:cNvSpPr/>
          <p:nvPr/>
        </p:nvSpPr>
        <p:spPr>
          <a:xfrm>
            <a:off x="731520" y="3986784"/>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26–38 · graduate · IT / sales / ops professional · DINK or small family · ₹80K–1.5L/month · heavy quick-commerce user</a:t>
            </a:r>
            <a:endParaRPr lang="en-US" sz="850" dirty="0"/>
          </a:p>
        </p:txBody>
      </p:sp>
      <p:sp>
        <p:nvSpPr>
          <p:cNvPr id="16" name="Text 13"/>
          <p:cNvSpPr/>
          <p:nvPr/>
        </p:nvSpPr>
        <p:spPr>
          <a:xfrm>
            <a:off x="731520" y="4315968"/>
            <a:ext cx="4998568"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WHAT CONVERTS HER / HIM</a:t>
            </a:r>
            <a:endParaRPr lang="en-US" sz="950" dirty="0"/>
          </a:p>
        </p:txBody>
      </p:sp>
      <p:sp>
        <p:nvSpPr>
          <p:cNvPr id="17" name="Text 14"/>
          <p:cNvSpPr/>
          <p:nvPr/>
        </p:nvSpPr>
        <p:spPr>
          <a:xfrm>
            <a:off x="731520" y="4517136"/>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Visible on the app he already uses; price parity with his usual brand; taste he notices</a:t>
            </a:r>
            <a:endParaRPr lang="en-US" sz="850" dirty="0"/>
          </a:p>
        </p:txBody>
      </p:sp>
      <p:sp>
        <p:nvSpPr>
          <p:cNvPr id="18" name="Text 15"/>
          <p:cNvSpPr/>
          <p:nvPr/>
        </p:nvSpPr>
        <p:spPr>
          <a:xfrm>
            <a:off x="731520" y="4846320"/>
            <a:ext cx="4998568" cy="219456"/>
          </a:xfrm>
          <a:prstGeom prst="rect">
            <a:avLst/>
          </a:prstGeom>
          <a:noFill/>
          <a:ln/>
        </p:spPr>
        <p:txBody>
          <a:bodyPr wrap="square" lIns="0" tIns="0" rIns="0" bIns="0" rtlCol="0" anchor="ctr"/>
          <a:lstStyle/>
          <a:p>
            <a:pPr indent="0" marL="0">
              <a:buNone/>
            </a:pPr>
            <a:r>
              <a:rPr lang="en-US" sz="950" b="1" spc="180" kern="0" dirty="0">
                <a:solidFill>
                  <a:srgbClr val="9E3A24"/>
                </a:solidFill>
                <a:latin typeface="Nunito Sans" pitchFamily="34" charset="0"/>
                <a:ea typeface="Nunito Sans" pitchFamily="34" charset="-122"/>
                <a:cs typeface="Nunito Sans" pitchFamily="34" charset="-120"/>
              </a:rPr>
              <a:t>WHAT BLOCKS THE SALE</a:t>
            </a:r>
            <a:endParaRPr lang="en-US" sz="950" dirty="0"/>
          </a:p>
        </p:txBody>
      </p:sp>
      <p:sp>
        <p:nvSpPr>
          <p:cNvPr id="19" name="Text 16"/>
          <p:cNvSpPr/>
          <p:nvPr/>
        </p:nvSpPr>
        <p:spPr>
          <a:xfrm>
            <a:off x="731520" y="5047488"/>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Not stocked where he shops; a premium with no obvious reason; anything requiring effort to switch</a:t>
            </a:r>
            <a:endParaRPr lang="en-US" sz="850" dirty="0"/>
          </a:p>
        </p:txBody>
      </p:sp>
      <p:sp>
        <p:nvSpPr>
          <p:cNvPr id="20" name="Shape 17"/>
          <p:cNvSpPr/>
          <p:nvPr/>
        </p:nvSpPr>
        <p:spPr>
          <a:xfrm>
            <a:off x="731520" y="5468112"/>
            <a:ext cx="4998568" cy="0"/>
          </a:xfrm>
          <a:prstGeom prst="line">
            <a:avLst/>
          </a:prstGeom>
          <a:noFill/>
          <a:ln w="6350">
            <a:solidFill>
              <a:srgbClr val="E5DCCB"/>
            </a:solidFill>
            <a:prstDash val="dash"/>
          </a:ln>
        </p:spPr>
      </p:sp>
      <p:sp>
        <p:nvSpPr>
          <p:cNvPr id="21" name="Text 18"/>
          <p:cNvSpPr/>
          <p:nvPr/>
        </p:nvSpPr>
        <p:spPr>
          <a:xfrm>
            <a:off x="731520" y="5522976"/>
            <a:ext cx="4998568" cy="292608"/>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n = 80   ·   Trust in certified claim 3.5/5   ·   Would pay 11%+ · 6%     |     F1 −0.39   ·   F2 −1.05   ·   F3 −0.34</a:t>
            </a:r>
            <a:endParaRPr lang="en-US" sz="800" dirty="0"/>
          </a:p>
        </p:txBody>
      </p:sp>
      <p:sp>
        <p:nvSpPr>
          <p:cNvPr id="22" name="Shape 19"/>
          <p:cNvSpPr/>
          <p:nvPr/>
        </p:nvSpPr>
        <p:spPr>
          <a:xfrm>
            <a:off x="6233008" y="2121408"/>
            <a:ext cx="5455768" cy="3767328"/>
          </a:xfrm>
          <a:prstGeom prst="roundRect">
            <a:avLst>
              <a:gd name="adj" fmla="val 2427"/>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23" name="Shape 20"/>
          <p:cNvSpPr/>
          <p:nvPr/>
        </p:nvSpPr>
        <p:spPr>
          <a:xfrm>
            <a:off x="6461608" y="2322576"/>
            <a:ext cx="566928" cy="566928"/>
          </a:xfrm>
          <a:prstGeom prst="ellipse">
            <a:avLst/>
          </a:prstGeom>
          <a:solidFill>
            <a:srgbClr val="9E3A24"/>
          </a:solidFill>
          <a:ln w="12700">
            <a:solidFill>
              <a:srgbClr val="333333"/>
            </a:solidFill>
            <a:prstDash val="solid"/>
          </a:ln>
        </p:spPr>
      </p:sp>
      <p:sp>
        <p:nvSpPr>
          <p:cNvPr id="24" name="Text 21"/>
          <p:cNvSpPr/>
          <p:nvPr/>
        </p:nvSpPr>
        <p:spPr>
          <a:xfrm>
            <a:off x="6461608" y="2322576"/>
            <a:ext cx="566928" cy="566928"/>
          </a:xfrm>
          <a:prstGeom prst="rect">
            <a:avLst/>
          </a:prstGeom>
          <a:noFill/>
          <a:ln/>
        </p:spPr>
        <p:txBody>
          <a:bodyPr wrap="square" lIns="0" tIns="0" rIns="0" bIns="0" rtlCol="0" anchor="ctr"/>
          <a:lstStyle/>
          <a:p>
            <a:pPr algn="ctr" indent="0" marL="0">
              <a:buNone/>
            </a:pPr>
            <a:r>
              <a:rPr lang="en-US" sz="1600" dirty="0">
                <a:solidFill>
                  <a:srgbClr val="FFFFFF"/>
                </a:solidFill>
                <a:latin typeface="Archivo Black" pitchFamily="34" charset="0"/>
                <a:ea typeface="Archivo Black" pitchFamily="34" charset="-122"/>
                <a:cs typeface="Archivo Black" pitchFamily="34" charset="-120"/>
              </a:rPr>
              <a:t>S</a:t>
            </a:r>
            <a:endParaRPr lang="en-US" sz="1600" dirty="0"/>
          </a:p>
        </p:txBody>
      </p:sp>
      <p:sp>
        <p:nvSpPr>
          <p:cNvPr id="25" name="Text 22"/>
          <p:cNvSpPr/>
          <p:nvPr/>
        </p:nvSpPr>
        <p:spPr>
          <a:xfrm>
            <a:off x="7147408" y="2350008"/>
            <a:ext cx="4312768" cy="274320"/>
          </a:xfrm>
          <a:prstGeom prst="rect">
            <a:avLst/>
          </a:prstGeom>
          <a:noFill/>
          <a:ln/>
        </p:spPr>
        <p:txBody>
          <a:bodyPr wrap="square" lIns="0" tIns="0" rIns="0" bIns="0" rtlCol="0" anchor="ctr"/>
          <a:lstStyle/>
          <a:p>
            <a:pPr indent="0" marL="0">
              <a:buNone/>
            </a:pPr>
            <a:r>
              <a:rPr lang="en-US" sz="1400" b="1" dirty="0">
                <a:solidFill>
                  <a:srgbClr val="0C1A2B"/>
                </a:solidFill>
                <a:latin typeface="Nunito Sans" pitchFamily="34" charset="0"/>
                <a:ea typeface="Nunito Sans" pitchFamily="34" charset="-122"/>
                <a:cs typeface="Nunito Sans" pitchFamily="34" charset="-120"/>
              </a:rPr>
              <a:t>Sanjay Deshpande</a:t>
            </a:r>
            <a:endParaRPr lang="en-US" sz="1400" dirty="0"/>
          </a:p>
        </p:txBody>
      </p:sp>
      <p:sp>
        <p:nvSpPr>
          <p:cNvPr id="26" name="Text 23"/>
          <p:cNvSpPr/>
          <p:nvPr/>
        </p:nvSpPr>
        <p:spPr>
          <a:xfrm>
            <a:off x="7147408" y="2624328"/>
            <a:ext cx="4312768" cy="237744"/>
          </a:xfrm>
          <a:prstGeom prst="rect">
            <a:avLst/>
          </a:prstGeom>
          <a:noFill/>
          <a:ln/>
        </p:spPr>
        <p:txBody>
          <a:bodyPr wrap="square" lIns="0" tIns="0" rIns="0" bIns="0" rtlCol="0" anchor="ctr"/>
          <a:lstStyle/>
          <a:p>
            <a:pPr indent="0" marL="0">
              <a:buNone/>
            </a:pPr>
            <a:r>
              <a:rPr lang="en-US" sz="850" b="1" spc="120" kern="0" dirty="0">
                <a:solidFill>
                  <a:srgbClr val="9E3A24"/>
                </a:solidFill>
                <a:latin typeface="Nunito Sans" pitchFamily="34" charset="0"/>
                <a:ea typeface="Nunito Sans" pitchFamily="34" charset="-122"/>
                <a:cs typeface="Nunito Sans" pitchFamily="34" charset="-120"/>
              </a:rPr>
              <a:t>THE SCEPTIC · 18%</a:t>
            </a:r>
            <a:endParaRPr lang="en-US" sz="850" dirty="0"/>
          </a:p>
        </p:txBody>
      </p:sp>
      <p:sp>
        <p:nvSpPr>
          <p:cNvPr id="27" name="Text 24"/>
          <p:cNvSpPr/>
          <p:nvPr/>
        </p:nvSpPr>
        <p:spPr>
          <a:xfrm>
            <a:off x="6461608" y="3017520"/>
            <a:ext cx="4998568" cy="658368"/>
          </a:xfrm>
          <a:prstGeom prst="rect">
            <a:avLst/>
          </a:prstGeom>
          <a:noFill/>
          <a:ln/>
        </p:spPr>
        <p:txBody>
          <a:bodyPr wrap="square" lIns="0" tIns="0" rIns="0" bIns="0" rtlCol="0" anchor="t"/>
          <a:lstStyle/>
          <a:p>
            <a:pPr indent="0" marL="0">
              <a:lnSpc>
                <a:spcPct val="106000"/>
              </a:lnSpc>
              <a:buNone/>
            </a:pPr>
            <a:r>
              <a:rPr lang="en-US" sz="1100" i="1" dirty="0">
                <a:solidFill>
                  <a:srgbClr val="0C1A2B"/>
                </a:solidFill>
                <a:latin typeface="Nunito Sans" pitchFamily="34" charset="0"/>
                <a:ea typeface="Nunito Sans" pitchFamily="34" charset="-122"/>
                <a:cs typeface="Nunito Sans" pitchFamily="34" charset="-120"/>
              </a:rPr>
              <a:t>"Every brand says it's pure. Adulteration is everywhere, and no factory is truly clean. Prove me wrong — but don't insult me with marketing."</a:t>
            </a:r>
            <a:endParaRPr lang="en-US" sz="1100" dirty="0"/>
          </a:p>
        </p:txBody>
      </p:sp>
      <p:sp>
        <p:nvSpPr>
          <p:cNvPr id="28" name="Shape 25"/>
          <p:cNvSpPr/>
          <p:nvPr/>
        </p:nvSpPr>
        <p:spPr>
          <a:xfrm>
            <a:off x="6461608" y="3749040"/>
            <a:ext cx="4998568" cy="0"/>
          </a:xfrm>
          <a:prstGeom prst="line">
            <a:avLst/>
          </a:prstGeom>
          <a:noFill/>
          <a:ln w="7620">
            <a:solidFill>
              <a:srgbClr val="E5DCCB"/>
            </a:solidFill>
            <a:prstDash val="dash"/>
          </a:ln>
        </p:spPr>
      </p:sp>
      <p:sp>
        <p:nvSpPr>
          <p:cNvPr id="29" name="Text 26"/>
          <p:cNvSpPr/>
          <p:nvPr/>
        </p:nvSpPr>
        <p:spPr>
          <a:xfrm>
            <a:off x="6461608" y="3785616"/>
            <a:ext cx="4998568"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PROFILE</a:t>
            </a:r>
            <a:endParaRPr lang="en-US" sz="950" dirty="0"/>
          </a:p>
        </p:txBody>
      </p:sp>
      <p:sp>
        <p:nvSpPr>
          <p:cNvPr id="30" name="Text 27"/>
          <p:cNvSpPr/>
          <p:nvPr/>
        </p:nvSpPr>
        <p:spPr>
          <a:xfrm>
            <a:off x="6461608" y="3986784"/>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38–55 · graduate to postgraduate · senior professional or business owner · established family · Tier-1 and Tier-2</a:t>
            </a:r>
            <a:endParaRPr lang="en-US" sz="850" dirty="0"/>
          </a:p>
        </p:txBody>
      </p:sp>
      <p:sp>
        <p:nvSpPr>
          <p:cNvPr id="31" name="Text 28"/>
          <p:cNvSpPr/>
          <p:nvPr/>
        </p:nvSpPr>
        <p:spPr>
          <a:xfrm>
            <a:off x="6461608" y="4315968"/>
            <a:ext cx="4998568"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WHAT CONVERTS HER / HIM</a:t>
            </a:r>
            <a:endParaRPr lang="en-US" sz="950" dirty="0"/>
          </a:p>
        </p:txBody>
      </p:sp>
      <p:sp>
        <p:nvSpPr>
          <p:cNvPr id="32" name="Text 29"/>
          <p:cNvSpPr/>
          <p:nvPr/>
        </p:nvSpPr>
        <p:spPr>
          <a:xfrm>
            <a:off x="6461608" y="4517136"/>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Unscripted farmer proof; independent, non-brand-paid verification; being shown what is imperfect</a:t>
            </a:r>
            <a:endParaRPr lang="en-US" sz="850" dirty="0"/>
          </a:p>
        </p:txBody>
      </p:sp>
      <p:sp>
        <p:nvSpPr>
          <p:cNvPr id="33" name="Text 30"/>
          <p:cNvSpPr/>
          <p:nvPr/>
        </p:nvSpPr>
        <p:spPr>
          <a:xfrm>
            <a:off x="6461608" y="4846320"/>
            <a:ext cx="4998568" cy="219456"/>
          </a:xfrm>
          <a:prstGeom prst="rect">
            <a:avLst/>
          </a:prstGeom>
          <a:noFill/>
          <a:ln/>
        </p:spPr>
        <p:txBody>
          <a:bodyPr wrap="square" lIns="0" tIns="0" rIns="0" bIns="0" rtlCol="0" anchor="ctr"/>
          <a:lstStyle/>
          <a:p>
            <a:pPr indent="0" marL="0">
              <a:buNone/>
            </a:pPr>
            <a:r>
              <a:rPr lang="en-US" sz="950" b="1" spc="180" kern="0" dirty="0">
                <a:solidFill>
                  <a:srgbClr val="9E3A24"/>
                </a:solidFill>
                <a:latin typeface="Nunito Sans" pitchFamily="34" charset="0"/>
                <a:ea typeface="Nunito Sans" pitchFamily="34" charset="-122"/>
                <a:cs typeface="Nunito Sans" pitchFamily="34" charset="-120"/>
              </a:rPr>
              <a:t>WHAT BLOCKS THE SALE</a:t>
            </a:r>
            <a:endParaRPr lang="en-US" sz="950" dirty="0"/>
          </a:p>
        </p:txBody>
      </p:sp>
      <p:sp>
        <p:nvSpPr>
          <p:cNvPr id="34" name="Text 31"/>
          <p:cNvSpPr/>
          <p:nvPr/>
        </p:nvSpPr>
        <p:spPr>
          <a:xfrm>
            <a:off x="6461608" y="5047488"/>
            <a:ext cx="4998568" cy="384048"/>
          </a:xfrm>
          <a:prstGeom prst="rect">
            <a:avLst/>
          </a:prstGeom>
          <a:noFill/>
          <a:ln/>
        </p:spPr>
        <p:txBody>
          <a:bodyPr wrap="square" lIns="0" tIns="0" rIns="0" bIns="0" rtlCol="0" anchor="t"/>
          <a:lstStyle/>
          <a:p>
            <a:pPr indent="0" marL="0">
              <a:lnSpc>
                <a:spcPct val="108000"/>
              </a:lnSpc>
              <a:buNone/>
            </a:pPr>
            <a:r>
              <a:rPr lang="en-US" sz="850" dirty="0">
                <a:solidFill>
                  <a:srgbClr val="54606F"/>
                </a:solidFill>
                <a:latin typeface="Nunito Sans" pitchFamily="34" charset="0"/>
                <a:ea typeface="Nunito Sans" pitchFamily="34" charset="-122"/>
                <a:cs typeface="Nunito Sans" pitchFamily="34" charset="-120"/>
              </a:rPr>
              <a:t>Polished claims like everyone else's; certification with no visible teeth; anything that reads like a script</a:t>
            </a:r>
            <a:endParaRPr lang="en-US" sz="850" dirty="0"/>
          </a:p>
        </p:txBody>
      </p:sp>
      <p:sp>
        <p:nvSpPr>
          <p:cNvPr id="35" name="Shape 32"/>
          <p:cNvSpPr/>
          <p:nvPr/>
        </p:nvSpPr>
        <p:spPr>
          <a:xfrm>
            <a:off x="6461608" y="5468112"/>
            <a:ext cx="4998568" cy="0"/>
          </a:xfrm>
          <a:prstGeom prst="line">
            <a:avLst/>
          </a:prstGeom>
          <a:noFill/>
          <a:ln w="6350">
            <a:solidFill>
              <a:srgbClr val="E5DCCB"/>
            </a:solidFill>
            <a:prstDash val="dash"/>
          </a:ln>
        </p:spPr>
      </p:sp>
      <p:sp>
        <p:nvSpPr>
          <p:cNvPr id="36" name="Text 33"/>
          <p:cNvSpPr/>
          <p:nvPr/>
        </p:nvSpPr>
        <p:spPr>
          <a:xfrm>
            <a:off x="6461608" y="5522976"/>
            <a:ext cx="4998568" cy="292608"/>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n = 54   ·   Trust in certified claim 3.6/5   ·   Would pay 11%+ · 22%     |     F1 −1.09   ·   F2 +0.41   ·   F3 +0.13</a:t>
            </a:r>
            <a:endParaRPr lang="en-US" sz="800" dirty="0"/>
          </a:p>
        </p:txBody>
      </p:sp>
      <p:sp>
        <p:nvSpPr>
          <p:cNvPr id="37" name="Shape 34"/>
          <p:cNvSpPr/>
          <p:nvPr/>
        </p:nvSpPr>
        <p:spPr>
          <a:xfrm>
            <a:off x="502920" y="5961888"/>
            <a:ext cx="11185855" cy="548640"/>
          </a:xfrm>
          <a:prstGeom prst="roundRect">
            <a:avLst>
              <a:gd name="adj" fmla="val 16667"/>
            </a:avLst>
          </a:prstGeom>
          <a:solidFill>
            <a:srgbClr val="E4F2EA"/>
          </a:solidFill>
          <a:ln w="6350">
            <a:solidFill>
              <a:srgbClr val="E4F2EA"/>
            </a:solidFill>
            <a:prstDash val="solid"/>
          </a:ln>
        </p:spPr>
      </p:sp>
      <p:sp>
        <p:nvSpPr>
          <p:cNvPr id="38" name="Text 35"/>
          <p:cNvSpPr/>
          <p:nvPr/>
        </p:nvSpPr>
        <p:spPr>
          <a:xfrm>
            <a:off x="704088" y="6080760"/>
            <a:ext cx="10783519" cy="338328"/>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Guardians are 36% of decision-makers but hold roughly 60% of all stated premium-rupee intent. Win them first; the rest follow.</a:t>
            </a:r>
            <a:endParaRPr lang="en-US" sz="900" dirty="0"/>
          </a:p>
        </p:txBody>
      </p:sp>
      <p:sp>
        <p:nvSpPr>
          <p:cNvPr id="39" name="Shape 36"/>
          <p:cNvSpPr/>
          <p:nvPr/>
        </p:nvSpPr>
        <p:spPr>
          <a:xfrm>
            <a:off x="502920" y="6455664"/>
            <a:ext cx="11185855" cy="0"/>
          </a:xfrm>
          <a:prstGeom prst="line">
            <a:avLst/>
          </a:prstGeom>
          <a:noFill/>
          <a:ln w="9525">
            <a:solidFill>
              <a:srgbClr val="E5DCCB"/>
            </a:solidFill>
            <a:prstDash val="solid"/>
          </a:ln>
        </p:spPr>
      </p:sp>
      <p:sp>
        <p:nvSpPr>
          <p:cNvPr id="40" name="Text 37"/>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03 · THE CONSUMER</a:t>
            </a:r>
            <a:endParaRPr lang="en-US" sz="800" dirty="0"/>
          </a:p>
        </p:txBody>
      </p:sp>
      <p:sp>
        <p:nvSpPr>
          <p:cNvPr id="41" name="Text 38"/>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18</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428646"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428646"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THE TARGETING DECISION</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Where do we play first?</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Four segments, but not four campaigns. Sequencing matters more than coverage.</a:t>
            </a:r>
            <a:endParaRPr lang="en-US" sz="1100" dirty="0"/>
          </a:p>
        </p:txBody>
      </p:sp>
      <p:sp>
        <p:nvSpPr>
          <p:cNvPr id="7" name="Shape 4"/>
          <p:cNvSpPr/>
          <p:nvPr/>
        </p:nvSpPr>
        <p:spPr>
          <a:xfrm>
            <a:off x="502920" y="2121408"/>
            <a:ext cx="2604440" cy="1664208"/>
          </a:xfrm>
          <a:prstGeom prst="roundRect">
            <a:avLst>
              <a:gd name="adj" fmla="val 5495"/>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8" name="Shape 5"/>
          <p:cNvSpPr/>
          <p:nvPr/>
        </p:nvSpPr>
        <p:spPr>
          <a:xfrm>
            <a:off x="502920" y="2121408"/>
            <a:ext cx="2604440" cy="45720"/>
          </a:xfrm>
          <a:prstGeom prst="rect">
            <a:avLst/>
          </a:prstGeom>
          <a:solidFill>
            <a:srgbClr val="177A46"/>
          </a:solidFill>
          <a:ln w="12700">
            <a:solidFill>
              <a:srgbClr val="333333"/>
            </a:solidFill>
            <a:prstDash val="solid"/>
          </a:ln>
        </p:spPr>
      </p:sp>
      <p:sp>
        <p:nvSpPr>
          <p:cNvPr id="9" name="Text 6"/>
          <p:cNvSpPr/>
          <p:nvPr/>
        </p:nvSpPr>
        <p:spPr>
          <a:xfrm>
            <a:off x="685800" y="2267712"/>
            <a:ext cx="2238680" cy="201168"/>
          </a:xfrm>
          <a:prstGeom prst="rect">
            <a:avLst/>
          </a:prstGeom>
          <a:noFill/>
          <a:ln/>
        </p:spPr>
        <p:txBody>
          <a:bodyPr wrap="square" lIns="0" tIns="0" rIns="0" bIns="0" rtlCol="0" anchor="ctr"/>
          <a:lstStyle/>
          <a:p>
            <a:pPr indent="0" marL="0">
              <a:buNone/>
            </a:pPr>
            <a:r>
              <a:rPr lang="en-US" sz="800" b="1" spc="120" kern="0" dirty="0">
                <a:solidFill>
                  <a:srgbClr val="177A46"/>
                </a:solidFill>
                <a:latin typeface="Nunito Sans" pitchFamily="34" charset="0"/>
                <a:ea typeface="Nunito Sans" pitchFamily="34" charset="-122"/>
                <a:cs typeface="Nunito Sans" pitchFamily="34" charset="-120"/>
              </a:rPr>
              <a:t>PRIMARY</a:t>
            </a:r>
            <a:endParaRPr lang="en-US" sz="800" dirty="0"/>
          </a:p>
        </p:txBody>
      </p:sp>
      <p:sp>
        <p:nvSpPr>
          <p:cNvPr id="10" name="Text 7"/>
          <p:cNvSpPr/>
          <p:nvPr/>
        </p:nvSpPr>
        <p:spPr>
          <a:xfrm>
            <a:off x="685800" y="2468880"/>
            <a:ext cx="2238680" cy="384048"/>
          </a:xfrm>
          <a:prstGeom prst="rect">
            <a:avLst/>
          </a:prstGeom>
          <a:noFill/>
          <a:ln/>
        </p:spPr>
        <p:txBody>
          <a:bodyPr wrap="square" lIns="0" tIns="0" rIns="0" bIns="0" rtlCol="0" anchor="t"/>
          <a:lstStyle/>
          <a:p>
            <a:pPr indent="0" marL="0">
              <a:buNone/>
            </a:pPr>
            <a:r>
              <a:rPr lang="en-US" sz="2200" dirty="0">
                <a:solidFill>
                  <a:srgbClr val="0C1A2B"/>
                </a:solidFill>
                <a:latin typeface="Archivo Black" pitchFamily="34" charset="0"/>
                <a:ea typeface="Archivo Black" pitchFamily="34" charset="-122"/>
                <a:cs typeface="Archivo Black" pitchFamily="34" charset="-120"/>
              </a:rPr>
              <a:t>36%</a:t>
            </a:r>
            <a:endParaRPr lang="en-US" sz="2200" dirty="0"/>
          </a:p>
        </p:txBody>
      </p:sp>
      <p:sp>
        <p:nvSpPr>
          <p:cNvPr id="11" name="Text 8"/>
          <p:cNvSpPr/>
          <p:nvPr/>
        </p:nvSpPr>
        <p:spPr>
          <a:xfrm>
            <a:off x="685800" y="2889504"/>
            <a:ext cx="2238680"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Proof-Hungry Guardians</a:t>
            </a:r>
            <a:endParaRPr lang="en-US" sz="1000" dirty="0"/>
          </a:p>
        </p:txBody>
      </p:sp>
      <p:sp>
        <p:nvSpPr>
          <p:cNvPr id="12" name="Text 9"/>
          <p:cNvSpPr/>
          <p:nvPr/>
        </p:nvSpPr>
        <p:spPr>
          <a:xfrm>
            <a:off x="685800" y="3127248"/>
            <a:ext cx="2238680" cy="64008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Largest segment, highest willingness to pay, and the only one that responds to the proof DHF already generates.</a:t>
            </a:r>
            <a:endParaRPr lang="en-US" sz="850" dirty="0"/>
          </a:p>
        </p:txBody>
      </p:sp>
      <p:sp>
        <p:nvSpPr>
          <p:cNvPr id="13" name="Shape 10"/>
          <p:cNvSpPr/>
          <p:nvPr/>
        </p:nvSpPr>
        <p:spPr>
          <a:xfrm>
            <a:off x="3363392" y="2121408"/>
            <a:ext cx="2604440" cy="1664208"/>
          </a:xfrm>
          <a:prstGeom prst="roundRect">
            <a:avLst>
              <a:gd name="adj" fmla="val 5495"/>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14" name="Shape 11"/>
          <p:cNvSpPr/>
          <p:nvPr/>
        </p:nvSpPr>
        <p:spPr>
          <a:xfrm>
            <a:off x="3363392" y="2121408"/>
            <a:ext cx="2604440" cy="45720"/>
          </a:xfrm>
          <a:prstGeom prst="rect">
            <a:avLst/>
          </a:prstGeom>
          <a:solidFill>
            <a:srgbClr val="3A5D97"/>
          </a:solidFill>
          <a:ln w="12700">
            <a:solidFill>
              <a:srgbClr val="333333"/>
            </a:solidFill>
            <a:prstDash val="solid"/>
          </a:ln>
        </p:spPr>
      </p:sp>
      <p:sp>
        <p:nvSpPr>
          <p:cNvPr id="15" name="Text 12"/>
          <p:cNvSpPr/>
          <p:nvPr/>
        </p:nvSpPr>
        <p:spPr>
          <a:xfrm>
            <a:off x="3546272" y="2267712"/>
            <a:ext cx="2238680" cy="201168"/>
          </a:xfrm>
          <a:prstGeom prst="rect">
            <a:avLst/>
          </a:prstGeom>
          <a:noFill/>
          <a:ln/>
        </p:spPr>
        <p:txBody>
          <a:bodyPr wrap="square" lIns="0" tIns="0" rIns="0" bIns="0" rtlCol="0" anchor="ctr"/>
          <a:lstStyle/>
          <a:p>
            <a:pPr indent="0" marL="0">
              <a:buNone/>
            </a:pPr>
            <a:r>
              <a:rPr lang="en-US" sz="800" b="1" spc="120" kern="0" dirty="0">
                <a:solidFill>
                  <a:srgbClr val="3A5D97"/>
                </a:solidFill>
                <a:latin typeface="Nunito Sans" pitchFamily="34" charset="0"/>
                <a:ea typeface="Nunito Sans" pitchFamily="34" charset="-122"/>
                <a:cs typeface="Nunito Sans" pitchFamily="34" charset="-120"/>
              </a:rPr>
              <a:t>SECONDARY</a:t>
            </a:r>
            <a:endParaRPr lang="en-US" sz="800" dirty="0"/>
          </a:p>
        </p:txBody>
      </p:sp>
      <p:sp>
        <p:nvSpPr>
          <p:cNvPr id="16" name="Text 13"/>
          <p:cNvSpPr/>
          <p:nvPr/>
        </p:nvSpPr>
        <p:spPr>
          <a:xfrm>
            <a:off x="3546272" y="2468880"/>
            <a:ext cx="2238680" cy="384048"/>
          </a:xfrm>
          <a:prstGeom prst="rect">
            <a:avLst/>
          </a:prstGeom>
          <a:noFill/>
          <a:ln/>
        </p:spPr>
        <p:txBody>
          <a:bodyPr wrap="square" lIns="0" tIns="0" rIns="0" bIns="0" rtlCol="0" anchor="t"/>
          <a:lstStyle/>
          <a:p>
            <a:pPr indent="0" marL="0">
              <a:buNone/>
            </a:pPr>
            <a:r>
              <a:rPr lang="en-US" sz="2200" dirty="0">
                <a:solidFill>
                  <a:srgbClr val="0C1A2B"/>
                </a:solidFill>
                <a:latin typeface="Archivo Black" pitchFamily="34" charset="0"/>
                <a:ea typeface="Archivo Black" pitchFamily="34" charset="-122"/>
                <a:cs typeface="Archivo Black" pitchFamily="34" charset="-120"/>
              </a:rPr>
              <a:t>20%</a:t>
            </a:r>
            <a:endParaRPr lang="en-US" sz="2200" dirty="0"/>
          </a:p>
        </p:txBody>
      </p:sp>
      <p:sp>
        <p:nvSpPr>
          <p:cNvPr id="17" name="Text 14"/>
          <p:cNvSpPr/>
          <p:nvPr/>
        </p:nvSpPr>
        <p:spPr>
          <a:xfrm>
            <a:off x="3546272" y="2889504"/>
            <a:ext cx="2238680"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Social Trusters</a:t>
            </a:r>
            <a:endParaRPr lang="en-US" sz="1000" dirty="0"/>
          </a:p>
        </p:txBody>
      </p:sp>
      <p:sp>
        <p:nvSpPr>
          <p:cNvPr id="18" name="Text 15"/>
          <p:cNvSpPr/>
          <p:nvPr/>
        </p:nvSpPr>
        <p:spPr>
          <a:xfrm>
            <a:off x="3546272" y="3127248"/>
            <a:ext cx="2238680" cy="64008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Activated by the Guardians' verification becoming social proof. Doctor endorsement bridges both segments at once.</a:t>
            </a:r>
            <a:endParaRPr lang="en-US" sz="850" dirty="0"/>
          </a:p>
        </p:txBody>
      </p:sp>
      <p:sp>
        <p:nvSpPr>
          <p:cNvPr id="19" name="Shape 16"/>
          <p:cNvSpPr/>
          <p:nvPr/>
        </p:nvSpPr>
        <p:spPr>
          <a:xfrm>
            <a:off x="6223864" y="2121408"/>
            <a:ext cx="2604440" cy="1664208"/>
          </a:xfrm>
          <a:prstGeom prst="roundRect">
            <a:avLst>
              <a:gd name="adj" fmla="val 5495"/>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20" name="Shape 17"/>
          <p:cNvSpPr/>
          <p:nvPr/>
        </p:nvSpPr>
        <p:spPr>
          <a:xfrm>
            <a:off x="6223864" y="2121408"/>
            <a:ext cx="2604440" cy="45720"/>
          </a:xfrm>
          <a:prstGeom prst="rect">
            <a:avLst/>
          </a:prstGeom>
          <a:solidFill>
            <a:srgbClr val="B5AD9C"/>
          </a:solidFill>
          <a:ln w="12700">
            <a:solidFill>
              <a:srgbClr val="333333"/>
            </a:solidFill>
            <a:prstDash val="solid"/>
          </a:ln>
        </p:spPr>
      </p:sp>
      <p:sp>
        <p:nvSpPr>
          <p:cNvPr id="21" name="Text 18"/>
          <p:cNvSpPr/>
          <p:nvPr/>
        </p:nvSpPr>
        <p:spPr>
          <a:xfrm>
            <a:off x="6406744" y="2267712"/>
            <a:ext cx="2238680" cy="201168"/>
          </a:xfrm>
          <a:prstGeom prst="rect">
            <a:avLst/>
          </a:prstGeom>
          <a:noFill/>
          <a:ln/>
        </p:spPr>
        <p:txBody>
          <a:bodyPr wrap="square" lIns="0" tIns="0" rIns="0" bIns="0" rtlCol="0" anchor="ctr"/>
          <a:lstStyle/>
          <a:p>
            <a:pPr indent="0" marL="0">
              <a:buNone/>
            </a:pPr>
            <a:r>
              <a:rPr lang="en-US" sz="800" b="1" spc="120" kern="0" dirty="0">
                <a:solidFill>
                  <a:srgbClr val="B5AD9C"/>
                </a:solidFill>
                <a:latin typeface="Nunito Sans" pitchFamily="34" charset="0"/>
                <a:ea typeface="Nunito Sans" pitchFamily="34" charset="-122"/>
                <a:cs typeface="Nunito Sans" pitchFamily="34" charset="-120"/>
              </a:rPr>
              <a:t>DEFER</a:t>
            </a:r>
            <a:endParaRPr lang="en-US" sz="800" dirty="0"/>
          </a:p>
        </p:txBody>
      </p:sp>
      <p:sp>
        <p:nvSpPr>
          <p:cNvPr id="22" name="Text 19"/>
          <p:cNvSpPr/>
          <p:nvPr/>
        </p:nvSpPr>
        <p:spPr>
          <a:xfrm>
            <a:off x="6406744" y="2468880"/>
            <a:ext cx="2238680" cy="384048"/>
          </a:xfrm>
          <a:prstGeom prst="rect">
            <a:avLst/>
          </a:prstGeom>
          <a:noFill/>
          <a:ln/>
        </p:spPr>
        <p:txBody>
          <a:bodyPr wrap="square" lIns="0" tIns="0" rIns="0" bIns="0" rtlCol="0" anchor="t"/>
          <a:lstStyle/>
          <a:p>
            <a:pPr indent="0" marL="0">
              <a:buNone/>
            </a:pPr>
            <a:r>
              <a:rPr lang="en-US" sz="2200" dirty="0">
                <a:solidFill>
                  <a:srgbClr val="0C1A2B"/>
                </a:solidFill>
                <a:latin typeface="Archivo Black" pitchFamily="34" charset="0"/>
                <a:ea typeface="Archivo Black" pitchFamily="34" charset="-122"/>
                <a:cs typeface="Archivo Black" pitchFamily="34" charset="-120"/>
              </a:rPr>
              <a:t>26%</a:t>
            </a:r>
            <a:endParaRPr lang="en-US" sz="2200" dirty="0"/>
          </a:p>
        </p:txBody>
      </p:sp>
      <p:sp>
        <p:nvSpPr>
          <p:cNvPr id="23" name="Text 20"/>
          <p:cNvSpPr/>
          <p:nvPr/>
        </p:nvSpPr>
        <p:spPr>
          <a:xfrm>
            <a:off x="6406744" y="2889504"/>
            <a:ext cx="2238680"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Passive Defaulters</a:t>
            </a:r>
            <a:endParaRPr lang="en-US" sz="1000" dirty="0"/>
          </a:p>
        </p:txBody>
      </p:sp>
      <p:sp>
        <p:nvSpPr>
          <p:cNvPr id="24" name="Text 21"/>
          <p:cNvSpPr/>
          <p:nvPr/>
        </p:nvSpPr>
        <p:spPr>
          <a:xfrm>
            <a:off x="6406744" y="3127248"/>
            <a:ext cx="2238680" cy="64008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Proof-heavy messaging misfires. Capture cheaply in phase two, once the category feels default.</a:t>
            </a:r>
            <a:endParaRPr lang="en-US" sz="850" dirty="0"/>
          </a:p>
        </p:txBody>
      </p:sp>
      <p:sp>
        <p:nvSpPr>
          <p:cNvPr id="25" name="Shape 22"/>
          <p:cNvSpPr/>
          <p:nvPr/>
        </p:nvSpPr>
        <p:spPr>
          <a:xfrm>
            <a:off x="9084335" y="2121408"/>
            <a:ext cx="2604440" cy="1664208"/>
          </a:xfrm>
          <a:prstGeom prst="roundRect">
            <a:avLst>
              <a:gd name="adj" fmla="val 5495"/>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26" name="Shape 23"/>
          <p:cNvSpPr/>
          <p:nvPr/>
        </p:nvSpPr>
        <p:spPr>
          <a:xfrm>
            <a:off x="9084335" y="2121408"/>
            <a:ext cx="2604440" cy="45720"/>
          </a:xfrm>
          <a:prstGeom prst="rect">
            <a:avLst/>
          </a:prstGeom>
          <a:solidFill>
            <a:srgbClr val="9E3A24"/>
          </a:solidFill>
          <a:ln w="12700">
            <a:solidFill>
              <a:srgbClr val="333333"/>
            </a:solidFill>
            <a:prstDash val="solid"/>
          </a:ln>
        </p:spPr>
      </p:sp>
      <p:sp>
        <p:nvSpPr>
          <p:cNvPr id="27" name="Text 24"/>
          <p:cNvSpPr/>
          <p:nvPr/>
        </p:nvSpPr>
        <p:spPr>
          <a:xfrm>
            <a:off x="9267215" y="2267712"/>
            <a:ext cx="2238680" cy="201168"/>
          </a:xfrm>
          <a:prstGeom prst="rect">
            <a:avLst/>
          </a:prstGeom>
          <a:noFill/>
          <a:ln/>
        </p:spPr>
        <p:txBody>
          <a:bodyPr wrap="square" lIns="0" tIns="0" rIns="0" bIns="0" rtlCol="0" anchor="ctr"/>
          <a:lstStyle/>
          <a:p>
            <a:pPr indent="0" marL="0">
              <a:buNone/>
            </a:pPr>
            <a:r>
              <a:rPr lang="en-US" sz="800" b="1" spc="120" kern="0" dirty="0">
                <a:solidFill>
                  <a:srgbClr val="9E3A24"/>
                </a:solidFill>
                <a:latin typeface="Nunito Sans" pitchFamily="34" charset="0"/>
                <a:ea typeface="Nunito Sans" pitchFamily="34" charset="-122"/>
                <a:cs typeface="Nunito Sans" pitchFamily="34" charset="-120"/>
              </a:rPr>
              <a:t>SEQUENCE LAST</a:t>
            </a:r>
            <a:endParaRPr lang="en-US" sz="800" dirty="0"/>
          </a:p>
        </p:txBody>
      </p:sp>
      <p:sp>
        <p:nvSpPr>
          <p:cNvPr id="28" name="Text 25"/>
          <p:cNvSpPr/>
          <p:nvPr/>
        </p:nvSpPr>
        <p:spPr>
          <a:xfrm>
            <a:off x="9267215" y="2468880"/>
            <a:ext cx="2238680" cy="384048"/>
          </a:xfrm>
          <a:prstGeom prst="rect">
            <a:avLst/>
          </a:prstGeom>
          <a:noFill/>
          <a:ln/>
        </p:spPr>
        <p:txBody>
          <a:bodyPr wrap="square" lIns="0" tIns="0" rIns="0" bIns="0" rtlCol="0" anchor="t"/>
          <a:lstStyle/>
          <a:p>
            <a:pPr indent="0" marL="0">
              <a:buNone/>
            </a:pPr>
            <a:r>
              <a:rPr lang="en-US" sz="2200" dirty="0">
                <a:solidFill>
                  <a:srgbClr val="0C1A2B"/>
                </a:solidFill>
                <a:latin typeface="Archivo Black" pitchFamily="34" charset="0"/>
                <a:ea typeface="Archivo Black" pitchFamily="34" charset="-122"/>
                <a:cs typeface="Archivo Black" pitchFamily="34" charset="-120"/>
              </a:rPr>
              <a:t>18%</a:t>
            </a:r>
            <a:endParaRPr lang="en-US" sz="2200" dirty="0"/>
          </a:p>
        </p:txBody>
      </p:sp>
      <p:sp>
        <p:nvSpPr>
          <p:cNvPr id="29" name="Text 26"/>
          <p:cNvSpPr/>
          <p:nvPr/>
        </p:nvSpPr>
        <p:spPr>
          <a:xfrm>
            <a:off x="9267215" y="2889504"/>
            <a:ext cx="2238680"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System Fatalists</a:t>
            </a:r>
            <a:endParaRPr lang="en-US" sz="1000" dirty="0"/>
          </a:p>
        </p:txBody>
      </p:sp>
      <p:sp>
        <p:nvSpPr>
          <p:cNvPr id="30" name="Text 27"/>
          <p:cNvSpPr/>
          <p:nvPr/>
        </p:nvSpPr>
        <p:spPr>
          <a:xfrm>
            <a:off x="9267215" y="3127248"/>
            <a:ext cx="2238680" cy="640080"/>
          </a:xfrm>
          <a:prstGeom prst="rect">
            <a:avLst/>
          </a:prstGeom>
          <a:noFill/>
          <a:ln/>
        </p:spPr>
        <p:txBody>
          <a:bodyPr wrap="square" lIns="0" tIns="0" rIns="0" bIns="0" rtlCol="0" anchor="t"/>
          <a:lstStyle/>
          <a:p>
            <a:pPr indent="0" marL="0">
              <a:lnSpc>
                <a:spcPct val="110000"/>
              </a:lnSpc>
              <a:buNone/>
            </a:pPr>
            <a:r>
              <a:rPr lang="en-US" sz="850" dirty="0">
                <a:solidFill>
                  <a:srgbClr val="54606F"/>
                </a:solidFill>
                <a:latin typeface="Nunito Sans" pitchFamily="34" charset="0"/>
                <a:ea typeface="Nunito Sans" pitchFamily="34" charset="-122"/>
                <a:cs typeface="Nunito Sans" pitchFamily="34" charset="-120"/>
              </a:rPr>
              <a:t>Smallest and hardest. Needs a separate radical-transparency, farmer / founder-direct playbook.</a:t>
            </a:r>
            <a:endParaRPr lang="en-US" sz="850" dirty="0"/>
          </a:p>
        </p:txBody>
      </p:sp>
      <p:sp>
        <p:nvSpPr>
          <p:cNvPr id="31" name="Text 28"/>
          <p:cNvSpPr/>
          <p:nvPr/>
        </p:nvSpPr>
        <p:spPr>
          <a:xfrm>
            <a:off x="502920" y="3950208"/>
            <a:ext cx="566928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WHAT WOULD MAKE YOU TRY A NEW BRAND?  (% NAMING IT TOP DRIVER)</a:t>
            </a:r>
            <a:endParaRPr lang="en-US" sz="950" dirty="0"/>
          </a:p>
        </p:txBody>
      </p:sp>
      <p:sp>
        <p:nvSpPr>
          <p:cNvPr id="32" name="Text 29"/>
          <p:cNvSpPr/>
          <p:nvPr/>
        </p:nvSpPr>
        <p:spPr>
          <a:xfrm>
            <a:off x="502920" y="4261104"/>
            <a:ext cx="39319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Doctor / child-specialist endorsement</a:t>
            </a:r>
            <a:endParaRPr lang="en-US" sz="950" dirty="0"/>
          </a:p>
        </p:txBody>
      </p:sp>
      <p:sp>
        <p:nvSpPr>
          <p:cNvPr id="33" name="Text 30"/>
          <p:cNvSpPr/>
          <p:nvPr/>
        </p:nvSpPr>
        <p:spPr>
          <a:xfrm>
            <a:off x="4434840" y="4261104"/>
            <a:ext cx="1737360" cy="201168"/>
          </a:xfrm>
          <a:prstGeom prst="rect">
            <a:avLst/>
          </a:prstGeom>
          <a:noFill/>
          <a:ln/>
        </p:spPr>
        <p:txBody>
          <a:bodyPr wrap="square" lIns="0" tIns="0" rIns="0" bIns="0" rtlCol="0" anchor="ctr"/>
          <a:lstStyle/>
          <a:p>
            <a:pPr algn="r" indent="0" marL="0">
              <a:buNone/>
            </a:pPr>
            <a:r>
              <a:rPr lang="en-US" sz="1000" b="1" dirty="0">
                <a:solidFill>
                  <a:srgbClr val="177A46"/>
                </a:solidFill>
                <a:latin typeface="Nunito Sans" pitchFamily="34" charset="0"/>
                <a:ea typeface="Nunito Sans" pitchFamily="34" charset="-122"/>
                <a:cs typeface="Nunito Sans" pitchFamily="34" charset="-120"/>
              </a:rPr>
              <a:t>44%</a:t>
            </a:r>
            <a:endParaRPr lang="en-US" sz="1000" dirty="0"/>
          </a:p>
        </p:txBody>
      </p:sp>
      <p:sp>
        <p:nvSpPr>
          <p:cNvPr id="34" name="Shape 31"/>
          <p:cNvSpPr/>
          <p:nvPr/>
        </p:nvSpPr>
        <p:spPr>
          <a:xfrm>
            <a:off x="502920" y="4480560"/>
            <a:ext cx="5669280" cy="100584"/>
          </a:xfrm>
          <a:prstGeom prst="roundRect">
            <a:avLst>
              <a:gd name="adj" fmla="val 50000"/>
            </a:avLst>
          </a:prstGeom>
          <a:solidFill>
            <a:srgbClr val="EDE4D4"/>
          </a:solidFill>
          <a:ln w="12700">
            <a:solidFill>
              <a:srgbClr val="333333"/>
            </a:solidFill>
            <a:prstDash val="solid"/>
          </a:ln>
        </p:spPr>
      </p:sp>
      <p:sp>
        <p:nvSpPr>
          <p:cNvPr id="35" name="Shape 32"/>
          <p:cNvSpPr/>
          <p:nvPr/>
        </p:nvSpPr>
        <p:spPr>
          <a:xfrm>
            <a:off x="502920" y="4480560"/>
            <a:ext cx="4988966" cy="100584"/>
          </a:xfrm>
          <a:prstGeom prst="roundRect">
            <a:avLst>
              <a:gd name="adj" fmla="val 50000"/>
            </a:avLst>
          </a:prstGeom>
          <a:solidFill>
            <a:srgbClr val="177A46"/>
          </a:solidFill>
          <a:ln w="12700">
            <a:solidFill>
              <a:srgbClr val="333333"/>
            </a:solidFill>
            <a:prstDash val="solid"/>
          </a:ln>
        </p:spPr>
      </p:sp>
      <p:sp>
        <p:nvSpPr>
          <p:cNvPr id="36" name="Text 33"/>
          <p:cNvSpPr/>
          <p:nvPr/>
        </p:nvSpPr>
        <p:spPr>
          <a:xfrm>
            <a:off x="502920" y="4572000"/>
            <a:ext cx="39319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"Below detectable limits" + QR to lab report</a:t>
            </a:r>
            <a:endParaRPr lang="en-US" sz="950" dirty="0"/>
          </a:p>
        </p:txBody>
      </p:sp>
      <p:sp>
        <p:nvSpPr>
          <p:cNvPr id="37" name="Text 34"/>
          <p:cNvSpPr/>
          <p:nvPr/>
        </p:nvSpPr>
        <p:spPr>
          <a:xfrm>
            <a:off x="4434840" y="4572000"/>
            <a:ext cx="1737360" cy="201168"/>
          </a:xfrm>
          <a:prstGeom prst="rect">
            <a:avLst/>
          </a:prstGeom>
          <a:noFill/>
          <a:ln/>
        </p:spPr>
        <p:txBody>
          <a:bodyPr wrap="square" lIns="0" tIns="0" rIns="0" bIns="0" rtlCol="0" anchor="ctr"/>
          <a:lstStyle/>
          <a:p>
            <a:pPr algn="r" indent="0" marL="0">
              <a:buNone/>
            </a:pPr>
            <a:r>
              <a:rPr lang="en-US" sz="1000" b="1" dirty="0">
                <a:solidFill>
                  <a:srgbClr val="3A5D97"/>
                </a:solidFill>
                <a:latin typeface="Nunito Sans" pitchFamily="34" charset="0"/>
                <a:ea typeface="Nunito Sans" pitchFamily="34" charset="-122"/>
                <a:cs typeface="Nunito Sans" pitchFamily="34" charset="-120"/>
              </a:rPr>
              <a:t>27%</a:t>
            </a:r>
            <a:endParaRPr lang="en-US" sz="1000" dirty="0"/>
          </a:p>
        </p:txBody>
      </p:sp>
      <p:sp>
        <p:nvSpPr>
          <p:cNvPr id="38" name="Shape 35"/>
          <p:cNvSpPr/>
          <p:nvPr/>
        </p:nvSpPr>
        <p:spPr>
          <a:xfrm>
            <a:off x="502920" y="4791456"/>
            <a:ext cx="5669280" cy="100584"/>
          </a:xfrm>
          <a:prstGeom prst="roundRect">
            <a:avLst>
              <a:gd name="adj" fmla="val 50000"/>
            </a:avLst>
          </a:prstGeom>
          <a:solidFill>
            <a:srgbClr val="EDE4D4"/>
          </a:solidFill>
          <a:ln w="12700">
            <a:solidFill>
              <a:srgbClr val="333333"/>
            </a:solidFill>
            <a:prstDash val="solid"/>
          </a:ln>
        </p:spPr>
      </p:sp>
      <p:sp>
        <p:nvSpPr>
          <p:cNvPr id="39" name="Shape 36"/>
          <p:cNvSpPr/>
          <p:nvPr/>
        </p:nvSpPr>
        <p:spPr>
          <a:xfrm>
            <a:off x="502920" y="4791456"/>
            <a:ext cx="3061411" cy="100584"/>
          </a:xfrm>
          <a:prstGeom prst="roundRect">
            <a:avLst>
              <a:gd name="adj" fmla="val 50000"/>
            </a:avLst>
          </a:prstGeom>
          <a:solidFill>
            <a:srgbClr val="3A5D97"/>
          </a:solidFill>
          <a:ln w="12700">
            <a:solidFill>
              <a:srgbClr val="333333"/>
            </a:solidFill>
            <a:prstDash val="solid"/>
          </a:ln>
        </p:spPr>
      </p:sp>
      <p:sp>
        <p:nvSpPr>
          <p:cNvPr id="40" name="Text 37"/>
          <p:cNvSpPr/>
          <p:nvPr/>
        </p:nvSpPr>
        <p:spPr>
          <a:xfrm>
            <a:off x="502920" y="4882896"/>
            <a:ext cx="39319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Farmer's name and village on pack</a:t>
            </a:r>
            <a:endParaRPr lang="en-US" sz="950" dirty="0"/>
          </a:p>
        </p:txBody>
      </p:sp>
      <p:sp>
        <p:nvSpPr>
          <p:cNvPr id="41" name="Text 38"/>
          <p:cNvSpPr/>
          <p:nvPr/>
        </p:nvSpPr>
        <p:spPr>
          <a:xfrm>
            <a:off x="4434840" y="4882896"/>
            <a:ext cx="1737360" cy="201168"/>
          </a:xfrm>
          <a:prstGeom prst="rect">
            <a:avLst/>
          </a:prstGeom>
          <a:noFill/>
          <a:ln/>
        </p:spPr>
        <p:txBody>
          <a:bodyPr wrap="square" lIns="0" tIns="0" rIns="0" bIns="0" rtlCol="0" anchor="ctr"/>
          <a:lstStyle/>
          <a:p>
            <a:pPr algn="r" indent="0" marL="0">
              <a:buNone/>
            </a:pPr>
            <a:r>
              <a:rPr lang="en-US" sz="1000" b="1" dirty="0">
                <a:solidFill>
                  <a:srgbClr val="6688BE"/>
                </a:solidFill>
                <a:latin typeface="Nunito Sans" pitchFamily="34" charset="0"/>
                <a:ea typeface="Nunito Sans" pitchFamily="34" charset="-122"/>
                <a:cs typeface="Nunito Sans" pitchFamily="34" charset="-120"/>
              </a:rPr>
              <a:t>12%</a:t>
            </a:r>
            <a:endParaRPr lang="en-US" sz="1000" dirty="0"/>
          </a:p>
        </p:txBody>
      </p:sp>
      <p:sp>
        <p:nvSpPr>
          <p:cNvPr id="42" name="Shape 39"/>
          <p:cNvSpPr/>
          <p:nvPr/>
        </p:nvSpPr>
        <p:spPr>
          <a:xfrm>
            <a:off x="502920" y="5102352"/>
            <a:ext cx="5669280" cy="100584"/>
          </a:xfrm>
          <a:prstGeom prst="roundRect">
            <a:avLst>
              <a:gd name="adj" fmla="val 50000"/>
            </a:avLst>
          </a:prstGeom>
          <a:solidFill>
            <a:srgbClr val="EDE4D4"/>
          </a:solidFill>
          <a:ln w="12700">
            <a:solidFill>
              <a:srgbClr val="333333"/>
            </a:solidFill>
            <a:prstDash val="solid"/>
          </a:ln>
        </p:spPr>
      </p:sp>
      <p:sp>
        <p:nvSpPr>
          <p:cNvPr id="43" name="Shape 40"/>
          <p:cNvSpPr/>
          <p:nvPr/>
        </p:nvSpPr>
        <p:spPr>
          <a:xfrm>
            <a:off x="502920" y="5102352"/>
            <a:ext cx="1360627" cy="100584"/>
          </a:xfrm>
          <a:prstGeom prst="roundRect">
            <a:avLst>
              <a:gd name="adj" fmla="val 50000"/>
            </a:avLst>
          </a:prstGeom>
          <a:solidFill>
            <a:srgbClr val="6688BE"/>
          </a:solidFill>
          <a:ln w="12700">
            <a:solidFill>
              <a:srgbClr val="333333"/>
            </a:solidFill>
            <a:prstDash val="solid"/>
          </a:ln>
        </p:spPr>
      </p:sp>
      <p:sp>
        <p:nvSpPr>
          <p:cNvPr id="44" name="Text 41"/>
          <p:cNvSpPr/>
          <p:nvPr/>
        </p:nvSpPr>
        <p:spPr>
          <a:xfrm>
            <a:off x="502920" y="5193792"/>
            <a:ext cx="39319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Government certificate as the lead message</a:t>
            </a:r>
            <a:endParaRPr lang="en-US" sz="950" dirty="0"/>
          </a:p>
        </p:txBody>
      </p:sp>
      <p:sp>
        <p:nvSpPr>
          <p:cNvPr id="45" name="Text 42"/>
          <p:cNvSpPr/>
          <p:nvPr/>
        </p:nvSpPr>
        <p:spPr>
          <a:xfrm>
            <a:off x="4434840" y="5193792"/>
            <a:ext cx="1737360" cy="201168"/>
          </a:xfrm>
          <a:prstGeom prst="rect">
            <a:avLst/>
          </a:prstGeom>
          <a:noFill/>
          <a:ln/>
        </p:spPr>
        <p:txBody>
          <a:bodyPr wrap="square" lIns="0" tIns="0" rIns="0" bIns="0" rtlCol="0" anchor="ctr"/>
          <a:lstStyle/>
          <a:p>
            <a:pPr algn="r" indent="0" marL="0">
              <a:buNone/>
            </a:pPr>
            <a:r>
              <a:rPr lang="en-US" sz="1000" b="1" dirty="0">
                <a:solidFill>
                  <a:srgbClr val="B5AD9C"/>
                </a:solidFill>
                <a:latin typeface="Nunito Sans" pitchFamily="34" charset="0"/>
                <a:ea typeface="Nunito Sans" pitchFamily="34" charset="-122"/>
                <a:cs typeface="Nunito Sans" pitchFamily="34" charset="-120"/>
              </a:rPr>
              <a:t>8%</a:t>
            </a:r>
            <a:endParaRPr lang="en-US" sz="1000" dirty="0"/>
          </a:p>
        </p:txBody>
      </p:sp>
      <p:sp>
        <p:nvSpPr>
          <p:cNvPr id="46" name="Shape 43"/>
          <p:cNvSpPr/>
          <p:nvPr/>
        </p:nvSpPr>
        <p:spPr>
          <a:xfrm>
            <a:off x="502920" y="5413248"/>
            <a:ext cx="5669280" cy="100584"/>
          </a:xfrm>
          <a:prstGeom prst="roundRect">
            <a:avLst>
              <a:gd name="adj" fmla="val 50000"/>
            </a:avLst>
          </a:prstGeom>
          <a:solidFill>
            <a:srgbClr val="EDE4D4"/>
          </a:solidFill>
          <a:ln w="12700">
            <a:solidFill>
              <a:srgbClr val="333333"/>
            </a:solidFill>
            <a:prstDash val="solid"/>
          </a:ln>
        </p:spPr>
      </p:sp>
      <p:sp>
        <p:nvSpPr>
          <p:cNvPr id="47" name="Shape 44"/>
          <p:cNvSpPr/>
          <p:nvPr/>
        </p:nvSpPr>
        <p:spPr>
          <a:xfrm>
            <a:off x="502920" y="5413248"/>
            <a:ext cx="907085" cy="100584"/>
          </a:xfrm>
          <a:prstGeom prst="roundRect">
            <a:avLst>
              <a:gd name="adj" fmla="val 50000"/>
            </a:avLst>
          </a:prstGeom>
          <a:solidFill>
            <a:srgbClr val="B5AD9C"/>
          </a:solidFill>
          <a:ln w="12700">
            <a:solidFill>
              <a:srgbClr val="333333"/>
            </a:solidFill>
            <a:prstDash val="solid"/>
          </a:ln>
        </p:spPr>
      </p:sp>
      <p:sp>
        <p:nvSpPr>
          <p:cNvPr id="48" name="Text 45"/>
          <p:cNvSpPr/>
          <p:nvPr/>
        </p:nvSpPr>
        <p:spPr>
          <a:xfrm>
            <a:off x="502920" y="5504688"/>
            <a:ext cx="39319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"Tested for 200+ chemicals"</a:t>
            </a:r>
            <a:endParaRPr lang="en-US" sz="950" dirty="0"/>
          </a:p>
        </p:txBody>
      </p:sp>
      <p:sp>
        <p:nvSpPr>
          <p:cNvPr id="49" name="Text 46"/>
          <p:cNvSpPr/>
          <p:nvPr/>
        </p:nvSpPr>
        <p:spPr>
          <a:xfrm>
            <a:off x="4434840" y="5504688"/>
            <a:ext cx="1737360" cy="201168"/>
          </a:xfrm>
          <a:prstGeom prst="rect">
            <a:avLst/>
          </a:prstGeom>
          <a:noFill/>
          <a:ln/>
        </p:spPr>
        <p:txBody>
          <a:bodyPr wrap="square" lIns="0" tIns="0" rIns="0" bIns="0" rtlCol="0" anchor="ctr"/>
          <a:lstStyle/>
          <a:p>
            <a:pPr algn="r" indent="0" marL="0">
              <a:buNone/>
            </a:pPr>
            <a:r>
              <a:rPr lang="en-US" sz="1000" b="1" dirty="0">
                <a:solidFill>
                  <a:srgbClr val="9E3A24"/>
                </a:solidFill>
                <a:latin typeface="Nunito Sans" pitchFamily="34" charset="0"/>
                <a:ea typeface="Nunito Sans" pitchFamily="34" charset="-122"/>
                <a:cs typeface="Nunito Sans" pitchFamily="34" charset="-120"/>
              </a:rPr>
              <a:t>6%</a:t>
            </a:r>
            <a:endParaRPr lang="en-US" sz="1000" dirty="0"/>
          </a:p>
        </p:txBody>
      </p:sp>
      <p:sp>
        <p:nvSpPr>
          <p:cNvPr id="50" name="Shape 47"/>
          <p:cNvSpPr/>
          <p:nvPr/>
        </p:nvSpPr>
        <p:spPr>
          <a:xfrm>
            <a:off x="502920" y="5724144"/>
            <a:ext cx="5669280" cy="100584"/>
          </a:xfrm>
          <a:prstGeom prst="roundRect">
            <a:avLst>
              <a:gd name="adj" fmla="val 50000"/>
            </a:avLst>
          </a:prstGeom>
          <a:solidFill>
            <a:srgbClr val="EDE4D4"/>
          </a:solidFill>
          <a:ln w="12700">
            <a:solidFill>
              <a:srgbClr val="333333"/>
            </a:solidFill>
            <a:prstDash val="solid"/>
          </a:ln>
        </p:spPr>
      </p:sp>
      <p:sp>
        <p:nvSpPr>
          <p:cNvPr id="51" name="Shape 48"/>
          <p:cNvSpPr/>
          <p:nvPr/>
        </p:nvSpPr>
        <p:spPr>
          <a:xfrm>
            <a:off x="502920" y="5724144"/>
            <a:ext cx="680314" cy="100584"/>
          </a:xfrm>
          <a:prstGeom prst="roundRect">
            <a:avLst>
              <a:gd name="adj" fmla="val 50000"/>
            </a:avLst>
          </a:prstGeom>
          <a:solidFill>
            <a:srgbClr val="9E3A24"/>
          </a:solidFill>
          <a:ln w="12700">
            <a:solidFill>
              <a:srgbClr val="333333"/>
            </a:solidFill>
            <a:prstDash val="solid"/>
          </a:ln>
        </p:spPr>
      </p:sp>
      <p:sp>
        <p:nvSpPr>
          <p:cNvPr id="52" name="Text 49"/>
          <p:cNvSpPr/>
          <p:nvPr/>
        </p:nvSpPr>
        <p:spPr>
          <a:xfrm>
            <a:off x="502920" y="5815584"/>
            <a:ext cx="39319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Farm-visit invitations</a:t>
            </a:r>
            <a:endParaRPr lang="en-US" sz="950" dirty="0"/>
          </a:p>
        </p:txBody>
      </p:sp>
      <p:sp>
        <p:nvSpPr>
          <p:cNvPr id="53" name="Text 50"/>
          <p:cNvSpPr/>
          <p:nvPr/>
        </p:nvSpPr>
        <p:spPr>
          <a:xfrm>
            <a:off x="4434840" y="5815584"/>
            <a:ext cx="1737360" cy="201168"/>
          </a:xfrm>
          <a:prstGeom prst="rect">
            <a:avLst/>
          </a:prstGeom>
          <a:noFill/>
          <a:ln/>
        </p:spPr>
        <p:txBody>
          <a:bodyPr wrap="square" lIns="0" tIns="0" rIns="0" bIns="0" rtlCol="0" anchor="ctr"/>
          <a:lstStyle/>
          <a:p>
            <a:pPr algn="r" indent="0" marL="0">
              <a:buNone/>
            </a:pPr>
            <a:r>
              <a:rPr lang="en-US" sz="1000" b="1" dirty="0">
                <a:solidFill>
                  <a:srgbClr val="B5AD9C"/>
                </a:solidFill>
                <a:latin typeface="Nunito Sans" pitchFamily="34" charset="0"/>
                <a:ea typeface="Nunito Sans" pitchFamily="34" charset="-122"/>
                <a:cs typeface="Nunito Sans" pitchFamily="34" charset="-120"/>
              </a:rPr>
              <a:t>3%</a:t>
            </a:r>
            <a:endParaRPr lang="en-US" sz="1000" dirty="0"/>
          </a:p>
        </p:txBody>
      </p:sp>
      <p:sp>
        <p:nvSpPr>
          <p:cNvPr id="54" name="Shape 51"/>
          <p:cNvSpPr/>
          <p:nvPr/>
        </p:nvSpPr>
        <p:spPr>
          <a:xfrm>
            <a:off x="502920" y="6035040"/>
            <a:ext cx="5669280" cy="100584"/>
          </a:xfrm>
          <a:prstGeom prst="roundRect">
            <a:avLst>
              <a:gd name="adj" fmla="val 50000"/>
            </a:avLst>
          </a:prstGeom>
          <a:solidFill>
            <a:srgbClr val="EDE4D4"/>
          </a:solidFill>
          <a:ln w="12700">
            <a:solidFill>
              <a:srgbClr val="333333"/>
            </a:solidFill>
            <a:prstDash val="solid"/>
          </a:ln>
        </p:spPr>
      </p:sp>
      <p:sp>
        <p:nvSpPr>
          <p:cNvPr id="55" name="Shape 52"/>
          <p:cNvSpPr/>
          <p:nvPr/>
        </p:nvSpPr>
        <p:spPr>
          <a:xfrm>
            <a:off x="502920" y="6035040"/>
            <a:ext cx="340157" cy="100584"/>
          </a:xfrm>
          <a:prstGeom prst="roundRect">
            <a:avLst>
              <a:gd name="adj" fmla="val 50000"/>
            </a:avLst>
          </a:prstGeom>
          <a:solidFill>
            <a:srgbClr val="B5AD9C"/>
          </a:solidFill>
          <a:ln w="12700">
            <a:solidFill>
              <a:srgbClr val="333333"/>
            </a:solidFill>
            <a:prstDash val="solid"/>
          </a:ln>
        </p:spPr>
      </p:sp>
      <p:sp>
        <p:nvSpPr>
          <p:cNvPr id="56" name="Text 53"/>
          <p:cNvSpPr/>
          <p:nvPr/>
        </p:nvSpPr>
        <p:spPr>
          <a:xfrm>
            <a:off x="502920" y="6126480"/>
            <a:ext cx="393192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Side-by-side residue comparison vs rivals</a:t>
            </a:r>
            <a:endParaRPr lang="en-US" sz="950" dirty="0"/>
          </a:p>
        </p:txBody>
      </p:sp>
      <p:sp>
        <p:nvSpPr>
          <p:cNvPr id="57" name="Text 54"/>
          <p:cNvSpPr/>
          <p:nvPr/>
        </p:nvSpPr>
        <p:spPr>
          <a:xfrm>
            <a:off x="4434840" y="6126480"/>
            <a:ext cx="1737360" cy="201168"/>
          </a:xfrm>
          <a:prstGeom prst="rect">
            <a:avLst/>
          </a:prstGeom>
          <a:noFill/>
          <a:ln/>
        </p:spPr>
        <p:txBody>
          <a:bodyPr wrap="square" lIns="0" tIns="0" rIns="0" bIns="0" rtlCol="0" anchor="ctr"/>
          <a:lstStyle/>
          <a:p>
            <a:pPr algn="r" indent="0" marL="0">
              <a:buNone/>
            </a:pPr>
            <a:r>
              <a:rPr lang="en-US" sz="1000" b="1" dirty="0">
                <a:solidFill>
                  <a:srgbClr val="B5AD9C"/>
                </a:solidFill>
                <a:latin typeface="Nunito Sans" pitchFamily="34" charset="0"/>
                <a:ea typeface="Nunito Sans" pitchFamily="34" charset="-122"/>
                <a:cs typeface="Nunito Sans" pitchFamily="34" charset="-120"/>
              </a:rPr>
              <a:t>1%</a:t>
            </a:r>
            <a:endParaRPr lang="en-US" sz="1000" dirty="0"/>
          </a:p>
        </p:txBody>
      </p:sp>
      <p:sp>
        <p:nvSpPr>
          <p:cNvPr id="58" name="Shape 55"/>
          <p:cNvSpPr/>
          <p:nvPr/>
        </p:nvSpPr>
        <p:spPr>
          <a:xfrm>
            <a:off x="502920" y="6345936"/>
            <a:ext cx="5669280" cy="100584"/>
          </a:xfrm>
          <a:prstGeom prst="roundRect">
            <a:avLst>
              <a:gd name="adj" fmla="val 50000"/>
            </a:avLst>
          </a:prstGeom>
          <a:solidFill>
            <a:srgbClr val="EDE4D4"/>
          </a:solidFill>
          <a:ln w="12700">
            <a:solidFill>
              <a:srgbClr val="333333"/>
            </a:solidFill>
            <a:prstDash val="solid"/>
          </a:ln>
        </p:spPr>
      </p:sp>
      <p:sp>
        <p:nvSpPr>
          <p:cNvPr id="59" name="Shape 56"/>
          <p:cNvSpPr/>
          <p:nvPr/>
        </p:nvSpPr>
        <p:spPr>
          <a:xfrm>
            <a:off x="502920" y="6345936"/>
            <a:ext cx="113386" cy="100584"/>
          </a:xfrm>
          <a:prstGeom prst="roundRect">
            <a:avLst>
              <a:gd name="adj" fmla="val 50000"/>
            </a:avLst>
          </a:prstGeom>
          <a:solidFill>
            <a:srgbClr val="B5AD9C"/>
          </a:solidFill>
          <a:ln w="12700">
            <a:solidFill>
              <a:srgbClr val="333333"/>
            </a:solidFill>
            <a:prstDash val="solid"/>
          </a:ln>
        </p:spPr>
      </p:sp>
      <p:sp>
        <p:nvSpPr>
          <p:cNvPr id="60" name="Shape 57"/>
          <p:cNvSpPr/>
          <p:nvPr/>
        </p:nvSpPr>
        <p:spPr>
          <a:xfrm>
            <a:off x="6537960" y="4261104"/>
            <a:ext cx="5150815" cy="1207008"/>
          </a:xfrm>
          <a:prstGeom prst="roundRect">
            <a:avLst>
              <a:gd name="adj" fmla="val 7576"/>
            </a:avLst>
          </a:prstGeom>
          <a:solidFill>
            <a:srgbClr val="FBE9E3"/>
          </a:solidFill>
          <a:ln w="6350">
            <a:solidFill>
              <a:srgbClr val="FBE9E3"/>
            </a:solidFill>
            <a:prstDash val="solid"/>
          </a:ln>
        </p:spPr>
      </p:sp>
      <p:sp>
        <p:nvSpPr>
          <p:cNvPr id="61" name="Text 58"/>
          <p:cNvSpPr/>
          <p:nvPr/>
        </p:nvSpPr>
        <p:spPr>
          <a:xfrm>
            <a:off x="6739128" y="4379976"/>
            <a:ext cx="4748479" cy="219456"/>
          </a:xfrm>
          <a:prstGeom prst="rect">
            <a:avLst/>
          </a:prstGeom>
          <a:noFill/>
          <a:ln/>
        </p:spPr>
        <p:txBody>
          <a:bodyPr wrap="square" lIns="0" tIns="0" rIns="0" bIns="0" rtlCol="0" anchor="t"/>
          <a:lstStyle/>
          <a:p>
            <a:pPr indent="0" marL="0">
              <a:lnSpc>
                <a:spcPct val="102000"/>
              </a:lnSpc>
              <a:buNone/>
            </a:pPr>
            <a:r>
              <a:rPr lang="en-US" sz="1050" b="1" dirty="0">
                <a:solidFill>
                  <a:srgbClr val="9E3A24"/>
                </a:solidFill>
                <a:latin typeface="Nunito Sans" pitchFamily="34" charset="0"/>
                <a:ea typeface="Nunito Sans" pitchFamily="34" charset="-122"/>
                <a:cs typeface="Nunito Sans" pitchFamily="34" charset="-120"/>
              </a:rPr>
              <a:t>The uncomfortable finding</a:t>
            </a:r>
            <a:endParaRPr lang="en-US" sz="1050" dirty="0"/>
          </a:p>
        </p:txBody>
      </p:sp>
      <p:sp>
        <p:nvSpPr>
          <p:cNvPr id="62" name="Text 59"/>
          <p:cNvSpPr/>
          <p:nvPr/>
        </p:nvSpPr>
        <p:spPr>
          <a:xfrm>
            <a:off x="6739128" y="4626864"/>
            <a:ext cx="4748479" cy="749808"/>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DHF leads with the claim only 6% find convincing, and barely uses the endorsement 44% name first. Doctor endorsement wins in every segment — 55% of Trusters, 56% of Defaulters, 50% of Fatalists. Only Guardians rank the QR lab report first.</a:t>
            </a:r>
            <a:endParaRPr lang="en-US" sz="900" dirty="0"/>
          </a:p>
        </p:txBody>
      </p:sp>
      <p:sp>
        <p:nvSpPr>
          <p:cNvPr id="63" name="Shape 60"/>
          <p:cNvSpPr/>
          <p:nvPr/>
        </p:nvSpPr>
        <p:spPr>
          <a:xfrm>
            <a:off x="6537960" y="5596128"/>
            <a:ext cx="5150815" cy="960120"/>
          </a:xfrm>
          <a:prstGeom prst="roundRect">
            <a:avLst>
              <a:gd name="adj" fmla="val 9524"/>
            </a:avLst>
          </a:prstGeom>
          <a:solidFill>
            <a:srgbClr val="0C1A2B"/>
          </a:solidFill>
          <a:ln w="15875">
            <a:solidFill>
              <a:srgbClr val="0C1A2B"/>
            </a:solidFill>
            <a:prstDash val="solid"/>
          </a:ln>
          <a:effectLst>
            <a:outerShdw sx="100000" sy="100000" kx="0" ky="0" algn="bl" rotWithShape="0" blurRad="228600" dist="25400" dir="5400000">
              <a:srgbClr val="0C1A2B">
                <a:alpha val="7000"/>
              </a:srgbClr>
            </a:outerShdw>
          </a:effectLst>
        </p:spPr>
      </p:sp>
      <p:sp>
        <p:nvSpPr>
          <p:cNvPr id="64" name="Text 61"/>
          <p:cNvSpPr/>
          <p:nvPr/>
        </p:nvSpPr>
        <p:spPr>
          <a:xfrm>
            <a:off x="6739128" y="5687568"/>
            <a:ext cx="2743200" cy="219456"/>
          </a:xfrm>
          <a:prstGeom prst="rect">
            <a:avLst/>
          </a:prstGeom>
          <a:noFill/>
          <a:ln/>
        </p:spPr>
        <p:txBody>
          <a:bodyPr wrap="square" lIns="0" tIns="0" rIns="0" bIns="0" rtlCol="0" anchor="ctr"/>
          <a:lstStyle/>
          <a:p>
            <a:pPr indent="0" marL="0">
              <a:buNone/>
            </a:pPr>
            <a:r>
              <a:rPr lang="en-US" sz="950" b="1" spc="180" kern="0" dirty="0">
                <a:solidFill>
                  <a:srgbClr val="5FC28C"/>
                </a:solidFill>
                <a:latin typeface="Nunito Sans" pitchFamily="34" charset="0"/>
                <a:ea typeface="Nunito Sans" pitchFamily="34" charset="-122"/>
                <a:cs typeface="Nunito Sans" pitchFamily="34" charset="-120"/>
              </a:rPr>
              <a:t>THE PLAY</a:t>
            </a:r>
            <a:endParaRPr lang="en-US" sz="950" dirty="0"/>
          </a:p>
        </p:txBody>
      </p:sp>
      <p:sp>
        <p:nvSpPr>
          <p:cNvPr id="65" name="Text 62"/>
          <p:cNvSpPr/>
          <p:nvPr/>
        </p:nvSpPr>
        <p:spPr>
          <a:xfrm>
            <a:off x="6739128" y="5907024"/>
            <a:ext cx="4748479" cy="566928"/>
          </a:xfrm>
          <a:prstGeom prst="rect">
            <a:avLst/>
          </a:prstGeom>
          <a:noFill/>
          <a:ln/>
        </p:spPr>
        <p:txBody>
          <a:bodyPr wrap="square" lIns="0" tIns="0" rIns="0" bIns="0" rtlCol="0" anchor="t"/>
          <a:lstStyle/>
          <a:p>
            <a:pPr indent="0" marL="0">
              <a:lnSpc>
                <a:spcPct val="110000"/>
              </a:lnSpc>
              <a:buNone/>
            </a:pPr>
            <a:r>
              <a:rPr lang="en-US" sz="950" dirty="0">
                <a:solidFill>
                  <a:srgbClr val="EEE9E0"/>
                </a:solidFill>
                <a:latin typeface="Nunito Sans" pitchFamily="34" charset="0"/>
                <a:ea typeface="Nunito Sans" pitchFamily="34" charset="-122"/>
                <a:cs typeface="Nunito Sans" pitchFamily="34" charset="-120"/>
              </a:rPr>
              <a:t>Win Guardians with proof → convert their advocacy into the social proof that activates Trusters → ride the combined 56% into default category leadership.</a:t>
            </a:r>
            <a:endParaRPr lang="en-US" sz="950" dirty="0"/>
          </a:p>
        </p:txBody>
      </p:sp>
      <p:sp>
        <p:nvSpPr>
          <p:cNvPr id="66" name="Shape 63"/>
          <p:cNvSpPr/>
          <p:nvPr/>
        </p:nvSpPr>
        <p:spPr>
          <a:xfrm>
            <a:off x="502920" y="6455664"/>
            <a:ext cx="11185855" cy="0"/>
          </a:xfrm>
          <a:prstGeom prst="line">
            <a:avLst/>
          </a:prstGeom>
          <a:noFill/>
          <a:ln w="9525">
            <a:solidFill>
              <a:srgbClr val="E5DCCB"/>
            </a:solidFill>
            <a:prstDash val="solid"/>
          </a:ln>
        </p:spPr>
      </p:sp>
      <p:sp>
        <p:nvSpPr>
          <p:cNvPr id="67" name="Text 64"/>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03 · THE CONSUMER</a:t>
            </a:r>
            <a:endParaRPr lang="en-US" sz="800" dirty="0"/>
          </a:p>
        </p:txBody>
      </p:sp>
      <p:sp>
        <p:nvSpPr>
          <p:cNvPr id="68" name="Text 65"/>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19</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logo.png">    </p:cNvPr>
          <p:cNvPicPr>
            <a:picLocks noChangeAspect="1"/>
          </p:cNvPicPr>
          <p:nvPr/>
        </p:nvPicPr>
        <p:blipFill>
          <a:blip r:embed="rId1"/>
          <a:stretch>
            <a:fillRect/>
          </a:stretch>
        </p:blipFill>
        <p:spPr>
          <a:xfrm>
            <a:off x="10317175" y="457200"/>
            <a:ext cx="1371600" cy="502920"/>
          </a:xfrm>
          <a:prstGeom prst="rect">
            <a:avLst/>
          </a:prstGeom>
        </p:spPr>
      </p:pic>
      <p:sp>
        <p:nvSpPr>
          <p:cNvPr id="3" name="Shape 0"/>
          <p:cNvSpPr/>
          <p:nvPr/>
        </p:nvSpPr>
        <p:spPr>
          <a:xfrm>
            <a:off x="502920" y="2212848"/>
            <a:ext cx="1005840" cy="64008"/>
          </a:xfrm>
          <a:prstGeom prst="rect">
            <a:avLst/>
          </a:prstGeom>
          <a:solidFill>
            <a:srgbClr val="5FC28C"/>
          </a:solidFill>
          <a:ln w="6350">
            <a:solidFill>
              <a:srgbClr val="5FC28C"/>
            </a:solidFill>
            <a:prstDash val="solid"/>
          </a:ln>
        </p:spPr>
      </p:sp>
      <p:sp>
        <p:nvSpPr>
          <p:cNvPr id="4" name="Text 1"/>
          <p:cNvSpPr/>
          <p:nvPr/>
        </p:nvSpPr>
        <p:spPr>
          <a:xfrm>
            <a:off x="502920" y="2432304"/>
            <a:ext cx="7315200" cy="256032"/>
          </a:xfrm>
          <a:prstGeom prst="rect">
            <a:avLst/>
          </a:prstGeom>
          <a:noFill/>
          <a:ln/>
        </p:spPr>
        <p:txBody>
          <a:bodyPr wrap="square" lIns="0" tIns="0" rIns="0" bIns="0" rtlCol="0" anchor="ctr"/>
          <a:lstStyle/>
          <a:p>
            <a:pPr indent="0" marL="0">
              <a:buNone/>
            </a:pPr>
            <a:r>
              <a:rPr lang="en-US" sz="950" b="1" spc="260" kern="0" dirty="0">
                <a:solidFill>
                  <a:srgbClr val="5FC28C"/>
                </a:solidFill>
                <a:latin typeface="Nunito Sans" pitchFamily="34" charset="0"/>
                <a:ea typeface="Nunito Sans" pitchFamily="34" charset="-122"/>
                <a:cs typeface="Nunito Sans" pitchFamily="34" charset="-120"/>
              </a:rPr>
              <a:t>THE FINDING IN PART 03</a:t>
            </a:r>
            <a:endParaRPr lang="en-US" sz="950" dirty="0"/>
          </a:p>
        </p:txBody>
      </p:sp>
      <p:sp>
        <p:nvSpPr>
          <p:cNvPr id="5" name="Text 2"/>
          <p:cNvSpPr/>
          <p:nvPr/>
        </p:nvSpPr>
        <p:spPr>
          <a:xfrm>
            <a:off x="502920" y="2788920"/>
            <a:ext cx="9509760" cy="1920240"/>
          </a:xfrm>
          <a:prstGeom prst="rect">
            <a:avLst/>
          </a:prstGeom>
          <a:noFill/>
          <a:ln/>
        </p:spPr>
        <p:txBody>
          <a:bodyPr wrap="square" lIns="0" tIns="0" rIns="0" bIns="0" rtlCol="0" anchor="t"/>
          <a:lstStyle/>
          <a:p>
            <a:pPr indent="0" marL="0">
              <a:lnSpc>
                <a:spcPct val="106000"/>
              </a:lnSpc>
              <a:buNone/>
            </a:pPr>
            <a:r>
              <a:rPr lang="en-US" sz="3000" dirty="0">
                <a:solidFill>
                  <a:srgbClr val="FFFFFF"/>
                </a:solidFill>
                <a:latin typeface="Archivo Black" pitchFamily="34" charset="0"/>
                <a:ea typeface="Archivo Black" pitchFamily="34" charset="-122"/>
                <a:cs typeface="Archivo Black" pitchFamily="34" charset="-120"/>
              </a:rPr>
              <a:t>Stated willingness to pay under distrust is a floor, not a ceiling.</a:t>
            </a:r>
            <a:endParaRPr lang="en-US" sz="3000" dirty="0"/>
          </a:p>
        </p:txBody>
      </p:sp>
      <p:sp>
        <p:nvSpPr>
          <p:cNvPr id="6" name="Text 3"/>
          <p:cNvSpPr/>
          <p:nvPr/>
        </p:nvSpPr>
        <p:spPr>
          <a:xfrm>
            <a:off x="502920" y="4846320"/>
            <a:ext cx="7863840" cy="457200"/>
          </a:xfrm>
          <a:prstGeom prst="rect">
            <a:avLst/>
          </a:prstGeom>
          <a:noFill/>
          <a:ln/>
        </p:spPr>
        <p:txBody>
          <a:bodyPr wrap="square" lIns="0" tIns="0" rIns="0" bIns="0" rtlCol="0" anchor="t"/>
          <a:lstStyle/>
          <a:p>
            <a:pPr indent="0" marL="0">
              <a:lnSpc>
                <a:spcPct val="112000"/>
              </a:lnSpc>
              <a:buNone/>
            </a:pPr>
            <a:r>
              <a:rPr lang="en-US" sz="1200" dirty="0">
                <a:solidFill>
                  <a:srgbClr val="A9B6C7"/>
                </a:solidFill>
                <a:latin typeface="Nunito Sans" pitchFamily="34" charset="0"/>
                <a:ea typeface="Nunito Sans" pitchFamily="34" charset="-122"/>
                <a:cs typeface="Nunito Sans" pitchFamily="34" charset="-120"/>
              </a:rPr>
              <a:t>Roughly half of buyers say they would pay nothing extra, and give the reason: they do not trust the claims. Yet 60% would pay 20–30% more if someone they trusted had independently verified it.</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div-04.jpg">    </p:cNvPr>
          <p:cNvPicPr>
            <a:picLocks noChangeAspect="1"/>
          </p:cNvPicPr>
          <p:nvPr/>
        </p:nvPicPr>
        <p:blipFill>
          <a:blip r:embed="rId1"/>
          <a:srcRect l="0" r="0" t="0" b="0"/>
          <a:stretch/>
        </p:blipFill>
        <p:spPr>
          <a:xfrm>
            <a:off x="0" y="0"/>
            <a:ext cx="12191695" cy="6858000"/>
          </a:xfrm>
          <a:prstGeom prst="rect">
            <a:avLst/>
          </a:prstGeom>
        </p:spPr>
      </p:pic>
      <p:pic>
        <p:nvPicPr>
          <p:cNvPr id="3" name="Image 1" descr="/home/user/hopper-tessarakt/site/assets/logo.png">    </p:cNvPr>
          <p:cNvPicPr>
            <a:picLocks noChangeAspect="1"/>
          </p:cNvPicPr>
          <p:nvPr/>
        </p:nvPicPr>
        <p:blipFill>
          <a:blip r:embed="rId2"/>
          <a:stretch>
            <a:fillRect/>
          </a:stretch>
        </p:blipFill>
        <p:spPr>
          <a:xfrm>
            <a:off x="10317175" y="457200"/>
            <a:ext cx="1371600" cy="502920"/>
          </a:xfrm>
          <a:prstGeom prst="rect">
            <a:avLst/>
          </a:prstGeom>
        </p:spPr>
      </p:pic>
      <p:sp>
        <p:nvSpPr>
          <p:cNvPr id="4" name="Text 0"/>
          <p:cNvSpPr/>
          <p:nvPr/>
        </p:nvSpPr>
        <p:spPr>
          <a:xfrm>
            <a:off x="502920" y="3200400"/>
            <a:ext cx="5486400" cy="274320"/>
          </a:xfrm>
          <a:prstGeom prst="rect">
            <a:avLst/>
          </a:prstGeom>
          <a:noFill/>
          <a:ln/>
        </p:spPr>
        <p:txBody>
          <a:bodyPr wrap="square" lIns="0" tIns="0" rIns="0" bIns="0" rtlCol="0" anchor="ctr"/>
          <a:lstStyle/>
          <a:p>
            <a:pPr indent="0" marL="0">
              <a:buNone/>
            </a:pPr>
            <a:r>
              <a:rPr lang="en-US" sz="1000" b="1" spc="320" kern="0" dirty="0">
                <a:solidFill>
                  <a:srgbClr val="5FC28C"/>
                </a:solidFill>
                <a:latin typeface="Nunito Sans" pitchFamily="34" charset="0"/>
                <a:ea typeface="Nunito Sans" pitchFamily="34" charset="-122"/>
                <a:cs typeface="Nunito Sans" pitchFamily="34" charset="-120"/>
              </a:rPr>
              <a:t>PART 04</a:t>
            </a:r>
            <a:endParaRPr lang="en-US" sz="1000" dirty="0"/>
          </a:p>
        </p:txBody>
      </p:sp>
      <p:sp>
        <p:nvSpPr>
          <p:cNvPr id="5" name="Text 1"/>
          <p:cNvSpPr/>
          <p:nvPr/>
        </p:nvSpPr>
        <p:spPr>
          <a:xfrm>
            <a:off x="502920" y="3529584"/>
            <a:ext cx="8595360" cy="960120"/>
          </a:xfrm>
          <a:prstGeom prst="rect">
            <a:avLst/>
          </a:prstGeom>
          <a:noFill/>
          <a:ln/>
        </p:spPr>
        <p:txBody>
          <a:bodyPr wrap="square" lIns="0" tIns="0" rIns="0" bIns="0" rtlCol="0" anchor="t"/>
          <a:lstStyle/>
          <a:p>
            <a:pPr indent="0" marL="0">
              <a:buNone/>
            </a:pPr>
            <a:r>
              <a:rPr lang="en-US" sz="4000" dirty="0">
                <a:solidFill>
                  <a:srgbClr val="FFFFFF"/>
                </a:solidFill>
                <a:latin typeface="Archivo Black" pitchFamily="34" charset="0"/>
                <a:ea typeface="Archivo Black" pitchFamily="34" charset="-122"/>
                <a:cs typeface="Archivo Black" pitchFamily="34" charset="-120"/>
              </a:rPr>
              <a:t>Brand &amp; Proof</a:t>
            </a:r>
            <a:endParaRPr lang="en-US" sz="4000" dirty="0"/>
          </a:p>
        </p:txBody>
      </p:sp>
      <p:sp>
        <p:nvSpPr>
          <p:cNvPr id="6" name="Text 2"/>
          <p:cNvSpPr/>
          <p:nvPr/>
        </p:nvSpPr>
        <p:spPr>
          <a:xfrm>
            <a:off x="502920" y="4553712"/>
            <a:ext cx="7498080" cy="457200"/>
          </a:xfrm>
          <a:prstGeom prst="rect">
            <a:avLst/>
          </a:prstGeom>
          <a:noFill/>
          <a:ln/>
        </p:spPr>
        <p:txBody>
          <a:bodyPr wrap="square" lIns="0" tIns="0" rIns="0" bIns="0" rtlCol="0" anchor="t"/>
          <a:lstStyle/>
          <a:p>
            <a:pPr indent="0" marL="0">
              <a:lnSpc>
                <a:spcPct val="114000"/>
              </a:lnSpc>
              <a:buNone/>
            </a:pPr>
            <a:r>
              <a:rPr lang="en-US" sz="1300" dirty="0">
                <a:solidFill>
                  <a:srgbClr val="A9B6C7"/>
                </a:solidFill>
                <a:latin typeface="Nunito Sans" pitchFamily="34" charset="0"/>
                <a:ea typeface="Nunito Sans" pitchFamily="34" charset="-122"/>
                <a:cs typeface="Nunito Sans" pitchFamily="34" charset="-120"/>
              </a:rPr>
              <a:t>Turning a back-end quality system into the thing a shopper can actually check.</a:t>
            </a:r>
            <a:endParaRPr lang="en-US" sz="1300" dirty="0"/>
          </a:p>
        </p:txBody>
      </p:sp>
      <p:sp>
        <p:nvSpPr>
          <p:cNvPr id="7" name="Shape 3"/>
          <p:cNvSpPr/>
          <p:nvPr/>
        </p:nvSpPr>
        <p:spPr>
          <a:xfrm>
            <a:off x="502920" y="5413248"/>
            <a:ext cx="3362858" cy="0"/>
          </a:xfrm>
          <a:prstGeom prst="line">
            <a:avLst/>
          </a:prstGeom>
          <a:noFill/>
          <a:ln w="9525">
            <a:solidFill>
              <a:srgbClr val="FFFFFF">
                <a:alpha val="28000"/>
              </a:srgbClr>
            </a:solidFill>
            <a:prstDash val="solid"/>
          </a:ln>
        </p:spPr>
      </p:sp>
      <p:sp>
        <p:nvSpPr>
          <p:cNvPr id="8" name="Text 4"/>
          <p:cNvSpPr/>
          <p:nvPr/>
        </p:nvSpPr>
        <p:spPr>
          <a:xfrm>
            <a:off x="502920"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The manifesto, the purpose, the positioning</a:t>
            </a:r>
            <a:endParaRPr lang="en-US" sz="950" dirty="0"/>
          </a:p>
        </p:txBody>
      </p:sp>
      <p:sp>
        <p:nvSpPr>
          <p:cNvPr id="9" name="Shape 5"/>
          <p:cNvSpPr/>
          <p:nvPr/>
        </p:nvSpPr>
        <p:spPr>
          <a:xfrm>
            <a:off x="4231538" y="5413248"/>
            <a:ext cx="3362858" cy="0"/>
          </a:xfrm>
          <a:prstGeom prst="line">
            <a:avLst/>
          </a:prstGeom>
          <a:noFill/>
          <a:ln w="9525">
            <a:solidFill>
              <a:srgbClr val="FFFFFF">
                <a:alpha val="28000"/>
              </a:srgbClr>
            </a:solidFill>
            <a:prstDash val="solid"/>
          </a:ln>
        </p:spPr>
      </p:sp>
      <p:sp>
        <p:nvSpPr>
          <p:cNvPr id="10" name="Text 6"/>
          <p:cNvSpPr/>
          <p:nvPr/>
        </p:nvSpPr>
        <p:spPr>
          <a:xfrm>
            <a:off x="4231538"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Farmers in the spotlight, not the certificate</a:t>
            </a:r>
            <a:endParaRPr lang="en-US" sz="950" dirty="0"/>
          </a:p>
        </p:txBody>
      </p:sp>
      <p:sp>
        <p:nvSpPr>
          <p:cNvPr id="11" name="Shape 7"/>
          <p:cNvSpPr/>
          <p:nvPr/>
        </p:nvSpPr>
        <p:spPr>
          <a:xfrm>
            <a:off x="7960157" y="5413248"/>
            <a:ext cx="3362858" cy="0"/>
          </a:xfrm>
          <a:prstGeom prst="line">
            <a:avLst/>
          </a:prstGeom>
          <a:noFill/>
          <a:ln w="9525">
            <a:solidFill>
              <a:srgbClr val="FFFFFF">
                <a:alpha val="28000"/>
              </a:srgbClr>
            </a:solidFill>
            <a:prstDash val="solid"/>
          </a:ln>
        </p:spPr>
      </p:sp>
      <p:sp>
        <p:nvSpPr>
          <p:cNvPr id="12" name="Text 8"/>
          <p:cNvSpPr/>
          <p:nvPr/>
        </p:nvSpPr>
        <p:spPr>
          <a:xfrm>
            <a:off x="7960157"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One standard, four communication deliveries</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1801368"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1801368"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THE SHELF TODAY</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Every shelf uses a different, often unverifiable claim.</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They contradict each other, none can be checked, and the shopper responds the only way she can — by discounting all of them equally. Generic language does not add trust; it adds noise.</a:t>
            </a:r>
            <a:endParaRPr lang="en-US" sz="1100" dirty="0"/>
          </a:p>
        </p:txBody>
      </p:sp>
      <p:sp>
        <p:nvSpPr>
          <p:cNvPr id="7" name="Text 4"/>
          <p:cNvSpPr/>
          <p:nvPr/>
        </p:nvSpPr>
        <p:spPr>
          <a:xfrm>
            <a:off x="502920" y="2121408"/>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CLAIMS ALREADY ON SHELF</a:t>
            </a:r>
            <a:endParaRPr lang="en-US" sz="950" dirty="0"/>
          </a:p>
        </p:txBody>
      </p:sp>
      <p:sp>
        <p:nvSpPr>
          <p:cNvPr id="8" name="Shape 5"/>
          <p:cNvSpPr/>
          <p:nvPr/>
        </p:nvSpPr>
        <p:spPr>
          <a:xfrm>
            <a:off x="502920" y="2432304"/>
            <a:ext cx="1671523" cy="329184"/>
          </a:xfrm>
          <a:prstGeom prst="roundRect">
            <a:avLst>
              <a:gd name="adj" fmla="val 50000"/>
            </a:avLst>
          </a:prstGeom>
          <a:solidFill>
            <a:srgbClr val="FFFFFF"/>
          </a:solidFill>
          <a:ln w="9525">
            <a:solidFill>
              <a:srgbClr val="E5DCCB"/>
            </a:solidFill>
            <a:prstDash val="dash"/>
          </a:ln>
        </p:spPr>
      </p:sp>
      <p:sp>
        <p:nvSpPr>
          <p:cNvPr id="9" name="Text 6"/>
          <p:cNvSpPr/>
          <p:nvPr/>
        </p:nvSpPr>
        <p:spPr>
          <a:xfrm>
            <a:off x="502920" y="2432304"/>
            <a:ext cx="1671523"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Farmer-face labelling</a:t>
            </a:r>
            <a:endParaRPr lang="en-US" sz="900" dirty="0"/>
          </a:p>
        </p:txBody>
      </p:sp>
      <p:sp>
        <p:nvSpPr>
          <p:cNvPr id="10" name="Shape 7"/>
          <p:cNvSpPr/>
          <p:nvPr/>
        </p:nvSpPr>
        <p:spPr>
          <a:xfrm>
            <a:off x="2284171" y="2432304"/>
            <a:ext cx="1298448" cy="329184"/>
          </a:xfrm>
          <a:prstGeom prst="roundRect">
            <a:avLst>
              <a:gd name="adj" fmla="val 50000"/>
            </a:avLst>
          </a:prstGeom>
          <a:solidFill>
            <a:srgbClr val="FFFFFF"/>
          </a:solidFill>
          <a:ln w="9525">
            <a:solidFill>
              <a:srgbClr val="E5DCCB"/>
            </a:solidFill>
            <a:prstDash val="dash"/>
          </a:ln>
        </p:spPr>
      </p:sp>
      <p:sp>
        <p:nvSpPr>
          <p:cNvPr id="11" name="Text 8"/>
          <p:cNvSpPr/>
          <p:nvPr/>
        </p:nvSpPr>
        <p:spPr>
          <a:xfrm>
            <a:off x="2284171" y="2432304"/>
            <a:ext cx="1298448"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Naturally grown</a:t>
            </a:r>
            <a:endParaRPr lang="en-US" sz="900" dirty="0"/>
          </a:p>
        </p:txBody>
      </p:sp>
      <p:sp>
        <p:nvSpPr>
          <p:cNvPr id="12" name="Shape 9"/>
          <p:cNvSpPr/>
          <p:nvPr/>
        </p:nvSpPr>
        <p:spPr>
          <a:xfrm>
            <a:off x="3692347" y="2432304"/>
            <a:ext cx="987552" cy="329184"/>
          </a:xfrm>
          <a:prstGeom prst="roundRect">
            <a:avLst>
              <a:gd name="adj" fmla="val 50000"/>
            </a:avLst>
          </a:prstGeom>
          <a:solidFill>
            <a:srgbClr val="FFFFFF"/>
          </a:solidFill>
          <a:ln w="9525">
            <a:solidFill>
              <a:srgbClr val="E5DCCB"/>
            </a:solidFill>
            <a:prstDash val="dash"/>
          </a:ln>
        </p:spPr>
      </p:sp>
      <p:sp>
        <p:nvSpPr>
          <p:cNvPr id="13" name="Text 10"/>
          <p:cNvSpPr/>
          <p:nvPr/>
        </p:nvSpPr>
        <p:spPr>
          <a:xfrm>
            <a:off x="3692347" y="2432304"/>
            <a:ext cx="987552"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Unpolished</a:t>
            </a:r>
            <a:endParaRPr lang="en-US" sz="900" dirty="0"/>
          </a:p>
        </p:txBody>
      </p:sp>
      <p:sp>
        <p:nvSpPr>
          <p:cNvPr id="14" name="Shape 11"/>
          <p:cNvSpPr/>
          <p:nvPr/>
        </p:nvSpPr>
        <p:spPr>
          <a:xfrm>
            <a:off x="502920" y="2834640"/>
            <a:ext cx="1484986" cy="329184"/>
          </a:xfrm>
          <a:prstGeom prst="roundRect">
            <a:avLst>
              <a:gd name="adj" fmla="val 50000"/>
            </a:avLst>
          </a:prstGeom>
          <a:solidFill>
            <a:srgbClr val="FFFFFF"/>
          </a:solidFill>
          <a:ln w="9525">
            <a:solidFill>
              <a:srgbClr val="E5DCCB"/>
            </a:solidFill>
            <a:prstDash val="dash"/>
          </a:ln>
        </p:spPr>
      </p:sp>
      <p:sp>
        <p:nvSpPr>
          <p:cNvPr id="15" name="Text 12"/>
          <p:cNvSpPr/>
          <p:nvPr/>
        </p:nvSpPr>
        <p:spPr>
          <a:xfrm>
            <a:off x="502920" y="2834640"/>
            <a:ext cx="1484986"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Certification seal</a:t>
            </a:r>
            <a:endParaRPr lang="en-US" sz="900" dirty="0"/>
          </a:p>
        </p:txBody>
      </p:sp>
      <p:sp>
        <p:nvSpPr>
          <p:cNvPr id="16" name="Shape 13"/>
          <p:cNvSpPr/>
          <p:nvPr/>
        </p:nvSpPr>
        <p:spPr>
          <a:xfrm>
            <a:off x="2097634" y="2834640"/>
            <a:ext cx="1484986" cy="329184"/>
          </a:xfrm>
          <a:prstGeom prst="roundRect">
            <a:avLst>
              <a:gd name="adj" fmla="val 50000"/>
            </a:avLst>
          </a:prstGeom>
          <a:solidFill>
            <a:srgbClr val="FFFFFF"/>
          </a:solidFill>
          <a:ln w="9525">
            <a:solidFill>
              <a:srgbClr val="E5DCCB"/>
            </a:solidFill>
            <a:prstDash val="dash"/>
          </a:ln>
        </p:spPr>
      </p:sp>
      <p:sp>
        <p:nvSpPr>
          <p:cNvPr id="17" name="Text 14"/>
          <p:cNvSpPr/>
          <p:nvPr/>
        </p:nvSpPr>
        <p:spPr>
          <a:xfrm>
            <a:off x="2097634" y="2834640"/>
            <a:ext cx="1484986"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Direct from farmer</a:t>
            </a:r>
            <a:endParaRPr lang="en-US" sz="900" dirty="0"/>
          </a:p>
        </p:txBody>
      </p:sp>
      <p:sp>
        <p:nvSpPr>
          <p:cNvPr id="18" name="Shape 15"/>
          <p:cNvSpPr/>
          <p:nvPr/>
        </p:nvSpPr>
        <p:spPr>
          <a:xfrm>
            <a:off x="3692347" y="2834640"/>
            <a:ext cx="1111910" cy="329184"/>
          </a:xfrm>
          <a:prstGeom prst="roundRect">
            <a:avLst>
              <a:gd name="adj" fmla="val 50000"/>
            </a:avLst>
          </a:prstGeom>
          <a:solidFill>
            <a:srgbClr val="FFFFFF"/>
          </a:solidFill>
          <a:ln w="9525">
            <a:solidFill>
              <a:srgbClr val="E5DCCB"/>
            </a:solidFill>
            <a:prstDash val="dash"/>
          </a:ln>
        </p:spPr>
      </p:sp>
      <p:sp>
        <p:nvSpPr>
          <p:cNvPr id="19" name="Text 16"/>
          <p:cNvSpPr/>
          <p:nvPr/>
        </p:nvSpPr>
        <p:spPr>
          <a:xfrm>
            <a:off x="3692347" y="2834640"/>
            <a:ext cx="1111910"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100% Natural</a:t>
            </a:r>
            <a:endParaRPr lang="en-US" sz="900" dirty="0"/>
          </a:p>
        </p:txBody>
      </p:sp>
      <p:sp>
        <p:nvSpPr>
          <p:cNvPr id="20" name="Shape 17"/>
          <p:cNvSpPr/>
          <p:nvPr/>
        </p:nvSpPr>
        <p:spPr>
          <a:xfrm>
            <a:off x="502920" y="3236976"/>
            <a:ext cx="1547165" cy="329184"/>
          </a:xfrm>
          <a:prstGeom prst="roundRect">
            <a:avLst>
              <a:gd name="adj" fmla="val 50000"/>
            </a:avLst>
          </a:prstGeom>
          <a:solidFill>
            <a:srgbClr val="FFFFFF"/>
          </a:solidFill>
          <a:ln w="9525">
            <a:solidFill>
              <a:srgbClr val="E5DCCB"/>
            </a:solidFill>
            <a:prstDash val="dash"/>
          </a:ln>
        </p:spPr>
      </p:sp>
      <p:sp>
        <p:nvSpPr>
          <p:cNvPr id="21" name="Text 18"/>
          <p:cNvSpPr/>
          <p:nvPr/>
        </p:nvSpPr>
        <p:spPr>
          <a:xfrm>
            <a:off x="502920" y="3236976"/>
            <a:ext cx="1547165"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Personal provenance</a:t>
            </a:r>
            <a:endParaRPr lang="en-US" sz="900" dirty="0"/>
          </a:p>
        </p:txBody>
      </p:sp>
      <p:sp>
        <p:nvSpPr>
          <p:cNvPr id="22" name="Shape 19"/>
          <p:cNvSpPr/>
          <p:nvPr/>
        </p:nvSpPr>
        <p:spPr>
          <a:xfrm>
            <a:off x="2159813" y="3236976"/>
            <a:ext cx="1174090" cy="329184"/>
          </a:xfrm>
          <a:prstGeom prst="roundRect">
            <a:avLst>
              <a:gd name="adj" fmla="val 50000"/>
            </a:avLst>
          </a:prstGeom>
          <a:solidFill>
            <a:srgbClr val="FFFFFF"/>
          </a:solidFill>
          <a:ln w="9525">
            <a:solidFill>
              <a:srgbClr val="E5DCCB"/>
            </a:solidFill>
            <a:prstDash val="dash"/>
          </a:ln>
        </p:spPr>
      </p:sp>
      <p:sp>
        <p:nvSpPr>
          <p:cNvPr id="23" name="Text 20"/>
          <p:cNvSpPr/>
          <p:nvPr/>
        </p:nvSpPr>
        <p:spPr>
          <a:xfrm>
            <a:off x="2159813" y="3236976"/>
            <a:ext cx="1174090"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Chemical-free</a:t>
            </a:r>
            <a:endParaRPr lang="en-US" sz="900" dirty="0"/>
          </a:p>
        </p:txBody>
      </p:sp>
      <p:sp>
        <p:nvSpPr>
          <p:cNvPr id="24" name="Shape 21"/>
          <p:cNvSpPr/>
          <p:nvPr/>
        </p:nvSpPr>
        <p:spPr>
          <a:xfrm>
            <a:off x="3443630" y="3236976"/>
            <a:ext cx="987552" cy="329184"/>
          </a:xfrm>
          <a:prstGeom prst="roundRect">
            <a:avLst>
              <a:gd name="adj" fmla="val 50000"/>
            </a:avLst>
          </a:prstGeom>
          <a:solidFill>
            <a:srgbClr val="FFFFFF"/>
          </a:solidFill>
          <a:ln w="9525">
            <a:solidFill>
              <a:srgbClr val="E5DCCB"/>
            </a:solidFill>
            <a:prstDash val="dash"/>
          </a:ln>
        </p:spPr>
      </p:sp>
      <p:sp>
        <p:nvSpPr>
          <p:cNvPr id="25" name="Text 22"/>
          <p:cNvSpPr/>
          <p:nvPr/>
        </p:nvSpPr>
        <p:spPr>
          <a:xfrm>
            <a:off x="3443630" y="3236976"/>
            <a:ext cx="987552" cy="329184"/>
          </a:xfrm>
          <a:prstGeom prst="rect">
            <a:avLst/>
          </a:prstGeom>
          <a:noFill/>
          <a:ln/>
        </p:spPr>
        <p:txBody>
          <a:bodyPr wrap="square" lIns="0" tIns="0" rIns="0" bIns="0" rtlCol="0" anchor="ctr"/>
          <a:lstStyle/>
          <a:p>
            <a:pPr algn="ctr" indent="0" marL="0">
              <a:buNone/>
            </a:pPr>
            <a:r>
              <a:rPr lang="en-US" sz="900" dirty="0">
                <a:solidFill>
                  <a:srgbClr val="54606F"/>
                </a:solidFill>
                <a:latin typeface="Nunito Sans" pitchFamily="34" charset="0"/>
                <a:ea typeface="Nunito Sans" pitchFamily="34" charset="-122"/>
                <a:cs typeface="Nunito Sans" pitchFamily="34" charset="-120"/>
              </a:rPr>
              <a:t>Farm fresh</a:t>
            </a:r>
            <a:endParaRPr lang="en-US" sz="900" dirty="0"/>
          </a:p>
        </p:txBody>
      </p:sp>
      <p:sp>
        <p:nvSpPr>
          <p:cNvPr id="26" name="Text 23"/>
          <p:cNvSpPr/>
          <p:nvPr/>
        </p:nvSpPr>
        <p:spPr>
          <a:xfrm>
            <a:off x="502920" y="3803904"/>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SAME CLAIMS, ON THE SAME AISLE</a:t>
            </a:r>
            <a:endParaRPr lang="en-US" sz="950" dirty="0"/>
          </a:p>
        </p:txBody>
      </p:sp>
      <p:pic>
        <p:nvPicPr>
          <p:cNvPr id="27" name="Image 1" descr="/home/user/hopper-tessarakt/site/assets/shelf-jars.jpg">    </p:cNvPr>
          <p:cNvPicPr>
            <a:picLocks noChangeAspect="1"/>
          </p:cNvPicPr>
          <p:nvPr/>
        </p:nvPicPr>
        <p:blipFill>
          <a:blip r:embed="rId2"/>
          <a:srcRect l="0" r="0" t="0" b="0"/>
          <a:stretch/>
        </p:blipFill>
        <p:spPr>
          <a:xfrm>
            <a:off x="502920" y="4078224"/>
            <a:ext cx="1316736" cy="868680"/>
          </a:xfrm>
          <a:prstGeom prst="rect">
            <a:avLst/>
          </a:prstGeom>
        </p:spPr>
      </p:pic>
      <p:pic>
        <p:nvPicPr>
          <p:cNvPr id="28" name="Image 2" descr="/home/user/hopper-tessarakt/site/assets/shelf-poha.jpg">    </p:cNvPr>
          <p:cNvPicPr>
            <a:picLocks noChangeAspect="1"/>
          </p:cNvPicPr>
          <p:nvPr/>
        </p:nvPicPr>
        <p:blipFill>
          <a:blip r:embed="rId3"/>
          <a:srcRect l="0" r="0" t="0" b="0"/>
          <a:stretch/>
        </p:blipFill>
        <p:spPr>
          <a:xfrm>
            <a:off x="1947672" y="4078224"/>
            <a:ext cx="1316736" cy="868680"/>
          </a:xfrm>
          <a:prstGeom prst="rect">
            <a:avLst/>
          </a:prstGeom>
        </p:spPr>
      </p:pic>
      <p:pic>
        <p:nvPicPr>
          <p:cNvPr id="29" name="Image 3" descr="/home/user/hopper-tessarakt/site/assets/shelf-twobrothers.jpg">    </p:cNvPr>
          <p:cNvPicPr>
            <a:picLocks noChangeAspect="1"/>
          </p:cNvPicPr>
          <p:nvPr/>
        </p:nvPicPr>
        <p:blipFill>
          <a:blip r:embed="rId4"/>
          <a:srcRect l="0" r="0" t="0" b="0"/>
          <a:stretch/>
        </p:blipFill>
        <p:spPr>
          <a:xfrm>
            <a:off x="3392424" y="4078224"/>
            <a:ext cx="1316736" cy="868680"/>
          </a:xfrm>
          <a:prstGeom prst="rect">
            <a:avLst/>
          </a:prstGeom>
        </p:spPr>
      </p:pic>
      <p:pic>
        <p:nvPicPr>
          <p:cNvPr id="30" name="Image 4" descr="/home/user/hopper-tessarakt/site/assets/shelf-tribalveda.jpg">    </p:cNvPr>
          <p:cNvPicPr>
            <a:picLocks noChangeAspect="1"/>
          </p:cNvPicPr>
          <p:nvPr/>
        </p:nvPicPr>
        <p:blipFill>
          <a:blip r:embed="rId5"/>
          <a:srcRect l="0" r="0" t="0" b="0"/>
          <a:stretch/>
        </p:blipFill>
        <p:spPr>
          <a:xfrm>
            <a:off x="4837176" y="4078224"/>
            <a:ext cx="1316736" cy="868680"/>
          </a:xfrm>
          <a:prstGeom prst="rect">
            <a:avLst/>
          </a:prstGeom>
        </p:spPr>
      </p:pic>
      <p:sp>
        <p:nvSpPr>
          <p:cNvPr id="31" name="Shape 24"/>
          <p:cNvSpPr/>
          <p:nvPr/>
        </p:nvSpPr>
        <p:spPr>
          <a:xfrm>
            <a:off x="502920" y="5120640"/>
            <a:ext cx="5669280" cy="749808"/>
          </a:xfrm>
          <a:prstGeom prst="roundRect">
            <a:avLst>
              <a:gd name="adj" fmla="val 12195"/>
            </a:avLst>
          </a:prstGeom>
          <a:solidFill>
            <a:srgbClr val="E4F2EA"/>
          </a:solidFill>
          <a:ln w="6350">
            <a:solidFill>
              <a:srgbClr val="E4F2EA"/>
            </a:solidFill>
            <a:prstDash val="solid"/>
          </a:ln>
        </p:spPr>
      </p:sp>
      <p:sp>
        <p:nvSpPr>
          <p:cNvPr id="32" name="Text 25"/>
          <p:cNvSpPr/>
          <p:nvPr/>
        </p:nvSpPr>
        <p:spPr>
          <a:xfrm>
            <a:off x="704088" y="5239512"/>
            <a:ext cx="5266944" cy="219456"/>
          </a:xfrm>
          <a:prstGeom prst="rect">
            <a:avLst/>
          </a:prstGeom>
          <a:noFill/>
          <a:ln/>
        </p:spPr>
        <p:txBody>
          <a:bodyPr wrap="square" lIns="0" tIns="0" rIns="0" bIns="0" rtlCol="0" anchor="t"/>
          <a:lstStyle/>
          <a:p>
            <a:pPr indent="0" marL="0">
              <a:lnSpc>
                <a:spcPct val="102000"/>
              </a:lnSpc>
              <a:buNone/>
            </a:pPr>
            <a:r>
              <a:rPr lang="en-US" sz="1050" b="1" dirty="0">
                <a:solidFill>
                  <a:srgbClr val="177A46"/>
                </a:solidFill>
                <a:latin typeface="Nunito Sans" pitchFamily="34" charset="0"/>
                <a:ea typeface="Nunito Sans" pitchFamily="34" charset="-122"/>
                <a:cs typeface="Nunito Sans" pitchFamily="34" charset="-120"/>
              </a:rPr>
              <a:t>DHF's edge is specific.</a:t>
            </a:r>
            <a:endParaRPr lang="en-US" sz="1050" dirty="0"/>
          </a:p>
        </p:txBody>
      </p:sp>
      <p:sp>
        <p:nvSpPr>
          <p:cNvPr id="33" name="Text 26"/>
          <p:cNvSpPr/>
          <p:nvPr/>
        </p:nvSpPr>
        <p:spPr>
          <a:xfrm>
            <a:off x="704088" y="5486400"/>
            <a:ext cx="5266944" cy="292608"/>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Not another adjective — a verifiable proof mechanism: a QR code, a batch, and a lab result the shopper can open in three seconds.</a:t>
            </a:r>
            <a:endParaRPr lang="en-US" sz="900" dirty="0"/>
          </a:p>
        </p:txBody>
      </p:sp>
      <p:sp>
        <p:nvSpPr>
          <p:cNvPr id="34" name="Text 27"/>
          <p:cNvSpPr/>
          <p:nvPr/>
        </p:nvSpPr>
        <p:spPr>
          <a:xfrm>
            <a:off x="6537960" y="2121408"/>
            <a:ext cx="5150815"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MEDIA IS BUILDING THE CASE FOR VERIFIED PROOF</a:t>
            </a:r>
            <a:endParaRPr lang="en-US" sz="950" dirty="0"/>
          </a:p>
        </p:txBody>
      </p:sp>
      <p:pic>
        <p:nvPicPr>
          <p:cNvPr id="35" name="Image 5" descr="/home/user/hopper-tessarakt/site/assets/news-ndtv.jpg">    </p:cNvPr>
          <p:cNvPicPr>
            <a:picLocks noChangeAspect="1"/>
          </p:cNvPicPr>
          <p:nvPr/>
        </p:nvPicPr>
        <p:blipFill>
          <a:blip r:embed="rId6"/>
          <a:srcRect l="0" r="0" t="0" b="0"/>
          <a:stretch/>
        </p:blipFill>
        <p:spPr>
          <a:xfrm>
            <a:off x="6537960" y="2432304"/>
            <a:ext cx="1595018" cy="960120"/>
          </a:xfrm>
          <a:prstGeom prst="rect">
            <a:avLst/>
          </a:prstGeom>
        </p:spPr>
      </p:pic>
      <p:sp>
        <p:nvSpPr>
          <p:cNvPr id="36" name="Text 28"/>
          <p:cNvSpPr/>
          <p:nvPr/>
        </p:nvSpPr>
        <p:spPr>
          <a:xfrm>
            <a:off x="6537960" y="3419856"/>
            <a:ext cx="1595018" cy="365760"/>
          </a:xfrm>
          <a:prstGeom prst="rect">
            <a:avLst/>
          </a:prstGeom>
          <a:noFill/>
          <a:ln/>
        </p:spPr>
        <p:txBody>
          <a:bodyPr wrap="square" lIns="0" tIns="0" rIns="0" bIns="0" rtlCol="0" anchor="t"/>
          <a:lstStyle/>
          <a:p>
            <a:pPr indent="0" marL="0">
              <a:lnSpc>
                <a:spcPct val="105000"/>
              </a:lnSpc>
              <a:buNone/>
            </a:pPr>
            <a:r>
              <a:rPr lang="en-US" sz="750" dirty="0">
                <a:solidFill>
                  <a:srgbClr val="54606F"/>
                </a:solidFill>
                <a:latin typeface="Nunito Sans" pitchFamily="34" charset="0"/>
                <a:ea typeface="Nunito Sans" pitchFamily="34" charset="-122"/>
                <a:cs typeface="Nunito Sans" pitchFamily="34" charset="-120"/>
              </a:rPr>
              <a:t>Market growth, affordability gap</a:t>
            </a:r>
            <a:endParaRPr lang="en-US" sz="750" dirty="0"/>
          </a:p>
        </p:txBody>
      </p:sp>
      <p:pic>
        <p:nvPicPr>
          <p:cNvPr id="37" name="Image 6" descr="/home/user/hopper-tessarakt/site/assets/news-ccpa.jpg">    </p:cNvPr>
          <p:cNvPicPr>
            <a:picLocks noChangeAspect="1"/>
          </p:cNvPicPr>
          <p:nvPr/>
        </p:nvPicPr>
        <p:blipFill>
          <a:blip r:embed="rId7"/>
          <a:srcRect l="0" r="0" t="0" b="0"/>
          <a:stretch/>
        </p:blipFill>
        <p:spPr>
          <a:xfrm>
            <a:off x="8315858" y="2432304"/>
            <a:ext cx="1595018" cy="960120"/>
          </a:xfrm>
          <a:prstGeom prst="rect">
            <a:avLst/>
          </a:prstGeom>
        </p:spPr>
      </p:pic>
      <p:sp>
        <p:nvSpPr>
          <p:cNvPr id="38" name="Text 29"/>
          <p:cNvSpPr/>
          <p:nvPr/>
        </p:nvSpPr>
        <p:spPr>
          <a:xfrm>
            <a:off x="8315858" y="3419856"/>
            <a:ext cx="1595018" cy="365760"/>
          </a:xfrm>
          <a:prstGeom prst="rect">
            <a:avLst/>
          </a:prstGeom>
          <a:noFill/>
          <a:ln/>
        </p:spPr>
        <p:txBody>
          <a:bodyPr wrap="square" lIns="0" tIns="0" rIns="0" bIns="0" rtlCol="0" anchor="t"/>
          <a:lstStyle/>
          <a:p>
            <a:pPr indent="0" marL="0">
              <a:lnSpc>
                <a:spcPct val="105000"/>
              </a:lnSpc>
              <a:buNone/>
            </a:pPr>
            <a:r>
              <a:rPr lang="en-US" sz="750" dirty="0">
                <a:solidFill>
                  <a:srgbClr val="54606F"/>
                </a:solidFill>
                <a:latin typeface="Nunito Sans" pitchFamily="34" charset="0"/>
                <a:ea typeface="Nunito Sans" pitchFamily="34" charset="-122"/>
                <a:cs typeface="Nunito Sans" pitchFamily="34" charset="-120"/>
              </a:rPr>
              <a:t>Regulatory crackdown</a:t>
            </a:r>
            <a:endParaRPr lang="en-US" sz="750" dirty="0"/>
          </a:p>
        </p:txBody>
      </p:sp>
      <p:pic>
        <p:nvPicPr>
          <p:cNvPr id="39" name="Image 7" descr="/home/user/hopper-tessarakt/site/assets/news-b.jpg">    </p:cNvPr>
          <p:cNvPicPr>
            <a:picLocks noChangeAspect="1"/>
          </p:cNvPicPr>
          <p:nvPr/>
        </p:nvPicPr>
        <p:blipFill>
          <a:blip r:embed="rId8"/>
          <a:srcRect l="0" r="0" t="0" b="0"/>
          <a:stretch/>
        </p:blipFill>
        <p:spPr>
          <a:xfrm>
            <a:off x="10093757" y="2432304"/>
            <a:ext cx="1595018" cy="960120"/>
          </a:xfrm>
          <a:prstGeom prst="rect">
            <a:avLst/>
          </a:prstGeom>
        </p:spPr>
      </p:pic>
      <p:sp>
        <p:nvSpPr>
          <p:cNvPr id="40" name="Text 30"/>
          <p:cNvSpPr/>
          <p:nvPr/>
        </p:nvSpPr>
        <p:spPr>
          <a:xfrm>
            <a:off x="10093757" y="3419856"/>
            <a:ext cx="1595018" cy="365760"/>
          </a:xfrm>
          <a:prstGeom prst="rect">
            <a:avLst/>
          </a:prstGeom>
          <a:noFill/>
          <a:ln/>
        </p:spPr>
        <p:txBody>
          <a:bodyPr wrap="square" lIns="0" tIns="0" rIns="0" bIns="0" rtlCol="0" anchor="t"/>
          <a:lstStyle/>
          <a:p>
            <a:pPr indent="0" marL="0">
              <a:lnSpc>
                <a:spcPct val="105000"/>
              </a:lnSpc>
              <a:buNone/>
            </a:pPr>
            <a:r>
              <a:rPr lang="en-US" sz="750" dirty="0">
                <a:solidFill>
                  <a:srgbClr val="54606F"/>
                </a:solidFill>
                <a:latin typeface="Nunito Sans" pitchFamily="34" charset="0"/>
                <a:ea typeface="Nunito Sans" pitchFamily="34" charset="-122"/>
                <a:cs typeface="Nunito Sans" pitchFamily="34" charset="-120"/>
              </a:rPr>
              <a:t>Pesticide safety alarm</a:t>
            </a:r>
            <a:endParaRPr lang="en-US" sz="750" dirty="0"/>
          </a:p>
        </p:txBody>
      </p:sp>
      <p:pic>
        <p:nvPicPr>
          <p:cNvPr id="41" name="Image 8" descr="/home/user/hopper-tessarakt/site/assets/news-3.jpg">    </p:cNvPr>
          <p:cNvPicPr>
            <a:picLocks noChangeAspect="1"/>
          </p:cNvPicPr>
          <p:nvPr/>
        </p:nvPicPr>
        <p:blipFill>
          <a:blip r:embed="rId9"/>
          <a:srcRect l="0" r="0" t="0" b="0"/>
          <a:stretch/>
        </p:blipFill>
        <p:spPr>
          <a:xfrm>
            <a:off x="6537960" y="3895344"/>
            <a:ext cx="1595018" cy="960120"/>
          </a:xfrm>
          <a:prstGeom prst="rect">
            <a:avLst/>
          </a:prstGeom>
        </p:spPr>
      </p:pic>
      <p:sp>
        <p:nvSpPr>
          <p:cNvPr id="42" name="Text 31"/>
          <p:cNvSpPr/>
          <p:nvPr/>
        </p:nvSpPr>
        <p:spPr>
          <a:xfrm>
            <a:off x="6537960" y="4882896"/>
            <a:ext cx="1595018" cy="365760"/>
          </a:xfrm>
          <a:prstGeom prst="rect">
            <a:avLst/>
          </a:prstGeom>
          <a:noFill/>
          <a:ln/>
        </p:spPr>
        <p:txBody>
          <a:bodyPr wrap="square" lIns="0" tIns="0" rIns="0" bIns="0" rtlCol="0" anchor="t"/>
          <a:lstStyle/>
          <a:p>
            <a:pPr indent="0" marL="0">
              <a:lnSpc>
                <a:spcPct val="105000"/>
              </a:lnSpc>
              <a:buNone/>
            </a:pPr>
            <a:r>
              <a:rPr lang="en-US" sz="750" dirty="0">
                <a:solidFill>
                  <a:srgbClr val="54606F"/>
                </a:solidFill>
                <a:latin typeface="Nunito Sans" pitchFamily="34" charset="0"/>
                <a:ea typeface="Nunito Sans" pitchFamily="34" charset="-122"/>
                <a:cs typeface="Nunito Sans" pitchFamily="34" charset="-120"/>
              </a:rPr>
              <a:t>Policy &amp; certification</a:t>
            </a:r>
            <a:endParaRPr lang="en-US" sz="750" dirty="0"/>
          </a:p>
        </p:txBody>
      </p:sp>
      <p:pic>
        <p:nvPicPr>
          <p:cNvPr id="43" name="Image 9" descr="/home/user/hopper-tessarakt/site/assets/news-c.jpg">    </p:cNvPr>
          <p:cNvPicPr>
            <a:picLocks noChangeAspect="1"/>
          </p:cNvPicPr>
          <p:nvPr/>
        </p:nvPicPr>
        <p:blipFill>
          <a:blip r:embed="rId10"/>
          <a:srcRect l="0" r="0" t="0" b="0"/>
          <a:stretch/>
        </p:blipFill>
        <p:spPr>
          <a:xfrm>
            <a:off x="8315858" y="3895344"/>
            <a:ext cx="1595018" cy="960120"/>
          </a:xfrm>
          <a:prstGeom prst="rect">
            <a:avLst/>
          </a:prstGeom>
        </p:spPr>
      </p:pic>
      <p:sp>
        <p:nvSpPr>
          <p:cNvPr id="44" name="Text 32"/>
          <p:cNvSpPr/>
          <p:nvPr/>
        </p:nvSpPr>
        <p:spPr>
          <a:xfrm>
            <a:off x="8315858" y="4882896"/>
            <a:ext cx="1595018" cy="365760"/>
          </a:xfrm>
          <a:prstGeom prst="rect">
            <a:avLst/>
          </a:prstGeom>
          <a:noFill/>
          <a:ln/>
        </p:spPr>
        <p:txBody>
          <a:bodyPr wrap="square" lIns="0" tIns="0" rIns="0" bIns="0" rtlCol="0" anchor="t"/>
          <a:lstStyle/>
          <a:p>
            <a:pPr indent="0" marL="0">
              <a:lnSpc>
                <a:spcPct val="105000"/>
              </a:lnSpc>
              <a:buNone/>
            </a:pPr>
            <a:r>
              <a:rPr lang="en-US" sz="750" dirty="0">
                <a:solidFill>
                  <a:srgbClr val="54606F"/>
                </a:solidFill>
                <a:latin typeface="Nunito Sans" pitchFamily="34" charset="0"/>
                <a:ea typeface="Nunito Sans" pitchFamily="34" charset="-122"/>
                <a:cs typeface="Nunito Sans" pitchFamily="34" charset="-120"/>
              </a:rPr>
              <a:t>Celebrity &amp; consumer validation</a:t>
            </a:r>
            <a:endParaRPr lang="en-US" sz="750" dirty="0"/>
          </a:p>
        </p:txBody>
      </p:sp>
      <p:pic>
        <p:nvPicPr>
          <p:cNvPr id="45" name="Image 10" descr="/home/user/hopper-tessarakt/site/assets/news-2.jpg">    </p:cNvPr>
          <p:cNvPicPr>
            <a:picLocks noChangeAspect="1"/>
          </p:cNvPicPr>
          <p:nvPr/>
        </p:nvPicPr>
        <p:blipFill>
          <a:blip r:embed="rId11"/>
          <a:srcRect l="0" r="0" t="0" b="0"/>
          <a:stretch/>
        </p:blipFill>
        <p:spPr>
          <a:xfrm>
            <a:off x="10093757" y="3895344"/>
            <a:ext cx="1595018" cy="960120"/>
          </a:xfrm>
          <a:prstGeom prst="rect">
            <a:avLst/>
          </a:prstGeom>
        </p:spPr>
      </p:pic>
      <p:sp>
        <p:nvSpPr>
          <p:cNvPr id="46" name="Text 33"/>
          <p:cNvSpPr/>
          <p:nvPr/>
        </p:nvSpPr>
        <p:spPr>
          <a:xfrm>
            <a:off x="10093757" y="4882896"/>
            <a:ext cx="1595018" cy="365760"/>
          </a:xfrm>
          <a:prstGeom prst="rect">
            <a:avLst/>
          </a:prstGeom>
          <a:noFill/>
          <a:ln/>
        </p:spPr>
        <p:txBody>
          <a:bodyPr wrap="square" lIns="0" tIns="0" rIns="0" bIns="0" rtlCol="0" anchor="t"/>
          <a:lstStyle/>
          <a:p>
            <a:pPr indent="0" marL="0">
              <a:lnSpc>
                <a:spcPct val="105000"/>
              </a:lnSpc>
              <a:buNone/>
            </a:pPr>
            <a:r>
              <a:rPr lang="en-US" sz="750" dirty="0">
                <a:solidFill>
                  <a:srgbClr val="54606F"/>
                </a:solidFill>
                <a:latin typeface="Nunito Sans" pitchFamily="34" charset="0"/>
                <a:ea typeface="Nunito Sans" pitchFamily="34" charset="-122"/>
                <a:cs typeface="Nunito Sans" pitchFamily="34" charset="-120"/>
              </a:rPr>
              <a:t>The case for verified proof</a:t>
            </a:r>
            <a:endParaRPr lang="en-US" sz="750" dirty="0"/>
          </a:p>
        </p:txBody>
      </p:sp>
      <p:sp>
        <p:nvSpPr>
          <p:cNvPr id="47" name="Shape 34"/>
          <p:cNvSpPr/>
          <p:nvPr/>
        </p:nvSpPr>
        <p:spPr>
          <a:xfrm>
            <a:off x="502920" y="6455664"/>
            <a:ext cx="11185855" cy="0"/>
          </a:xfrm>
          <a:prstGeom prst="line">
            <a:avLst/>
          </a:prstGeom>
          <a:noFill/>
          <a:ln w="9525">
            <a:solidFill>
              <a:srgbClr val="E5DCCB"/>
            </a:solidFill>
            <a:prstDash val="solid"/>
          </a:ln>
        </p:spPr>
      </p:sp>
      <p:sp>
        <p:nvSpPr>
          <p:cNvPr id="48" name="Text 35"/>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04 · BRAND &amp; PROOF</a:t>
            </a:r>
            <a:endParaRPr lang="en-US" sz="800" dirty="0"/>
          </a:p>
        </p:txBody>
      </p:sp>
      <p:sp>
        <p:nvSpPr>
          <p:cNvPr id="49" name="Text 36"/>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22</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panel-spices.jpg">    </p:cNvPr>
          <p:cNvPicPr>
            <a:picLocks noChangeAspect="1"/>
          </p:cNvPicPr>
          <p:nvPr/>
        </p:nvPicPr>
        <p:blipFill>
          <a:blip r:embed="rId1"/>
          <a:stretch>
            <a:fillRect/>
          </a:stretch>
        </p:blipFill>
        <p:spPr>
          <a:xfrm>
            <a:off x="8412480" y="0"/>
            <a:ext cx="3779215" cy="6858000"/>
          </a:xfrm>
          <a:prstGeom prst="rect">
            <a:avLst/>
          </a:prstGeom>
        </p:spPr>
      </p:pic>
      <p:sp>
        <p:nvSpPr>
          <p:cNvPr id="3" name="Shape 0"/>
          <p:cNvSpPr/>
          <p:nvPr/>
        </p:nvSpPr>
        <p:spPr>
          <a:xfrm>
            <a:off x="502920" y="310896"/>
            <a:ext cx="1801368" cy="274320"/>
          </a:xfrm>
          <a:prstGeom prst="roundRect">
            <a:avLst>
              <a:gd name="adj" fmla="val 23333"/>
            </a:avLst>
          </a:prstGeom>
          <a:solidFill>
            <a:srgbClr val="5FC28C"/>
          </a:solidFill>
          <a:ln w="12700">
            <a:solidFill>
              <a:srgbClr val="333333"/>
            </a:solidFill>
            <a:prstDash val="solid"/>
          </a:ln>
        </p:spPr>
      </p:sp>
      <p:sp>
        <p:nvSpPr>
          <p:cNvPr id="4" name="Text 1"/>
          <p:cNvSpPr/>
          <p:nvPr/>
        </p:nvSpPr>
        <p:spPr>
          <a:xfrm>
            <a:off x="502920" y="310896"/>
            <a:ext cx="1801368" cy="274320"/>
          </a:xfrm>
          <a:prstGeom prst="rect">
            <a:avLst/>
          </a:prstGeom>
          <a:noFill/>
          <a:ln/>
        </p:spPr>
        <p:txBody>
          <a:bodyPr wrap="square" lIns="0" tIns="0" rIns="0" bIns="0" rtlCol="0" anchor="ctr"/>
          <a:lstStyle/>
          <a:p>
            <a:pPr algn="ctr" indent="0" marL="0">
              <a:buNone/>
            </a:pPr>
            <a:r>
              <a:rPr lang="en-US" sz="900" b="1" spc="160" kern="0" dirty="0">
                <a:solidFill>
                  <a:srgbClr val="0C1A2B"/>
                </a:solidFill>
                <a:latin typeface="Nunito Sans" pitchFamily="34" charset="0"/>
                <a:ea typeface="Nunito Sans" pitchFamily="34" charset="-122"/>
                <a:cs typeface="Nunito Sans" pitchFamily="34" charset="-120"/>
              </a:rPr>
              <a:t>BRAND MANIFESTO</a:t>
            </a:r>
            <a:endParaRPr lang="en-US" sz="900" dirty="0"/>
          </a:p>
        </p:txBody>
      </p:sp>
      <p:pic>
        <p:nvPicPr>
          <p:cNvPr id="5" name="Image 1" descr="/home/user/hopper-tessarakt/site/assets/logo.png">    </p:cNvPr>
          <p:cNvPicPr>
            <a:picLocks noChangeAspect="1"/>
          </p:cNvPicPr>
          <p:nvPr/>
        </p:nvPicPr>
        <p:blipFill>
          <a:blip r:embed="rId2"/>
          <a:stretch>
            <a:fillRect/>
          </a:stretch>
        </p:blipFill>
        <p:spPr>
          <a:xfrm>
            <a:off x="10545775" y="292608"/>
            <a:ext cx="1143000" cy="420624"/>
          </a:xfrm>
          <a:prstGeom prst="rect">
            <a:avLst/>
          </a:prstGeom>
        </p:spPr>
      </p:pic>
      <p:sp>
        <p:nvSpPr>
          <p:cNvPr id="6" name="Text 2"/>
          <p:cNvSpPr/>
          <p:nvPr/>
        </p:nvSpPr>
        <p:spPr>
          <a:xfrm>
            <a:off x="502920" y="658368"/>
            <a:ext cx="7315200" cy="777240"/>
          </a:xfrm>
          <a:prstGeom prst="rect">
            <a:avLst/>
          </a:prstGeom>
          <a:noFill/>
          <a:ln/>
        </p:spPr>
        <p:txBody>
          <a:bodyPr wrap="square" lIns="0" tIns="0" rIns="0" bIns="0" rtlCol="0" anchor="t"/>
          <a:lstStyle/>
          <a:p>
            <a:pPr indent="0" marL="0">
              <a:lnSpc>
                <a:spcPct val="102000"/>
              </a:lnSpc>
              <a:buNone/>
            </a:pPr>
            <a:r>
              <a:rPr lang="en-US" sz="3400" dirty="0">
                <a:solidFill>
                  <a:srgbClr val="FFFFFF"/>
                </a:solidFill>
                <a:latin typeface="Archivo Black" pitchFamily="34" charset="0"/>
                <a:ea typeface="Archivo Black" pitchFamily="34" charset="-122"/>
                <a:cs typeface="Archivo Black" pitchFamily="34" charset="-120"/>
              </a:rPr>
              <a:t>We believe</a:t>
            </a:r>
            <a:endParaRPr lang="en-US" sz="3400" dirty="0"/>
          </a:p>
        </p:txBody>
      </p:sp>
      <p:sp>
        <p:nvSpPr>
          <p:cNvPr id="7" name="Text 3"/>
          <p:cNvSpPr/>
          <p:nvPr/>
        </p:nvSpPr>
        <p:spPr>
          <a:xfrm>
            <a:off x="502920" y="1545336"/>
            <a:ext cx="6949440" cy="960120"/>
          </a:xfrm>
          <a:prstGeom prst="rect">
            <a:avLst/>
          </a:prstGeom>
          <a:noFill/>
          <a:ln/>
        </p:spPr>
        <p:txBody>
          <a:bodyPr wrap="square" lIns="0" tIns="0" rIns="0" bIns="0" rtlCol="0" anchor="t"/>
          <a:lstStyle/>
          <a:p>
            <a:pPr indent="0" marL="0">
              <a:lnSpc>
                <a:spcPct val="116000"/>
              </a:lnSpc>
              <a:buNone/>
            </a:pPr>
            <a:r>
              <a:rPr lang="en-US" sz="1500" dirty="0">
                <a:solidFill>
                  <a:srgbClr val="EEE9E0"/>
                </a:solidFill>
                <a:latin typeface="Nunito Sans" pitchFamily="34" charset="0"/>
                <a:ea typeface="Nunito Sans" pitchFamily="34" charset="-122"/>
                <a:cs typeface="Nunito Sans" pitchFamily="34" charset="-120"/>
              </a:rPr>
              <a:t>The future of food isn't claimed on a label; it's proven in the field. Every seed we recommend, every practice we track, and every farmer we name is how we turn honesty into something you can verify, not just believe.</a:t>
            </a:r>
            <a:endParaRPr lang="en-US" sz="1500" dirty="0"/>
          </a:p>
        </p:txBody>
      </p:sp>
      <p:sp>
        <p:nvSpPr>
          <p:cNvPr id="8" name="Text 4"/>
          <p:cNvSpPr/>
          <p:nvPr/>
        </p:nvSpPr>
        <p:spPr>
          <a:xfrm>
            <a:off x="502920" y="2642616"/>
            <a:ext cx="3657600" cy="219456"/>
          </a:xfrm>
          <a:prstGeom prst="rect">
            <a:avLst/>
          </a:prstGeom>
          <a:noFill/>
          <a:ln/>
        </p:spPr>
        <p:txBody>
          <a:bodyPr wrap="square" lIns="0" tIns="0" rIns="0" bIns="0" rtlCol="0" anchor="ctr"/>
          <a:lstStyle/>
          <a:p>
            <a:pPr indent="0" marL="0">
              <a:buNone/>
            </a:pPr>
            <a:r>
              <a:rPr lang="en-US" sz="950" b="1" spc="180" kern="0" dirty="0">
                <a:solidFill>
                  <a:srgbClr val="5FC28C"/>
                </a:solidFill>
                <a:latin typeface="Nunito Sans" pitchFamily="34" charset="0"/>
                <a:ea typeface="Nunito Sans" pitchFamily="34" charset="-122"/>
                <a:cs typeface="Nunito Sans" pitchFamily="34" charset="-120"/>
              </a:rPr>
              <a:t>WE STAND FOR</a:t>
            </a:r>
            <a:endParaRPr lang="en-US" sz="950" dirty="0"/>
          </a:p>
        </p:txBody>
      </p:sp>
      <p:sp>
        <p:nvSpPr>
          <p:cNvPr id="9" name="Shape 5"/>
          <p:cNvSpPr/>
          <p:nvPr/>
        </p:nvSpPr>
        <p:spPr>
          <a:xfrm>
            <a:off x="502920" y="2935224"/>
            <a:ext cx="2170176" cy="1060704"/>
          </a:xfrm>
          <a:prstGeom prst="roundRect">
            <a:avLst>
              <a:gd name="adj" fmla="val 6897"/>
            </a:avLst>
          </a:prstGeom>
          <a:solidFill>
            <a:srgbClr val="17304A"/>
          </a:solidFill>
          <a:ln w="9525">
            <a:solidFill>
              <a:srgbClr val="2E5470"/>
            </a:solidFill>
            <a:prstDash val="solid"/>
          </a:ln>
        </p:spPr>
      </p:sp>
      <p:sp>
        <p:nvSpPr>
          <p:cNvPr id="10" name="Text 6"/>
          <p:cNvSpPr/>
          <p:nvPr/>
        </p:nvSpPr>
        <p:spPr>
          <a:xfrm>
            <a:off x="649224" y="3026664"/>
            <a:ext cx="1877568" cy="310896"/>
          </a:xfrm>
          <a:prstGeom prst="rect">
            <a:avLst/>
          </a:prstGeom>
          <a:noFill/>
          <a:ln/>
        </p:spPr>
        <p:txBody>
          <a:bodyPr wrap="square" lIns="0" tIns="0" rIns="0" bIns="0" rtlCol="0" anchor="t"/>
          <a:lstStyle/>
          <a:p>
            <a:pPr indent="0" marL="0">
              <a:lnSpc>
                <a:spcPct val="100000"/>
              </a:lnSpc>
              <a:buNone/>
            </a:pPr>
            <a:r>
              <a:rPr lang="en-US" sz="950" dirty="0">
                <a:solidFill>
                  <a:srgbClr val="FFFFFF"/>
                </a:solidFill>
                <a:latin typeface="Archivo Black" pitchFamily="34" charset="0"/>
                <a:ea typeface="Archivo Black" pitchFamily="34" charset="-122"/>
                <a:cs typeface="Archivo Black" pitchFamily="34" charset="-120"/>
              </a:rPr>
              <a:t>Resilience</a:t>
            </a:r>
            <a:endParaRPr lang="en-US" sz="950" dirty="0"/>
          </a:p>
        </p:txBody>
      </p:sp>
      <p:sp>
        <p:nvSpPr>
          <p:cNvPr id="11" name="Text 7"/>
          <p:cNvSpPr/>
          <p:nvPr/>
        </p:nvSpPr>
        <p:spPr>
          <a:xfrm>
            <a:off x="649224" y="3355848"/>
            <a:ext cx="1877568" cy="566928"/>
          </a:xfrm>
          <a:prstGeom prst="rect">
            <a:avLst/>
          </a:prstGeom>
          <a:noFill/>
          <a:ln/>
        </p:spPr>
        <p:txBody>
          <a:bodyPr wrap="square" lIns="0" tIns="0" rIns="0" bIns="0" rtlCol="0" anchor="t"/>
          <a:lstStyle/>
          <a:p>
            <a:pPr indent="0" marL="0">
              <a:lnSpc>
                <a:spcPct val="108000"/>
              </a:lnSpc>
              <a:buNone/>
            </a:pPr>
            <a:r>
              <a:rPr lang="en-US" sz="750" dirty="0">
                <a:solidFill>
                  <a:srgbClr val="EEE9E0"/>
                </a:solidFill>
                <a:latin typeface="Nunito Sans" pitchFamily="34" charset="0"/>
                <a:ea typeface="Nunito Sans" pitchFamily="34" charset="-122"/>
                <a:cs typeface="Nunito Sans" pitchFamily="34" charset="-120"/>
              </a:rPr>
              <a:t>We meet uncertainty with patience and grit, learning from the land and adapting so farmers can thrive through seasons and shocks.</a:t>
            </a:r>
            <a:endParaRPr lang="en-US" sz="750" dirty="0"/>
          </a:p>
        </p:txBody>
      </p:sp>
      <p:sp>
        <p:nvSpPr>
          <p:cNvPr id="12" name="Shape 8"/>
          <p:cNvSpPr/>
          <p:nvPr/>
        </p:nvSpPr>
        <p:spPr>
          <a:xfrm>
            <a:off x="2892552" y="2935224"/>
            <a:ext cx="2170176" cy="1060704"/>
          </a:xfrm>
          <a:prstGeom prst="roundRect">
            <a:avLst>
              <a:gd name="adj" fmla="val 6897"/>
            </a:avLst>
          </a:prstGeom>
          <a:solidFill>
            <a:srgbClr val="17304A"/>
          </a:solidFill>
          <a:ln w="9525">
            <a:solidFill>
              <a:srgbClr val="2E5470"/>
            </a:solidFill>
            <a:prstDash val="solid"/>
          </a:ln>
        </p:spPr>
      </p:sp>
      <p:sp>
        <p:nvSpPr>
          <p:cNvPr id="13" name="Text 9"/>
          <p:cNvSpPr/>
          <p:nvPr/>
        </p:nvSpPr>
        <p:spPr>
          <a:xfrm>
            <a:off x="3038856" y="3026664"/>
            <a:ext cx="1877568" cy="310896"/>
          </a:xfrm>
          <a:prstGeom prst="rect">
            <a:avLst/>
          </a:prstGeom>
          <a:noFill/>
          <a:ln/>
        </p:spPr>
        <p:txBody>
          <a:bodyPr wrap="square" lIns="0" tIns="0" rIns="0" bIns="0" rtlCol="0" anchor="t"/>
          <a:lstStyle/>
          <a:p>
            <a:pPr indent="0" marL="0">
              <a:lnSpc>
                <a:spcPct val="100000"/>
              </a:lnSpc>
              <a:buNone/>
            </a:pPr>
            <a:r>
              <a:rPr lang="en-US" sz="950" dirty="0">
                <a:solidFill>
                  <a:srgbClr val="FFFFFF"/>
                </a:solidFill>
                <a:latin typeface="Archivo Black" pitchFamily="34" charset="0"/>
                <a:ea typeface="Archivo Black" pitchFamily="34" charset="-122"/>
                <a:cs typeface="Archivo Black" pitchFamily="34" charset="-120"/>
              </a:rPr>
              <a:t>Integrity</a:t>
            </a:r>
            <a:endParaRPr lang="en-US" sz="950" dirty="0"/>
          </a:p>
        </p:txBody>
      </p:sp>
      <p:sp>
        <p:nvSpPr>
          <p:cNvPr id="14" name="Text 10"/>
          <p:cNvSpPr/>
          <p:nvPr/>
        </p:nvSpPr>
        <p:spPr>
          <a:xfrm>
            <a:off x="3038856" y="3355848"/>
            <a:ext cx="1877568" cy="566928"/>
          </a:xfrm>
          <a:prstGeom prst="rect">
            <a:avLst/>
          </a:prstGeom>
          <a:noFill/>
          <a:ln/>
        </p:spPr>
        <p:txBody>
          <a:bodyPr wrap="square" lIns="0" tIns="0" rIns="0" bIns="0" rtlCol="0" anchor="t"/>
          <a:lstStyle/>
          <a:p>
            <a:pPr indent="0" marL="0">
              <a:lnSpc>
                <a:spcPct val="108000"/>
              </a:lnSpc>
              <a:buNone/>
            </a:pPr>
            <a:r>
              <a:rPr lang="en-US" sz="750" dirty="0">
                <a:solidFill>
                  <a:srgbClr val="EEE9E0"/>
                </a:solidFill>
                <a:latin typeface="Nunito Sans" pitchFamily="34" charset="0"/>
                <a:ea typeface="Nunito Sans" pitchFamily="34" charset="-122"/>
                <a:cs typeface="Nunito Sans" pitchFamily="34" charset="-120"/>
              </a:rPr>
              <a:t>Transparency is a mechanism, not a promise to be broken. You can check batch data, farmer names and practices.</a:t>
            </a:r>
            <a:endParaRPr lang="en-US" sz="750" dirty="0"/>
          </a:p>
        </p:txBody>
      </p:sp>
      <p:sp>
        <p:nvSpPr>
          <p:cNvPr id="15" name="Shape 11"/>
          <p:cNvSpPr/>
          <p:nvPr/>
        </p:nvSpPr>
        <p:spPr>
          <a:xfrm>
            <a:off x="5282184" y="2935224"/>
            <a:ext cx="2170176" cy="1060704"/>
          </a:xfrm>
          <a:prstGeom prst="roundRect">
            <a:avLst>
              <a:gd name="adj" fmla="val 6897"/>
            </a:avLst>
          </a:prstGeom>
          <a:solidFill>
            <a:srgbClr val="17304A"/>
          </a:solidFill>
          <a:ln w="9525">
            <a:solidFill>
              <a:srgbClr val="2E5470"/>
            </a:solidFill>
            <a:prstDash val="solid"/>
          </a:ln>
        </p:spPr>
      </p:sp>
      <p:sp>
        <p:nvSpPr>
          <p:cNvPr id="16" name="Text 12"/>
          <p:cNvSpPr/>
          <p:nvPr/>
        </p:nvSpPr>
        <p:spPr>
          <a:xfrm>
            <a:off x="5428488" y="3026664"/>
            <a:ext cx="1877568" cy="310896"/>
          </a:xfrm>
          <a:prstGeom prst="rect">
            <a:avLst/>
          </a:prstGeom>
          <a:noFill/>
          <a:ln/>
        </p:spPr>
        <p:txBody>
          <a:bodyPr wrap="square" lIns="0" tIns="0" rIns="0" bIns="0" rtlCol="0" anchor="t"/>
          <a:lstStyle/>
          <a:p>
            <a:pPr indent="0" marL="0">
              <a:lnSpc>
                <a:spcPct val="100000"/>
              </a:lnSpc>
              <a:buNone/>
            </a:pPr>
            <a:r>
              <a:rPr lang="en-US" sz="950" dirty="0">
                <a:solidFill>
                  <a:srgbClr val="FFFFFF"/>
                </a:solidFill>
                <a:latin typeface="Archivo Black" pitchFamily="34" charset="0"/>
                <a:ea typeface="Archivo Black" pitchFamily="34" charset="-122"/>
                <a:cs typeface="Archivo Black" pitchFamily="34" charset="-120"/>
              </a:rPr>
              <a:t>Simplicity</a:t>
            </a:r>
            <a:endParaRPr lang="en-US" sz="950" dirty="0"/>
          </a:p>
        </p:txBody>
      </p:sp>
      <p:sp>
        <p:nvSpPr>
          <p:cNvPr id="17" name="Text 13"/>
          <p:cNvSpPr/>
          <p:nvPr/>
        </p:nvSpPr>
        <p:spPr>
          <a:xfrm>
            <a:off x="5428488" y="3355848"/>
            <a:ext cx="1877568" cy="566928"/>
          </a:xfrm>
          <a:prstGeom prst="rect">
            <a:avLst/>
          </a:prstGeom>
          <a:noFill/>
          <a:ln/>
        </p:spPr>
        <p:txBody>
          <a:bodyPr wrap="square" lIns="0" tIns="0" rIns="0" bIns="0" rtlCol="0" anchor="t"/>
          <a:lstStyle/>
          <a:p>
            <a:pPr indent="0" marL="0">
              <a:lnSpc>
                <a:spcPct val="108000"/>
              </a:lnSpc>
              <a:buNone/>
            </a:pPr>
            <a:r>
              <a:rPr lang="en-US" sz="750" dirty="0">
                <a:solidFill>
                  <a:srgbClr val="EEE9E0"/>
                </a:solidFill>
                <a:latin typeface="Nunito Sans" pitchFamily="34" charset="0"/>
                <a:ea typeface="Nunito Sans" pitchFamily="34" charset="-122"/>
                <a:cs typeface="Nunito Sans" pitchFamily="34" charset="-120"/>
              </a:rPr>
              <a:t>We turn complex agri-data into one clear signal, so farmers can act with confidence and consumers can trust what they see instantly.</a:t>
            </a:r>
            <a:endParaRPr lang="en-US" sz="750" dirty="0"/>
          </a:p>
        </p:txBody>
      </p:sp>
      <p:sp>
        <p:nvSpPr>
          <p:cNvPr id="18" name="Shape 14"/>
          <p:cNvSpPr/>
          <p:nvPr/>
        </p:nvSpPr>
        <p:spPr>
          <a:xfrm>
            <a:off x="502920" y="4105656"/>
            <a:ext cx="2170176" cy="1060704"/>
          </a:xfrm>
          <a:prstGeom prst="roundRect">
            <a:avLst>
              <a:gd name="adj" fmla="val 6897"/>
            </a:avLst>
          </a:prstGeom>
          <a:solidFill>
            <a:srgbClr val="17304A"/>
          </a:solidFill>
          <a:ln w="9525">
            <a:solidFill>
              <a:srgbClr val="2E5470"/>
            </a:solidFill>
            <a:prstDash val="solid"/>
          </a:ln>
        </p:spPr>
      </p:sp>
      <p:sp>
        <p:nvSpPr>
          <p:cNvPr id="19" name="Text 15"/>
          <p:cNvSpPr/>
          <p:nvPr/>
        </p:nvSpPr>
        <p:spPr>
          <a:xfrm>
            <a:off x="649224" y="4197096"/>
            <a:ext cx="1877568" cy="310896"/>
          </a:xfrm>
          <a:prstGeom prst="rect">
            <a:avLst/>
          </a:prstGeom>
          <a:noFill/>
          <a:ln/>
        </p:spPr>
        <p:txBody>
          <a:bodyPr wrap="square" lIns="0" tIns="0" rIns="0" bIns="0" rtlCol="0" anchor="t"/>
          <a:lstStyle/>
          <a:p>
            <a:pPr indent="0" marL="0">
              <a:lnSpc>
                <a:spcPct val="100000"/>
              </a:lnSpc>
              <a:buNone/>
            </a:pPr>
            <a:r>
              <a:rPr lang="en-US" sz="950" dirty="0">
                <a:solidFill>
                  <a:srgbClr val="FFFFFF"/>
                </a:solidFill>
                <a:latin typeface="Archivo Black" pitchFamily="34" charset="0"/>
                <a:ea typeface="Archivo Black" pitchFamily="34" charset="-122"/>
                <a:cs typeface="Archivo Black" pitchFamily="34" charset="-120"/>
              </a:rPr>
              <a:t>Progress</a:t>
            </a:r>
            <a:endParaRPr lang="en-US" sz="950" dirty="0"/>
          </a:p>
        </p:txBody>
      </p:sp>
      <p:sp>
        <p:nvSpPr>
          <p:cNvPr id="20" name="Text 16"/>
          <p:cNvSpPr/>
          <p:nvPr/>
        </p:nvSpPr>
        <p:spPr>
          <a:xfrm>
            <a:off x="649224" y="4526280"/>
            <a:ext cx="1877568" cy="566928"/>
          </a:xfrm>
          <a:prstGeom prst="rect">
            <a:avLst/>
          </a:prstGeom>
          <a:noFill/>
          <a:ln/>
        </p:spPr>
        <p:txBody>
          <a:bodyPr wrap="square" lIns="0" tIns="0" rIns="0" bIns="0" rtlCol="0" anchor="t"/>
          <a:lstStyle/>
          <a:p>
            <a:pPr indent="0" marL="0">
              <a:lnSpc>
                <a:spcPct val="108000"/>
              </a:lnSpc>
              <a:buNone/>
            </a:pPr>
            <a:r>
              <a:rPr lang="en-US" sz="750" dirty="0">
                <a:solidFill>
                  <a:srgbClr val="EEE9E0"/>
                </a:solidFill>
                <a:latin typeface="Nunito Sans" pitchFamily="34" charset="0"/>
                <a:ea typeface="Nunito Sans" pitchFamily="34" charset="-122"/>
                <a:cs typeface="Nunito Sans" pitchFamily="34" charset="-120"/>
              </a:rPr>
              <a:t>Not progress for its own sake, but progress powered by DeHaat's own agri-tech, in service of tradition — not instead of it.</a:t>
            </a:r>
            <a:endParaRPr lang="en-US" sz="750" dirty="0"/>
          </a:p>
        </p:txBody>
      </p:sp>
      <p:sp>
        <p:nvSpPr>
          <p:cNvPr id="21" name="Shape 17"/>
          <p:cNvSpPr/>
          <p:nvPr/>
        </p:nvSpPr>
        <p:spPr>
          <a:xfrm>
            <a:off x="2892552" y="4105656"/>
            <a:ext cx="2170176" cy="1060704"/>
          </a:xfrm>
          <a:prstGeom prst="roundRect">
            <a:avLst>
              <a:gd name="adj" fmla="val 6897"/>
            </a:avLst>
          </a:prstGeom>
          <a:solidFill>
            <a:srgbClr val="17304A"/>
          </a:solidFill>
          <a:ln w="9525">
            <a:solidFill>
              <a:srgbClr val="2E5470"/>
            </a:solidFill>
            <a:prstDash val="solid"/>
          </a:ln>
        </p:spPr>
      </p:sp>
      <p:sp>
        <p:nvSpPr>
          <p:cNvPr id="22" name="Text 18"/>
          <p:cNvSpPr/>
          <p:nvPr/>
        </p:nvSpPr>
        <p:spPr>
          <a:xfrm>
            <a:off x="3038856" y="4197096"/>
            <a:ext cx="1877568" cy="310896"/>
          </a:xfrm>
          <a:prstGeom prst="rect">
            <a:avLst/>
          </a:prstGeom>
          <a:noFill/>
          <a:ln/>
        </p:spPr>
        <p:txBody>
          <a:bodyPr wrap="square" lIns="0" tIns="0" rIns="0" bIns="0" rtlCol="0" anchor="t"/>
          <a:lstStyle/>
          <a:p>
            <a:pPr indent="0" marL="0">
              <a:lnSpc>
                <a:spcPct val="100000"/>
              </a:lnSpc>
              <a:buNone/>
            </a:pPr>
            <a:r>
              <a:rPr lang="en-US" sz="950" dirty="0">
                <a:solidFill>
                  <a:srgbClr val="FFFFFF"/>
                </a:solidFill>
                <a:latin typeface="Archivo Black" pitchFamily="34" charset="0"/>
                <a:ea typeface="Archivo Black" pitchFamily="34" charset="-122"/>
                <a:cs typeface="Archivo Black" pitchFamily="34" charset="-120"/>
              </a:rPr>
              <a:t>Education &amp; empowerment</a:t>
            </a:r>
            <a:endParaRPr lang="en-US" sz="950" dirty="0"/>
          </a:p>
        </p:txBody>
      </p:sp>
      <p:sp>
        <p:nvSpPr>
          <p:cNvPr id="23" name="Text 19"/>
          <p:cNvSpPr/>
          <p:nvPr/>
        </p:nvSpPr>
        <p:spPr>
          <a:xfrm>
            <a:off x="3038856" y="4526280"/>
            <a:ext cx="1877568" cy="566928"/>
          </a:xfrm>
          <a:prstGeom prst="rect">
            <a:avLst/>
          </a:prstGeom>
          <a:noFill/>
          <a:ln/>
        </p:spPr>
        <p:txBody>
          <a:bodyPr wrap="square" lIns="0" tIns="0" rIns="0" bIns="0" rtlCol="0" anchor="t"/>
          <a:lstStyle/>
          <a:p>
            <a:pPr indent="0" marL="0">
              <a:lnSpc>
                <a:spcPct val="108000"/>
              </a:lnSpc>
              <a:buNone/>
            </a:pPr>
            <a:r>
              <a:rPr lang="en-US" sz="750" dirty="0">
                <a:solidFill>
                  <a:srgbClr val="EEE9E0"/>
                </a:solidFill>
                <a:latin typeface="Nunito Sans" pitchFamily="34" charset="0"/>
                <a:ea typeface="Nunito Sans" pitchFamily="34" charset="-122"/>
                <a:cs typeface="Nunito Sans" pitchFamily="34" charset="-120"/>
              </a:rPr>
              <a:t>We bridge Krishi wisdom and modern methods, so farming becomes more productive, profitable and sustainable.</a:t>
            </a:r>
            <a:endParaRPr lang="en-US" sz="750" dirty="0"/>
          </a:p>
        </p:txBody>
      </p:sp>
      <p:sp>
        <p:nvSpPr>
          <p:cNvPr id="24" name="Shape 20"/>
          <p:cNvSpPr/>
          <p:nvPr/>
        </p:nvSpPr>
        <p:spPr>
          <a:xfrm>
            <a:off x="5282184" y="4105656"/>
            <a:ext cx="2170176" cy="1060704"/>
          </a:xfrm>
          <a:prstGeom prst="roundRect">
            <a:avLst>
              <a:gd name="adj" fmla="val 6897"/>
            </a:avLst>
          </a:prstGeom>
          <a:solidFill>
            <a:srgbClr val="17304A"/>
          </a:solidFill>
          <a:ln w="9525">
            <a:solidFill>
              <a:srgbClr val="2E5470"/>
            </a:solidFill>
            <a:prstDash val="solid"/>
          </a:ln>
        </p:spPr>
      </p:sp>
      <p:sp>
        <p:nvSpPr>
          <p:cNvPr id="25" name="Text 21"/>
          <p:cNvSpPr/>
          <p:nvPr/>
        </p:nvSpPr>
        <p:spPr>
          <a:xfrm>
            <a:off x="5428488" y="4197096"/>
            <a:ext cx="1877568" cy="310896"/>
          </a:xfrm>
          <a:prstGeom prst="rect">
            <a:avLst/>
          </a:prstGeom>
          <a:noFill/>
          <a:ln/>
        </p:spPr>
        <p:txBody>
          <a:bodyPr wrap="square" lIns="0" tIns="0" rIns="0" bIns="0" rtlCol="0" anchor="t"/>
          <a:lstStyle/>
          <a:p>
            <a:pPr indent="0" marL="0">
              <a:lnSpc>
                <a:spcPct val="100000"/>
              </a:lnSpc>
              <a:buNone/>
            </a:pPr>
            <a:r>
              <a:rPr lang="en-US" sz="950" dirty="0">
                <a:solidFill>
                  <a:srgbClr val="FFFFFF"/>
                </a:solidFill>
                <a:latin typeface="Archivo Black" pitchFamily="34" charset="0"/>
                <a:ea typeface="Archivo Black" pitchFamily="34" charset="-122"/>
                <a:cs typeface="Archivo Black" pitchFamily="34" charset="-120"/>
              </a:rPr>
              <a:t>Connection</a:t>
            </a:r>
            <a:endParaRPr lang="en-US" sz="950" dirty="0"/>
          </a:p>
        </p:txBody>
      </p:sp>
      <p:sp>
        <p:nvSpPr>
          <p:cNvPr id="26" name="Text 22"/>
          <p:cNvSpPr/>
          <p:nvPr/>
        </p:nvSpPr>
        <p:spPr>
          <a:xfrm>
            <a:off x="5428488" y="4526280"/>
            <a:ext cx="1877568" cy="566928"/>
          </a:xfrm>
          <a:prstGeom prst="rect">
            <a:avLst/>
          </a:prstGeom>
          <a:noFill/>
          <a:ln/>
        </p:spPr>
        <p:txBody>
          <a:bodyPr wrap="square" lIns="0" tIns="0" rIns="0" bIns="0" rtlCol="0" anchor="t"/>
          <a:lstStyle/>
          <a:p>
            <a:pPr indent="0" marL="0">
              <a:lnSpc>
                <a:spcPct val="108000"/>
              </a:lnSpc>
              <a:buNone/>
            </a:pPr>
            <a:r>
              <a:rPr lang="en-US" sz="750" dirty="0">
                <a:solidFill>
                  <a:srgbClr val="EEE9E0"/>
                </a:solidFill>
                <a:latin typeface="Nunito Sans" pitchFamily="34" charset="0"/>
                <a:ea typeface="Nunito Sans" pitchFamily="34" charset="-122"/>
                <a:cs typeface="Nunito Sans" pitchFamily="34" charset="-120"/>
              </a:rPr>
              <a:t>The farmer isn't a sourcing story we tell; they're the name on the batch, accountable and credited.</a:t>
            </a:r>
            <a:endParaRPr lang="en-US" sz="750" dirty="0"/>
          </a:p>
        </p:txBody>
      </p:sp>
      <p:sp>
        <p:nvSpPr>
          <p:cNvPr id="27" name="Text 23"/>
          <p:cNvSpPr/>
          <p:nvPr/>
        </p:nvSpPr>
        <p:spPr>
          <a:xfrm>
            <a:off x="502920" y="5340096"/>
            <a:ext cx="6949440" cy="365760"/>
          </a:xfrm>
          <a:prstGeom prst="rect">
            <a:avLst/>
          </a:prstGeom>
          <a:noFill/>
          <a:ln/>
        </p:spPr>
        <p:txBody>
          <a:bodyPr wrap="square" lIns="0" tIns="0" rIns="0" bIns="0" rtlCol="0" anchor="ctr"/>
          <a:lstStyle/>
          <a:p>
            <a:pPr indent="0" marL="0">
              <a:buNone/>
            </a:pPr>
            <a:r>
              <a:rPr lang="en-US" sz="1400" i="1" dirty="0">
                <a:solidFill>
                  <a:srgbClr val="EEE9E0"/>
                </a:solidFill>
                <a:latin typeface="Nunito Sans" pitchFamily="34" charset="0"/>
                <a:ea typeface="Nunito Sans" pitchFamily="34" charset="-122"/>
                <a:cs typeface="Nunito Sans" pitchFamily="34" charset="-120"/>
              </a:rPr>
              <a:t>We are Honest Farms. </a:t>
            </a:r>
            <a:pPr indent="0" marL="0">
              <a:buNone/>
            </a:pPr>
            <a:r>
              <a:rPr lang="en-US" sz="1400" b="1" dirty="0">
                <a:solidFill>
                  <a:srgbClr val="5FC28C"/>
                </a:solidFill>
                <a:latin typeface="Nunito Sans" pitchFamily="34" charset="0"/>
                <a:ea typeface="Nunito Sans" pitchFamily="34" charset="-122"/>
                <a:cs typeface="Nunito Sans" pitchFamily="34" charset="-120"/>
              </a:rPr>
              <a:t>Verified in the fields, honest on the shelves.</a:t>
            </a:r>
            <a:endParaRPr lang="en-US" sz="1400" dirty="0"/>
          </a:p>
        </p:txBody>
      </p:sp>
      <p:sp>
        <p:nvSpPr>
          <p:cNvPr id="28" name="Shape 24"/>
          <p:cNvSpPr/>
          <p:nvPr/>
        </p:nvSpPr>
        <p:spPr>
          <a:xfrm>
            <a:off x="502920" y="6455664"/>
            <a:ext cx="11185855" cy="0"/>
          </a:xfrm>
          <a:prstGeom prst="line">
            <a:avLst/>
          </a:prstGeom>
          <a:noFill/>
          <a:ln w="9525">
            <a:solidFill>
              <a:srgbClr val="FFFFFF">
                <a:alpha val="16000"/>
              </a:srgbClr>
            </a:solidFill>
            <a:prstDash val="solid"/>
          </a:ln>
        </p:spPr>
      </p:sp>
      <p:sp>
        <p:nvSpPr>
          <p:cNvPr id="29" name="Text 25"/>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A9B6C7"/>
                </a:solidFill>
                <a:latin typeface="Nunito Sans" pitchFamily="34" charset="0"/>
                <a:ea typeface="Nunito Sans" pitchFamily="34" charset="-122"/>
                <a:cs typeface="Nunito Sans" pitchFamily="34" charset="-120"/>
              </a:rPr>
              <a:t>PART 04 · BRAND &amp; PROOF</a:t>
            </a:r>
            <a:endParaRPr lang="en-US" sz="800" dirty="0"/>
          </a:p>
        </p:txBody>
      </p:sp>
      <p:sp>
        <p:nvSpPr>
          <p:cNvPr id="30" name="Text 26"/>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5FC28C"/>
                </a:solidFill>
                <a:latin typeface="Archivo Black" pitchFamily="34" charset="0"/>
                <a:ea typeface="Archivo Black" pitchFamily="34" charset="-122"/>
                <a:cs typeface="Archivo Black" pitchFamily="34" charset="-120"/>
              </a:rPr>
              <a:t>23</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CE0"/>
        </a:solidFill>
      </p:bgPr>
    </p:bg>
    <p:spTree>
      <p:nvGrpSpPr>
        <p:cNvPr id="1" name=""/>
        <p:cNvGrpSpPr/>
        <p:nvPr/>
      </p:nvGrpSpPr>
      <p:grpSpPr>
        <a:xfrm>
          <a:off x="0" y="0"/>
          <a:ext cx="0" cy="0"/>
          <a:chOff x="0" y="0"/>
          <a:chExt cx="0" cy="0"/>
        </a:xfrm>
      </p:grpSpPr>
      <p:pic>
        <p:nvPicPr>
          <p:cNvPr id="2" name="Image 0" descr="/home/user/hopper-tessarakt/site/assets/sapling.jpg">    </p:cNvPr>
          <p:cNvPicPr>
            <a:picLocks noChangeAspect="1"/>
          </p:cNvPicPr>
          <p:nvPr/>
        </p:nvPicPr>
        <p:blipFill>
          <a:blip r:embed="rId1"/>
          <a:srcRect l="0" r="0" t="0" b="0"/>
          <a:stretch/>
        </p:blipFill>
        <p:spPr>
          <a:xfrm>
            <a:off x="7223760" y="1234440"/>
            <a:ext cx="4480560" cy="4389120"/>
          </a:xfrm>
          <a:prstGeom prst="rect">
            <a:avLst/>
          </a:prstGeom>
        </p:spPr>
      </p:pic>
      <p:sp>
        <p:nvSpPr>
          <p:cNvPr id="3" name="Shape 0"/>
          <p:cNvSpPr/>
          <p:nvPr/>
        </p:nvSpPr>
        <p:spPr>
          <a:xfrm>
            <a:off x="502920" y="310896"/>
            <a:ext cx="1622146" cy="274320"/>
          </a:xfrm>
          <a:prstGeom prst="roundRect">
            <a:avLst>
              <a:gd name="adj" fmla="val 23333"/>
            </a:avLst>
          </a:prstGeom>
          <a:solidFill>
            <a:srgbClr val="3A5D97"/>
          </a:solidFill>
          <a:ln w="12700">
            <a:solidFill>
              <a:srgbClr val="333333"/>
            </a:solidFill>
            <a:prstDash val="solid"/>
          </a:ln>
        </p:spPr>
      </p:sp>
      <p:sp>
        <p:nvSpPr>
          <p:cNvPr id="4" name="Text 1"/>
          <p:cNvSpPr/>
          <p:nvPr/>
        </p:nvSpPr>
        <p:spPr>
          <a:xfrm>
            <a:off x="502920" y="310896"/>
            <a:ext cx="1622146"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BRAND PURPOSE</a:t>
            </a:r>
            <a:endParaRPr lang="en-US" sz="900" dirty="0"/>
          </a:p>
        </p:txBody>
      </p:sp>
      <p:pic>
        <p:nvPicPr>
          <p:cNvPr id="5" name="Image 1" descr="/home/user/hopper-tessarakt/site/assets/logo.png">    </p:cNvPr>
          <p:cNvPicPr>
            <a:picLocks noChangeAspect="1"/>
          </p:cNvPicPr>
          <p:nvPr/>
        </p:nvPicPr>
        <p:blipFill>
          <a:blip r:embed="rId2"/>
          <a:stretch>
            <a:fillRect/>
          </a:stretch>
        </p:blipFill>
        <p:spPr>
          <a:xfrm>
            <a:off x="10545775" y="292608"/>
            <a:ext cx="1143000" cy="420624"/>
          </a:xfrm>
          <a:prstGeom prst="rect">
            <a:avLst/>
          </a:prstGeom>
        </p:spPr>
      </p:pic>
      <p:sp>
        <p:nvSpPr>
          <p:cNvPr id="6" name="Text 2"/>
          <p:cNvSpPr/>
          <p:nvPr/>
        </p:nvSpPr>
        <p:spPr>
          <a:xfrm>
            <a:off x="502920" y="658368"/>
            <a:ext cx="6309360" cy="2377440"/>
          </a:xfrm>
          <a:prstGeom prst="rect">
            <a:avLst/>
          </a:prstGeom>
          <a:noFill/>
          <a:ln/>
        </p:spPr>
        <p:txBody>
          <a:bodyPr wrap="square" lIns="0" tIns="0" rIns="0" bIns="0" rtlCol="0" anchor="t"/>
          <a:lstStyle/>
          <a:p>
            <a:pPr indent="0" marL="0">
              <a:lnSpc>
                <a:spcPct val="102000"/>
              </a:lnSpc>
              <a:buNone/>
            </a:pPr>
            <a:r>
              <a:rPr lang="en-US" sz="2700" dirty="0">
                <a:solidFill>
                  <a:srgbClr val="0C1A2B"/>
                </a:solidFill>
                <a:latin typeface="Archivo Black" pitchFamily="34" charset="0"/>
                <a:ea typeface="Archivo Black" pitchFamily="34" charset="-122"/>
                <a:cs typeface="Archivo Black" pitchFamily="34" charset="-120"/>
              </a:rPr>
              <a:t>To nurture soil and skills, to do business honestly, and to prove it — batch by batch, farmer by farmer.</a:t>
            </a:r>
            <a:endParaRPr lang="en-US" sz="2700" dirty="0"/>
          </a:p>
        </p:txBody>
      </p:sp>
      <p:sp>
        <p:nvSpPr>
          <p:cNvPr id="7" name="Text 3"/>
          <p:cNvSpPr/>
          <p:nvPr/>
        </p:nvSpPr>
        <p:spPr>
          <a:xfrm>
            <a:off x="502920" y="3602736"/>
            <a:ext cx="6309360" cy="365760"/>
          </a:xfrm>
          <a:prstGeom prst="rect">
            <a:avLst/>
          </a:prstGeom>
          <a:noFill/>
          <a:ln/>
        </p:spPr>
        <p:txBody>
          <a:bodyPr wrap="square" lIns="0" tIns="0" rIns="0" bIns="0" rtlCol="0" anchor="t"/>
          <a:lstStyle/>
          <a:p>
            <a:pPr indent="0" marL="0">
              <a:buNone/>
            </a:pPr>
            <a:r>
              <a:rPr lang="en-US" sz="1100" i="1" dirty="0">
                <a:solidFill>
                  <a:srgbClr val="54606F"/>
                </a:solidFill>
                <a:latin typeface="Nunito Sans" pitchFamily="34" charset="0"/>
                <a:ea typeface="Nunito Sans" pitchFamily="34" charset="-122"/>
                <a:cs typeface="Nunito Sans" pitchFamily="34" charset="-120"/>
              </a:rPr>
              <a:t>A promise about the value delivered to the customer — not a claim about the company.</a:t>
            </a:r>
            <a:endParaRPr lang="en-US" sz="1100" dirty="0"/>
          </a:p>
        </p:txBody>
      </p:sp>
      <p:sp>
        <p:nvSpPr>
          <p:cNvPr id="8" name="Shape 4"/>
          <p:cNvSpPr/>
          <p:nvPr/>
        </p:nvSpPr>
        <p:spPr>
          <a:xfrm>
            <a:off x="502920" y="6455664"/>
            <a:ext cx="11185855" cy="0"/>
          </a:xfrm>
          <a:prstGeom prst="line">
            <a:avLst/>
          </a:prstGeom>
          <a:noFill/>
          <a:ln w="9525">
            <a:solidFill>
              <a:srgbClr val="E5DCCB"/>
            </a:solidFill>
            <a:prstDash val="solid"/>
          </a:ln>
        </p:spPr>
      </p:sp>
      <p:sp>
        <p:nvSpPr>
          <p:cNvPr id="9" name="Text 5"/>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04 · BRAND &amp; PROOF</a:t>
            </a:r>
            <a:endParaRPr lang="en-US" sz="800" dirty="0"/>
          </a:p>
        </p:txBody>
      </p:sp>
      <p:sp>
        <p:nvSpPr>
          <p:cNvPr id="10" name="Text 6"/>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24</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4041648"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4041648"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MAKING BACK-END AGRI-TECH RIGOUR VISIBLE</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Flip the script on QR traceability: put the farmer in the spotlight.</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Most traceability QR codes lead to a certificate — a document nobody reads. Ours should lead to a person.</a:t>
            </a:r>
            <a:endParaRPr lang="en-US" sz="1100" dirty="0"/>
          </a:p>
        </p:txBody>
      </p:sp>
      <p:sp>
        <p:nvSpPr>
          <p:cNvPr id="7" name="Shape 4"/>
          <p:cNvSpPr/>
          <p:nvPr/>
        </p:nvSpPr>
        <p:spPr>
          <a:xfrm>
            <a:off x="502920" y="2121408"/>
            <a:ext cx="3639312" cy="859536"/>
          </a:xfrm>
          <a:prstGeom prst="roundRect">
            <a:avLst>
              <a:gd name="adj" fmla="val 10638"/>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8" name="Text 5"/>
          <p:cNvSpPr/>
          <p:nvPr/>
        </p:nvSpPr>
        <p:spPr>
          <a:xfrm>
            <a:off x="667512" y="2212848"/>
            <a:ext cx="331012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  QR to farmer</a:t>
            </a:r>
            <a:endParaRPr lang="en-US" sz="1000" dirty="0"/>
          </a:p>
        </p:txBody>
      </p:sp>
      <p:sp>
        <p:nvSpPr>
          <p:cNvPr id="9" name="Text 6"/>
          <p:cNvSpPr/>
          <p:nvPr/>
        </p:nvSpPr>
        <p:spPr>
          <a:xfrm>
            <a:off x="667512" y="2450592"/>
            <a:ext cx="3310128" cy="47548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Scan the pack and land on a unique microsite of that farmer — know his village, harvest date, daily life, growth, consumer connects, and download the Pesticide-Free Certificate.</a:t>
            </a:r>
            <a:endParaRPr lang="en-US" sz="800" dirty="0"/>
          </a:p>
        </p:txBody>
      </p:sp>
      <p:sp>
        <p:nvSpPr>
          <p:cNvPr id="10" name="Shape 7"/>
          <p:cNvSpPr/>
          <p:nvPr/>
        </p:nvSpPr>
        <p:spPr>
          <a:xfrm>
            <a:off x="4361688" y="2121408"/>
            <a:ext cx="3639312" cy="859536"/>
          </a:xfrm>
          <a:prstGeom prst="roundRect">
            <a:avLst>
              <a:gd name="adj" fmla="val 10638"/>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11" name="Text 8"/>
          <p:cNvSpPr/>
          <p:nvPr/>
        </p:nvSpPr>
        <p:spPr>
          <a:xfrm>
            <a:off x="4526280" y="2212848"/>
            <a:ext cx="331012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  Village / farm clusters on pack</a:t>
            </a:r>
            <a:endParaRPr lang="en-US" sz="1000" dirty="0"/>
          </a:p>
        </p:txBody>
      </p:sp>
      <p:sp>
        <p:nvSpPr>
          <p:cNvPr id="12" name="Text 9"/>
          <p:cNvSpPr/>
          <p:nvPr/>
        </p:nvSpPr>
        <p:spPr>
          <a:xfrm>
            <a:off x="4526280" y="2450592"/>
            <a:ext cx="3310128" cy="47548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Like most wine brands across the world — Bordeaux, Nice, Nashik, Napa Valley — prove provenance.</a:t>
            </a:r>
            <a:endParaRPr lang="en-US" sz="800" dirty="0"/>
          </a:p>
        </p:txBody>
      </p:sp>
      <p:sp>
        <p:nvSpPr>
          <p:cNvPr id="13" name="Shape 10"/>
          <p:cNvSpPr/>
          <p:nvPr/>
        </p:nvSpPr>
        <p:spPr>
          <a:xfrm>
            <a:off x="502920" y="3090672"/>
            <a:ext cx="3639312" cy="859536"/>
          </a:xfrm>
          <a:prstGeom prst="roundRect">
            <a:avLst>
              <a:gd name="adj" fmla="val 10638"/>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14" name="Text 11"/>
          <p:cNvSpPr/>
          <p:nvPr/>
        </p:nvSpPr>
        <p:spPr>
          <a:xfrm>
            <a:off x="667512" y="3182112"/>
            <a:ext cx="331012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  Farmers as content creators</a:t>
            </a:r>
            <a:endParaRPr lang="en-US" sz="1000" dirty="0"/>
          </a:p>
        </p:txBody>
      </p:sp>
      <p:sp>
        <p:nvSpPr>
          <p:cNvPr id="15" name="Text 12"/>
          <p:cNvSpPr/>
          <p:nvPr/>
        </p:nvSpPr>
        <p:spPr>
          <a:xfrm>
            <a:off x="667512" y="3419856"/>
            <a:ext cx="3310128" cy="47548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They play the lead role with unscripted reels, voice notes and live harvest streams. Rougher, less polished than a typical ad — which is exactly what signals "real" to a sceptical buyer.</a:t>
            </a:r>
            <a:endParaRPr lang="en-US" sz="800" dirty="0"/>
          </a:p>
        </p:txBody>
      </p:sp>
      <p:sp>
        <p:nvSpPr>
          <p:cNvPr id="16" name="Shape 13"/>
          <p:cNvSpPr/>
          <p:nvPr/>
        </p:nvSpPr>
        <p:spPr>
          <a:xfrm>
            <a:off x="4361688" y="3090672"/>
            <a:ext cx="3639312" cy="859536"/>
          </a:xfrm>
          <a:prstGeom prst="roundRect">
            <a:avLst>
              <a:gd name="adj" fmla="val 10638"/>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17" name="Text 14"/>
          <p:cNvSpPr/>
          <p:nvPr/>
        </p:nvSpPr>
        <p:spPr>
          <a:xfrm>
            <a:off x="4526280" y="3182112"/>
            <a:ext cx="331012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  Hand-written farmer letters in pack</a:t>
            </a:r>
            <a:endParaRPr lang="en-US" sz="1000" dirty="0"/>
          </a:p>
        </p:txBody>
      </p:sp>
      <p:sp>
        <p:nvSpPr>
          <p:cNvPr id="18" name="Text 15"/>
          <p:cNvSpPr/>
          <p:nvPr/>
        </p:nvSpPr>
        <p:spPr>
          <a:xfrm>
            <a:off x="4526280" y="3419856"/>
            <a:ext cx="3310128" cy="47548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Rotating, handwritten-style notes from the actual farmer of that batch.</a:t>
            </a:r>
            <a:endParaRPr lang="en-US" sz="800" dirty="0"/>
          </a:p>
        </p:txBody>
      </p:sp>
      <p:sp>
        <p:nvSpPr>
          <p:cNvPr id="19" name="Shape 16"/>
          <p:cNvSpPr/>
          <p:nvPr/>
        </p:nvSpPr>
        <p:spPr>
          <a:xfrm>
            <a:off x="502920" y="4059936"/>
            <a:ext cx="3639312" cy="859536"/>
          </a:xfrm>
          <a:prstGeom prst="roundRect">
            <a:avLst>
              <a:gd name="adj" fmla="val 10638"/>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20" name="Text 17"/>
          <p:cNvSpPr/>
          <p:nvPr/>
        </p:nvSpPr>
        <p:spPr>
          <a:xfrm>
            <a:off x="667512" y="4151376"/>
            <a:ext cx="331012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  Farmers send audit invitation</a:t>
            </a:r>
            <a:endParaRPr lang="en-US" sz="1000" dirty="0"/>
          </a:p>
        </p:txBody>
      </p:sp>
      <p:sp>
        <p:nvSpPr>
          <p:cNvPr id="21" name="Text 18"/>
          <p:cNvSpPr/>
          <p:nvPr/>
        </p:nvSpPr>
        <p:spPr>
          <a:xfrm>
            <a:off x="667512" y="4389120"/>
            <a:ext cx="3310128" cy="47548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No need to give advance notice. Wins the "prove me wrong" archetype.</a:t>
            </a:r>
            <a:endParaRPr lang="en-US" sz="800" dirty="0"/>
          </a:p>
        </p:txBody>
      </p:sp>
      <p:sp>
        <p:nvSpPr>
          <p:cNvPr id="22" name="Shape 19"/>
          <p:cNvSpPr/>
          <p:nvPr/>
        </p:nvSpPr>
        <p:spPr>
          <a:xfrm>
            <a:off x="4361688" y="4059936"/>
            <a:ext cx="3639312" cy="859536"/>
          </a:xfrm>
          <a:prstGeom prst="roundRect">
            <a:avLst>
              <a:gd name="adj" fmla="val 10638"/>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23" name="Text 20"/>
          <p:cNvSpPr/>
          <p:nvPr/>
        </p:nvSpPr>
        <p:spPr>
          <a:xfrm>
            <a:off x="4526280" y="4151376"/>
            <a:ext cx="331012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  Farmer-led sampling</a:t>
            </a:r>
            <a:endParaRPr lang="en-US" sz="1000" dirty="0"/>
          </a:p>
        </p:txBody>
      </p:sp>
      <p:sp>
        <p:nvSpPr>
          <p:cNvPr id="24" name="Text 21"/>
          <p:cNvSpPr/>
          <p:nvPr/>
        </p:nvSpPr>
        <p:spPr>
          <a:xfrm>
            <a:off x="4526280" y="4389120"/>
            <a:ext cx="3310128" cy="47548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The farmers, not agency promoters, make demos at flea markets or housing societies to drive trials.</a:t>
            </a:r>
            <a:endParaRPr lang="en-US" sz="800" dirty="0"/>
          </a:p>
        </p:txBody>
      </p:sp>
      <p:sp>
        <p:nvSpPr>
          <p:cNvPr id="25" name="Shape 22"/>
          <p:cNvSpPr/>
          <p:nvPr/>
        </p:nvSpPr>
        <p:spPr>
          <a:xfrm>
            <a:off x="502920" y="5029200"/>
            <a:ext cx="3639312" cy="859536"/>
          </a:xfrm>
          <a:prstGeom prst="roundRect">
            <a:avLst>
              <a:gd name="adj" fmla="val 10638"/>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26" name="Text 23"/>
          <p:cNvSpPr/>
          <p:nvPr/>
        </p:nvSpPr>
        <p:spPr>
          <a:xfrm>
            <a:off x="667512" y="5120640"/>
            <a:ext cx="3310128" cy="219456"/>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  Consumer-to-farmer feedback loop</a:t>
            </a:r>
            <a:endParaRPr lang="en-US" sz="1000" dirty="0"/>
          </a:p>
        </p:txBody>
      </p:sp>
      <p:sp>
        <p:nvSpPr>
          <p:cNvPr id="27" name="Text 24"/>
          <p:cNvSpPr/>
          <p:nvPr/>
        </p:nvSpPr>
        <p:spPr>
          <a:xfrm>
            <a:off x="667512" y="5358384"/>
            <a:ext cx="3310128" cy="475488"/>
          </a:xfrm>
          <a:prstGeom prst="rect">
            <a:avLst/>
          </a:prstGeom>
          <a:noFill/>
          <a:ln/>
        </p:spPr>
        <p:txBody>
          <a:bodyPr wrap="square" lIns="0" tIns="0" rIns="0" bIns="0" rtlCol="0" anchor="t"/>
          <a:lstStyle/>
          <a:p>
            <a:pPr indent="0" marL="0">
              <a:lnSpc>
                <a:spcPct val="108000"/>
              </a:lnSpc>
              <a:buNone/>
            </a:pPr>
            <a:r>
              <a:rPr lang="en-US" sz="800" dirty="0">
                <a:solidFill>
                  <a:srgbClr val="54606F"/>
                </a:solidFill>
                <a:latin typeface="Nunito Sans" pitchFamily="34" charset="0"/>
                <a:ea typeface="Nunito Sans" pitchFamily="34" charset="-122"/>
                <a:cs typeface="Nunito Sans" pitchFamily="34" charset="-120"/>
              </a:rPr>
              <a:t>Get consumers to review the farmers and their fields' produce, instead of the product purchased.</a:t>
            </a:r>
            <a:endParaRPr lang="en-US" sz="800" dirty="0"/>
          </a:p>
        </p:txBody>
      </p:sp>
      <p:pic>
        <p:nvPicPr>
          <p:cNvPr id="28" name="Image 1" descr="/home/user/hopper-tessarakt/site/assets/qr-scan.jpg">    </p:cNvPr>
          <p:cNvPicPr>
            <a:picLocks noChangeAspect="1"/>
          </p:cNvPicPr>
          <p:nvPr/>
        </p:nvPicPr>
        <p:blipFill>
          <a:blip r:embed="rId2"/>
          <a:srcRect l="0" r="0" t="0" b="0"/>
          <a:stretch/>
        </p:blipFill>
        <p:spPr>
          <a:xfrm>
            <a:off x="8275320" y="2121408"/>
            <a:ext cx="3413455" cy="1737360"/>
          </a:xfrm>
          <a:prstGeom prst="rect">
            <a:avLst/>
          </a:prstGeom>
        </p:spPr>
      </p:pic>
      <p:pic>
        <p:nvPicPr>
          <p:cNvPr id="29" name="Image 2" descr="/home/user/hopper-tessarakt/site/assets/pack-range.jpg">    </p:cNvPr>
          <p:cNvPicPr>
            <a:picLocks noChangeAspect="1"/>
          </p:cNvPicPr>
          <p:nvPr/>
        </p:nvPicPr>
        <p:blipFill>
          <a:blip r:embed="rId3"/>
          <a:srcRect l="0" r="0" t="0" b="0"/>
          <a:stretch/>
        </p:blipFill>
        <p:spPr>
          <a:xfrm>
            <a:off x="8275320" y="3950208"/>
            <a:ext cx="3413455" cy="1463040"/>
          </a:xfrm>
          <a:prstGeom prst="rect">
            <a:avLst/>
          </a:prstGeom>
        </p:spPr>
      </p:pic>
      <p:sp>
        <p:nvSpPr>
          <p:cNvPr id="30" name="Shape 25"/>
          <p:cNvSpPr/>
          <p:nvPr/>
        </p:nvSpPr>
        <p:spPr>
          <a:xfrm>
            <a:off x="8275320" y="5486400"/>
            <a:ext cx="3413455" cy="960120"/>
          </a:xfrm>
          <a:prstGeom prst="roundRect">
            <a:avLst>
              <a:gd name="adj" fmla="val 9524"/>
            </a:avLst>
          </a:prstGeom>
          <a:solidFill>
            <a:srgbClr val="FAF0DA"/>
          </a:solidFill>
          <a:ln w="6350">
            <a:solidFill>
              <a:srgbClr val="FAF0DA"/>
            </a:solidFill>
            <a:prstDash val="solid"/>
          </a:ln>
        </p:spPr>
      </p:sp>
      <p:sp>
        <p:nvSpPr>
          <p:cNvPr id="31" name="Text 26"/>
          <p:cNvSpPr/>
          <p:nvPr/>
        </p:nvSpPr>
        <p:spPr>
          <a:xfrm>
            <a:off x="8476488" y="5605272"/>
            <a:ext cx="3011119" cy="219456"/>
          </a:xfrm>
          <a:prstGeom prst="rect">
            <a:avLst/>
          </a:prstGeom>
          <a:noFill/>
          <a:ln/>
        </p:spPr>
        <p:txBody>
          <a:bodyPr wrap="square" lIns="0" tIns="0" rIns="0" bIns="0" rtlCol="0" anchor="t"/>
          <a:lstStyle/>
          <a:p>
            <a:pPr indent="0" marL="0">
              <a:lnSpc>
                <a:spcPct val="102000"/>
              </a:lnSpc>
              <a:buNone/>
            </a:pPr>
            <a:r>
              <a:rPr lang="en-US" sz="1050" b="1" dirty="0">
                <a:solidFill>
                  <a:srgbClr val="9E7220"/>
                </a:solidFill>
                <a:latin typeface="Nunito Sans" pitchFamily="34" charset="0"/>
                <a:ea typeface="Nunito Sans" pitchFamily="34" charset="-122"/>
                <a:cs typeface="Nunito Sans" pitchFamily="34" charset="-120"/>
              </a:rPr>
              <a:t>4% → 22% full trust</a:t>
            </a:r>
            <a:endParaRPr lang="en-US" sz="1050" dirty="0"/>
          </a:p>
        </p:txBody>
      </p:sp>
      <p:sp>
        <p:nvSpPr>
          <p:cNvPr id="32" name="Text 27"/>
          <p:cNvSpPr/>
          <p:nvPr/>
        </p:nvSpPr>
        <p:spPr>
          <a:xfrm>
            <a:off x="8476488" y="5852160"/>
            <a:ext cx="3011119" cy="50292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when the pesticide-free claim carries an independent certificate — a 5× uplift, the largest of any claim tested.</a:t>
            </a:r>
            <a:endParaRPr lang="en-US" sz="900" dirty="0"/>
          </a:p>
        </p:txBody>
      </p:sp>
      <p:sp>
        <p:nvSpPr>
          <p:cNvPr id="33" name="Shape 28"/>
          <p:cNvSpPr/>
          <p:nvPr/>
        </p:nvSpPr>
        <p:spPr>
          <a:xfrm>
            <a:off x="502920" y="6455664"/>
            <a:ext cx="11185855" cy="0"/>
          </a:xfrm>
          <a:prstGeom prst="line">
            <a:avLst/>
          </a:prstGeom>
          <a:noFill/>
          <a:ln w="9525">
            <a:solidFill>
              <a:srgbClr val="E5DCCB"/>
            </a:solidFill>
            <a:prstDash val="solid"/>
          </a:ln>
        </p:spPr>
      </p:sp>
      <p:sp>
        <p:nvSpPr>
          <p:cNvPr id="34" name="Text 29"/>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04 · BRAND &amp; PROOF</a:t>
            </a:r>
            <a:endParaRPr lang="en-US" sz="800" dirty="0"/>
          </a:p>
        </p:txBody>
      </p:sp>
      <p:sp>
        <p:nvSpPr>
          <p:cNvPr id="35" name="Text 30"/>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25</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070202"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070202"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BRAND ARCHITECTURE</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The only food brand in India that consumers verify, not just trust.</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Positioning at the top, benefits in the middle, and a specific meaning for each stakeholder at the bottom.</a:t>
            </a:r>
            <a:endParaRPr lang="en-US" sz="1100" dirty="0"/>
          </a:p>
        </p:txBody>
      </p:sp>
      <p:sp>
        <p:nvSpPr>
          <p:cNvPr id="7" name="Shape 4"/>
          <p:cNvSpPr/>
          <p:nvPr/>
        </p:nvSpPr>
        <p:spPr>
          <a:xfrm>
            <a:off x="502920" y="2121408"/>
            <a:ext cx="5669280" cy="658368"/>
          </a:xfrm>
          <a:prstGeom prst="roundRect">
            <a:avLst>
              <a:gd name="adj" fmla="val 13889"/>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8" name="Text 5"/>
          <p:cNvSpPr/>
          <p:nvPr/>
        </p:nvSpPr>
        <p:spPr>
          <a:xfrm>
            <a:off x="685800" y="2194560"/>
            <a:ext cx="2743200"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POSITIONING</a:t>
            </a:r>
            <a:endParaRPr lang="en-US" sz="950" dirty="0"/>
          </a:p>
        </p:txBody>
      </p:sp>
      <p:sp>
        <p:nvSpPr>
          <p:cNvPr id="9" name="Text 6"/>
          <p:cNvSpPr/>
          <p:nvPr/>
        </p:nvSpPr>
        <p:spPr>
          <a:xfrm>
            <a:off x="685800" y="2395728"/>
            <a:ext cx="5303520" cy="329184"/>
          </a:xfrm>
          <a:prstGeom prst="rect">
            <a:avLst/>
          </a:prstGeom>
          <a:noFill/>
          <a:ln/>
        </p:spPr>
        <p:txBody>
          <a:bodyPr wrap="square" lIns="0" tIns="0" rIns="0" bIns="0" rtlCol="0" anchor="t"/>
          <a:lstStyle/>
          <a:p>
            <a:pPr indent="0" marL="0">
              <a:lnSpc>
                <a:spcPct val="102000"/>
              </a:lnSpc>
              <a:buNone/>
            </a:pPr>
            <a:r>
              <a:rPr lang="en-US" sz="1100" dirty="0">
                <a:solidFill>
                  <a:srgbClr val="0C1A2B"/>
                </a:solidFill>
                <a:latin typeface="Archivo Black" pitchFamily="34" charset="0"/>
                <a:ea typeface="Archivo Black" pitchFamily="34" charset="-122"/>
                <a:cs typeface="Archivo Black" pitchFamily="34" charset="-120"/>
              </a:rPr>
              <a:t>The only food brand in India that consumers verify, not just trust.</a:t>
            </a:r>
            <a:endParaRPr lang="en-US" sz="1100" dirty="0"/>
          </a:p>
        </p:txBody>
      </p:sp>
      <p:sp>
        <p:nvSpPr>
          <p:cNvPr id="10" name="Shape 7"/>
          <p:cNvSpPr/>
          <p:nvPr/>
        </p:nvSpPr>
        <p:spPr>
          <a:xfrm>
            <a:off x="502920" y="2871216"/>
            <a:ext cx="5669280" cy="658368"/>
          </a:xfrm>
          <a:prstGeom prst="roundRect">
            <a:avLst>
              <a:gd name="adj" fmla="val 13889"/>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11" name="Text 8"/>
          <p:cNvSpPr/>
          <p:nvPr/>
        </p:nvSpPr>
        <p:spPr>
          <a:xfrm>
            <a:off x="685800" y="2944368"/>
            <a:ext cx="2743200"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PROMISE</a:t>
            </a:r>
            <a:endParaRPr lang="en-US" sz="950" dirty="0"/>
          </a:p>
        </p:txBody>
      </p:sp>
      <p:sp>
        <p:nvSpPr>
          <p:cNvPr id="12" name="Text 9"/>
          <p:cNvSpPr/>
          <p:nvPr/>
        </p:nvSpPr>
        <p:spPr>
          <a:xfrm>
            <a:off x="685800" y="3145536"/>
            <a:ext cx="5303520" cy="329184"/>
          </a:xfrm>
          <a:prstGeom prst="rect">
            <a:avLst/>
          </a:prstGeom>
          <a:noFill/>
          <a:ln/>
        </p:spPr>
        <p:txBody>
          <a:bodyPr wrap="square" lIns="0" tIns="0" rIns="0" bIns="0" rtlCol="0" anchor="t"/>
          <a:lstStyle/>
          <a:p>
            <a:pPr indent="0" marL="0">
              <a:lnSpc>
                <a:spcPct val="102000"/>
              </a:lnSpc>
              <a:buNone/>
            </a:pPr>
            <a:r>
              <a:rPr lang="en-US" sz="1100" dirty="0">
                <a:solidFill>
                  <a:srgbClr val="0C1A2B"/>
                </a:solidFill>
                <a:latin typeface="Archivo Black" pitchFamily="34" charset="0"/>
                <a:ea typeface="Archivo Black" pitchFamily="34" charset="-122"/>
                <a:cs typeface="Archivo Black" pitchFamily="34" charset="-120"/>
              </a:rPr>
              <a:t>Verified in the fields. Honest on the shelves.</a:t>
            </a:r>
            <a:endParaRPr lang="en-US" sz="1100" dirty="0"/>
          </a:p>
        </p:txBody>
      </p:sp>
      <p:sp>
        <p:nvSpPr>
          <p:cNvPr id="13" name="Shape 10"/>
          <p:cNvSpPr/>
          <p:nvPr/>
        </p:nvSpPr>
        <p:spPr>
          <a:xfrm>
            <a:off x="502920" y="3621024"/>
            <a:ext cx="5669280" cy="658368"/>
          </a:xfrm>
          <a:prstGeom prst="roundRect">
            <a:avLst>
              <a:gd name="adj" fmla="val 13889"/>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14" name="Text 11"/>
          <p:cNvSpPr/>
          <p:nvPr/>
        </p:nvSpPr>
        <p:spPr>
          <a:xfrm>
            <a:off x="685800" y="3694176"/>
            <a:ext cx="2743200"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ROLE</a:t>
            </a:r>
            <a:endParaRPr lang="en-US" sz="950" dirty="0"/>
          </a:p>
        </p:txBody>
      </p:sp>
      <p:sp>
        <p:nvSpPr>
          <p:cNvPr id="15" name="Text 12"/>
          <p:cNvSpPr/>
          <p:nvPr/>
        </p:nvSpPr>
        <p:spPr>
          <a:xfrm>
            <a:off x="685800" y="3895344"/>
            <a:ext cx="5303520" cy="329184"/>
          </a:xfrm>
          <a:prstGeom prst="rect">
            <a:avLst/>
          </a:prstGeom>
          <a:noFill/>
          <a:ln/>
        </p:spPr>
        <p:txBody>
          <a:bodyPr wrap="square" lIns="0" tIns="0" rIns="0" bIns="0" rtlCol="0" anchor="t"/>
          <a:lstStyle/>
          <a:p>
            <a:pPr indent="0" marL="0">
              <a:lnSpc>
                <a:spcPct val="102000"/>
              </a:lnSpc>
              <a:buNone/>
            </a:pPr>
            <a:r>
              <a:rPr lang="en-US" sz="1100" dirty="0">
                <a:solidFill>
                  <a:srgbClr val="0C1A2B"/>
                </a:solidFill>
                <a:latin typeface="Archivo Black" pitchFamily="34" charset="0"/>
                <a:ea typeface="Archivo Black" pitchFamily="34" charset="-122"/>
                <a:cs typeface="Archivo Black" pitchFamily="34" charset="-120"/>
              </a:rPr>
              <a:t>An honest guide that leads with transparency, answers with proof, and never preaches.</a:t>
            </a:r>
            <a:endParaRPr lang="en-US" sz="1100" dirty="0"/>
          </a:p>
        </p:txBody>
      </p:sp>
      <p:sp>
        <p:nvSpPr>
          <p:cNvPr id="16" name="Shape 13"/>
          <p:cNvSpPr/>
          <p:nvPr/>
        </p:nvSpPr>
        <p:spPr>
          <a:xfrm>
            <a:off x="502920" y="4370832"/>
            <a:ext cx="5669280" cy="658368"/>
          </a:xfrm>
          <a:prstGeom prst="roundRect">
            <a:avLst>
              <a:gd name="adj" fmla="val 13889"/>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17" name="Text 14"/>
          <p:cNvSpPr/>
          <p:nvPr/>
        </p:nvSpPr>
        <p:spPr>
          <a:xfrm>
            <a:off x="685800" y="4443984"/>
            <a:ext cx="2743200" cy="219456"/>
          </a:xfrm>
          <a:prstGeom prst="rect">
            <a:avLst/>
          </a:prstGeom>
          <a:noFill/>
          <a:ln/>
        </p:spPr>
        <p:txBody>
          <a:bodyPr wrap="square" lIns="0" tIns="0" rIns="0" bIns="0" rtlCol="0" anchor="ctr"/>
          <a:lstStyle/>
          <a:p>
            <a:pPr indent="0" marL="0">
              <a:buNone/>
            </a:pPr>
            <a:r>
              <a:rPr lang="en-US" sz="950" b="1" spc="180" kern="0" dirty="0">
                <a:solidFill>
                  <a:srgbClr val="177A46"/>
                </a:solidFill>
                <a:latin typeface="Nunito Sans" pitchFamily="34" charset="0"/>
                <a:ea typeface="Nunito Sans" pitchFamily="34" charset="-122"/>
                <a:cs typeface="Nunito Sans" pitchFamily="34" charset="-120"/>
              </a:rPr>
              <a:t>BELIEF</a:t>
            </a:r>
            <a:endParaRPr lang="en-US" sz="950" dirty="0"/>
          </a:p>
        </p:txBody>
      </p:sp>
      <p:sp>
        <p:nvSpPr>
          <p:cNvPr id="18" name="Text 15"/>
          <p:cNvSpPr/>
          <p:nvPr/>
        </p:nvSpPr>
        <p:spPr>
          <a:xfrm>
            <a:off x="685800" y="4645152"/>
            <a:ext cx="5303520" cy="329184"/>
          </a:xfrm>
          <a:prstGeom prst="rect">
            <a:avLst/>
          </a:prstGeom>
          <a:noFill/>
          <a:ln/>
        </p:spPr>
        <p:txBody>
          <a:bodyPr wrap="square" lIns="0" tIns="0" rIns="0" bIns="0" rtlCol="0" anchor="t"/>
          <a:lstStyle/>
          <a:p>
            <a:pPr indent="0" marL="0">
              <a:lnSpc>
                <a:spcPct val="102000"/>
              </a:lnSpc>
              <a:buNone/>
            </a:pPr>
            <a:r>
              <a:rPr lang="en-US" sz="1100" dirty="0">
                <a:solidFill>
                  <a:srgbClr val="0C1A2B"/>
                </a:solidFill>
                <a:latin typeface="Archivo Black" pitchFamily="34" charset="0"/>
                <a:ea typeface="Archivo Black" pitchFamily="34" charset="-122"/>
                <a:cs typeface="Archivo Black" pitchFamily="34" charset="-120"/>
              </a:rPr>
              <a:t>Progress moves from seed to plate, and every hand that touches it is named, not hidden.</a:t>
            </a:r>
            <a:endParaRPr lang="en-US" sz="1100" dirty="0"/>
          </a:p>
        </p:txBody>
      </p:sp>
      <p:sp>
        <p:nvSpPr>
          <p:cNvPr id="19" name="Shape 16"/>
          <p:cNvSpPr/>
          <p:nvPr/>
        </p:nvSpPr>
        <p:spPr>
          <a:xfrm>
            <a:off x="502920" y="5212080"/>
            <a:ext cx="1767840" cy="960120"/>
          </a:xfrm>
          <a:prstGeom prst="roundRect">
            <a:avLst>
              <a:gd name="adj" fmla="val 9524"/>
            </a:avLst>
          </a:prstGeom>
          <a:solidFill>
            <a:srgbClr val="F3ECE0"/>
          </a:solidFill>
          <a:ln w="15875">
            <a:solidFill>
              <a:srgbClr val="EDE4D4"/>
            </a:solidFill>
            <a:prstDash val="solid"/>
          </a:ln>
          <a:effectLst>
            <a:outerShdw sx="100000" sy="100000" kx="0" ky="0" algn="bl" rotWithShape="0" blurRad="228600" dist="25400" dir="5400000">
              <a:srgbClr val="0C1A2B">
                <a:alpha val="7000"/>
              </a:srgbClr>
            </a:outerShdw>
          </a:effectLst>
        </p:spPr>
      </p:sp>
      <p:sp>
        <p:nvSpPr>
          <p:cNvPr id="20" name="Text 17"/>
          <p:cNvSpPr/>
          <p:nvPr/>
        </p:nvSpPr>
        <p:spPr>
          <a:xfrm>
            <a:off x="649224" y="5285232"/>
            <a:ext cx="149352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FUNCTIONAL</a:t>
            </a:r>
            <a:endParaRPr lang="en-US" sz="950" dirty="0"/>
          </a:p>
        </p:txBody>
      </p:sp>
      <p:sp>
        <p:nvSpPr>
          <p:cNvPr id="21" name="Text 18"/>
          <p:cNvSpPr/>
          <p:nvPr/>
        </p:nvSpPr>
        <p:spPr>
          <a:xfrm>
            <a:off x="649224" y="5486400"/>
            <a:ext cx="1475232" cy="219456"/>
          </a:xfrm>
          <a:prstGeom prst="rect">
            <a:avLst/>
          </a:prstGeom>
          <a:noFill/>
          <a:ln/>
        </p:spPr>
        <p:txBody>
          <a:bodyPr wrap="square" lIns="0" tIns="0" rIns="0" bIns="0" rtlCol="0" anchor="t"/>
          <a:lstStyle/>
          <a:p>
            <a:pPr indent="0" marL="0">
              <a:buNone/>
            </a:pPr>
            <a:r>
              <a:rPr lang="en-US" sz="1050" b="1" dirty="0">
                <a:solidFill>
                  <a:srgbClr val="0C1A2B"/>
                </a:solidFill>
                <a:latin typeface="Nunito Sans" pitchFamily="34" charset="0"/>
                <a:ea typeface="Nunito Sans" pitchFamily="34" charset="-122"/>
                <a:cs typeface="Nunito Sans" pitchFamily="34" charset="-120"/>
              </a:rPr>
              <a:t>Verified safety.</a:t>
            </a:r>
            <a:endParaRPr lang="en-US" sz="1050" dirty="0"/>
          </a:p>
        </p:txBody>
      </p:sp>
      <p:sp>
        <p:nvSpPr>
          <p:cNvPr id="22" name="Text 19"/>
          <p:cNvSpPr/>
          <p:nvPr/>
        </p:nvSpPr>
        <p:spPr>
          <a:xfrm>
            <a:off x="649224" y="5705856"/>
            <a:ext cx="1475232" cy="384048"/>
          </a:xfrm>
          <a:prstGeom prst="rect">
            <a:avLst/>
          </a:prstGeom>
          <a:noFill/>
          <a:ln/>
        </p:spPr>
        <p:txBody>
          <a:bodyPr wrap="square" lIns="0" tIns="0" rIns="0" bIns="0" rtlCol="0" anchor="t"/>
          <a:lstStyle/>
          <a:p>
            <a:pPr indent="0" marL="0">
              <a:lnSpc>
                <a:spcPct val="106000"/>
              </a:lnSpc>
              <a:buNone/>
            </a:pPr>
            <a:r>
              <a:rPr lang="en-US" sz="850" dirty="0">
                <a:solidFill>
                  <a:srgbClr val="54606F"/>
                </a:solidFill>
                <a:latin typeface="Nunito Sans" pitchFamily="34" charset="0"/>
                <a:ea typeface="Nunito Sans" pitchFamily="34" charset="-122"/>
                <a:cs typeface="Nunito Sans" pitchFamily="34" charset="-120"/>
              </a:rPr>
              <a:t>No detectable residue.</a:t>
            </a:r>
            <a:endParaRPr lang="en-US" sz="850" dirty="0"/>
          </a:p>
        </p:txBody>
      </p:sp>
      <p:sp>
        <p:nvSpPr>
          <p:cNvPr id="23" name="Shape 20"/>
          <p:cNvSpPr/>
          <p:nvPr/>
        </p:nvSpPr>
        <p:spPr>
          <a:xfrm>
            <a:off x="2453640" y="5212080"/>
            <a:ext cx="1767840" cy="960120"/>
          </a:xfrm>
          <a:prstGeom prst="roundRect">
            <a:avLst>
              <a:gd name="adj" fmla="val 9524"/>
            </a:avLst>
          </a:prstGeom>
          <a:solidFill>
            <a:srgbClr val="F3ECE0"/>
          </a:solidFill>
          <a:ln w="15875">
            <a:solidFill>
              <a:srgbClr val="EDE4D4"/>
            </a:solidFill>
            <a:prstDash val="solid"/>
          </a:ln>
          <a:effectLst>
            <a:outerShdw sx="100000" sy="100000" kx="0" ky="0" algn="bl" rotWithShape="0" blurRad="228600" dist="25400" dir="5400000">
              <a:srgbClr val="0C1A2B">
                <a:alpha val="7000"/>
              </a:srgbClr>
            </a:outerShdw>
          </a:effectLst>
        </p:spPr>
      </p:sp>
      <p:sp>
        <p:nvSpPr>
          <p:cNvPr id="24" name="Text 21"/>
          <p:cNvSpPr/>
          <p:nvPr/>
        </p:nvSpPr>
        <p:spPr>
          <a:xfrm>
            <a:off x="2599944" y="5285232"/>
            <a:ext cx="149352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EMOTIONAL</a:t>
            </a:r>
            <a:endParaRPr lang="en-US" sz="950" dirty="0"/>
          </a:p>
        </p:txBody>
      </p:sp>
      <p:sp>
        <p:nvSpPr>
          <p:cNvPr id="25" name="Text 22"/>
          <p:cNvSpPr/>
          <p:nvPr/>
        </p:nvSpPr>
        <p:spPr>
          <a:xfrm>
            <a:off x="2599944" y="5486400"/>
            <a:ext cx="1475232" cy="219456"/>
          </a:xfrm>
          <a:prstGeom prst="rect">
            <a:avLst/>
          </a:prstGeom>
          <a:noFill/>
          <a:ln/>
        </p:spPr>
        <p:txBody>
          <a:bodyPr wrap="square" lIns="0" tIns="0" rIns="0" bIns="0" rtlCol="0" anchor="t"/>
          <a:lstStyle/>
          <a:p>
            <a:pPr indent="0" marL="0">
              <a:buNone/>
            </a:pPr>
            <a:r>
              <a:rPr lang="en-US" sz="1050" b="1" dirty="0">
                <a:solidFill>
                  <a:srgbClr val="0C1A2B"/>
                </a:solidFill>
                <a:latin typeface="Nunito Sans" pitchFamily="34" charset="0"/>
                <a:ea typeface="Nunito Sans" pitchFamily="34" charset="-122"/>
                <a:cs typeface="Nunito Sans" pitchFamily="34" charset="-120"/>
              </a:rPr>
              <a:t>Relief.</a:t>
            </a:r>
            <a:endParaRPr lang="en-US" sz="1050" dirty="0"/>
          </a:p>
        </p:txBody>
      </p:sp>
      <p:sp>
        <p:nvSpPr>
          <p:cNvPr id="26" name="Text 23"/>
          <p:cNvSpPr/>
          <p:nvPr/>
        </p:nvSpPr>
        <p:spPr>
          <a:xfrm>
            <a:off x="2599944" y="5705856"/>
            <a:ext cx="1475232" cy="384048"/>
          </a:xfrm>
          <a:prstGeom prst="rect">
            <a:avLst/>
          </a:prstGeom>
          <a:noFill/>
          <a:ln/>
        </p:spPr>
        <p:txBody>
          <a:bodyPr wrap="square" lIns="0" tIns="0" rIns="0" bIns="0" rtlCol="0" anchor="t"/>
          <a:lstStyle/>
          <a:p>
            <a:pPr indent="0" marL="0">
              <a:lnSpc>
                <a:spcPct val="106000"/>
              </a:lnSpc>
              <a:buNone/>
            </a:pPr>
            <a:r>
              <a:rPr lang="en-US" sz="850" dirty="0">
                <a:solidFill>
                  <a:srgbClr val="54606F"/>
                </a:solidFill>
                <a:latin typeface="Nunito Sans" pitchFamily="34" charset="0"/>
                <a:ea typeface="Nunito Sans" pitchFamily="34" charset="-122"/>
                <a:cs typeface="Nunito Sans" pitchFamily="34" charset="-120"/>
              </a:rPr>
              <a:t>You're no longer the only one keeping watch.</a:t>
            </a:r>
            <a:endParaRPr lang="en-US" sz="850" dirty="0"/>
          </a:p>
        </p:txBody>
      </p:sp>
      <p:sp>
        <p:nvSpPr>
          <p:cNvPr id="27" name="Shape 24"/>
          <p:cNvSpPr/>
          <p:nvPr/>
        </p:nvSpPr>
        <p:spPr>
          <a:xfrm>
            <a:off x="4404360" y="5212080"/>
            <a:ext cx="1767840" cy="960120"/>
          </a:xfrm>
          <a:prstGeom prst="roundRect">
            <a:avLst>
              <a:gd name="adj" fmla="val 9524"/>
            </a:avLst>
          </a:prstGeom>
          <a:solidFill>
            <a:srgbClr val="F3ECE0"/>
          </a:solidFill>
          <a:ln w="15875">
            <a:solidFill>
              <a:srgbClr val="EDE4D4"/>
            </a:solidFill>
            <a:prstDash val="solid"/>
          </a:ln>
          <a:effectLst>
            <a:outerShdw sx="100000" sy="100000" kx="0" ky="0" algn="bl" rotWithShape="0" blurRad="228600" dist="25400" dir="5400000">
              <a:srgbClr val="0C1A2B">
                <a:alpha val="7000"/>
              </a:srgbClr>
            </a:outerShdw>
          </a:effectLst>
        </p:spPr>
      </p:sp>
      <p:sp>
        <p:nvSpPr>
          <p:cNvPr id="28" name="Text 25"/>
          <p:cNvSpPr/>
          <p:nvPr/>
        </p:nvSpPr>
        <p:spPr>
          <a:xfrm>
            <a:off x="4550664" y="5285232"/>
            <a:ext cx="149352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EXPERIENTIAL</a:t>
            </a:r>
            <a:endParaRPr lang="en-US" sz="950" dirty="0"/>
          </a:p>
        </p:txBody>
      </p:sp>
      <p:sp>
        <p:nvSpPr>
          <p:cNvPr id="29" name="Text 26"/>
          <p:cNvSpPr/>
          <p:nvPr/>
        </p:nvSpPr>
        <p:spPr>
          <a:xfrm>
            <a:off x="4550664" y="5486400"/>
            <a:ext cx="1475232" cy="219456"/>
          </a:xfrm>
          <a:prstGeom prst="rect">
            <a:avLst/>
          </a:prstGeom>
          <a:noFill/>
          <a:ln/>
        </p:spPr>
        <p:txBody>
          <a:bodyPr wrap="square" lIns="0" tIns="0" rIns="0" bIns="0" rtlCol="0" anchor="t"/>
          <a:lstStyle/>
          <a:p>
            <a:pPr indent="0" marL="0">
              <a:buNone/>
            </a:pPr>
            <a:r>
              <a:rPr lang="en-US" sz="1050" b="1" dirty="0">
                <a:solidFill>
                  <a:srgbClr val="0C1A2B"/>
                </a:solidFill>
                <a:latin typeface="Nunito Sans" pitchFamily="34" charset="0"/>
                <a:ea typeface="Nunito Sans" pitchFamily="34" charset="-122"/>
                <a:cs typeface="Nunito Sans" pitchFamily="34" charset="-120"/>
              </a:rPr>
              <a:t>Honest progress.</a:t>
            </a:r>
            <a:endParaRPr lang="en-US" sz="1050" dirty="0"/>
          </a:p>
        </p:txBody>
      </p:sp>
      <p:sp>
        <p:nvSpPr>
          <p:cNvPr id="30" name="Text 27"/>
          <p:cNvSpPr/>
          <p:nvPr/>
        </p:nvSpPr>
        <p:spPr>
          <a:xfrm>
            <a:off x="4550664" y="5705856"/>
            <a:ext cx="1475232" cy="384048"/>
          </a:xfrm>
          <a:prstGeom prst="rect">
            <a:avLst/>
          </a:prstGeom>
          <a:noFill/>
          <a:ln/>
        </p:spPr>
        <p:txBody>
          <a:bodyPr wrap="square" lIns="0" tIns="0" rIns="0" bIns="0" rtlCol="0" anchor="t"/>
          <a:lstStyle/>
          <a:p>
            <a:pPr indent="0" marL="0">
              <a:lnSpc>
                <a:spcPct val="106000"/>
              </a:lnSpc>
              <a:buNone/>
            </a:pPr>
            <a:r>
              <a:rPr lang="en-US" sz="850" dirty="0">
                <a:solidFill>
                  <a:srgbClr val="54606F"/>
                </a:solidFill>
                <a:latin typeface="Nunito Sans" pitchFamily="34" charset="0"/>
                <a:ea typeface="Nunito Sans" pitchFamily="34" charset="-122"/>
                <a:cs typeface="Nunito Sans" pitchFamily="34" charset="-120"/>
              </a:rPr>
              <a:t>With every basket, from seed to plate.</a:t>
            </a:r>
            <a:endParaRPr lang="en-US" sz="850" dirty="0"/>
          </a:p>
        </p:txBody>
      </p:sp>
      <p:sp>
        <p:nvSpPr>
          <p:cNvPr id="31" name="Text 28"/>
          <p:cNvSpPr/>
          <p:nvPr/>
        </p:nvSpPr>
        <p:spPr>
          <a:xfrm>
            <a:off x="6446520" y="2121408"/>
            <a:ext cx="5242255"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WHAT THE PROMISE MEANS TO EACH STAKEHOLDER</a:t>
            </a:r>
            <a:endParaRPr lang="en-US" sz="950" dirty="0"/>
          </a:p>
        </p:txBody>
      </p:sp>
      <p:sp>
        <p:nvSpPr>
          <p:cNvPr id="32" name="Shape 29"/>
          <p:cNvSpPr/>
          <p:nvPr/>
        </p:nvSpPr>
        <p:spPr>
          <a:xfrm>
            <a:off x="6446520" y="2432304"/>
            <a:ext cx="2520544" cy="1426464"/>
          </a:xfrm>
          <a:prstGeom prst="roundRect">
            <a:avLst>
              <a:gd name="adj" fmla="val 6410"/>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33" name="Text 30"/>
          <p:cNvSpPr/>
          <p:nvPr/>
        </p:nvSpPr>
        <p:spPr>
          <a:xfrm>
            <a:off x="6611112" y="2542032"/>
            <a:ext cx="2191360" cy="219456"/>
          </a:xfrm>
          <a:prstGeom prst="rect">
            <a:avLst/>
          </a:prstGeom>
          <a:noFill/>
          <a:ln/>
        </p:spPr>
        <p:txBody>
          <a:bodyPr wrap="square" lIns="0" tIns="0" rIns="0" bIns="0" rtlCol="0" anchor="ctr"/>
          <a:lstStyle/>
          <a:p>
            <a:pPr indent="0" marL="0">
              <a:buNone/>
            </a:pPr>
            <a:r>
              <a:rPr lang="en-US" sz="950" b="1" spc="180" kern="0" dirty="0">
                <a:solidFill>
                  <a:srgbClr val="3A5D97"/>
                </a:solidFill>
                <a:latin typeface="Nunito Sans" pitchFamily="34" charset="0"/>
                <a:ea typeface="Nunito Sans" pitchFamily="34" charset="-122"/>
                <a:cs typeface="Nunito Sans" pitchFamily="34" charset="-120"/>
              </a:rPr>
              <a:t>FARMERS / FPOS</a:t>
            </a:r>
            <a:endParaRPr lang="en-US" sz="950" dirty="0"/>
          </a:p>
        </p:txBody>
      </p:sp>
      <p:sp>
        <p:nvSpPr>
          <p:cNvPr id="34" name="Text 31"/>
          <p:cNvSpPr/>
          <p:nvPr/>
        </p:nvSpPr>
        <p:spPr>
          <a:xfrm>
            <a:off x="6611112" y="2798064"/>
            <a:ext cx="2191360" cy="96012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DeHaat trains farmers for productivity, profitability and sustainability with simplified agri-tech data to give clear signals to consumers. Winning trust with no hidden stories, no shortcuts.</a:t>
            </a:r>
            <a:endParaRPr lang="en-US" sz="850" dirty="0"/>
          </a:p>
        </p:txBody>
      </p:sp>
      <p:sp>
        <p:nvSpPr>
          <p:cNvPr id="35" name="Shape 32"/>
          <p:cNvSpPr/>
          <p:nvPr/>
        </p:nvSpPr>
        <p:spPr>
          <a:xfrm>
            <a:off x="9168232" y="2432304"/>
            <a:ext cx="2520544" cy="1426464"/>
          </a:xfrm>
          <a:prstGeom prst="roundRect">
            <a:avLst>
              <a:gd name="adj" fmla="val 6410"/>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36" name="Text 33"/>
          <p:cNvSpPr/>
          <p:nvPr/>
        </p:nvSpPr>
        <p:spPr>
          <a:xfrm>
            <a:off x="9332824" y="2542032"/>
            <a:ext cx="2191360" cy="219456"/>
          </a:xfrm>
          <a:prstGeom prst="rect">
            <a:avLst/>
          </a:prstGeom>
          <a:noFill/>
          <a:ln/>
        </p:spPr>
        <p:txBody>
          <a:bodyPr wrap="square" lIns="0" tIns="0" rIns="0" bIns="0" rtlCol="0" anchor="ctr"/>
          <a:lstStyle/>
          <a:p>
            <a:pPr indent="0" marL="0">
              <a:buNone/>
            </a:pPr>
            <a:r>
              <a:rPr lang="en-US" sz="950" b="1" spc="180" kern="0" dirty="0">
                <a:solidFill>
                  <a:srgbClr val="3A5D97"/>
                </a:solidFill>
                <a:latin typeface="Nunito Sans" pitchFamily="34" charset="0"/>
                <a:ea typeface="Nunito Sans" pitchFamily="34" charset="-122"/>
                <a:cs typeface="Nunito Sans" pitchFamily="34" charset="-120"/>
              </a:rPr>
              <a:t>Q-COMM, E-COMM &amp; MTS</a:t>
            </a:r>
            <a:endParaRPr lang="en-US" sz="950" dirty="0"/>
          </a:p>
        </p:txBody>
      </p:sp>
      <p:sp>
        <p:nvSpPr>
          <p:cNvPr id="37" name="Text 34"/>
          <p:cNvSpPr/>
          <p:nvPr/>
        </p:nvSpPr>
        <p:spPr>
          <a:xfrm>
            <a:off x="9332824" y="2798064"/>
            <a:ext cx="2191360" cy="96012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Made to win Honest Farms' brand trust by showing superiority in backend agri-tech, not just another category claim on apps and shelves.</a:t>
            </a:r>
            <a:endParaRPr lang="en-US" sz="850" dirty="0"/>
          </a:p>
        </p:txBody>
      </p:sp>
      <p:sp>
        <p:nvSpPr>
          <p:cNvPr id="38" name="Shape 35"/>
          <p:cNvSpPr/>
          <p:nvPr/>
        </p:nvSpPr>
        <p:spPr>
          <a:xfrm>
            <a:off x="6446520" y="4005072"/>
            <a:ext cx="2520544" cy="1426464"/>
          </a:xfrm>
          <a:prstGeom prst="roundRect">
            <a:avLst>
              <a:gd name="adj" fmla="val 6410"/>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39" name="Text 36"/>
          <p:cNvSpPr/>
          <p:nvPr/>
        </p:nvSpPr>
        <p:spPr>
          <a:xfrm>
            <a:off x="6611112" y="4114800"/>
            <a:ext cx="2191360" cy="219456"/>
          </a:xfrm>
          <a:prstGeom prst="rect">
            <a:avLst/>
          </a:prstGeom>
          <a:noFill/>
          <a:ln/>
        </p:spPr>
        <p:txBody>
          <a:bodyPr wrap="square" lIns="0" tIns="0" rIns="0" bIns="0" rtlCol="0" anchor="ctr"/>
          <a:lstStyle/>
          <a:p>
            <a:pPr indent="0" marL="0">
              <a:buNone/>
            </a:pPr>
            <a:r>
              <a:rPr lang="en-US" sz="950" b="1" spc="180" kern="0" dirty="0">
                <a:solidFill>
                  <a:srgbClr val="3A5D97"/>
                </a:solidFill>
                <a:latin typeface="Nunito Sans" pitchFamily="34" charset="0"/>
                <a:ea typeface="Nunito Sans" pitchFamily="34" charset="-122"/>
                <a:cs typeface="Nunito Sans" pitchFamily="34" charset="-120"/>
              </a:rPr>
              <a:t>CONSUMERS</a:t>
            </a:r>
            <a:endParaRPr lang="en-US" sz="950" dirty="0"/>
          </a:p>
        </p:txBody>
      </p:sp>
      <p:sp>
        <p:nvSpPr>
          <p:cNvPr id="40" name="Text 37"/>
          <p:cNvSpPr/>
          <p:nvPr/>
        </p:nvSpPr>
        <p:spPr>
          <a:xfrm>
            <a:off x="6611112" y="4370832"/>
            <a:ext cx="2191360" cy="96012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Empowered to verify every batch, farmer, and agri practice before they add to cart and put food on the table.</a:t>
            </a:r>
            <a:endParaRPr lang="en-US" sz="850" dirty="0"/>
          </a:p>
        </p:txBody>
      </p:sp>
      <p:sp>
        <p:nvSpPr>
          <p:cNvPr id="41" name="Shape 38"/>
          <p:cNvSpPr/>
          <p:nvPr/>
        </p:nvSpPr>
        <p:spPr>
          <a:xfrm>
            <a:off x="9168232" y="4005072"/>
            <a:ext cx="2520544" cy="1426464"/>
          </a:xfrm>
          <a:prstGeom prst="roundRect">
            <a:avLst>
              <a:gd name="adj" fmla="val 6410"/>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42" name="Text 39"/>
          <p:cNvSpPr/>
          <p:nvPr/>
        </p:nvSpPr>
        <p:spPr>
          <a:xfrm>
            <a:off x="9332824" y="4114800"/>
            <a:ext cx="2191360" cy="219456"/>
          </a:xfrm>
          <a:prstGeom prst="rect">
            <a:avLst/>
          </a:prstGeom>
          <a:noFill/>
          <a:ln/>
        </p:spPr>
        <p:txBody>
          <a:bodyPr wrap="square" lIns="0" tIns="0" rIns="0" bIns="0" rtlCol="0" anchor="ctr"/>
          <a:lstStyle/>
          <a:p>
            <a:pPr indent="0" marL="0">
              <a:buNone/>
            </a:pPr>
            <a:r>
              <a:rPr lang="en-US" sz="950" b="1" spc="180" kern="0" dirty="0">
                <a:solidFill>
                  <a:srgbClr val="3A5D97"/>
                </a:solidFill>
                <a:latin typeface="Nunito Sans" pitchFamily="34" charset="0"/>
                <a:ea typeface="Nunito Sans" pitchFamily="34" charset="-122"/>
                <a:cs typeface="Nunito Sans" pitchFamily="34" charset="-120"/>
              </a:rPr>
              <a:t>EMPLOYEES</a:t>
            </a:r>
            <a:endParaRPr lang="en-US" sz="950" dirty="0"/>
          </a:p>
        </p:txBody>
      </p:sp>
      <p:sp>
        <p:nvSpPr>
          <p:cNvPr id="43" name="Text 40"/>
          <p:cNvSpPr/>
          <p:nvPr/>
        </p:nvSpPr>
        <p:spPr>
          <a:xfrm>
            <a:off x="9332824" y="4370832"/>
            <a:ext cx="2191360" cy="960120"/>
          </a:xfrm>
          <a:prstGeom prst="rect">
            <a:avLst/>
          </a:prstGeom>
          <a:noFill/>
          <a:ln/>
        </p:spPr>
        <p:txBody>
          <a:bodyPr wrap="square" lIns="0" tIns="0" rIns="0" bIns="0" rtlCol="0" anchor="t"/>
          <a:lstStyle/>
          <a:p>
            <a:pPr indent="0" marL="0">
              <a:lnSpc>
                <a:spcPct val="112000"/>
              </a:lnSpc>
              <a:buNone/>
            </a:pPr>
            <a:r>
              <a:rPr lang="en-US" sz="850" dirty="0">
                <a:solidFill>
                  <a:srgbClr val="54606F"/>
                </a:solidFill>
                <a:latin typeface="Nunito Sans" pitchFamily="34" charset="0"/>
                <a:ea typeface="Nunito Sans" pitchFamily="34" charset="-122"/>
                <a:cs typeface="Nunito Sans" pitchFamily="34" charset="-120"/>
              </a:rPr>
              <a:t>Hire and train to demonstrate the spirit of progress — bringing Krishi wisdom and modern methods to make farming more productive, profitable and sustainable.</a:t>
            </a:r>
            <a:endParaRPr lang="en-US" sz="850" dirty="0"/>
          </a:p>
        </p:txBody>
      </p:sp>
      <p:sp>
        <p:nvSpPr>
          <p:cNvPr id="44" name="Shape 41"/>
          <p:cNvSpPr/>
          <p:nvPr/>
        </p:nvSpPr>
        <p:spPr>
          <a:xfrm>
            <a:off x="6446520" y="5596128"/>
            <a:ext cx="5242255" cy="914400"/>
          </a:xfrm>
          <a:prstGeom prst="roundRect">
            <a:avLst>
              <a:gd name="adj" fmla="val 10000"/>
            </a:avLst>
          </a:prstGeom>
          <a:solidFill>
            <a:srgbClr val="E4F2EA"/>
          </a:solidFill>
          <a:ln w="6350">
            <a:solidFill>
              <a:srgbClr val="E4F2EA"/>
            </a:solidFill>
            <a:prstDash val="solid"/>
          </a:ln>
        </p:spPr>
      </p:sp>
      <p:sp>
        <p:nvSpPr>
          <p:cNvPr id="45" name="Text 42"/>
          <p:cNvSpPr/>
          <p:nvPr/>
        </p:nvSpPr>
        <p:spPr>
          <a:xfrm>
            <a:off x="6647688" y="5715000"/>
            <a:ext cx="4839919" cy="219456"/>
          </a:xfrm>
          <a:prstGeom prst="rect">
            <a:avLst/>
          </a:prstGeom>
          <a:noFill/>
          <a:ln/>
        </p:spPr>
        <p:txBody>
          <a:bodyPr wrap="square" lIns="0" tIns="0" rIns="0" bIns="0" rtlCol="0" anchor="t"/>
          <a:lstStyle/>
          <a:p>
            <a:pPr indent="0" marL="0">
              <a:lnSpc>
                <a:spcPct val="102000"/>
              </a:lnSpc>
              <a:buNone/>
            </a:pPr>
            <a:r>
              <a:rPr lang="en-US" sz="1050" b="1" dirty="0">
                <a:solidFill>
                  <a:srgbClr val="177A46"/>
                </a:solidFill>
                <a:latin typeface="Nunito Sans" pitchFamily="34" charset="0"/>
                <a:ea typeface="Nunito Sans" pitchFamily="34" charset="-122"/>
                <a:cs typeface="Nunito Sans" pitchFamily="34" charset="-120"/>
              </a:rPr>
              <a:t>PROMISE</a:t>
            </a:r>
            <a:endParaRPr lang="en-US" sz="1050" dirty="0"/>
          </a:p>
        </p:txBody>
      </p:sp>
      <p:sp>
        <p:nvSpPr>
          <p:cNvPr id="46" name="Text 43"/>
          <p:cNvSpPr/>
          <p:nvPr/>
        </p:nvSpPr>
        <p:spPr>
          <a:xfrm>
            <a:off x="6647688" y="5961888"/>
            <a:ext cx="4839919" cy="45720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Verified in the fields. Honest on the shelves.</a:t>
            </a:r>
            <a:endParaRPr lang="en-US" sz="900" dirty="0"/>
          </a:p>
        </p:txBody>
      </p:sp>
      <p:sp>
        <p:nvSpPr>
          <p:cNvPr id="47" name="Shape 44"/>
          <p:cNvSpPr/>
          <p:nvPr/>
        </p:nvSpPr>
        <p:spPr>
          <a:xfrm>
            <a:off x="502920" y="6455664"/>
            <a:ext cx="11185855" cy="0"/>
          </a:xfrm>
          <a:prstGeom prst="line">
            <a:avLst/>
          </a:prstGeom>
          <a:noFill/>
          <a:ln w="9525">
            <a:solidFill>
              <a:srgbClr val="E5DCCB"/>
            </a:solidFill>
            <a:prstDash val="solid"/>
          </a:ln>
        </p:spPr>
      </p:sp>
      <p:sp>
        <p:nvSpPr>
          <p:cNvPr id="48" name="Text 45"/>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04 · BRAND &amp; PROOF</a:t>
            </a:r>
            <a:endParaRPr lang="en-US" sz="800" dirty="0"/>
          </a:p>
        </p:txBody>
      </p:sp>
      <p:sp>
        <p:nvSpPr>
          <p:cNvPr id="49" name="Text 46"/>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26</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C1A2B"/>
        </a:solidFill>
      </p:bgPr>
    </p:bg>
    <p:spTree>
      <p:nvGrpSpPr>
        <p:cNvPr id="1" name=""/>
        <p:cNvGrpSpPr/>
        <p:nvPr/>
      </p:nvGrpSpPr>
      <p:grpSpPr>
        <a:xfrm>
          <a:off x="0" y="0"/>
          <a:ext cx="0" cy="0"/>
          <a:chOff x="0" y="0"/>
          <a:chExt cx="0" cy="0"/>
        </a:xfrm>
      </p:grpSpPr>
      <p:sp>
        <p:nvSpPr>
          <p:cNvPr id="2" name="Shape 0"/>
          <p:cNvSpPr/>
          <p:nvPr/>
        </p:nvSpPr>
        <p:spPr>
          <a:xfrm>
            <a:off x="502920" y="310896"/>
            <a:ext cx="1711757" cy="274320"/>
          </a:xfrm>
          <a:prstGeom prst="roundRect">
            <a:avLst>
              <a:gd name="adj" fmla="val 23333"/>
            </a:avLst>
          </a:prstGeom>
          <a:solidFill>
            <a:srgbClr val="5FC28C"/>
          </a:solidFill>
          <a:ln w="12700">
            <a:solidFill>
              <a:srgbClr val="333333"/>
            </a:solidFill>
            <a:prstDash val="solid"/>
          </a:ln>
        </p:spPr>
      </p:sp>
      <p:sp>
        <p:nvSpPr>
          <p:cNvPr id="3" name="Text 1"/>
          <p:cNvSpPr/>
          <p:nvPr/>
        </p:nvSpPr>
        <p:spPr>
          <a:xfrm>
            <a:off x="502920" y="310896"/>
            <a:ext cx="1711757" cy="274320"/>
          </a:xfrm>
          <a:prstGeom prst="rect">
            <a:avLst/>
          </a:prstGeom>
          <a:noFill/>
          <a:ln/>
        </p:spPr>
        <p:txBody>
          <a:bodyPr wrap="square" lIns="0" tIns="0" rIns="0" bIns="0" rtlCol="0" anchor="ctr"/>
          <a:lstStyle/>
          <a:p>
            <a:pPr algn="ctr" indent="0" marL="0">
              <a:buNone/>
            </a:pPr>
            <a:r>
              <a:rPr lang="en-US" sz="900" b="1" spc="160" kern="0" dirty="0">
                <a:solidFill>
                  <a:srgbClr val="0C1A2B"/>
                </a:solidFill>
                <a:latin typeface="Nunito Sans" pitchFamily="34" charset="0"/>
                <a:ea typeface="Nunito Sans" pitchFamily="34" charset="-122"/>
                <a:cs typeface="Nunito Sans" pitchFamily="34" charset="-120"/>
              </a:rPr>
              <a:t>THE NORTH STAR</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601200" cy="1371600"/>
          </a:xfrm>
          <a:prstGeom prst="rect">
            <a:avLst/>
          </a:prstGeom>
          <a:noFill/>
          <a:ln/>
        </p:spPr>
        <p:txBody>
          <a:bodyPr wrap="square" lIns="0" tIns="0" rIns="0" bIns="0" rtlCol="0" anchor="t"/>
          <a:lstStyle/>
          <a:p>
            <a:pPr indent="0" marL="0">
              <a:lnSpc>
                <a:spcPct val="102000"/>
              </a:lnSpc>
              <a:buNone/>
            </a:pPr>
            <a:r>
              <a:rPr lang="en-US" sz="3000" dirty="0">
                <a:solidFill>
                  <a:srgbClr val="FFFFFF"/>
                </a:solidFill>
                <a:latin typeface="Archivo Black" pitchFamily="34" charset="0"/>
                <a:ea typeface="Archivo Black" pitchFamily="34" charset="-122"/>
                <a:cs typeface="Archivo Black" pitchFamily="34" charset="-120"/>
              </a:rPr>
              <a:t>Be the only food brand in India that consumers verify, not just trust.</a:t>
            </a:r>
            <a:endParaRPr lang="en-US" sz="3000" dirty="0"/>
          </a:p>
        </p:txBody>
      </p:sp>
      <p:sp>
        <p:nvSpPr>
          <p:cNvPr id="6" name="Shape 3"/>
          <p:cNvSpPr/>
          <p:nvPr/>
        </p:nvSpPr>
        <p:spPr>
          <a:xfrm>
            <a:off x="502920" y="2139696"/>
            <a:ext cx="11185855" cy="914400"/>
          </a:xfrm>
          <a:prstGeom prst="roundRect">
            <a:avLst>
              <a:gd name="adj" fmla="val 10000"/>
            </a:avLst>
          </a:prstGeom>
          <a:solidFill>
            <a:srgbClr val="14283F"/>
          </a:solidFill>
          <a:ln w="15875">
            <a:solidFill>
              <a:srgbClr val="2B4258"/>
            </a:solidFill>
            <a:prstDash val="solid"/>
          </a:ln>
          <a:effectLst>
            <a:outerShdw sx="100000" sy="100000" kx="0" ky="0" algn="bl" rotWithShape="0" blurRad="228600" dist="25400" dir="5400000">
              <a:srgbClr val="0C1A2B">
                <a:alpha val="7000"/>
              </a:srgbClr>
            </a:outerShdw>
          </a:effectLst>
        </p:spPr>
      </p:sp>
      <p:sp>
        <p:nvSpPr>
          <p:cNvPr id="7" name="Text 4"/>
          <p:cNvSpPr/>
          <p:nvPr/>
        </p:nvSpPr>
        <p:spPr>
          <a:xfrm>
            <a:off x="731520" y="2249424"/>
            <a:ext cx="4572000" cy="219456"/>
          </a:xfrm>
          <a:prstGeom prst="rect">
            <a:avLst/>
          </a:prstGeom>
          <a:noFill/>
          <a:ln/>
        </p:spPr>
        <p:txBody>
          <a:bodyPr wrap="square" lIns="0" tIns="0" rIns="0" bIns="0" rtlCol="0" anchor="ctr"/>
          <a:lstStyle/>
          <a:p>
            <a:pPr indent="0" marL="0">
              <a:buNone/>
            </a:pPr>
            <a:r>
              <a:rPr lang="en-US" sz="950" b="1" spc="180" kern="0" dirty="0">
                <a:solidFill>
                  <a:srgbClr val="5FC28C"/>
                </a:solidFill>
                <a:latin typeface="Nunito Sans" pitchFamily="34" charset="0"/>
                <a:ea typeface="Nunito Sans" pitchFamily="34" charset="-122"/>
                <a:cs typeface="Nunito Sans" pitchFamily="34" charset="-120"/>
              </a:rPr>
              <a:t>HOW DO WE MEASURE SUCCESS?</a:t>
            </a:r>
            <a:endParaRPr lang="en-US" sz="950" dirty="0"/>
          </a:p>
        </p:txBody>
      </p:sp>
      <p:sp>
        <p:nvSpPr>
          <p:cNvPr id="8" name="Text 5"/>
          <p:cNvSpPr/>
          <p:nvPr/>
        </p:nvSpPr>
        <p:spPr>
          <a:xfrm>
            <a:off x="731520" y="2505456"/>
            <a:ext cx="10728655" cy="457200"/>
          </a:xfrm>
          <a:prstGeom prst="rect">
            <a:avLst/>
          </a:prstGeom>
          <a:noFill/>
          <a:ln/>
        </p:spPr>
        <p:txBody>
          <a:bodyPr wrap="square" lIns="0" tIns="0" rIns="0" bIns="0" rtlCol="0" anchor="t"/>
          <a:lstStyle/>
          <a:p>
            <a:pPr indent="0" marL="0">
              <a:lnSpc>
                <a:spcPct val="110000"/>
              </a:lnSpc>
              <a:buNone/>
            </a:pPr>
            <a:r>
              <a:rPr lang="en-US" sz="1150" dirty="0">
                <a:solidFill>
                  <a:srgbClr val="EEE9E0"/>
                </a:solidFill>
                <a:latin typeface="Nunito Sans" pitchFamily="34" charset="0"/>
                <a:ea typeface="Nunito Sans" pitchFamily="34" charset="-122"/>
                <a:cs typeface="Nunito Sans" pitchFamily="34" charset="-120"/>
              </a:rPr>
              <a:t>Verified Purchase Rate — the % of purchases where a consumer engages a real proof point (batch QR scan, farmer profile, lab report) before or after buying the product.</a:t>
            </a:r>
            <a:endParaRPr lang="en-US" sz="1150" dirty="0"/>
          </a:p>
        </p:txBody>
      </p:sp>
      <p:sp>
        <p:nvSpPr>
          <p:cNvPr id="9" name="Shape 6"/>
          <p:cNvSpPr/>
          <p:nvPr/>
        </p:nvSpPr>
        <p:spPr>
          <a:xfrm>
            <a:off x="502920" y="3282696"/>
            <a:ext cx="2604440" cy="1371600"/>
          </a:xfrm>
          <a:prstGeom prst="roundRect">
            <a:avLst>
              <a:gd name="adj" fmla="val 5333"/>
            </a:avLst>
          </a:prstGeom>
          <a:solidFill>
            <a:srgbClr val="17304A"/>
          </a:solidFill>
          <a:ln w="9525">
            <a:solidFill>
              <a:srgbClr val="2E5470"/>
            </a:solidFill>
            <a:prstDash val="solid"/>
          </a:ln>
        </p:spPr>
      </p:sp>
      <p:sp>
        <p:nvSpPr>
          <p:cNvPr id="10" name="Shape 7"/>
          <p:cNvSpPr/>
          <p:nvPr/>
        </p:nvSpPr>
        <p:spPr>
          <a:xfrm>
            <a:off x="685800" y="3447288"/>
            <a:ext cx="384048" cy="384048"/>
          </a:xfrm>
          <a:prstGeom prst="ellipse">
            <a:avLst/>
          </a:prstGeom>
          <a:solidFill>
            <a:srgbClr val="5FC28C"/>
          </a:solidFill>
          <a:ln w="12700">
            <a:solidFill>
              <a:srgbClr val="333333"/>
            </a:solidFill>
            <a:prstDash val="solid"/>
          </a:ln>
        </p:spPr>
      </p:sp>
      <p:sp>
        <p:nvSpPr>
          <p:cNvPr id="11" name="Text 8"/>
          <p:cNvSpPr/>
          <p:nvPr/>
        </p:nvSpPr>
        <p:spPr>
          <a:xfrm>
            <a:off x="685800" y="3447288"/>
            <a:ext cx="384048" cy="384048"/>
          </a:xfrm>
          <a:prstGeom prst="rect">
            <a:avLst/>
          </a:prstGeom>
          <a:noFill/>
          <a:ln/>
        </p:spPr>
        <p:txBody>
          <a:bodyPr wrap="square" lIns="0" tIns="0" rIns="0" bIns="0" rtlCol="0" anchor="ctr"/>
          <a:lstStyle/>
          <a:p>
            <a:pPr algn="ctr" indent="0" marL="0">
              <a:buNone/>
            </a:pPr>
            <a:r>
              <a:rPr lang="en-US" sz="1100" dirty="0">
                <a:solidFill>
                  <a:srgbClr val="0C1A2B"/>
                </a:solidFill>
                <a:latin typeface="Archivo Black" pitchFamily="34" charset="0"/>
                <a:ea typeface="Archivo Black" pitchFamily="34" charset="-122"/>
                <a:cs typeface="Archivo Black" pitchFamily="34" charset="-120"/>
              </a:rPr>
              <a:t>V</a:t>
            </a:r>
            <a:endParaRPr lang="en-US" sz="1100" dirty="0"/>
          </a:p>
        </p:txBody>
      </p:sp>
      <p:sp>
        <p:nvSpPr>
          <p:cNvPr id="12" name="Text 9"/>
          <p:cNvSpPr/>
          <p:nvPr/>
        </p:nvSpPr>
        <p:spPr>
          <a:xfrm>
            <a:off x="685800" y="3904488"/>
            <a:ext cx="2238680" cy="237744"/>
          </a:xfrm>
          <a:prstGeom prst="rect">
            <a:avLst/>
          </a:prstGeom>
          <a:noFill/>
          <a:ln/>
        </p:spPr>
        <p:txBody>
          <a:bodyPr wrap="square" lIns="0" tIns="0" rIns="0" bIns="0" rtlCol="0" anchor="t"/>
          <a:lstStyle/>
          <a:p>
            <a:pPr indent="0" marL="0">
              <a:buNone/>
            </a:pPr>
            <a:r>
              <a:rPr lang="en-US" sz="1000" b="1" dirty="0">
                <a:solidFill>
                  <a:srgbClr val="FFFFFF"/>
                </a:solidFill>
                <a:latin typeface="Nunito Sans" pitchFamily="34" charset="0"/>
                <a:ea typeface="Nunito Sans" pitchFamily="34" charset="-122"/>
                <a:cs typeface="Nunito Sans" pitchFamily="34" charset="-120"/>
              </a:rPr>
              <a:t>Vandana — The Verifier</a:t>
            </a:r>
            <a:endParaRPr lang="en-US" sz="1000" dirty="0"/>
          </a:p>
        </p:txBody>
      </p:sp>
      <p:sp>
        <p:nvSpPr>
          <p:cNvPr id="13" name="Text 10"/>
          <p:cNvSpPr/>
          <p:nvPr/>
        </p:nvSpPr>
        <p:spPr>
          <a:xfrm>
            <a:off x="685800" y="4142232"/>
            <a:ext cx="2238680" cy="457200"/>
          </a:xfrm>
          <a:prstGeom prst="rect">
            <a:avLst/>
          </a:prstGeom>
          <a:noFill/>
          <a:ln/>
        </p:spPr>
        <p:txBody>
          <a:bodyPr wrap="square" lIns="0" tIns="0" rIns="0" bIns="0" rtlCol="0" anchor="t"/>
          <a:lstStyle/>
          <a:p>
            <a:pPr indent="0" marL="0">
              <a:lnSpc>
                <a:spcPct val="108000"/>
              </a:lnSpc>
              <a:buNone/>
            </a:pPr>
            <a:r>
              <a:rPr lang="en-US" sz="850" dirty="0">
                <a:solidFill>
                  <a:srgbClr val="A9B6C7"/>
                </a:solidFill>
                <a:latin typeface="Nunito Sans" pitchFamily="34" charset="0"/>
                <a:ea typeface="Nunito Sans" pitchFamily="34" charset="-122"/>
                <a:cs typeface="Nunito Sans" pitchFamily="34" charset="-120"/>
              </a:rPr>
              <a:t>Scans the batch QR; visits the microsite to engage with farmers.</a:t>
            </a:r>
            <a:endParaRPr lang="en-US" sz="850" dirty="0"/>
          </a:p>
        </p:txBody>
      </p:sp>
      <p:sp>
        <p:nvSpPr>
          <p:cNvPr id="14" name="Shape 11"/>
          <p:cNvSpPr/>
          <p:nvPr/>
        </p:nvSpPr>
        <p:spPr>
          <a:xfrm>
            <a:off x="3363392" y="3282696"/>
            <a:ext cx="2604440" cy="1371600"/>
          </a:xfrm>
          <a:prstGeom prst="roundRect">
            <a:avLst>
              <a:gd name="adj" fmla="val 5333"/>
            </a:avLst>
          </a:prstGeom>
          <a:solidFill>
            <a:srgbClr val="17304A"/>
          </a:solidFill>
          <a:ln w="9525">
            <a:solidFill>
              <a:srgbClr val="2E5470"/>
            </a:solidFill>
            <a:prstDash val="solid"/>
          </a:ln>
        </p:spPr>
      </p:sp>
      <p:sp>
        <p:nvSpPr>
          <p:cNvPr id="15" name="Shape 12"/>
          <p:cNvSpPr/>
          <p:nvPr/>
        </p:nvSpPr>
        <p:spPr>
          <a:xfrm>
            <a:off x="3546272" y="3447288"/>
            <a:ext cx="384048" cy="384048"/>
          </a:xfrm>
          <a:prstGeom prst="ellipse">
            <a:avLst/>
          </a:prstGeom>
          <a:solidFill>
            <a:srgbClr val="5FC28C"/>
          </a:solidFill>
          <a:ln w="12700">
            <a:solidFill>
              <a:srgbClr val="333333"/>
            </a:solidFill>
            <a:prstDash val="solid"/>
          </a:ln>
        </p:spPr>
      </p:sp>
      <p:sp>
        <p:nvSpPr>
          <p:cNvPr id="16" name="Text 13"/>
          <p:cNvSpPr/>
          <p:nvPr/>
        </p:nvSpPr>
        <p:spPr>
          <a:xfrm>
            <a:off x="3546272" y="3447288"/>
            <a:ext cx="384048" cy="384048"/>
          </a:xfrm>
          <a:prstGeom prst="rect">
            <a:avLst/>
          </a:prstGeom>
          <a:noFill/>
          <a:ln/>
        </p:spPr>
        <p:txBody>
          <a:bodyPr wrap="square" lIns="0" tIns="0" rIns="0" bIns="0" rtlCol="0" anchor="ctr"/>
          <a:lstStyle/>
          <a:p>
            <a:pPr algn="ctr" indent="0" marL="0">
              <a:buNone/>
            </a:pPr>
            <a:r>
              <a:rPr lang="en-US" sz="1100" dirty="0">
                <a:solidFill>
                  <a:srgbClr val="0C1A2B"/>
                </a:solidFill>
                <a:latin typeface="Archivo Black" pitchFamily="34" charset="0"/>
                <a:ea typeface="Archivo Black" pitchFamily="34" charset="-122"/>
                <a:cs typeface="Archivo Black" pitchFamily="34" charset="-120"/>
              </a:rPr>
              <a:t>M</a:t>
            </a:r>
            <a:endParaRPr lang="en-US" sz="1100" dirty="0"/>
          </a:p>
        </p:txBody>
      </p:sp>
      <p:sp>
        <p:nvSpPr>
          <p:cNvPr id="17" name="Text 14"/>
          <p:cNvSpPr/>
          <p:nvPr/>
        </p:nvSpPr>
        <p:spPr>
          <a:xfrm>
            <a:off x="3546272" y="3904488"/>
            <a:ext cx="2238680" cy="237744"/>
          </a:xfrm>
          <a:prstGeom prst="rect">
            <a:avLst/>
          </a:prstGeom>
          <a:noFill/>
          <a:ln/>
        </p:spPr>
        <p:txBody>
          <a:bodyPr wrap="square" lIns="0" tIns="0" rIns="0" bIns="0" rtlCol="0" anchor="t"/>
          <a:lstStyle/>
          <a:p>
            <a:pPr indent="0" marL="0">
              <a:buNone/>
            </a:pPr>
            <a:r>
              <a:rPr lang="en-US" sz="1000" b="1" dirty="0">
                <a:solidFill>
                  <a:srgbClr val="FFFFFF"/>
                </a:solidFill>
                <a:latin typeface="Nunito Sans" pitchFamily="34" charset="0"/>
                <a:ea typeface="Nunito Sans" pitchFamily="34" charset="-122"/>
                <a:cs typeface="Nunito Sans" pitchFamily="34" charset="-120"/>
              </a:rPr>
              <a:t>Meera — The Believer</a:t>
            </a:r>
            <a:endParaRPr lang="en-US" sz="1000" dirty="0"/>
          </a:p>
        </p:txBody>
      </p:sp>
      <p:sp>
        <p:nvSpPr>
          <p:cNvPr id="18" name="Text 15"/>
          <p:cNvSpPr/>
          <p:nvPr/>
        </p:nvSpPr>
        <p:spPr>
          <a:xfrm>
            <a:off x="3546272" y="4142232"/>
            <a:ext cx="2238680" cy="457200"/>
          </a:xfrm>
          <a:prstGeom prst="rect">
            <a:avLst/>
          </a:prstGeom>
          <a:noFill/>
          <a:ln/>
        </p:spPr>
        <p:txBody>
          <a:bodyPr wrap="square" lIns="0" tIns="0" rIns="0" bIns="0" rtlCol="0" anchor="t"/>
          <a:lstStyle/>
          <a:p>
            <a:pPr indent="0" marL="0">
              <a:lnSpc>
                <a:spcPct val="108000"/>
              </a:lnSpc>
              <a:buNone/>
            </a:pPr>
            <a:r>
              <a:rPr lang="en-US" sz="850" dirty="0">
                <a:solidFill>
                  <a:srgbClr val="A9B6C7"/>
                </a:solidFill>
                <a:latin typeface="Nunito Sans" pitchFamily="34" charset="0"/>
                <a:ea typeface="Nunito Sans" pitchFamily="34" charset="-122"/>
                <a:cs typeface="Nunito Sans" pitchFamily="34" charset="-120"/>
              </a:rPr>
              <a:t>Confirms it with her doctor or her circle of influence.</a:t>
            </a:r>
            <a:endParaRPr lang="en-US" sz="850" dirty="0"/>
          </a:p>
        </p:txBody>
      </p:sp>
      <p:sp>
        <p:nvSpPr>
          <p:cNvPr id="19" name="Shape 16"/>
          <p:cNvSpPr/>
          <p:nvPr/>
        </p:nvSpPr>
        <p:spPr>
          <a:xfrm>
            <a:off x="6223864" y="3282696"/>
            <a:ext cx="2604440" cy="1371600"/>
          </a:xfrm>
          <a:prstGeom prst="roundRect">
            <a:avLst>
              <a:gd name="adj" fmla="val 5333"/>
            </a:avLst>
          </a:prstGeom>
          <a:solidFill>
            <a:srgbClr val="17304A"/>
          </a:solidFill>
          <a:ln w="9525">
            <a:solidFill>
              <a:srgbClr val="2E5470"/>
            </a:solidFill>
            <a:prstDash val="solid"/>
          </a:ln>
        </p:spPr>
      </p:sp>
      <p:sp>
        <p:nvSpPr>
          <p:cNvPr id="20" name="Shape 17"/>
          <p:cNvSpPr/>
          <p:nvPr/>
        </p:nvSpPr>
        <p:spPr>
          <a:xfrm>
            <a:off x="6406744" y="3447288"/>
            <a:ext cx="384048" cy="384048"/>
          </a:xfrm>
          <a:prstGeom prst="ellipse">
            <a:avLst/>
          </a:prstGeom>
          <a:solidFill>
            <a:srgbClr val="5FC28C"/>
          </a:solidFill>
          <a:ln w="12700">
            <a:solidFill>
              <a:srgbClr val="333333"/>
            </a:solidFill>
            <a:prstDash val="solid"/>
          </a:ln>
        </p:spPr>
      </p:sp>
      <p:sp>
        <p:nvSpPr>
          <p:cNvPr id="21" name="Text 18"/>
          <p:cNvSpPr/>
          <p:nvPr/>
        </p:nvSpPr>
        <p:spPr>
          <a:xfrm>
            <a:off x="6406744" y="3447288"/>
            <a:ext cx="384048" cy="384048"/>
          </a:xfrm>
          <a:prstGeom prst="rect">
            <a:avLst/>
          </a:prstGeom>
          <a:noFill/>
          <a:ln/>
        </p:spPr>
        <p:txBody>
          <a:bodyPr wrap="square" lIns="0" tIns="0" rIns="0" bIns="0" rtlCol="0" anchor="ctr"/>
          <a:lstStyle/>
          <a:p>
            <a:pPr algn="ctr" indent="0" marL="0">
              <a:buNone/>
            </a:pPr>
            <a:r>
              <a:rPr lang="en-US" sz="1100" dirty="0">
                <a:solidFill>
                  <a:srgbClr val="0C1A2B"/>
                </a:solidFill>
                <a:latin typeface="Archivo Black" pitchFamily="34" charset="0"/>
                <a:ea typeface="Archivo Black" pitchFamily="34" charset="-122"/>
                <a:cs typeface="Archivo Black" pitchFamily="34" charset="-120"/>
              </a:rPr>
              <a:t>K</a:t>
            </a:r>
            <a:endParaRPr lang="en-US" sz="1100" dirty="0"/>
          </a:p>
        </p:txBody>
      </p:sp>
      <p:sp>
        <p:nvSpPr>
          <p:cNvPr id="22" name="Text 19"/>
          <p:cNvSpPr/>
          <p:nvPr/>
        </p:nvSpPr>
        <p:spPr>
          <a:xfrm>
            <a:off x="6406744" y="3904488"/>
            <a:ext cx="2238680" cy="237744"/>
          </a:xfrm>
          <a:prstGeom prst="rect">
            <a:avLst/>
          </a:prstGeom>
          <a:noFill/>
          <a:ln/>
        </p:spPr>
        <p:txBody>
          <a:bodyPr wrap="square" lIns="0" tIns="0" rIns="0" bIns="0" rtlCol="0" anchor="t"/>
          <a:lstStyle/>
          <a:p>
            <a:pPr indent="0" marL="0">
              <a:buNone/>
            </a:pPr>
            <a:r>
              <a:rPr lang="en-US" sz="1000" b="1" dirty="0">
                <a:solidFill>
                  <a:srgbClr val="FFFFFF"/>
                </a:solidFill>
                <a:latin typeface="Nunito Sans" pitchFamily="34" charset="0"/>
                <a:ea typeface="Nunito Sans" pitchFamily="34" charset="-122"/>
                <a:cs typeface="Nunito Sans" pitchFamily="34" charset="-120"/>
              </a:rPr>
              <a:t>Karan — The Cruise Controller</a:t>
            </a:r>
            <a:endParaRPr lang="en-US" sz="1000" dirty="0"/>
          </a:p>
        </p:txBody>
      </p:sp>
      <p:sp>
        <p:nvSpPr>
          <p:cNvPr id="23" name="Text 20"/>
          <p:cNvSpPr/>
          <p:nvPr/>
        </p:nvSpPr>
        <p:spPr>
          <a:xfrm>
            <a:off x="6406744" y="4142232"/>
            <a:ext cx="2238680" cy="457200"/>
          </a:xfrm>
          <a:prstGeom prst="rect">
            <a:avLst/>
          </a:prstGeom>
          <a:noFill/>
          <a:ln/>
        </p:spPr>
        <p:txBody>
          <a:bodyPr wrap="square" lIns="0" tIns="0" rIns="0" bIns="0" rtlCol="0" anchor="t"/>
          <a:lstStyle/>
          <a:p>
            <a:pPr indent="0" marL="0">
              <a:lnSpc>
                <a:spcPct val="108000"/>
              </a:lnSpc>
              <a:buNone/>
            </a:pPr>
            <a:r>
              <a:rPr lang="en-US" sz="850" dirty="0">
                <a:solidFill>
                  <a:srgbClr val="A9B6C7"/>
                </a:solidFill>
                <a:latin typeface="Nunito Sans" pitchFamily="34" charset="0"/>
                <a:ea typeface="Nunito Sans" pitchFamily="34" charset="-122"/>
                <a:cs typeface="Nunito Sans" pitchFamily="34" charset="-120"/>
              </a:rPr>
              <a:t>Notices it's on his app already; repeat-buys anyway.</a:t>
            </a:r>
            <a:endParaRPr lang="en-US" sz="850" dirty="0"/>
          </a:p>
        </p:txBody>
      </p:sp>
      <p:sp>
        <p:nvSpPr>
          <p:cNvPr id="24" name="Shape 21"/>
          <p:cNvSpPr/>
          <p:nvPr/>
        </p:nvSpPr>
        <p:spPr>
          <a:xfrm>
            <a:off x="9084335" y="3282696"/>
            <a:ext cx="2604440" cy="1371600"/>
          </a:xfrm>
          <a:prstGeom prst="roundRect">
            <a:avLst>
              <a:gd name="adj" fmla="val 5333"/>
            </a:avLst>
          </a:prstGeom>
          <a:solidFill>
            <a:srgbClr val="17304A"/>
          </a:solidFill>
          <a:ln w="9525">
            <a:solidFill>
              <a:srgbClr val="2E5470"/>
            </a:solidFill>
            <a:prstDash val="solid"/>
          </a:ln>
        </p:spPr>
      </p:sp>
      <p:sp>
        <p:nvSpPr>
          <p:cNvPr id="25" name="Shape 22"/>
          <p:cNvSpPr/>
          <p:nvPr/>
        </p:nvSpPr>
        <p:spPr>
          <a:xfrm>
            <a:off x="9267215" y="3447288"/>
            <a:ext cx="384048" cy="384048"/>
          </a:xfrm>
          <a:prstGeom prst="ellipse">
            <a:avLst/>
          </a:prstGeom>
          <a:solidFill>
            <a:srgbClr val="5FC28C"/>
          </a:solidFill>
          <a:ln w="12700">
            <a:solidFill>
              <a:srgbClr val="333333"/>
            </a:solidFill>
            <a:prstDash val="solid"/>
          </a:ln>
        </p:spPr>
      </p:sp>
      <p:sp>
        <p:nvSpPr>
          <p:cNvPr id="26" name="Text 23"/>
          <p:cNvSpPr/>
          <p:nvPr/>
        </p:nvSpPr>
        <p:spPr>
          <a:xfrm>
            <a:off x="9267215" y="3447288"/>
            <a:ext cx="384048" cy="384048"/>
          </a:xfrm>
          <a:prstGeom prst="rect">
            <a:avLst/>
          </a:prstGeom>
          <a:noFill/>
          <a:ln/>
        </p:spPr>
        <p:txBody>
          <a:bodyPr wrap="square" lIns="0" tIns="0" rIns="0" bIns="0" rtlCol="0" anchor="ctr"/>
          <a:lstStyle/>
          <a:p>
            <a:pPr algn="ctr" indent="0" marL="0">
              <a:buNone/>
            </a:pPr>
            <a:r>
              <a:rPr lang="en-US" sz="1100" dirty="0">
                <a:solidFill>
                  <a:srgbClr val="0C1A2B"/>
                </a:solidFill>
                <a:latin typeface="Archivo Black" pitchFamily="34" charset="0"/>
                <a:ea typeface="Archivo Black" pitchFamily="34" charset="-122"/>
                <a:cs typeface="Archivo Black" pitchFamily="34" charset="-120"/>
              </a:rPr>
              <a:t>S</a:t>
            </a:r>
            <a:endParaRPr lang="en-US" sz="1100" dirty="0"/>
          </a:p>
        </p:txBody>
      </p:sp>
      <p:sp>
        <p:nvSpPr>
          <p:cNvPr id="27" name="Text 24"/>
          <p:cNvSpPr/>
          <p:nvPr/>
        </p:nvSpPr>
        <p:spPr>
          <a:xfrm>
            <a:off x="9267215" y="3904488"/>
            <a:ext cx="2238680" cy="237744"/>
          </a:xfrm>
          <a:prstGeom prst="rect">
            <a:avLst/>
          </a:prstGeom>
          <a:noFill/>
          <a:ln/>
        </p:spPr>
        <p:txBody>
          <a:bodyPr wrap="square" lIns="0" tIns="0" rIns="0" bIns="0" rtlCol="0" anchor="t"/>
          <a:lstStyle/>
          <a:p>
            <a:pPr indent="0" marL="0">
              <a:buNone/>
            </a:pPr>
            <a:r>
              <a:rPr lang="en-US" sz="1000" b="1" dirty="0">
                <a:solidFill>
                  <a:srgbClr val="FFFFFF"/>
                </a:solidFill>
                <a:latin typeface="Nunito Sans" pitchFamily="34" charset="0"/>
                <a:ea typeface="Nunito Sans" pitchFamily="34" charset="-122"/>
                <a:cs typeface="Nunito Sans" pitchFamily="34" charset="-120"/>
              </a:rPr>
              <a:t>Sanjay — The Sceptic</a:t>
            </a:r>
            <a:endParaRPr lang="en-US" sz="1000" dirty="0"/>
          </a:p>
        </p:txBody>
      </p:sp>
      <p:sp>
        <p:nvSpPr>
          <p:cNvPr id="28" name="Text 25"/>
          <p:cNvSpPr/>
          <p:nvPr/>
        </p:nvSpPr>
        <p:spPr>
          <a:xfrm>
            <a:off x="9267215" y="4142232"/>
            <a:ext cx="2238680" cy="457200"/>
          </a:xfrm>
          <a:prstGeom prst="rect">
            <a:avLst/>
          </a:prstGeom>
          <a:noFill/>
          <a:ln/>
        </p:spPr>
        <p:txBody>
          <a:bodyPr wrap="square" lIns="0" tIns="0" rIns="0" bIns="0" rtlCol="0" anchor="t"/>
          <a:lstStyle/>
          <a:p>
            <a:pPr indent="0" marL="0">
              <a:lnSpc>
                <a:spcPct val="108000"/>
              </a:lnSpc>
              <a:buNone/>
            </a:pPr>
            <a:r>
              <a:rPr lang="en-US" sz="850" dirty="0">
                <a:solidFill>
                  <a:srgbClr val="A9B6C7"/>
                </a:solidFill>
                <a:latin typeface="Nunito Sans" pitchFamily="34" charset="0"/>
                <a:ea typeface="Nunito Sans" pitchFamily="34" charset="-122"/>
                <a:cs typeface="Nunito Sans" pitchFamily="34" charset="-120"/>
              </a:rPr>
              <a:t>Watches unscripted farm content; takes up an audit invite from the farmer.</a:t>
            </a:r>
            <a:endParaRPr lang="en-US" sz="850" dirty="0"/>
          </a:p>
        </p:txBody>
      </p:sp>
      <p:sp>
        <p:nvSpPr>
          <p:cNvPr id="29" name="Shape 26"/>
          <p:cNvSpPr/>
          <p:nvPr/>
        </p:nvSpPr>
        <p:spPr>
          <a:xfrm>
            <a:off x="502920" y="4882896"/>
            <a:ext cx="11185855" cy="0"/>
          </a:xfrm>
          <a:prstGeom prst="line">
            <a:avLst/>
          </a:prstGeom>
          <a:noFill/>
          <a:ln w="9525">
            <a:solidFill>
              <a:srgbClr val="FFFFFF">
                <a:alpha val="18000"/>
              </a:srgbClr>
            </a:solidFill>
            <a:prstDash val="solid"/>
          </a:ln>
        </p:spPr>
      </p:sp>
      <p:sp>
        <p:nvSpPr>
          <p:cNvPr id="30" name="Text 27"/>
          <p:cNvSpPr/>
          <p:nvPr/>
        </p:nvSpPr>
        <p:spPr>
          <a:xfrm>
            <a:off x="502920" y="5047488"/>
            <a:ext cx="3408578" cy="566928"/>
          </a:xfrm>
          <a:prstGeom prst="rect">
            <a:avLst/>
          </a:prstGeom>
          <a:noFill/>
          <a:ln/>
        </p:spPr>
        <p:txBody>
          <a:bodyPr wrap="square" lIns="0" tIns="0" rIns="0" bIns="0" rtlCol="0" anchor="t"/>
          <a:lstStyle/>
          <a:p>
            <a:pPr marL="342900" indent="-342900">
              <a:lnSpc>
                <a:spcPct val="112000"/>
              </a:lnSpc>
              <a:buSzPct val="100000"/>
              <a:buChar char="•"/>
            </a:pPr>
            <a:r>
              <a:rPr lang="en-US" sz="900" dirty="0">
                <a:solidFill>
                  <a:srgbClr val="A9B6C7"/>
                </a:solidFill>
                <a:latin typeface="Nunito Sans" pitchFamily="34" charset="0"/>
                <a:ea typeface="Nunito Sans" pitchFamily="34" charset="-122"/>
                <a:cs typeface="Nunito Sans" pitchFamily="34" charset="-120"/>
              </a:rPr>
              <a:t>It is the only metric that goes down if the proof mechanism breaks — brand awareness would not.</a:t>
            </a:r>
            <a:endParaRPr lang="en-US" sz="900" dirty="0"/>
          </a:p>
        </p:txBody>
      </p:sp>
      <p:sp>
        <p:nvSpPr>
          <p:cNvPr id="31" name="Text 28"/>
          <p:cNvSpPr/>
          <p:nvPr/>
        </p:nvSpPr>
        <p:spPr>
          <a:xfrm>
            <a:off x="4231538" y="5047488"/>
            <a:ext cx="3408578" cy="566928"/>
          </a:xfrm>
          <a:prstGeom prst="rect">
            <a:avLst/>
          </a:prstGeom>
          <a:noFill/>
          <a:ln/>
        </p:spPr>
        <p:txBody>
          <a:bodyPr wrap="square" lIns="0" tIns="0" rIns="0" bIns="0" rtlCol="0" anchor="t"/>
          <a:lstStyle/>
          <a:p>
            <a:pPr marL="342900" indent="-342900">
              <a:lnSpc>
                <a:spcPct val="112000"/>
              </a:lnSpc>
              <a:buSzPct val="100000"/>
              <a:buChar char="•"/>
            </a:pPr>
            <a:r>
              <a:rPr lang="en-US" sz="900" dirty="0">
                <a:solidFill>
                  <a:srgbClr val="A9B6C7"/>
                </a:solidFill>
                <a:latin typeface="Nunito Sans" pitchFamily="34" charset="0"/>
                <a:ea typeface="Nunito Sans" pitchFamily="34" charset="-122"/>
                <a:cs typeface="Nunito Sans" pitchFamily="34" charset="-120"/>
              </a:rPr>
              <a:t>It is measurable from day one, without a tracker study: scans, microsite sessions, report downloads, audit sign-ups.</a:t>
            </a:r>
            <a:endParaRPr lang="en-US" sz="900" dirty="0"/>
          </a:p>
        </p:txBody>
      </p:sp>
      <p:sp>
        <p:nvSpPr>
          <p:cNvPr id="32" name="Text 29"/>
          <p:cNvSpPr/>
          <p:nvPr/>
        </p:nvSpPr>
        <p:spPr>
          <a:xfrm>
            <a:off x="7960157" y="5047488"/>
            <a:ext cx="3408578" cy="566928"/>
          </a:xfrm>
          <a:prstGeom prst="rect">
            <a:avLst/>
          </a:prstGeom>
          <a:noFill/>
          <a:ln/>
        </p:spPr>
        <p:txBody>
          <a:bodyPr wrap="square" lIns="0" tIns="0" rIns="0" bIns="0" rtlCol="0" anchor="t"/>
          <a:lstStyle/>
          <a:p>
            <a:pPr marL="342900" indent="-342900">
              <a:lnSpc>
                <a:spcPct val="112000"/>
              </a:lnSpc>
              <a:buSzPct val="100000"/>
              <a:buChar char="•"/>
            </a:pPr>
            <a:r>
              <a:rPr lang="en-US" sz="900" dirty="0">
                <a:solidFill>
                  <a:srgbClr val="A9B6C7"/>
                </a:solidFill>
                <a:latin typeface="Nunito Sans" pitchFamily="34" charset="0"/>
                <a:ea typeface="Nunito Sans" pitchFamily="34" charset="-122"/>
                <a:cs typeface="Nunito Sans" pitchFamily="34" charset="-120"/>
              </a:rPr>
              <a:t>It is the one number a professor, a retailer and a farmer would all read the same way.</a:t>
            </a:r>
            <a:endParaRPr lang="en-US" sz="900" dirty="0"/>
          </a:p>
        </p:txBody>
      </p:sp>
      <p:sp>
        <p:nvSpPr>
          <p:cNvPr id="33" name="Text 30"/>
          <p:cNvSpPr/>
          <p:nvPr/>
        </p:nvSpPr>
        <p:spPr>
          <a:xfrm>
            <a:off x="502920" y="5724144"/>
            <a:ext cx="11185855" cy="365760"/>
          </a:xfrm>
          <a:prstGeom prst="rect">
            <a:avLst/>
          </a:prstGeom>
          <a:noFill/>
          <a:ln/>
        </p:spPr>
        <p:txBody>
          <a:bodyPr wrap="square" lIns="0" tIns="0" rIns="0" bIns="0" rtlCol="0" anchor="ctr"/>
          <a:lstStyle/>
          <a:p>
            <a:pPr indent="0" marL="0">
              <a:buNone/>
            </a:pPr>
            <a:r>
              <a:rPr lang="en-US" sz="1200" i="1" dirty="0">
                <a:solidFill>
                  <a:srgbClr val="FFFFFF"/>
                </a:solidFill>
                <a:latin typeface="Nunito Sans" pitchFamily="34" charset="0"/>
                <a:ea typeface="Nunito Sans" pitchFamily="34" charset="-122"/>
                <a:cs typeface="Nunito Sans" pitchFamily="34" charset="-120"/>
              </a:rPr>
              <a:t>Revenue and share are outcomes. Verified Purchase Rate is the lever that sales, product and marketing teams continuously optimize.</a:t>
            </a:r>
            <a:endParaRPr lang="en-US" sz="1200" dirty="0"/>
          </a:p>
        </p:txBody>
      </p:sp>
      <p:sp>
        <p:nvSpPr>
          <p:cNvPr id="34" name="Shape 31"/>
          <p:cNvSpPr/>
          <p:nvPr/>
        </p:nvSpPr>
        <p:spPr>
          <a:xfrm>
            <a:off x="502920" y="6455664"/>
            <a:ext cx="11185855" cy="0"/>
          </a:xfrm>
          <a:prstGeom prst="line">
            <a:avLst/>
          </a:prstGeom>
          <a:noFill/>
          <a:ln w="9525">
            <a:solidFill>
              <a:srgbClr val="FFFFFF">
                <a:alpha val="16000"/>
              </a:srgbClr>
            </a:solidFill>
            <a:prstDash val="solid"/>
          </a:ln>
        </p:spPr>
      </p:sp>
      <p:sp>
        <p:nvSpPr>
          <p:cNvPr id="35" name="Text 32"/>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A9B6C7"/>
                </a:solidFill>
                <a:latin typeface="Nunito Sans" pitchFamily="34" charset="0"/>
                <a:ea typeface="Nunito Sans" pitchFamily="34" charset="-122"/>
                <a:cs typeface="Nunito Sans" pitchFamily="34" charset="-120"/>
              </a:rPr>
              <a:t>PART 04 · BRAND &amp; PROOF</a:t>
            </a:r>
            <a:endParaRPr lang="en-US" sz="800" dirty="0"/>
          </a:p>
        </p:txBody>
      </p:sp>
      <p:sp>
        <p:nvSpPr>
          <p:cNvPr id="36" name="Text 33"/>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5FC28C"/>
                </a:solidFill>
                <a:latin typeface="Archivo Black" pitchFamily="34" charset="0"/>
                <a:ea typeface="Archivo Black" pitchFamily="34" charset="-122"/>
                <a:cs typeface="Archivo Black" pitchFamily="34" charset="-120"/>
              </a:rPr>
              <a:t>27</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070202"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070202"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PROOF ARCHITECTURE</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One standard, four communication deliveries.</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The standard behind the pack never changes. What changes is who delivers the proof, through which channel, and how fast it converts.</a:t>
            </a:r>
            <a:endParaRPr lang="en-US" sz="1100" dirty="0"/>
          </a:p>
        </p:txBody>
      </p:sp>
      <p:sp>
        <p:nvSpPr>
          <p:cNvPr id="7" name="Shape 4"/>
          <p:cNvSpPr/>
          <p:nvPr/>
        </p:nvSpPr>
        <p:spPr>
          <a:xfrm>
            <a:off x="502920" y="2121408"/>
            <a:ext cx="2618156" cy="2880360"/>
          </a:xfrm>
          <a:prstGeom prst="roundRect">
            <a:avLst>
              <a:gd name="adj" fmla="val 3493"/>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8" name="Shape 5"/>
          <p:cNvSpPr/>
          <p:nvPr/>
        </p:nvSpPr>
        <p:spPr>
          <a:xfrm>
            <a:off x="502920" y="2121408"/>
            <a:ext cx="2618156" cy="45720"/>
          </a:xfrm>
          <a:prstGeom prst="rect">
            <a:avLst/>
          </a:prstGeom>
          <a:solidFill>
            <a:srgbClr val="3A5D97"/>
          </a:solidFill>
          <a:ln w="12700">
            <a:solidFill>
              <a:srgbClr val="333333"/>
            </a:solidFill>
            <a:prstDash val="solid"/>
          </a:ln>
        </p:spPr>
      </p:sp>
      <p:sp>
        <p:nvSpPr>
          <p:cNvPr id="9" name="Text 6"/>
          <p:cNvSpPr/>
          <p:nvPr/>
        </p:nvSpPr>
        <p:spPr>
          <a:xfrm>
            <a:off x="685800" y="2249424"/>
            <a:ext cx="2252396" cy="237744"/>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Vandana — The Verifier</a:t>
            </a:r>
            <a:endParaRPr lang="en-US" sz="1000" dirty="0"/>
          </a:p>
        </p:txBody>
      </p:sp>
      <p:sp>
        <p:nvSpPr>
          <p:cNvPr id="10" name="Text 7"/>
          <p:cNvSpPr/>
          <p:nvPr/>
        </p:nvSpPr>
        <p:spPr>
          <a:xfrm>
            <a:off x="685800" y="2468880"/>
            <a:ext cx="2252396" cy="182880"/>
          </a:xfrm>
          <a:prstGeom prst="rect">
            <a:avLst/>
          </a:prstGeom>
          <a:noFill/>
          <a:ln/>
        </p:spPr>
        <p:txBody>
          <a:bodyPr wrap="square" lIns="0" tIns="0" rIns="0" bIns="0" rtlCol="0" anchor="t"/>
          <a:lstStyle/>
          <a:p>
            <a:pPr indent="0" marL="0">
              <a:buNone/>
            </a:pPr>
            <a:r>
              <a:rPr lang="en-US" sz="700" b="1" spc="60" kern="0" dirty="0">
                <a:solidFill>
                  <a:srgbClr val="8B95A2"/>
                </a:solidFill>
                <a:latin typeface="Nunito Sans" pitchFamily="34" charset="0"/>
                <a:ea typeface="Nunito Sans" pitchFamily="34" charset="-122"/>
                <a:cs typeface="Nunito Sans" pitchFamily="34" charset="-120"/>
              </a:rPr>
              <a:t>PROOF-HUNGRY GUARDIANS · 36%</a:t>
            </a:r>
            <a:endParaRPr lang="en-US" sz="700" dirty="0"/>
          </a:p>
        </p:txBody>
      </p:sp>
      <p:sp>
        <p:nvSpPr>
          <p:cNvPr id="11" name="Text 8"/>
          <p:cNvSpPr/>
          <p:nvPr/>
        </p:nvSpPr>
        <p:spPr>
          <a:xfrm>
            <a:off x="685800" y="2670048"/>
            <a:ext cx="2252396" cy="457200"/>
          </a:xfrm>
          <a:prstGeom prst="rect">
            <a:avLst/>
          </a:prstGeom>
          <a:noFill/>
          <a:ln/>
        </p:spPr>
        <p:txBody>
          <a:bodyPr wrap="square" lIns="0" tIns="0" rIns="0" bIns="0" rtlCol="0" anchor="t"/>
          <a:lstStyle/>
          <a:p>
            <a:pPr indent="0" marL="0">
              <a:lnSpc>
                <a:spcPct val="102000"/>
              </a:lnSpc>
              <a:buNone/>
            </a:pPr>
            <a:r>
              <a:rPr lang="en-US" sz="950" b="1" i="1" dirty="0">
                <a:solidFill>
                  <a:srgbClr val="3A5D97"/>
                </a:solidFill>
                <a:latin typeface="Nunito Sans" pitchFamily="34" charset="0"/>
                <a:ea typeface="Nunito Sans" pitchFamily="34" charset="-122"/>
                <a:cs typeface="Nunito Sans" pitchFamily="34" charset="-120"/>
              </a:rPr>
              <a:t>"Scan the pack. See exactly what's inside."</a:t>
            </a:r>
            <a:endParaRPr lang="en-US" sz="950" dirty="0"/>
          </a:p>
        </p:txBody>
      </p:sp>
      <p:sp>
        <p:nvSpPr>
          <p:cNvPr id="12" name="Text 9"/>
          <p:cNvSpPr/>
          <p:nvPr/>
        </p:nvSpPr>
        <p:spPr>
          <a:xfrm>
            <a:off x="685800" y="3163824"/>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MECHANISM</a:t>
            </a:r>
            <a:endParaRPr lang="en-US" sz="950" dirty="0"/>
          </a:p>
        </p:txBody>
      </p:sp>
      <p:sp>
        <p:nvSpPr>
          <p:cNvPr id="13" name="Text 10"/>
          <p:cNvSpPr/>
          <p:nvPr/>
        </p:nvSpPr>
        <p:spPr>
          <a:xfrm>
            <a:off x="685800" y="3364992"/>
            <a:ext cx="2252396" cy="932688"/>
          </a:xfrm>
          <a:prstGeom prst="rect">
            <a:avLst/>
          </a:prstGeom>
          <a:noFill/>
          <a:ln/>
        </p:spPr>
        <p:txBody>
          <a:bodyPr wrap="square" lIns="0" tIns="0" rIns="0" bIns="0" rtlCol="0" anchor="t"/>
          <a:lstStyle/>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QR to the batch-level lab report and the farmer</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Doctor or dietitian citation on pack, beside the farmer's view</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Certification carrying a live verification link</a:t>
            </a:r>
            <a:endParaRPr lang="en-US" sz="750" dirty="0"/>
          </a:p>
        </p:txBody>
      </p:sp>
      <p:sp>
        <p:nvSpPr>
          <p:cNvPr id="14" name="Text 11"/>
          <p:cNvSpPr/>
          <p:nvPr/>
        </p:nvSpPr>
        <p:spPr>
          <a:xfrm>
            <a:off x="685800" y="4315968"/>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CHANNEL</a:t>
            </a:r>
            <a:endParaRPr lang="en-US" sz="950" dirty="0"/>
          </a:p>
        </p:txBody>
      </p:sp>
      <p:sp>
        <p:nvSpPr>
          <p:cNvPr id="15" name="Text 12"/>
          <p:cNvSpPr/>
          <p:nvPr/>
        </p:nvSpPr>
        <p:spPr>
          <a:xfrm>
            <a:off x="685800" y="4498848"/>
            <a:ext cx="2252396" cy="274320"/>
          </a:xfrm>
          <a:prstGeom prst="rect">
            <a:avLst/>
          </a:prstGeom>
          <a:noFill/>
          <a:ln/>
        </p:spPr>
        <p:txBody>
          <a:bodyPr wrap="square" lIns="0" tIns="0" rIns="0" bIns="0" rtlCol="0" anchor="t"/>
          <a:lstStyle/>
          <a:p>
            <a:pPr indent="0" marL="0">
              <a:lnSpc>
                <a:spcPct val="102000"/>
              </a:lnSpc>
              <a:buNone/>
            </a:pPr>
            <a:r>
              <a:rPr lang="en-US" sz="800" b="1" dirty="0">
                <a:solidFill>
                  <a:srgbClr val="16202D"/>
                </a:solidFill>
                <a:latin typeface="Nunito Sans" pitchFamily="34" charset="0"/>
                <a:ea typeface="Nunito Sans" pitchFamily="34" charset="-122"/>
                <a:cs typeface="Nunito Sans" pitchFamily="34" charset="-120"/>
              </a:rPr>
              <a:t>QR code · D2C · Modern trade</a:t>
            </a:r>
            <a:endParaRPr lang="en-US" sz="800" dirty="0"/>
          </a:p>
        </p:txBody>
      </p:sp>
      <p:sp>
        <p:nvSpPr>
          <p:cNvPr id="16" name="Text 13"/>
          <p:cNvSpPr/>
          <p:nvPr/>
        </p:nvSpPr>
        <p:spPr>
          <a:xfrm>
            <a:off x="685800" y="4754880"/>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SPEED</a:t>
            </a:r>
            <a:endParaRPr lang="en-US" sz="950" dirty="0"/>
          </a:p>
        </p:txBody>
      </p:sp>
      <p:sp>
        <p:nvSpPr>
          <p:cNvPr id="17" name="Text 14"/>
          <p:cNvSpPr/>
          <p:nvPr/>
        </p:nvSpPr>
        <p:spPr>
          <a:xfrm>
            <a:off x="685800" y="4919472"/>
            <a:ext cx="2252396" cy="219456"/>
          </a:xfrm>
          <a:prstGeom prst="rect">
            <a:avLst/>
          </a:prstGeom>
          <a:noFill/>
          <a:ln/>
        </p:spPr>
        <p:txBody>
          <a:bodyPr wrap="square" lIns="0" tIns="0" rIns="0" bIns="0" rtlCol="0" anchor="t"/>
          <a:lstStyle/>
          <a:p>
            <a:pPr indent="0" marL="0">
              <a:lnSpc>
                <a:spcPct val="100000"/>
              </a:lnSpc>
              <a:buNone/>
            </a:pPr>
            <a:r>
              <a:rPr lang="en-US" sz="750" dirty="0">
                <a:solidFill>
                  <a:srgbClr val="54606F"/>
                </a:solidFill>
                <a:latin typeface="Nunito Sans" pitchFamily="34" charset="0"/>
                <a:ea typeface="Nunito Sans" pitchFamily="34" charset="-122"/>
                <a:cs typeface="Nunito Sans" pitchFamily="34" charset="-120"/>
              </a:rPr>
              <a:t>Fast, once proof is visible. She does her own diligence.</a:t>
            </a:r>
            <a:endParaRPr lang="en-US" sz="750" dirty="0"/>
          </a:p>
        </p:txBody>
      </p:sp>
      <p:sp>
        <p:nvSpPr>
          <p:cNvPr id="18" name="Shape 15"/>
          <p:cNvSpPr/>
          <p:nvPr/>
        </p:nvSpPr>
        <p:spPr>
          <a:xfrm>
            <a:off x="3358820" y="2121408"/>
            <a:ext cx="2618156" cy="2880360"/>
          </a:xfrm>
          <a:prstGeom prst="roundRect">
            <a:avLst>
              <a:gd name="adj" fmla="val 3493"/>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19" name="Shape 16"/>
          <p:cNvSpPr/>
          <p:nvPr/>
        </p:nvSpPr>
        <p:spPr>
          <a:xfrm>
            <a:off x="3358820" y="2121408"/>
            <a:ext cx="2618156" cy="45720"/>
          </a:xfrm>
          <a:prstGeom prst="rect">
            <a:avLst/>
          </a:prstGeom>
          <a:solidFill>
            <a:srgbClr val="177A46"/>
          </a:solidFill>
          <a:ln w="12700">
            <a:solidFill>
              <a:srgbClr val="333333"/>
            </a:solidFill>
            <a:prstDash val="solid"/>
          </a:ln>
        </p:spPr>
      </p:sp>
      <p:sp>
        <p:nvSpPr>
          <p:cNvPr id="20" name="Text 17"/>
          <p:cNvSpPr/>
          <p:nvPr/>
        </p:nvSpPr>
        <p:spPr>
          <a:xfrm>
            <a:off x="3541700" y="2249424"/>
            <a:ext cx="2252396" cy="237744"/>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Meera — The Believer</a:t>
            </a:r>
            <a:endParaRPr lang="en-US" sz="1000" dirty="0"/>
          </a:p>
        </p:txBody>
      </p:sp>
      <p:sp>
        <p:nvSpPr>
          <p:cNvPr id="21" name="Text 18"/>
          <p:cNvSpPr/>
          <p:nvPr/>
        </p:nvSpPr>
        <p:spPr>
          <a:xfrm>
            <a:off x="3541700" y="2468880"/>
            <a:ext cx="2252396" cy="182880"/>
          </a:xfrm>
          <a:prstGeom prst="rect">
            <a:avLst/>
          </a:prstGeom>
          <a:noFill/>
          <a:ln/>
        </p:spPr>
        <p:txBody>
          <a:bodyPr wrap="square" lIns="0" tIns="0" rIns="0" bIns="0" rtlCol="0" anchor="t"/>
          <a:lstStyle/>
          <a:p>
            <a:pPr indent="0" marL="0">
              <a:buNone/>
            </a:pPr>
            <a:r>
              <a:rPr lang="en-US" sz="700" b="1" spc="60" kern="0" dirty="0">
                <a:solidFill>
                  <a:srgbClr val="8B95A2"/>
                </a:solidFill>
                <a:latin typeface="Nunito Sans" pitchFamily="34" charset="0"/>
                <a:ea typeface="Nunito Sans" pitchFamily="34" charset="-122"/>
                <a:cs typeface="Nunito Sans" pitchFamily="34" charset="-120"/>
              </a:rPr>
              <a:t>SOCIAL TRUSTERS · 20%</a:t>
            </a:r>
            <a:endParaRPr lang="en-US" sz="700" dirty="0"/>
          </a:p>
        </p:txBody>
      </p:sp>
      <p:sp>
        <p:nvSpPr>
          <p:cNvPr id="22" name="Text 19"/>
          <p:cNvSpPr/>
          <p:nvPr/>
        </p:nvSpPr>
        <p:spPr>
          <a:xfrm>
            <a:off x="3541700" y="2670048"/>
            <a:ext cx="2252396" cy="457200"/>
          </a:xfrm>
          <a:prstGeom prst="rect">
            <a:avLst/>
          </a:prstGeom>
          <a:noFill/>
          <a:ln/>
        </p:spPr>
        <p:txBody>
          <a:bodyPr wrap="square" lIns="0" tIns="0" rIns="0" bIns="0" rtlCol="0" anchor="t"/>
          <a:lstStyle/>
          <a:p>
            <a:pPr indent="0" marL="0">
              <a:lnSpc>
                <a:spcPct val="102000"/>
              </a:lnSpc>
              <a:buNone/>
            </a:pPr>
            <a:r>
              <a:rPr lang="en-US" sz="950" b="1" i="1" dirty="0">
                <a:solidFill>
                  <a:srgbClr val="177A46"/>
                </a:solidFill>
                <a:latin typeface="Nunito Sans" pitchFamily="34" charset="0"/>
                <a:ea typeface="Nunito Sans" pitchFamily="34" charset="-122"/>
                <a:cs typeface="Nunito Sans" pitchFamily="34" charset="-120"/>
              </a:rPr>
              <a:t>"Ask your doctor. Then ask your sister. They've approved us."</a:t>
            </a:r>
            <a:endParaRPr lang="en-US" sz="950" dirty="0"/>
          </a:p>
        </p:txBody>
      </p:sp>
      <p:sp>
        <p:nvSpPr>
          <p:cNvPr id="23" name="Text 20"/>
          <p:cNvSpPr/>
          <p:nvPr/>
        </p:nvSpPr>
        <p:spPr>
          <a:xfrm>
            <a:off x="3541700" y="3163824"/>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MECHANISM</a:t>
            </a:r>
            <a:endParaRPr lang="en-US" sz="950" dirty="0"/>
          </a:p>
        </p:txBody>
      </p:sp>
      <p:sp>
        <p:nvSpPr>
          <p:cNvPr id="24" name="Text 21"/>
          <p:cNvSpPr/>
          <p:nvPr/>
        </p:nvSpPr>
        <p:spPr>
          <a:xfrm>
            <a:off x="3541700" y="3364992"/>
            <a:ext cx="2252396" cy="932688"/>
          </a:xfrm>
          <a:prstGeom prst="rect">
            <a:avLst/>
          </a:prstGeom>
          <a:noFill/>
          <a:ln/>
        </p:spPr>
        <p:txBody>
          <a:bodyPr wrap="square" lIns="0" tIns="0" rIns="0" bIns="0" rtlCol="0" anchor="t"/>
          <a:lstStyle/>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Doctor and dietitian partnership programme</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Referral incentive for existing customers</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Testimonials from families she recognises</a:t>
            </a:r>
            <a:endParaRPr lang="en-US" sz="750" dirty="0"/>
          </a:p>
        </p:txBody>
      </p:sp>
      <p:sp>
        <p:nvSpPr>
          <p:cNvPr id="25" name="Text 22"/>
          <p:cNvSpPr/>
          <p:nvPr/>
        </p:nvSpPr>
        <p:spPr>
          <a:xfrm>
            <a:off x="3541700" y="4315968"/>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CHANNEL</a:t>
            </a:r>
            <a:endParaRPr lang="en-US" sz="950" dirty="0"/>
          </a:p>
        </p:txBody>
      </p:sp>
      <p:sp>
        <p:nvSpPr>
          <p:cNvPr id="26" name="Text 23"/>
          <p:cNvSpPr/>
          <p:nvPr/>
        </p:nvSpPr>
        <p:spPr>
          <a:xfrm>
            <a:off x="3541700" y="4498848"/>
            <a:ext cx="2252396" cy="274320"/>
          </a:xfrm>
          <a:prstGeom prst="rect">
            <a:avLst/>
          </a:prstGeom>
          <a:noFill/>
          <a:ln/>
        </p:spPr>
        <p:txBody>
          <a:bodyPr wrap="square" lIns="0" tIns="0" rIns="0" bIns="0" rtlCol="0" anchor="t"/>
          <a:lstStyle/>
          <a:p>
            <a:pPr indent="0" marL="0">
              <a:lnSpc>
                <a:spcPct val="102000"/>
              </a:lnSpc>
              <a:buNone/>
            </a:pPr>
            <a:r>
              <a:rPr lang="en-US" sz="800" b="1" dirty="0">
                <a:solidFill>
                  <a:srgbClr val="16202D"/>
                </a:solidFill>
                <a:latin typeface="Nunito Sans" pitchFamily="34" charset="0"/>
                <a:ea typeface="Nunito Sans" pitchFamily="34" charset="-122"/>
                <a:cs typeface="Nunito Sans" pitchFamily="34" charset="-120"/>
              </a:rPr>
              <a:t>Clinic tie-ups · Community WhatsApp · WOM</a:t>
            </a:r>
            <a:endParaRPr lang="en-US" sz="800" dirty="0"/>
          </a:p>
        </p:txBody>
      </p:sp>
      <p:sp>
        <p:nvSpPr>
          <p:cNvPr id="27" name="Text 24"/>
          <p:cNvSpPr/>
          <p:nvPr/>
        </p:nvSpPr>
        <p:spPr>
          <a:xfrm>
            <a:off x="3541700" y="4754880"/>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SPEED</a:t>
            </a:r>
            <a:endParaRPr lang="en-US" sz="950" dirty="0"/>
          </a:p>
        </p:txBody>
      </p:sp>
      <p:sp>
        <p:nvSpPr>
          <p:cNvPr id="28" name="Text 25"/>
          <p:cNvSpPr/>
          <p:nvPr/>
        </p:nvSpPr>
        <p:spPr>
          <a:xfrm>
            <a:off x="3541700" y="4919472"/>
            <a:ext cx="2252396" cy="219456"/>
          </a:xfrm>
          <a:prstGeom prst="rect">
            <a:avLst/>
          </a:prstGeom>
          <a:noFill/>
          <a:ln/>
        </p:spPr>
        <p:txBody>
          <a:bodyPr wrap="square" lIns="0" tIns="0" rIns="0" bIns="0" rtlCol="0" anchor="t"/>
          <a:lstStyle/>
          <a:p>
            <a:pPr indent="0" marL="0">
              <a:lnSpc>
                <a:spcPct val="100000"/>
              </a:lnSpc>
              <a:buNone/>
            </a:pPr>
            <a:r>
              <a:rPr lang="en-US" sz="750" dirty="0">
                <a:solidFill>
                  <a:srgbClr val="54606F"/>
                </a:solidFill>
                <a:latin typeface="Nunito Sans" pitchFamily="34" charset="0"/>
                <a:ea typeface="Nunito Sans" pitchFamily="34" charset="-122"/>
                <a:cs typeface="Nunito Sans" pitchFamily="34" charset="-120"/>
              </a:rPr>
              <a:t>Medium. Needs one or two trusted validators, then sticks.</a:t>
            </a:r>
            <a:endParaRPr lang="en-US" sz="750" dirty="0"/>
          </a:p>
        </p:txBody>
      </p:sp>
      <p:sp>
        <p:nvSpPr>
          <p:cNvPr id="29" name="Shape 26"/>
          <p:cNvSpPr/>
          <p:nvPr/>
        </p:nvSpPr>
        <p:spPr>
          <a:xfrm>
            <a:off x="6214720" y="2121408"/>
            <a:ext cx="2618156" cy="2880360"/>
          </a:xfrm>
          <a:prstGeom prst="roundRect">
            <a:avLst>
              <a:gd name="adj" fmla="val 3493"/>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30" name="Shape 27"/>
          <p:cNvSpPr/>
          <p:nvPr/>
        </p:nvSpPr>
        <p:spPr>
          <a:xfrm>
            <a:off x="6214720" y="2121408"/>
            <a:ext cx="2618156" cy="45720"/>
          </a:xfrm>
          <a:prstGeom prst="rect">
            <a:avLst/>
          </a:prstGeom>
          <a:solidFill>
            <a:srgbClr val="B5AD9C"/>
          </a:solidFill>
          <a:ln w="12700">
            <a:solidFill>
              <a:srgbClr val="333333"/>
            </a:solidFill>
            <a:prstDash val="solid"/>
          </a:ln>
        </p:spPr>
      </p:sp>
      <p:sp>
        <p:nvSpPr>
          <p:cNvPr id="31" name="Text 28"/>
          <p:cNvSpPr/>
          <p:nvPr/>
        </p:nvSpPr>
        <p:spPr>
          <a:xfrm>
            <a:off x="6397600" y="2249424"/>
            <a:ext cx="2252396" cy="237744"/>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Karan — The Cruise-Controller</a:t>
            </a:r>
            <a:endParaRPr lang="en-US" sz="1000" dirty="0"/>
          </a:p>
        </p:txBody>
      </p:sp>
      <p:sp>
        <p:nvSpPr>
          <p:cNvPr id="32" name="Text 29"/>
          <p:cNvSpPr/>
          <p:nvPr/>
        </p:nvSpPr>
        <p:spPr>
          <a:xfrm>
            <a:off x="6397600" y="2468880"/>
            <a:ext cx="2252396" cy="182880"/>
          </a:xfrm>
          <a:prstGeom prst="rect">
            <a:avLst/>
          </a:prstGeom>
          <a:noFill/>
          <a:ln/>
        </p:spPr>
        <p:txBody>
          <a:bodyPr wrap="square" lIns="0" tIns="0" rIns="0" bIns="0" rtlCol="0" anchor="t"/>
          <a:lstStyle/>
          <a:p>
            <a:pPr indent="0" marL="0">
              <a:buNone/>
            </a:pPr>
            <a:r>
              <a:rPr lang="en-US" sz="700" b="1" spc="60" kern="0" dirty="0">
                <a:solidFill>
                  <a:srgbClr val="8B95A2"/>
                </a:solidFill>
                <a:latin typeface="Nunito Sans" pitchFamily="34" charset="0"/>
                <a:ea typeface="Nunito Sans" pitchFamily="34" charset="-122"/>
                <a:cs typeface="Nunito Sans" pitchFamily="34" charset="-120"/>
              </a:rPr>
              <a:t>PASSIVE DEFAULTERS · 26%</a:t>
            </a:r>
            <a:endParaRPr lang="en-US" sz="700" dirty="0"/>
          </a:p>
        </p:txBody>
      </p:sp>
      <p:sp>
        <p:nvSpPr>
          <p:cNvPr id="33" name="Text 30"/>
          <p:cNvSpPr/>
          <p:nvPr/>
        </p:nvSpPr>
        <p:spPr>
          <a:xfrm>
            <a:off x="6397600" y="2670048"/>
            <a:ext cx="2252396" cy="457200"/>
          </a:xfrm>
          <a:prstGeom prst="rect">
            <a:avLst/>
          </a:prstGeom>
          <a:noFill/>
          <a:ln/>
        </p:spPr>
        <p:txBody>
          <a:bodyPr wrap="square" lIns="0" tIns="0" rIns="0" bIns="0" rtlCol="0" anchor="t"/>
          <a:lstStyle/>
          <a:p>
            <a:pPr indent="0" marL="0">
              <a:lnSpc>
                <a:spcPct val="102000"/>
              </a:lnSpc>
              <a:buNone/>
            </a:pPr>
            <a:r>
              <a:rPr lang="en-US" sz="950" b="1" i="1" dirty="0">
                <a:solidFill>
                  <a:srgbClr val="B5AD9C"/>
                </a:solidFill>
                <a:latin typeface="Nunito Sans" pitchFamily="34" charset="0"/>
                <a:ea typeface="Nunito Sans" pitchFamily="34" charset="-122"/>
                <a:cs typeface="Nunito Sans" pitchFamily="34" charset="-120"/>
              </a:rPr>
              <a:t>"Same taste. Same price. Honestly, better choice."</a:t>
            </a:r>
            <a:endParaRPr lang="en-US" sz="950" dirty="0"/>
          </a:p>
        </p:txBody>
      </p:sp>
      <p:sp>
        <p:nvSpPr>
          <p:cNvPr id="34" name="Text 31"/>
          <p:cNvSpPr/>
          <p:nvPr/>
        </p:nvSpPr>
        <p:spPr>
          <a:xfrm>
            <a:off x="6397600" y="3163824"/>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MECHANISM</a:t>
            </a:r>
            <a:endParaRPr lang="en-US" sz="950" dirty="0"/>
          </a:p>
        </p:txBody>
      </p:sp>
      <p:sp>
        <p:nvSpPr>
          <p:cNvPr id="35" name="Text 32"/>
          <p:cNvSpPr/>
          <p:nvPr/>
        </p:nvSpPr>
        <p:spPr>
          <a:xfrm>
            <a:off x="6397600" y="3364992"/>
            <a:ext cx="2252396" cy="932688"/>
          </a:xfrm>
          <a:prstGeom prst="rect">
            <a:avLst/>
          </a:prstGeom>
          <a:noFill/>
          <a:ln/>
        </p:spPr>
        <p:txBody>
          <a:bodyPr wrap="square" lIns="0" tIns="0" rIns="0" bIns="0" rtlCol="0" anchor="t"/>
          <a:lstStyle/>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Priority placement in quick-commerce search</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Price parity with the brand he already buys</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Taste-forward sampling, never health-forward</a:t>
            </a:r>
            <a:endParaRPr lang="en-US" sz="750" dirty="0"/>
          </a:p>
        </p:txBody>
      </p:sp>
      <p:sp>
        <p:nvSpPr>
          <p:cNvPr id="36" name="Text 33"/>
          <p:cNvSpPr/>
          <p:nvPr/>
        </p:nvSpPr>
        <p:spPr>
          <a:xfrm>
            <a:off x="6397600" y="4315968"/>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CHANNEL</a:t>
            </a:r>
            <a:endParaRPr lang="en-US" sz="950" dirty="0"/>
          </a:p>
        </p:txBody>
      </p:sp>
      <p:sp>
        <p:nvSpPr>
          <p:cNvPr id="37" name="Text 34"/>
          <p:cNvSpPr/>
          <p:nvPr/>
        </p:nvSpPr>
        <p:spPr>
          <a:xfrm>
            <a:off x="6397600" y="4498848"/>
            <a:ext cx="2252396" cy="274320"/>
          </a:xfrm>
          <a:prstGeom prst="rect">
            <a:avLst/>
          </a:prstGeom>
          <a:noFill/>
          <a:ln/>
        </p:spPr>
        <p:txBody>
          <a:bodyPr wrap="square" lIns="0" tIns="0" rIns="0" bIns="0" rtlCol="0" anchor="t"/>
          <a:lstStyle/>
          <a:p>
            <a:pPr indent="0" marL="0">
              <a:lnSpc>
                <a:spcPct val="102000"/>
              </a:lnSpc>
              <a:buNone/>
            </a:pPr>
            <a:r>
              <a:rPr lang="en-US" sz="800" b="1" dirty="0">
                <a:solidFill>
                  <a:srgbClr val="16202D"/>
                </a:solidFill>
                <a:latin typeface="Nunito Sans" pitchFamily="34" charset="0"/>
                <a:ea typeface="Nunito Sans" pitchFamily="34" charset="-122"/>
                <a:cs typeface="Nunito Sans" pitchFamily="34" charset="-120"/>
              </a:rPr>
              <a:t>Quick commerce · Modern trade endcaps</a:t>
            </a:r>
            <a:endParaRPr lang="en-US" sz="800" dirty="0"/>
          </a:p>
        </p:txBody>
      </p:sp>
      <p:sp>
        <p:nvSpPr>
          <p:cNvPr id="38" name="Text 35"/>
          <p:cNvSpPr/>
          <p:nvPr/>
        </p:nvSpPr>
        <p:spPr>
          <a:xfrm>
            <a:off x="6397600" y="4754880"/>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SPEED</a:t>
            </a:r>
            <a:endParaRPr lang="en-US" sz="950" dirty="0"/>
          </a:p>
        </p:txBody>
      </p:sp>
      <p:sp>
        <p:nvSpPr>
          <p:cNvPr id="39" name="Text 36"/>
          <p:cNvSpPr/>
          <p:nvPr/>
        </p:nvSpPr>
        <p:spPr>
          <a:xfrm>
            <a:off x="6397600" y="4919472"/>
            <a:ext cx="2252396" cy="219456"/>
          </a:xfrm>
          <a:prstGeom prst="rect">
            <a:avLst/>
          </a:prstGeom>
          <a:noFill/>
          <a:ln/>
        </p:spPr>
        <p:txBody>
          <a:bodyPr wrap="square" lIns="0" tIns="0" rIns="0" bIns="0" rtlCol="0" anchor="t"/>
          <a:lstStyle/>
          <a:p>
            <a:pPr indent="0" marL="0">
              <a:lnSpc>
                <a:spcPct val="100000"/>
              </a:lnSpc>
              <a:buNone/>
            </a:pPr>
            <a:r>
              <a:rPr lang="en-US" sz="750" dirty="0">
                <a:solidFill>
                  <a:srgbClr val="54606F"/>
                </a:solidFill>
                <a:latin typeface="Nunito Sans" pitchFamily="34" charset="0"/>
                <a:ea typeface="Nunito Sans" pitchFamily="34" charset="-122"/>
                <a:cs typeface="Nunito Sans" pitchFamily="34" charset="-120"/>
              </a:rPr>
              <a:t>Fast to trial, low loyalty. Needs habitual reinforcement.</a:t>
            </a:r>
            <a:endParaRPr lang="en-US" sz="750" dirty="0"/>
          </a:p>
        </p:txBody>
      </p:sp>
      <p:sp>
        <p:nvSpPr>
          <p:cNvPr id="40" name="Shape 37"/>
          <p:cNvSpPr/>
          <p:nvPr/>
        </p:nvSpPr>
        <p:spPr>
          <a:xfrm>
            <a:off x="9070619" y="2121408"/>
            <a:ext cx="2618156" cy="2880360"/>
          </a:xfrm>
          <a:prstGeom prst="roundRect">
            <a:avLst>
              <a:gd name="adj" fmla="val 3493"/>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41" name="Shape 38"/>
          <p:cNvSpPr/>
          <p:nvPr/>
        </p:nvSpPr>
        <p:spPr>
          <a:xfrm>
            <a:off x="9070619" y="2121408"/>
            <a:ext cx="2618156" cy="45720"/>
          </a:xfrm>
          <a:prstGeom prst="rect">
            <a:avLst/>
          </a:prstGeom>
          <a:solidFill>
            <a:srgbClr val="9E3A24"/>
          </a:solidFill>
          <a:ln w="12700">
            <a:solidFill>
              <a:srgbClr val="333333"/>
            </a:solidFill>
            <a:prstDash val="solid"/>
          </a:ln>
        </p:spPr>
      </p:sp>
      <p:sp>
        <p:nvSpPr>
          <p:cNvPr id="42" name="Text 39"/>
          <p:cNvSpPr/>
          <p:nvPr/>
        </p:nvSpPr>
        <p:spPr>
          <a:xfrm>
            <a:off x="9253499" y="2249424"/>
            <a:ext cx="2252396" cy="237744"/>
          </a:xfrm>
          <a:prstGeom prst="rect">
            <a:avLst/>
          </a:prstGeom>
          <a:noFill/>
          <a:ln/>
        </p:spPr>
        <p:txBody>
          <a:bodyPr wrap="square" lIns="0" tIns="0" rIns="0" bIns="0" rtlCol="0" anchor="t"/>
          <a:lstStyle/>
          <a:p>
            <a:pPr indent="0" marL="0">
              <a:buNone/>
            </a:pPr>
            <a:r>
              <a:rPr lang="en-US" sz="1000" b="1" dirty="0">
                <a:solidFill>
                  <a:srgbClr val="0C1A2B"/>
                </a:solidFill>
                <a:latin typeface="Nunito Sans" pitchFamily="34" charset="0"/>
                <a:ea typeface="Nunito Sans" pitchFamily="34" charset="-122"/>
                <a:cs typeface="Nunito Sans" pitchFamily="34" charset="-120"/>
              </a:rPr>
              <a:t>Sanjay — The Sceptic</a:t>
            </a:r>
            <a:endParaRPr lang="en-US" sz="1000" dirty="0"/>
          </a:p>
        </p:txBody>
      </p:sp>
      <p:sp>
        <p:nvSpPr>
          <p:cNvPr id="43" name="Text 40"/>
          <p:cNvSpPr/>
          <p:nvPr/>
        </p:nvSpPr>
        <p:spPr>
          <a:xfrm>
            <a:off x="9253499" y="2468880"/>
            <a:ext cx="2252396" cy="182880"/>
          </a:xfrm>
          <a:prstGeom prst="rect">
            <a:avLst/>
          </a:prstGeom>
          <a:noFill/>
          <a:ln/>
        </p:spPr>
        <p:txBody>
          <a:bodyPr wrap="square" lIns="0" tIns="0" rIns="0" bIns="0" rtlCol="0" anchor="t"/>
          <a:lstStyle/>
          <a:p>
            <a:pPr indent="0" marL="0">
              <a:buNone/>
            </a:pPr>
            <a:r>
              <a:rPr lang="en-US" sz="700" b="1" spc="60" kern="0" dirty="0">
                <a:solidFill>
                  <a:srgbClr val="8B95A2"/>
                </a:solidFill>
                <a:latin typeface="Nunito Sans" pitchFamily="34" charset="0"/>
                <a:ea typeface="Nunito Sans" pitchFamily="34" charset="-122"/>
                <a:cs typeface="Nunito Sans" pitchFamily="34" charset="-120"/>
              </a:rPr>
              <a:t>SYSTEM FATALISTS · 18%</a:t>
            </a:r>
            <a:endParaRPr lang="en-US" sz="700" dirty="0"/>
          </a:p>
        </p:txBody>
      </p:sp>
      <p:sp>
        <p:nvSpPr>
          <p:cNvPr id="44" name="Text 41"/>
          <p:cNvSpPr/>
          <p:nvPr/>
        </p:nvSpPr>
        <p:spPr>
          <a:xfrm>
            <a:off x="9253499" y="2670048"/>
            <a:ext cx="2252396" cy="457200"/>
          </a:xfrm>
          <a:prstGeom prst="rect">
            <a:avLst/>
          </a:prstGeom>
          <a:noFill/>
          <a:ln/>
        </p:spPr>
        <p:txBody>
          <a:bodyPr wrap="square" lIns="0" tIns="0" rIns="0" bIns="0" rtlCol="0" anchor="t"/>
          <a:lstStyle/>
          <a:p>
            <a:pPr indent="0" marL="0">
              <a:lnSpc>
                <a:spcPct val="102000"/>
              </a:lnSpc>
              <a:buNone/>
            </a:pPr>
            <a:r>
              <a:rPr lang="en-US" sz="950" b="1" i="1" dirty="0">
                <a:solidFill>
                  <a:srgbClr val="9E3A24"/>
                </a:solidFill>
                <a:latin typeface="Nunito Sans" pitchFamily="34" charset="0"/>
                <a:ea typeface="Nunito Sans" pitchFamily="34" charset="-122"/>
                <a:cs typeface="Nunito Sans" pitchFamily="34" charset="-120"/>
              </a:rPr>
              <a:t>"We'll show you the parts no brand talks about."</a:t>
            </a:r>
            <a:endParaRPr lang="en-US" sz="950" dirty="0"/>
          </a:p>
        </p:txBody>
      </p:sp>
      <p:sp>
        <p:nvSpPr>
          <p:cNvPr id="45" name="Text 42"/>
          <p:cNvSpPr/>
          <p:nvPr/>
        </p:nvSpPr>
        <p:spPr>
          <a:xfrm>
            <a:off x="9253499" y="3163824"/>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MECHANISM</a:t>
            </a:r>
            <a:endParaRPr lang="en-US" sz="950" dirty="0"/>
          </a:p>
        </p:txBody>
      </p:sp>
      <p:sp>
        <p:nvSpPr>
          <p:cNvPr id="46" name="Text 43"/>
          <p:cNvSpPr/>
          <p:nvPr/>
        </p:nvSpPr>
        <p:spPr>
          <a:xfrm>
            <a:off x="9253499" y="3364992"/>
            <a:ext cx="2252396" cy="932688"/>
          </a:xfrm>
          <a:prstGeom prst="rect">
            <a:avLst/>
          </a:prstGeom>
          <a:noFill/>
          <a:ln/>
        </p:spPr>
        <p:txBody>
          <a:bodyPr wrap="square" lIns="0" tIns="0" rIns="0" bIns="0" rtlCol="0" anchor="t"/>
          <a:lstStyle/>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Unscripted farmer and founder video content</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Open invitations to audit or visit the farm</a:t>
            </a:r>
            <a:endParaRPr lang="en-US" sz="750" dirty="0"/>
          </a:p>
          <a:p>
            <a:pPr marL="342900" indent="-342900">
              <a:spcAft>
                <a:spcPts val="200"/>
              </a:spcAft>
              <a:buSzPct val="100000"/>
              <a:buChar char="•"/>
            </a:pPr>
            <a:r>
              <a:rPr lang="en-US" sz="750" dirty="0">
                <a:solidFill>
                  <a:srgbClr val="54606F"/>
                </a:solidFill>
                <a:latin typeface="Nunito Sans" pitchFamily="34" charset="0"/>
                <a:ea typeface="Nunito Sans" pitchFamily="34" charset="-122"/>
                <a:cs typeface="Nunito Sans" pitchFamily="34" charset="-120"/>
              </a:rPr>
              <a:t>Independent verification nobody paid for</a:t>
            </a:r>
            <a:endParaRPr lang="en-US" sz="750" dirty="0"/>
          </a:p>
        </p:txBody>
      </p:sp>
      <p:sp>
        <p:nvSpPr>
          <p:cNvPr id="47" name="Text 44"/>
          <p:cNvSpPr/>
          <p:nvPr/>
        </p:nvSpPr>
        <p:spPr>
          <a:xfrm>
            <a:off x="9253499" y="4315968"/>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CHANNEL</a:t>
            </a:r>
            <a:endParaRPr lang="en-US" sz="950" dirty="0"/>
          </a:p>
        </p:txBody>
      </p:sp>
      <p:sp>
        <p:nvSpPr>
          <p:cNvPr id="48" name="Text 45"/>
          <p:cNvSpPr/>
          <p:nvPr/>
        </p:nvSpPr>
        <p:spPr>
          <a:xfrm>
            <a:off x="9253499" y="4498848"/>
            <a:ext cx="2252396" cy="274320"/>
          </a:xfrm>
          <a:prstGeom prst="rect">
            <a:avLst/>
          </a:prstGeom>
          <a:noFill/>
          <a:ln/>
        </p:spPr>
        <p:txBody>
          <a:bodyPr wrap="square" lIns="0" tIns="0" rIns="0" bIns="0" rtlCol="0" anchor="t"/>
          <a:lstStyle/>
          <a:p>
            <a:pPr indent="0" marL="0">
              <a:lnSpc>
                <a:spcPct val="102000"/>
              </a:lnSpc>
              <a:buNone/>
            </a:pPr>
            <a:r>
              <a:rPr lang="en-US" sz="800" b="1" dirty="0">
                <a:solidFill>
                  <a:srgbClr val="16202D"/>
                </a:solidFill>
                <a:latin typeface="Nunito Sans" pitchFamily="34" charset="0"/>
                <a:ea typeface="Nunito Sans" pitchFamily="34" charset="-122"/>
                <a:cs typeface="Nunito Sans" pitchFamily="34" charset="-120"/>
              </a:rPr>
              <a:t>Farmer-direct platforms · Founder-led content</a:t>
            </a:r>
            <a:endParaRPr lang="en-US" sz="800" dirty="0"/>
          </a:p>
        </p:txBody>
      </p:sp>
      <p:sp>
        <p:nvSpPr>
          <p:cNvPr id="49" name="Text 46"/>
          <p:cNvSpPr/>
          <p:nvPr/>
        </p:nvSpPr>
        <p:spPr>
          <a:xfrm>
            <a:off x="9253499" y="4754880"/>
            <a:ext cx="2252396"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SPEED</a:t>
            </a:r>
            <a:endParaRPr lang="en-US" sz="950" dirty="0"/>
          </a:p>
        </p:txBody>
      </p:sp>
      <p:sp>
        <p:nvSpPr>
          <p:cNvPr id="50" name="Text 47"/>
          <p:cNvSpPr/>
          <p:nvPr/>
        </p:nvSpPr>
        <p:spPr>
          <a:xfrm>
            <a:off x="9253499" y="4919472"/>
            <a:ext cx="2252396" cy="219456"/>
          </a:xfrm>
          <a:prstGeom prst="rect">
            <a:avLst/>
          </a:prstGeom>
          <a:noFill/>
          <a:ln/>
        </p:spPr>
        <p:txBody>
          <a:bodyPr wrap="square" lIns="0" tIns="0" rIns="0" bIns="0" rtlCol="0" anchor="t"/>
          <a:lstStyle/>
          <a:p>
            <a:pPr indent="0" marL="0">
              <a:lnSpc>
                <a:spcPct val="100000"/>
              </a:lnSpc>
              <a:buNone/>
            </a:pPr>
            <a:r>
              <a:rPr lang="en-US" sz="750" dirty="0">
                <a:solidFill>
                  <a:srgbClr val="54606F"/>
                </a:solidFill>
                <a:latin typeface="Nunito Sans" pitchFamily="34" charset="0"/>
                <a:ea typeface="Nunito Sans" pitchFamily="34" charset="-122"/>
                <a:cs typeface="Nunito Sans" pitchFamily="34" charset="-120"/>
              </a:rPr>
              <a:t>Slowest — but becomes a vocal advocate once earned.</a:t>
            </a:r>
            <a:endParaRPr lang="en-US" sz="750" dirty="0"/>
          </a:p>
        </p:txBody>
      </p:sp>
      <p:sp>
        <p:nvSpPr>
          <p:cNvPr id="51" name="Text 48"/>
          <p:cNvSpPr/>
          <p:nvPr/>
        </p:nvSpPr>
        <p:spPr>
          <a:xfrm>
            <a:off x="502920" y="5120640"/>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TRUST IS MULTI-DIMENSIONAL FOR EACH ARCHETYPE</a:t>
            </a:r>
            <a:endParaRPr lang="en-US" sz="950" dirty="0"/>
          </a:p>
        </p:txBody>
      </p:sp>
      <p:sp>
        <p:nvSpPr>
          <p:cNvPr id="52" name="Shape 49"/>
          <p:cNvSpPr/>
          <p:nvPr/>
        </p:nvSpPr>
        <p:spPr>
          <a:xfrm>
            <a:off x="502920" y="5358384"/>
            <a:ext cx="11185855" cy="283464"/>
          </a:xfrm>
          <a:prstGeom prst="rect">
            <a:avLst/>
          </a:prstGeom>
          <a:solidFill>
            <a:srgbClr val="F3ECE0"/>
          </a:solidFill>
          <a:ln w="12700">
            <a:solidFill>
              <a:srgbClr val="333333"/>
            </a:solidFill>
            <a:prstDash val="solid"/>
          </a:ln>
        </p:spPr>
      </p:sp>
      <p:sp>
        <p:nvSpPr>
          <p:cNvPr id="53" name="Text 50"/>
          <p:cNvSpPr/>
          <p:nvPr/>
        </p:nvSpPr>
        <p:spPr>
          <a:xfrm>
            <a:off x="612648" y="5358384"/>
            <a:ext cx="1645920" cy="283464"/>
          </a:xfrm>
          <a:prstGeom prst="rect">
            <a:avLst/>
          </a:prstGeom>
          <a:noFill/>
          <a:ln/>
        </p:spPr>
        <p:txBody>
          <a:bodyPr wrap="square" lIns="0" tIns="0" rIns="0" bIns="0" rtlCol="0" anchor="ctr"/>
          <a:lstStyle/>
          <a:p>
            <a:pPr indent="0" marL="0">
              <a:buNone/>
            </a:pPr>
            <a:endParaRPr lang="en-US" sz="800" dirty="0"/>
          </a:p>
        </p:txBody>
      </p:sp>
      <p:sp>
        <p:nvSpPr>
          <p:cNvPr id="54" name="Text 51"/>
          <p:cNvSpPr/>
          <p:nvPr/>
        </p:nvSpPr>
        <p:spPr>
          <a:xfrm>
            <a:off x="2441448" y="5358384"/>
            <a:ext cx="2148840" cy="283464"/>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Vandana</a:t>
            </a:r>
            <a:endParaRPr lang="en-US" sz="800" dirty="0"/>
          </a:p>
        </p:txBody>
      </p:sp>
      <p:sp>
        <p:nvSpPr>
          <p:cNvPr id="55" name="Text 52"/>
          <p:cNvSpPr/>
          <p:nvPr/>
        </p:nvSpPr>
        <p:spPr>
          <a:xfrm>
            <a:off x="4773168" y="5358384"/>
            <a:ext cx="2148840" cy="283464"/>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Meera</a:t>
            </a:r>
            <a:endParaRPr lang="en-US" sz="800" dirty="0"/>
          </a:p>
        </p:txBody>
      </p:sp>
      <p:sp>
        <p:nvSpPr>
          <p:cNvPr id="56" name="Text 53"/>
          <p:cNvSpPr/>
          <p:nvPr/>
        </p:nvSpPr>
        <p:spPr>
          <a:xfrm>
            <a:off x="7104888" y="5358384"/>
            <a:ext cx="2148840" cy="283464"/>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Karan</a:t>
            </a:r>
            <a:endParaRPr lang="en-US" sz="800" dirty="0"/>
          </a:p>
        </p:txBody>
      </p:sp>
      <p:sp>
        <p:nvSpPr>
          <p:cNvPr id="57" name="Text 54"/>
          <p:cNvSpPr/>
          <p:nvPr/>
        </p:nvSpPr>
        <p:spPr>
          <a:xfrm>
            <a:off x="9436608" y="5358384"/>
            <a:ext cx="2148840" cy="283464"/>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Sanjay</a:t>
            </a:r>
            <a:endParaRPr lang="en-US" sz="800" dirty="0"/>
          </a:p>
        </p:txBody>
      </p:sp>
      <p:sp>
        <p:nvSpPr>
          <p:cNvPr id="58" name="Text 55"/>
          <p:cNvSpPr/>
          <p:nvPr/>
        </p:nvSpPr>
        <p:spPr>
          <a:xfrm>
            <a:off x="612648" y="5641848"/>
            <a:ext cx="1645920" cy="283464"/>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Trust lever</a:t>
            </a:r>
            <a:endParaRPr lang="en-US" sz="800" dirty="0"/>
          </a:p>
        </p:txBody>
      </p:sp>
      <p:sp>
        <p:nvSpPr>
          <p:cNvPr id="59" name="Text 56"/>
          <p:cNvSpPr/>
          <p:nvPr/>
        </p:nvSpPr>
        <p:spPr>
          <a:xfrm>
            <a:off x="2441448" y="5641848"/>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Verified data (QR + lab)</a:t>
            </a:r>
            <a:endParaRPr lang="en-US" sz="800" dirty="0"/>
          </a:p>
        </p:txBody>
      </p:sp>
      <p:sp>
        <p:nvSpPr>
          <p:cNvPr id="60" name="Text 57"/>
          <p:cNvSpPr/>
          <p:nvPr/>
        </p:nvSpPr>
        <p:spPr>
          <a:xfrm>
            <a:off x="4773168" y="5641848"/>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Human endorsement</a:t>
            </a:r>
            <a:endParaRPr lang="en-US" sz="800" dirty="0"/>
          </a:p>
        </p:txBody>
      </p:sp>
      <p:sp>
        <p:nvSpPr>
          <p:cNvPr id="61" name="Text 58"/>
          <p:cNvSpPr/>
          <p:nvPr/>
        </p:nvSpPr>
        <p:spPr>
          <a:xfrm>
            <a:off x="7104888" y="5641848"/>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Familiarity, shelf presence</a:t>
            </a:r>
            <a:endParaRPr lang="en-US" sz="800" dirty="0"/>
          </a:p>
        </p:txBody>
      </p:sp>
      <p:sp>
        <p:nvSpPr>
          <p:cNvPr id="62" name="Text 59"/>
          <p:cNvSpPr/>
          <p:nvPr/>
        </p:nvSpPr>
        <p:spPr>
          <a:xfrm>
            <a:off x="9436608" y="5641848"/>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Radical transparency</a:t>
            </a:r>
            <a:endParaRPr lang="en-US" sz="800" dirty="0"/>
          </a:p>
        </p:txBody>
      </p:sp>
      <p:sp>
        <p:nvSpPr>
          <p:cNvPr id="63" name="Shape 60"/>
          <p:cNvSpPr/>
          <p:nvPr/>
        </p:nvSpPr>
        <p:spPr>
          <a:xfrm>
            <a:off x="502920" y="5925312"/>
            <a:ext cx="11185855" cy="0"/>
          </a:xfrm>
          <a:prstGeom prst="line">
            <a:avLst/>
          </a:prstGeom>
          <a:noFill/>
          <a:ln w="5080">
            <a:solidFill>
              <a:srgbClr val="E5DCCB"/>
            </a:solidFill>
            <a:prstDash val="solid"/>
          </a:ln>
        </p:spPr>
      </p:sp>
      <p:sp>
        <p:nvSpPr>
          <p:cNvPr id="64" name="Text 61"/>
          <p:cNvSpPr/>
          <p:nvPr/>
        </p:nvSpPr>
        <p:spPr>
          <a:xfrm>
            <a:off x="612648" y="5925312"/>
            <a:ext cx="1645920" cy="283464"/>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Price perception</a:t>
            </a:r>
            <a:endParaRPr lang="en-US" sz="800" dirty="0"/>
          </a:p>
        </p:txBody>
      </p:sp>
      <p:sp>
        <p:nvSpPr>
          <p:cNvPr id="65" name="Text 62"/>
          <p:cNvSpPr/>
          <p:nvPr/>
        </p:nvSpPr>
        <p:spPr>
          <a:xfrm>
            <a:off x="2441448" y="5925312"/>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Premium OK, with proof</a:t>
            </a:r>
            <a:endParaRPr lang="en-US" sz="800" dirty="0"/>
          </a:p>
        </p:txBody>
      </p:sp>
      <p:sp>
        <p:nvSpPr>
          <p:cNvPr id="66" name="Text 63"/>
          <p:cNvSpPr/>
          <p:nvPr/>
        </p:nvSpPr>
        <p:spPr>
          <a:xfrm>
            <a:off x="4773168" y="5925312"/>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Modest premium if endorsed</a:t>
            </a:r>
            <a:endParaRPr lang="en-US" sz="800" dirty="0"/>
          </a:p>
        </p:txBody>
      </p:sp>
      <p:sp>
        <p:nvSpPr>
          <p:cNvPr id="67" name="Text 64"/>
          <p:cNvSpPr/>
          <p:nvPr/>
        </p:nvSpPr>
        <p:spPr>
          <a:xfrm>
            <a:off x="7104888" y="5925312"/>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Expects price parity</a:t>
            </a:r>
            <a:endParaRPr lang="en-US" sz="800" dirty="0"/>
          </a:p>
        </p:txBody>
      </p:sp>
      <p:sp>
        <p:nvSpPr>
          <p:cNvPr id="68" name="Text 65"/>
          <p:cNvSpPr/>
          <p:nvPr/>
        </p:nvSpPr>
        <p:spPr>
          <a:xfrm>
            <a:off x="9436608" y="5925312"/>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Suspicious of any premium</a:t>
            </a:r>
            <a:endParaRPr lang="en-US" sz="800" dirty="0"/>
          </a:p>
        </p:txBody>
      </p:sp>
      <p:sp>
        <p:nvSpPr>
          <p:cNvPr id="69" name="Shape 66"/>
          <p:cNvSpPr/>
          <p:nvPr/>
        </p:nvSpPr>
        <p:spPr>
          <a:xfrm>
            <a:off x="502920" y="6208776"/>
            <a:ext cx="11185855" cy="0"/>
          </a:xfrm>
          <a:prstGeom prst="line">
            <a:avLst/>
          </a:prstGeom>
          <a:noFill/>
          <a:ln w="5080">
            <a:solidFill>
              <a:srgbClr val="E5DCCB"/>
            </a:solidFill>
            <a:prstDash val="solid"/>
          </a:ln>
        </p:spPr>
      </p:sp>
      <p:sp>
        <p:nvSpPr>
          <p:cNvPr id="70" name="Text 67"/>
          <p:cNvSpPr/>
          <p:nvPr/>
        </p:nvSpPr>
        <p:spPr>
          <a:xfrm>
            <a:off x="612648" y="6208776"/>
            <a:ext cx="1645920" cy="283464"/>
          </a:xfrm>
          <a:prstGeom prst="rect">
            <a:avLst/>
          </a:prstGeom>
          <a:noFill/>
          <a:ln/>
        </p:spPr>
        <p:txBody>
          <a:bodyPr wrap="square" lIns="0" tIns="0" rIns="0" bIns="0" rtlCol="0" anchor="ctr"/>
          <a:lstStyle/>
          <a:p>
            <a:pPr indent="0" marL="0">
              <a:buNone/>
            </a:pPr>
            <a:r>
              <a:rPr lang="en-US" sz="800" b="1" dirty="0">
                <a:solidFill>
                  <a:srgbClr val="8B95A2"/>
                </a:solidFill>
                <a:latin typeface="Nunito Sans" pitchFamily="34" charset="0"/>
                <a:ea typeface="Nunito Sans" pitchFamily="34" charset="-122"/>
                <a:cs typeface="Nunito Sans" pitchFamily="34" charset="-120"/>
              </a:rPr>
              <a:t>Key to win</a:t>
            </a:r>
            <a:endParaRPr lang="en-US" sz="800" dirty="0"/>
          </a:p>
        </p:txBody>
      </p:sp>
      <p:sp>
        <p:nvSpPr>
          <p:cNvPr id="71" name="Text 68"/>
          <p:cNvSpPr/>
          <p:nvPr/>
        </p:nvSpPr>
        <p:spPr>
          <a:xfrm>
            <a:off x="2441448" y="6208776"/>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Batch proof + doctor review</a:t>
            </a:r>
            <a:endParaRPr lang="en-US" sz="800" dirty="0"/>
          </a:p>
        </p:txBody>
      </p:sp>
      <p:sp>
        <p:nvSpPr>
          <p:cNvPr id="72" name="Text 69"/>
          <p:cNvSpPr/>
          <p:nvPr/>
        </p:nvSpPr>
        <p:spPr>
          <a:xfrm>
            <a:off x="4773168" y="6208776"/>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Get her circle to vouch</a:t>
            </a:r>
            <a:endParaRPr lang="en-US" sz="800" dirty="0"/>
          </a:p>
        </p:txBody>
      </p:sp>
      <p:sp>
        <p:nvSpPr>
          <p:cNvPr id="73" name="Text 70"/>
          <p:cNvSpPr/>
          <p:nvPr/>
        </p:nvSpPr>
        <p:spPr>
          <a:xfrm>
            <a:off x="7104888" y="6208776"/>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Be visible and taste-led</a:t>
            </a:r>
            <a:endParaRPr lang="en-US" sz="800" dirty="0"/>
          </a:p>
        </p:txBody>
      </p:sp>
      <p:sp>
        <p:nvSpPr>
          <p:cNvPr id="74" name="Text 71"/>
          <p:cNvSpPr/>
          <p:nvPr/>
        </p:nvSpPr>
        <p:spPr>
          <a:xfrm>
            <a:off x="9436608" y="6208776"/>
            <a:ext cx="2148840" cy="283464"/>
          </a:xfrm>
          <a:prstGeom prst="rect">
            <a:avLst/>
          </a:prstGeom>
          <a:noFill/>
          <a:ln/>
        </p:spPr>
        <p:txBody>
          <a:bodyPr wrap="square" lIns="0" tIns="0" rIns="0" bIns="0" rtlCol="0" anchor="ctr"/>
          <a:lstStyle/>
          <a:p>
            <a:pPr indent="0" marL="0">
              <a:buNone/>
            </a:pPr>
            <a:r>
              <a:rPr lang="en-US" sz="800" dirty="0">
                <a:solidFill>
                  <a:srgbClr val="54606F"/>
                </a:solidFill>
                <a:latin typeface="Nunito Sans" pitchFamily="34" charset="0"/>
                <a:ea typeface="Nunito Sans" pitchFamily="34" charset="-122"/>
                <a:cs typeface="Nunito Sans" pitchFamily="34" charset="-120"/>
              </a:rPr>
              <a:t>Show the imperfect parts</a:t>
            </a:r>
            <a:endParaRPr lang="en-US" sz="800" dirty="0"/>
          </a:p>
        </p:txBody>
      </p:sp>
      <p:sp>
        <p:nvSpPr>
          <p:cNvPr id="75" name="Shape 72"/>
          <p:cNvSpPr/>
          <p:nvPr/>
        </p:nvSpPr>
        <p:spPr>
          <a:xfrm>
            <a:off x="502920" y="6492240"/>
            <a:ext cx="11185855" cy="0"/>
          </a:xfrm>
          <a:prstGeom prst="line">
            <a:avLst/>
          </a:prstGeom>
          <a:noFill/>
          <a:ln w="5080">
            <a:solidFill>
              <a:srgbClr val="E5DCCB"/>
            </a:solidFill>
            <a:prstDash val="solid"/>
          </a:ln>
        </p:spPr>
      </p:sp>
      <p:sp>
        <p:nvSpPr>
          <p:cNvPr id="76" name="Shape 73"/>
          <p:cNvSpPr/>
          <p:nvPr/>
        </p:nvSpPr>
        <p:spPr>
          <a:xfrm>
            <a:off x="502920" y="6455664"/>
            <a:ext cx="11185855" cy="0"/>
          </a:xfrm>
          <a:prstGeom prst="line">
            <a:avLst/>
          </a:prstGeom>
          <a:noFill/>
          <a:ln w="9525">
            <a:solidFill>
              <a:srgbClr val="E5DCCB"/>
            </a:solidFill>
            <a:prstDash val="solid"/>
          </a:ln>
        </p:spPr>
      </p:sp>
      <p:sp>
        <p:nvSpPr>
          <p:cNvPr id="77" name="Text 74"/>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04 · BRAND &amp; PROOF</a:t>
            </a:r>
            <a:endParaRPr lang="en-US" sz="800" dirty="0"/>
          </a:p>
        </p:txBody>
      </p:sp>
      <p:sp>
        <p:nvSpPr>
          <p:cNvPr id="78" name="Text 75"/>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28</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logo.png">    </p:cNvPr>
          <p:cNvPicPr>
            <a:picLocks noChangeAspect="1"/>
          </p:cNvPicPr>
          <p:nvPr/>
        </p:nvPicPr>
        <p:blipFill>
          <a:blip r:embed="rId1"/>
          <a:stretch>
            <a:fillRect/>
          </a:stretch>
        </p:blipFill>
        <p:spPr>
          <a:xfrm>
            <a:off x="10317175" y="457200"/>
            <a:ext cx="1371600" cy="502920"/>
          </a:xfrm>
          <a:prstGeom prst="rect">
            <a:avLst/>
          </a:prstGeom>
        </p:spPr>
      </p:pic>
      <p:sp>
        <p:nvSpPr>
          <p:cNvPr id="3" name="Shape 0"/>
          <p:cNvSpPr/>
          <p:nvPr/>
        </p:nvSpPr>
        <p:spPr>
          <a:xfrm>
            <a:off x="502920" y="2212848"/>
            <a:ext cx="1005840" cy="64008"/>
          </a:xfrm>
          <a:prstGeom prst="rect">
            <a:avLst/>
          </a:prstGeom>
          <a:solidFill>
            <a:srgbClr val="5FC28C"/>
          </a:solidFill>
          <a:ln w="6350">
            <a:solidFill>
              <a:srgbClr val="5FC28C"/>
            </a:solidFill>
            <a:prstDash val="solid"/>
          </a:ln>
        </p:spPr>
      </p:sp>
      <p:sp>
        <p:nvSpPr>
          <p:cNvPr id="4" name="Text 1"/>
          <p:cNvSpPr/>
          <p:nvPr/>
        </p:nvSpPr>
        <p:spPr>
          <a:xfrm>
            <a:off x="502920" y="2432304"/>
            <a:ext cx="7315200" cy="256032"/>
          </a:xfrm>
          <a:prstGeom prst="rect">
            <a:avLst/>
          </a:prstGeom>
          <a:noFill/>
          <a:ln/>
        </p:spPr>
        <p:txBody>
          <a:bodyPr wrap="square" lIns="0" tIns="0" rIns="0" bIns="0" rtlCol="0" anchor="ctr"/>
          <a:lstStyle/>
          <a:p>
            <a:pPr indent="0" marL="0">
              <a:buNone/>
            </a:pPr>
            <a:r>
              <a:rPr lang="en-US" sz="950" b="1" spc="260" kern="0" dirty="0">
                <a:solidFill>
                  <a:srgbClr val="5FC28C"/>
                </a:solidFill>
                <a:latin typeface="Nunito Sans" pitchFamily="34" charset="0"/>
                <a:ea typeface="Nunito Sans" pitchFamily="34" charset="-122"/>
                <a:cs typeface="Nunito Sans" pitchFamily="34" charset="-120"/>
              </a:rPr>
              <a:t>THE PROMISE IN PART 04</a:t>
            </a:r>
            <a:endParaRPr lang="en-US" sz="950" dirty="0"/>
          </a:p>
        </p:txBody>
      </p:sp>
      <p:sp>
        <p:nvSpPr>
          <p:cNvPr id="5" name="Text 2"/>
          <p:cNvSpPr/>
          <p:nvPr/>
        </p:nvSpPr>
        <p:spPr>
          <a:xfrm>
            <a:off x="502920" y="2788920"/>
            <a:ext cx="9509760" cy="1920240"/>
          </a:xfrm>
          <a:prstGeom prst="rect">
            <a:avLst/>
          </a:prstGeom>
          <a:noFill/>
          <a:ln/>
        </p:spPr>
        <p:txBody>
          <a:bodyPr wrap="square" lIns="0" tIns="0" rIns="0" bIns="0" rtlCol="0" anchor="t"/>
          <a:lstStyle/>
          <a:p>
            <a:pPr indent="0" marL="0">
              <a:lnSpc>
                <a:spcPct val="106000"/>
              </a:lnSpc>
              <a:buNone/>
            </a:pPr>
            <a:r>
              <a:rPr lang="en-US" sz="3000" dirty="0">
                <a:solidFill>
                  <a:srgbClr val="FFFFFF"/>
                </a:solidFill>
                <a:latin typeface="Archivo Black" pitchFamily="34" charset="0"/>
                <a:ea typeface="Archivo Black" pitchFamily="34" charset="-122"/>
                <a:cs typeface="Archivo Black" pitchFamily="34" charset="-120"/>
              </a:rPr>
              <a:t>Verified in the fields. Honest on the shelves.</a:t>
            </a:r>
            <a:endParaRPr lang="en-US" sz="3000" dirty="0"/>
          </a:p>
        </p:txBody>
      </p:sp>
      <p:sp>
        <p:nvSpPr>
          <p:cNvPr id="6" name="Text 3"/>
          <p:cNvSpPr/>
          <p:nvPr/>
        </p:nvSpPr>
        <p:spPr>
          <a:xfrm>
            <a:off x="502920" y="4846320"/>
            <a:ext cx="7863840" cy="457200"/>
          </a:xfrm>
          <a:prstGeom prst="rect">
            <a:avLst/>
          </a:prstGeom>
          <a:noFill/>
          <a:ln/>
        </p:spPr>
        <p:txBody>
          <a:bodyPr wrap="square" lIns="0" tIns="0" rIns="0" bIns="0" rtlCol="0" anchor="t"/>
          <a:lstStyle/>
          <a:p>
            <a:pPr indent="0" marL="0">
              <a:lnSpc>
                <a:spcPct val="112000"/>
              </a:lnSpc>
              <a:buNone/>
            </a:pPr>
            <a:r>
              <a:rPr lang="en-US" sz="1200" dirty="0">
                <a:solidFill>
                  <a:srgbClr val="A9B6C7"/>
                </a:solidFill>
                <a:latin typeface="Nunito Sans" pitchFamily="34" charset="0"/>
                <a:ea typeface="Nunito Sans" pitchFamily="34" charset="-122"/>
                <a:cs typeface="Nunito Sans" pitchFamily="34" charset="-120"/>
              </a:rPr>
              <a:t>The only food brand in India that consumers verify, not just trust.</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div-05.jpg">    </p:cNvPr>
          <p:cNvPicPr>
            <a:picLocks noChangeAspect="1"/>
          </p:cNvPicPr>
          <p:nvPr/>
        </p:nvPicPr>
        <p:blipFill>
          <a:blip r:embed="rId1"/>
          <a:srcRect l="0" r="0" t="0" b="0"/>
          <a:stretch/>
        </p:blipFill>
        <p:spPr>
          <a:xfrm>
            <a:off x="0" y="0"/>
            <a:ext cx="12191695" cy="6858000"/>
          </a:xfrm>
          <a:prstGeom prst="rect">
            <a:avLst/>
          </a:prstGeom>
        </p:spPr>
      </p:pic>
      <p:pic>
        <p:nvPicPr>
          <p:cNvPr id="3" name="Image 1" descr="/home/user/hopper-tessarakt/site/assets/logo.png">    </p:cNvPr>
          <p:cNvPicPr>
            <a:picLocks noChangeAspect="1"/>
          </p:cNvPicPr>
          <p:nvPr/>
        </p:nvPicPr>
        <p:blipFill>
          <a:blip r:embed="rId2"/>
          <a:stretch>
            <a:fillRect/>
          </a:stretch>
        </p:blipFill>
        <p:spPr>
          <a:xfrm>
            <a:off x="10317175" y="457200"/>
            <a:ext cx="1371600" cy="502920"/>
          </a:xfrm>
          <a:prstGeom prst="rect">
            <a:avLst/>
          </a:prstGeom>
        </p:spPr>
      </p:pic>
      <p:sp>
        <p:nvSpPr>
          <p:cNvPr id="4" name="Text 0"/>
          <p:cNvSpPr/>
          <p:nvPr/>
        </p:nvSpPr>
        <p:spPr>
          <a:xfrm>
            <a:off x="502920" y="3200400"/>
            <a:ext cx="5486400" cy="274320"/>
          </a:xfrm>
          <a:prstGeom prst="rect">
            <a:avLst/>
          </a:prstGeom>
          <a:noFill/>
          <a:ln/>
        </p:spPr>
        <p:txBody>
          <a:bodyPr wrap="square" lIns="0" tIns="0" rIns="0" bIns="0" rtlCol="0" anchor="ctr"/>
          <a:lstStyle/>
          <a:p>
            <a:pPr indent="0" marL="0">
              <a:buNone/>
            </a:pPr>
            <a:r>
              <a:rPr lang="en-US" sz="1000" b="1" spc="320" kern="0" dirty="0">
                <a:solidFill>
                  <a:srgbClr val="5FC28C"/>
                </a:solidFill>
                <a:latin typeface="Nunito Sans" pitchFamily="34" charset="0"/>
                <a:ea typeface="Nunito Sans" pitchFamily="34" charset="-122"/>
                <a:cs typeface="Nunito Sans" pitchFamily="34" charset="-120"/>
              </a:rPr>
              <a:t>PART 05</a:t>
            </a:r>
            <a:endParaRPr lang="en-US" sz="1000" dirty="0"/>
          </a:p>
        </p:txBody>
      </p:sp>
      <p:sp>
        <p:nvSpPr>
          <p:cNvPr id="5" name="Text 1"/>
          <p:cNvSpPr/>
          <p:nvPr/>
        </p:nvSpPr>
        <p:spPr>
          <a:xfrm>
            <a:off x="502920" y="3529584"/>
            <a:ext cx="8595360" cy="960120"/>
          </a:xfrm>
          <a:prstGeom prst="rect">
            <a:avLst/>
          </a:prstGeom>
          <a:noFill/>
          <a:ln/>
        </p:spPr>
        <p:txBody>
          <a:bodyPr wrap="square" lIns="0" tIns="0" rIns="0" bIns="0" rtlCol="0" anchor="t"/>
          <a:lstStyle/>
          <a:p>
            <a:pPr indent="0" marL="0">
              <a:buNone/>
            </a:pPr>
            <a:r>
              <a:rPr lang="en-US" sz="4000" dirty="0">
                <a:solidFill>
                  <a:srgbClr val="FFFFFF"/>
                </a:solidFill>
                <a:latin typeface="Archivo Black" pitchFamily="34" charset="0"/>
                <a:ea typeface="Archivo Black" pitchFamily="34" charset="-122"/>
                <a:cs typeface="Archivo Black" pitchFamily="34" charset="-120"/>
              </a:rPr>
              <a:t>The Growth Engine</a:t>
            </a:r>
            <a:endParaRPr lang="en-US" sz="4000" dirty="0"/>
          </a:p>
        </p:txBody>
      </p:sp>
      <p:sp>
        <p:nvSpPr>
          <p:cNvPr id="6" name="Text 2"/>
          <p:cNvSpPr/>
          <p:nvPr/>
        </p:nvSpPr>
        <p:spPr>
          <a:xfrm>
            <a:off x="502920" y="4553712"/>
            <a:ext cx="7498080" cy="457200"/>
          </a:xfrm>
          <a:prstGeom prst="rect">
            <a:avLst/>
          </a:prstGeom>
          <a:noFill/>
          <a:ln/>
        </p:spPr>
        <p:txBody>
          <a:bodyPr wrap="square" lIns="0" tIns="0" rIns="0" bIns="0" rtlCol="0" anchor="t"/>
          <a:lstStyle/>
          <a:p>
            <a:pPr indent="0" marL="0">
              <a:lnSpc>
                <a:spcPct val="114000"/>
              </a:lnSpc>
              <a:buNone/>
            </a:pPr>
            <a:r>
              <a:rPr lang="en-US" sz="1300" dirty="0">
                <a:solidFill>
                  <a:srgbClr val="A9B6C7"/>
                </a:solidFill>
                <a:latin typeface="Nunito Sans" pitchFamily="34" charset="0"/>
                <a:ea typeface="Nunito Sans" pitchFamily="34" charset="-122"/>
                <a:cs typeface="Nunito Sans" pitchFamily="34" charset="-120"/>
              </a:rPr>
              <a:t>Where to sell it, what to sell, and what it costs to get there.</a:t>
            </a:r>
            <a:endParaRPr lang="en-US" sz="1300" dirty="0"/>
          </a:p>
        </p:txBody>
      </p:sp>
      <p:sp>
        <p:nvSpPr>
          <p:cNvPr id="7" name="Shape 3"/>
          <p:cNvSpPr/>
          <p:nvPr/>
        </p:nvSpPr>
        <p:spPr>
          <a:xfrm>
            <a:off x="502920" y="5413248"/>
            <a:ext cx="3362858" cy="0"/>
          </a:xfrm>
          <a:prstGeom prst="line">
            <a:avLst/>
          </a:prstGeom>
          <a:noFill/>
          <a:ln w="9525">
            <a:solidFill>
              <a:srgbClr val="FFFFFF">
                <a:alpha val="28000"/>
              </a:srgbClr>
            </a:solidFill>
            <a:prstDash val="solid"/>
          </a:ln>
        </p:spPr>
      </p:sp>
      <p:sp>
        <p:nvSpPr>
          <p:cNvPr id="8" name="Text 4"/>
          <p:cNvSpPr/>
          <p:nvPr/>
        </p:nvSpPr>
        <p:spPr>
          <a:xfrm>
            <a:off x="502920"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Strategy says premium. Portfolio says commodities.</a:t>
            </a:r>
            <a:endParaRPr lang="en-US" sz="950" dirty="0"/>
          </a:p>
        </p:txBody>
      </p:sp>
      <p:sp>
        <p:nvSpPr>
          <p:cNvPr id="9" name="Shape 5"/>
          <p:cNvSpPr/>
          <p:nvPr/>
        </p:nvSpPr>
        <p:spPr>
          <a:xfrm>
            <a:off x="4231538" y="5413248"/>
            <a:ext cx="3362858" cy="0"/>
          </a:xfrm>
          <a:prstGeom prst="line">
            <a:avLst/>
          </a:prstGeom>
          <a:noFill/>
          <a:ln w="9525">
            <a:solidFill>
              <a:srgbClr val="FFFFFF">
                <a:alpha val="28000"/>
              </a:srgbClr>
            </a:solidFill>
            <a:prstDash val="solid"/>
          </a:ln>
        </p:spPr>
      </p:sp>
      <p:sp>
        <p:nvSpPr>
          <p:cNvPr id="10" name="Text 6"/>
          <p:cNvSpPr/>
          <p:nvPr/>
        </p:nvSpPr>
        <p:spPr>
          <a:xfrm>
            <a:off x="4231538"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₹53 Cr today. ₹748 Cr by FY31.</a:t>
            </a:r>
            <a:endParaRPr lang="en-US" sz="950" dirty="0"/>
          </a:p>
        </p:txBody>
      </p:sp>
      <p:sp>
        <p:nvSpPr>
          <p:cNvPr id="11" name="Shape 7"/>
          <p:cNvSpPr/>
          <p:nvPr/>
        </p:nvSpPr>
        <p:spPr>
          <a:xfrm>
            <a:off x="7960157" y="5413248"/>
            <a:ext cx="3362858" cy="0"/>
          </a:xfrm>
          <a:prstGeom prst="line">
            <a:avLst/>
          </a:prstGeom>
          <a:noFill/>
          <a:ln w="9525">
            <a:solidFill>
              <a:srgbClr val="FFFFFF">
                <a:alpha val="28000"/>
              </a:srgbClr>
            </a:solidFill>
            <a:prstDash val="solid"/>
          </a:ln>
        </p:spPr>
      </p:sp>
      <p:sp>
        <p:nvSpPr>
          <p:cNvPr id="12" name="Text 8"/>
          <p:cNvSpPr/>
          <p:nvPr/>
        </p:nvSpPr>
        <p:spPr>
          <a:xfrm>
            <a:off x="7960157"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Earn the shelf, then densify it</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070202"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070202"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INTERNAL DIAGNOSIS</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Strategy says accessible-premium food brand. Portfolio says commodities.</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Eight half-years of audited revenue. The business is growing, but growing fastest in the block it talks about least — and depending on a single platform for a quarter of its income.</a:t>
            </a:r>
            <a:endParaRPr lang="en-US" sz="1100" dirty="0"/>
          </a:p>
        </p:txBody>
      </p:sp>
      <p:sp>
        <p:nvSpPr>
          <p:cNvPr id="7" name="Shape 4"/>
          <p:cNvSpPr/>
          <p:nvPr/>
        </p:nvSpPr>
        <p:spPr>
          <a:xfrm>
            <a:off x="502920" y="2121408"/>
            <a:ext cx="2618156" cy="0"/>
          </a:xfrm>
          <a:prstGeom prst="line">
            <a:avLst/>
          </a:prstGeom>
          <a:noFill/>
          <a:ln w="25400">
            <a:solidFill>
              <a:srgbClr val="3A5D97"/>
            </a:solidFill>
            <a:prstDash val="solid"/>
          </a:ln>
        </p:spPr>
      </p:sp>
      <p:sp>
        <p:nvSpPr>
          <p:cNvPr id="8" name="Text 5"/>
          <p:cNvSpPr/>
          <p:nvPr/>
        </p:nvSpPr>
        <p:spPr>
          <a:xfrm>
            <a:off x="502920" y="2267712"/>
            <a:ext cx="2618156" cy="430276"/>
          </a:xfrm>
          <a:prstGeom prst="rect">
            <a:avLst/>
          </a:prstGeom>
          <a:noFill/>
          <a:ln/>
        </p:spPr>
        <p:txBody>
          <a:bodyPr wrap="square" lIns="0" tIns="0" rIns="0" bIns="0" rtlCol="0" anchor="t"/>
          <a:lstStyle/>
          <a:p>
            <a:pPr indent="0" marL="0">
              <a:buNone/>
            </a:pPr>
            <a:r>
              <a:rPr lang="en-US" sz="2500" dirty="0">
                <a:solidFill>
                  <a:srgbClr val="3A5D97"/>
                </a:solidFill>
                <a:latin typeface="Archivo Black" pitchFamily="34" charset="0"/>
                <a:ea typeface="Archivo Black" pitchFamily="34" charset="-122"/>
                <a:cs typeface="Archivo Black" pitchFamily="34" charset="-120"/>
              </a:rPr>
              <a:t>₹90.9 Cr</a:t>
            </a:r>
            <a:endParaRPr lang="en-US" sz="2500" dirty="0"/>
          </a:p>
        </p:txBody>
      </p:sp>
      <p:sp>
        <p:nvSpPr>
          <p:cNvPr id="9" name="Text 6"/>
          <p:cNvSpPr/>
          <p:nvPr/>
        </p:nvSpPr>
        <p:spPr>
          <a:xfrm>
            <a:off x="502920" y="2734564"/>
            <a:ext cx="2480996" cy="612140"/>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Cumulative revenue audited across eight half-years; FY26 ≈ ₹53 Cr, up ~30% YoY</a:t>
            </a:r>
            <a:endParaRPr lang="en-US" sz="850" dirty="0"/>
          </a:p>
        </p:txBody>
      </p:sp>
      <p:sp>
        <p:nvSpPr>
          <p:cNvPr id="10" name="Shape 7"/>
          <p:cNvSpPr/>
          <p:nvPr/>
        </p:nvSpPr>
        <p:spPr>
          <a:xfrm>
            <a:off x="3358820" y="2121408"/>
            <a:ext cx="2618156" cy="0"/>
          </a:xfrm>
          <a:prstGeom prst="line">
            <a:avLst/>
          </a:prstGeom>
          <a:noFill/>
          <a:ln w="25400">
            <a:solidFill>
              <a:srgbClr val="177A46"/>
            </a:solidFill>
            <a:prstDash val="solid"/>
          </a:ln>
        </p:spPr>
      </p:sp>
      <p:sp>
        <p:nvSpPr>
          <p:cNvPr id="11" name="Text 8"/>
          <p:cNvSpPr/>
          <p:nvPr/>
        </p:nvSpPr>
        <p:spPr>
          <a:xfrm>
            <a:off x="3358820" y="2267712"/>
            <a:ext cx="2618156" cy="430276"/>
          </a:xfrm>
          <a:prstGeom prst="rect">
            <a:avLst/>
          </a:prstGeom>
          <a:noFill/>
          <a:ln/>
        </p:spPr>
        <p:txBody>
          <a:bodyPr wrap="square" lIns="0" tIns="0" rIns="0" bIns="0" rtlCol="0" anchor="t"/>
          <a:lstStyle/>
          <a:p>
            <a:pPr indent="0" marL="0">
              <a:buNone/>
            </a:pPr>
            <a:r>
              <a:rPr lang="en-US" sz="2500" dirty="0">
                <a:solidFill>
                  <a:srgbClr val="177A46"/>
                </a:solidFill>
                <a:latin typeface="Archivo Black" pitchFamily="34" charset="0"/>
                <a:ea typeface="Archivo Black" pitchFamily="34" charset="-122"/>
                <a:cs typeface="Archivo Black" pitchFamily="34" charset="-120"/>
              </a:rPr>
              <a:t>+219%</a:t>
            </a:r>
            <a:endParaRPr lang="en-US" sz="2500" dirty="0"/>
          </a:p>
        </p:txBody>
      </p:sp>
      <p:sp>
        <p:nvSpPr>
          <p:cNvPr id="12" name="Text 9"/>
          <p:cNvSpPr/>
          <p:nvPr/>
        </p:nvSpPr>
        <p:spPr>
          <a:xfrm>
            <a:off x="3358820" y="2734564"/>
            <a:ext cx="2480996" cy="612140"/>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Growth of the value-added block (makhana, jaggery, honey) = 29% of revenue, the real engine</a:t>
            </a:r>
            <a:endParaRPr lang="en-US" sz="850" dirty="0"/>
          </a:p>
        </p:txBody>
      </p:sp>
      <p:sp>
        <p:nvSpPr>
          <p:cNvPr id="13" name="Shape 10"/>
          <p:cNvSpPr/>
          <p:nvPr/>
        </p:nvSpPr>
        <p:spPr>
          <a:xfrm>
            <a:off x="6214720" y="2121408"/>
            <a:ext cx="2618156" cy="0"/>
          </a:xfrm>
          <a:prstGeom prst="line">
            <a:avLst/>
          </a:prstGeom>
          <a:noFill/>
          <a:ln w="25400">
            <a:solidFill>
              <a:srgbClr val="9E3A24"/>
            </a:solidFill>
            <a:prstDash val="solid"/>
          </a:ln>
        </p:spPr>
      </p:sp>
      <p:sp>
        <p:nvSpPr>
          <p:cNvPr id="14" name="Text 11"/>
          <p:cNvSpPr/>
          <p:nvPr/>
        </p:nvSpPr>
        <p:spPr>
          <a:xfrm>
            <a:off x="6214720" y="2267712"/>
            <a:ext cx="2618156" cy="430276"/>
          </a:xfrm>
          <a:prstGeom prst="rect">
            <a:avLst/>
          </a:prstGeom>
          <a:noFill/>
          <a:ln/>
        </p:spPr>
        <p:txBody>
          <a:bodyPr wrap="square" lIns="0" tIns="0" rIns="0" bIns="0" rtlCol="0" anchor="t"/>
          <a:lstStyle/>
          <a:p>
            <a:pPr indent="0" marL="0">
              <a:buNone/>
            </a:pPr>
            <a:r>
              <a:rPr lang="en-US" sz="2500" dirty="0">
                <a:solidFill>
                  <a:srgbClr val="9E3A24"/>
                </a:solidFill>
                <a:latin typeface="Archivo Black" pitchFamily="34" charset="0"/>
                <a:ea typeface="Archivo Black" pitchFamily="34" charset="-122"/>
                <a:cs typeface="Archivo Black" pitchFamily="34" charset="-120"/>
              </a:rPr>
              <a:t>24%</a:t>
            </a:r>
            <a:endParaRPr lang="en-US" sz="2500" dirty="0"/>
          </a:p>
        </p:txBody>
      </p:sp>
      <p:sp>
        <p:nvSpPr>
          <p:cNvPr id="15" name="Text 12"/>
          <p:cNvSpPr/>
          <p:nvPr/>
        </p:nvSpPr>
        <p:spPr>
          <a:xfrm>
            <a:off x="6214720" y="2734564"/>
            <a:ext cx="2480996" cy="612140"/>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Of revenue from a single account, Zepto — one rupee in four is at platform mercy</a:t>
            </a:r>
            <a:endParaRPr lang="en-US" sz="850" dirty="0"/>
          </a:p>
        </p:txBody>
      </p:sp>
      <p:sp>
        <p:nvSpPr>
          <p:cNvPr id="16" name="Shape 13"/>
          <p:cNvSpPr/>
          <p:nvPr/>
        </p:nvSpPr>
        <p:spPr>
          <a:xfrm>
            <a:off x="9070619" y="2121408"/>
            <a:ext cx="2618156" cy="0"/>
          </a:xfrm>
          <a:prstGeom prst="line">
            <a:avLst/>
          </a:prstGeom>
          <a:noFill/>
          <a:ln w="25400">
            <a:solidFill>
              <a:srgbClr val="9E3A24"/>
            </a:solidFill>
            <a:prstDash val="solid"/>
          </a:ln>
        </p:spPr>
      </p:sp>
      <p:sp>
        <p:nvSpPr>
          <p:cNvPr id="17" name="Text 14"/>
          <p:cNvSpPr/>
          <p:nvPr/>
        </p:nvSpPr>
        <p:spPr>
          <a:xfrm>
            <a:off x="9070619" y="2267712"/>
            <a:ext cx="2618156" cy="430276"/>
          </a:xfrm>
          <a:prstGeom prst="rect">
            <a:avLst/>
          </a:prstGeom>
          <a:noFill/>
          <a:ln/>
        </p:spPr>
        <p:txBody>
          <a:bodyPr wrap="square" lIns="0" tIns="0" rIns="0" bIns="0" rtlCol="0" anchor="t"/>
          <a:lstStyle/>
          <a:p>
            <a:pPr indent="0" marL="0">
              <a:buNone/>
            </a:pPr>
            <a:r>
              <a:rPr lang="en-US" sz="2500" dirty="0">
                <a:solidFill>
                  <a:srgbClr val="9E3A24"/>
                </a:solidFill>
                <a:latin typeface="Archivo Black" pitchFamily="34" charset="0"/>
                <a:ea typeface="Archivo Black" pitchFamily="34" charset="-122"/>
                <a:cs typeface="Archivo Black" pitchFamily="34" charset="-120"/>
              </a:rPr>
              <a:t>~33%</a:t>
            </a:r>
            <a:endParaRPr lang="en-US" sz="2500" dirty="0"/>
          </a:p>
        </p:txBody>
      </p:sp>
      <p:sp>
        <p:nvSpPr>
          <p:cNvPr id="18" name="Text 15"/>
          <p:cNvSpPr/>
          <p:nvPr/>
        </p:nvSpPr>
        <p:spPr>
          <a:xfrm>
            <a:off x="9070619" y="2734564"/>
            <a:ext cx="2480996" cy="612140"/>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Of revenue (≈₹30 Cr) has no channel attribution at all</a:t>
            </a:r>
            <a:endParaRPr lang="en-US" sz="850" dirty="0"/>
          </a:p>
        </p:txBody>
      </p:sp>
      <p:sp>
        <p:nvSpPr>
          <p:cNvPr id="19" name="Text 16"/>
          <p:cNvSpPr/>
          <p:nvPr/>
        </p:nvSpPr>
        <p:spPr>
          <a:xfrm>
            <a:off x="502920" y="3694176"/>
            <a:ext cx="64008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PORTFOLIO MIX VS PORTFOLIO GROWTH  (CUMULATIVE ₹ CR, GROWTH %)</a:t>
            </a:r>
            <a:endParaRPr lang="en-US" sz="950" dirty="0"/>
          </a:p>
        </p:txBody>
      </p:sp>
      <p:sp>
        <p:nvSpPr>
          <p:cNvPr id="20" name="Shape 17"/>
          <p:cNvSpPr/>
          <p:nvPr/>
        </p:nvSpPr>
        <p:spPr>
          <a:xfrm>
            <a:off x="502920" y="3986784"/>
            <a:ext cx="6035040" cy="2286000"/>
          </a:xfrm>
          <a:prstGeom prst="roundRect">
            <a:avLst>
              <a:gd name="adj" fmla="val 4000"/>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21" name="Text 18"/>
          <p:cNvSpPr/>
          <p:nvPr/>
        </p:nvSpPr>
        <p:spPr>
          <a:xfrm>
            <a:off x="777240" y="4197096"/>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Pulses · 56% of revenue</a:t>
            </a:r>
            <a:endParaRPr lang="en-US" sz="950" dirty="0"/>
          </a:p>
        </p:txBody>
      </p:sp>
      <p:sp>
        <p:nvSpPr>
          <p:cNvPr id="22" name="Text 19"/>
          <p:cNvSpPr/>
          <p:nvPr/>
        </p:nvSpPr>
        <p:spPr>
          <a:xfrm>
            <a:off x="4526280" y="4197096"/>
            <a:ext cx="1737360" cy="201168"/>
          </a:xfrm>
          <a:prstGeom prst="rect">
            <a:avLst/>
          </a:prstGeom>
          <a:noFill/>
          <a:ln/>
        </p:spPr>
        <p:txBody>
          <a:bodyPr wrap="square" lIns="0" tIns="0" rIns="0" bIns="0" rtlCol="0" anchor="ctr"/>
          <a:lstStyle/>
          <a:p>
            <a:pPr algn="r" indent="0" marL="0">
              <a:buNone/>
            </a:pPr>
            <a:r>
              <a:rPr lang="en-US" sz="1000" b="1" dirty="0">
                <a:solidFill>
                  <a:srgbClr val="3A5D97"/>
                </a:solidFill>
                <a:latin typeface="Nunito Sans" pitchFamily="34" charset="0"/>
                <a:ea typeface="Nunito Sans" pitchFamily="34" charset="-122"/>
                <a:cs typeface="Nunito Sans" pitchFamily="34" charset="-120"/>
              </a:rPr>
              <a:t>₹50.4 Cr · +113%</a:t>
            </a:r>
            <a:endParaRPr lang="en-US" sz="1000" dirty="0"/>
          </a:p>
        </p:txBody>
      </p:sp>
      <p:sp>
        <p:nvSpPr>
          <p:cNvPr id="23" name="Shape 20"/>
          <p:cNvSpPr/>
          <p:nvPr/>
        </p:nvSpPr>
        <p:spPr>
          <a:xfrm>
            <a:off x="777240" y="4416552"/>
            <a:ext cx="5486400" cy="137160"/>
          </a:xfrm>
          <a:prstGeom prst="roundRect">
            <a:avLst>
              <a:gd name="adj" fmla="val 50000"/>
            </a:avLst>
          </a:prstGeom>
          <a:solidFill>
            <a:srgbClr val="EDE4D4"/>
          </a:solidFill>
          <a:ln w="12700">
            <a:solidFill>
              <a:srgbClr val="333333"/>
            </a:solidFill>
            <a:prstDash val="solid"/>
          </a:ln>
        </p:spPr>
      </p:sp>
      <p:sp>
        <p:nvSpPr>
          <p:cNvPr id="24" name="Shape 21"/>
          <p:cNvSpPr/>
          <p:nvPr/>
        </p:nvSpPr>
        <p:spPr>
          <a:xfrm>
            <a:off x="777240" y="4416552"/>
            <a:ext cx="4937760" cy="137160"/>
          </a:xfrm>
          <a:prstGeom prst="roundRect">
            <a:avLst>
              <a:gd name="adj" fmla="val 50000"/>
            </a:avLst>
          </a:prstGeom>
          <a:solidFill>
            <a:srgbClr val="3A5D97"/>
          </a:solidFill>
          <a:ln w="12700">
            <a:solidFill>
              <a:srgbClr val="333333"/>
            </a:solidFill>
            <a:prstDash val="solid"/>
          </a:ln>
        </p:spPr>
      </p:sp>
      <p:sp>
        <p:nvSpPr>
          <p:cNvPr id="25" name="Text 22"/>
          <p:cNvSpPr/>
          <p:nvPr/>
        </p:nvSpPr>
        <p:spPr>
          <a:xfrm>
            <a:off x="777240" y="4672584"/>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Value-Added · 29%</a:t>
            </a:r>
            <a:endParaRPr lang="en-US" sz="950" dirty="0"/>
          </a:p>
        </p:txBody>
      </p:sp>
      <p:sp>
        <p:nvSpPr>
          <p:cNvPr id="26" name="Text 23"/>
          <p:cNvSpPr/>
          <p:nvPr/>
        </p:nvSpPr>
        <p:spPr>
          <a:xfrm>
            <a:off x="4526280" y="4672584"/>
            <a:ext cx="1737360" cy="201168"/>
          </a:xfrm>
          <a:prstGeom prst="rect">
            <a:avLst/>
          </a:prstGeom>
          <a:noFill/>
          <a:ln/>
        </p:spPr>
        <p:txBody>
          <a:bodyPr wrap="square" lIns="0" tIns="0" rIns="0" bIns="0" rtlCol="0" anchor="ctr"/>
          <a:lstStyle/>
          <a:p>
            <a:pPr algn="r" indent="0" marL="0">
              <a:buNone/>
            </a:pPr>
            <a:r>
              <a:rPr lang="en-US" sz="1000" b="1" dirty="0">
                <a:solidFill>
                  <a:srgbClr val="177A46"/>
                </a:solidFill>
                <a:latin typeface="Nunito Sans" pitchFamily="34" charset="0"/>
                <a:ea typeface="Nunito Sans" pitchFamily="34" charset="-122"/>
                <a:cs typeface="Nunito Sans" pitchFamily="34" charset="-120"/>
              </a:rPr>
              <a:t>₹26.0 Cr · +219%</a:t>
            </a:r>
            <a:endParaRPr lang="en-US" sz="1000" dirty="0"/>
          </a:p>
        </p:txBody>
      </p:sp>
      <p:sp>
        <p:nvSpPr>
          <p:cNvPr id="27" name="Shape 24"/>
          <p:cNvSpPr/>
          <p:nvPr/>
        </p:nvSpPr>
        <p:spPr>
          <a:xfrm>
            <a:off x="777240" y="4892040"/>
            <a:ext cx="5486400" cy="137160"/>
          </a:xfrm>
          <a:prstGeom prst="roundRect">
            <a:avLst>
              <a:gd name="adj" fmla="val 50000"/>
            </a:avLst>
          </a:prstGeom>
          <a:solidFill>
            <a:srgbClr val="EDE4D4"/>
          </a:solidFill>
          <a:ln w="12700">
            <a:solidFill>
              <a:srgbClr val="333333"/>
            </a:solidFill>
            <a:prstDash val="solid"/>
          </a:ln>
        </p:spPr>
      </p:sp>
      <p:sp>
        <p:nvSpPr>
          <p:cNvPr id="28" name="Shape 25"/>
          <p:cNvSpPr/>
          <p:nvPr/>
        </p:nvSpPr>
        <p:spPr>
          <a:xfrm>
            <a:off x="777240" y="4892040"/>
            <a:ext cx="2547257" cy="137160"/>
          </a:xfrm>
          <a:prstGeom prst="roundRect">
            <a:avLst>
              <a:gd name="adj" fmla="val 50000"/>
            </a:avLst>
          </a:prstGeom>
          <a:solidFill>
            <a:srgbClr val="177A46"/>
          </a:solidFill>
          <a:ln w="12700">
            <a:solidFill>
              <a:srgbClr val="333333"/>
            </a:solidFill>
            <a:prstDash val="solid"/>
          </a:ln>
        </p:spPr>
      </p:sp>
      <p:sp>
        <p:nvSpPr>
          <p:cNvPr id="29" name="Text 26"/>
          <p:cNvSpPr/>
          <p:nvPr/>
        </p:nvSpPr>
        <p:spPr>
          <a:xfrm>
            <a:off x="777240" y="5148072"/>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Spices · 12%</a:t>
            </a:r>
            <a:endParaRPr lang="en-US" sz="950" dirty="0"/>
          </a:p>
        </p:txBody>
      </p:sp>
      <p:sp>
        <p:nvSpPr>
          <p:cNvPr id="30" name="Text 27"/>
          <p:cNvSpPr/>
          <p:nvPr/>
        </p:nvSpPr>
        <p:spPr>
          <a:xfrm>
            <a:off x="4526280" y="5148072"/>
            <a:ext cx="1737360" cy="201168"/>
          </a:xfrm>
          <a:prstGeom prst="rect">
            <a:avLst/>
          </a:prstGeom>
          <a:noFill/>
          <a:ln/>
        </p:spPr>
        <p:txBody>
          <a:bodyPr wrap="square" lIns="0" tIns="0" rIns="0" bIns="0" rtlCol="0" anchor="ctr"/>
          <a:lstStyle/>
          <a:p>
            <a:pPr algn="r" indent="0" marL="0">
              <a:buNone/>
            </a:pPr>
            <a:r>
              <a:rPr lang="en-US" sz="1000" b="1" dirty="0">
                <a:solidFill>
                  <a:srgbClr val="C8922E"/>
                </a:solidFill>
                <a:latin typeface="Nunito Sans" pitchFamily="34" charset="0"/>
                <a:ea typeface="Nunito Sans" pitchFamily="34" charset="-122"/>
                <a:cs typeface="Nunito Sans" pitchFamily="34" charset="-120"/>
              </a:rPr>
              <a:t>₹10.9 Cr · +185%</a:t>
            </a:r>
            <a:endParaRPr lang="en-US" sz="1000" dirty="0"/>
          </a:p>
        </p:txBody>
      </p:sp>
      <p:sp>
        <p:nvSpPr>
          <p:cNvPr id="31" name="Shape 28"/>
          <p:cNvSpPr/>
          <p:nvPr/>
        </p:nvSpPr>
        <p:spPr>
          <a:xfrm>
            <a:off x="777240" y="5367528"/>
            <a:ext cx="5486400" cy="137160"/>
          </a:xfrm>
          <a:prstGeom prst="roundRect">
            <a:avLst>
              <a:gd name="adj" fmla="val 50000"/>
            </a:avLst>
          </a:prstGeom>
          <a:solidFill>
            <a:srgbClr val="EDE4D4"/>
          </a:solidFill>
          <a:ln w="12700">
            <a:solidFill>
              <a:srgbClr val="333333"/>
            </a:solidFill>
            <a:prstDash val="solid"/>
          </a:ln>
        </p:spPr>
      </p:sp>
      <p:sp>
        <p:nvSpPr>
          <p:cNvPr id="32" name="Shape 29"/>
          <p:cNvSpPr/>
          <p:nvPr/>
        </p:nvSpPr>
        <p:spPr>
          <a:xfrm>
            <a:off x="777240" y="5367528"/>
            <a:ext cx="1067889" cy="137160"/>
          </a:xfrm>
          <a:prstGeom prst="roundRect">
            <a:avLst>
              <a:gd name="adj" fmla="val 50000"/>
            </a:avLst>
          </a:prstGeom>
          <a:solidFill>
            <a:srgbClr val="C8922E"/>
          </a:solidFill>
          <a:ln w="12700">
            <a:solidFill>
              <a:srgbClr val="333333"/>
            </a:solidFill>
            <a:prstDash val="solid"/>
          </a:ln>
        </p:spPr>
      </p:sp>
      <p:sp>
        <p:nvSpPr>
          <p:cNvPr id="33" name="Text 30"/>
          <p:cNvSpPr/>
          <p:nvPr/>
        </p:nvSpPr>
        <p:spPr>
          <a:xfrm>
            <a:off x="777240" y="5623560"/>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Oil &amp; Ghee · 1%</a:t>
            </a:r>
            <a:endParaRPr lang="en-US" sz="950" dirty="0"/>
          </a:p>
        </p:txBody>
      </p:sp>
      <p:sp>
        <p:nvSpPr>
          <p:cNvPr id="34" name="Text 31"/>
          <p:cNvSpPr/>
          <p:nvPr/>
        </p:nvSpPr>
        <p:spPr>
          <a:xfrm>
            <a:off x="4526280" y="5623560"/>
            <a:ext cx="1737360" cy="201168"/>
          </a:xfrm>
          <a:prstGeom prst="rect">
            <a:avLst/>
          </a:prstGeom>
          <a:noFill/>
          <a:ln/>
        </p:spPr>
        <p:txBody>
          <a:bodyPr wrap="square" lIns="0" tIns="0" rIns="0" bIns="0" rtlCol="0" anchor="ctr"/>
          <a:lstStyle/>
          <a:p>
            <a:pPr algn="r" indent="0" marL="0">
              <a:buNone/>
            </a:pPr>
            <a:r>
              <a:rPr lang="en-US" sz="1000" b="1" dirty="0">
                <a:solidFill>
                  <a:srgbClr val="B5AD9C"/>
                </a:solidFill>
                <a:latin typeface="Nunito Sans" pitchFamily="34" charset="0"/>
                <a:ea typeface="Nunito Sans" pitchFamily="34" charset="-122"/>
                <a:cs typeface="Nunito Sans" pitchFamily="34" charset="-120"/>
              </a:rPr>
              <a:t>₹0.8 Cr</a:t>
            </a:r>
            <a:endParaRPr lang="en-US" sz="1000" dirty="0"/>
          </a:p>
        </p:txBody>
      </p:sp>
      <p:sp>
        <p:nvSpPr>
          <p:cNvPr id="35" name="Shape 32"/>
          <p:cNvSpPr/>
          <p:nvPr/>
        </p:nvSpPr>
        <p:spPr>
          <a:xfrm>
            <a:off x="777240" y="5843016"/>
            <a:ext cx="5486400" cy="137160"/>
          </a:xfrm>
          <a:prstGeom prst="roundRect">
            <a:avLst>
              <a:gd name="adj" fmla="val 50000"/>
            </a:avLst>
          </a:prstGeom>
          <a:solidFill>
            <a:srgbClr val="EDE4D4"/>
          </a:solidFill>
          <a:ln w="12700">
            <a:solidFill>
              <a:srgbClr val="333333"/>
            </a:solidFill>
            <a:prstDash val="solid"/>
          </a:ln>
        </p:spPr>
      </p:sp>
      <p:sp>
        <p:nvSpPr>
          <p:cNvPr id="36" name="Shape 33"/>
          <p:cNvSpPr/>
          <p:nvPr/>
        </p:nvSpPr>
        <p:spPr>
          <a:xfrm>
            <a:off x="777240" y="5843016"/>
            <a:ext cx="78377" cy="137160"/>
          </a:xfrm>
          <a:prstGeom prst="roundRect">
            <a:avLst>
              <a:gd name="adj" fmla="val 87500"/>
            </a:avLst>
          </a:prstGeom>
          <a:solidFill>
            <a:srgbClr val="B5AD9C"/>
          </a:solidFill>
          <a:ln w="12700">
            <a:solidFill>
              <a:srgbClr val="333333"/>
            </a:solidFill>
            <a:prstDash val="solid"/>
          </a:ln>
        </p:spPr>
      </p:sp>
      <p:sp>
        <p:nvSpPr>
          <p:cNvPr id="37" name="Text 34"/>
          <p:cNvSpPr/>
          <p:nvPr/>
        </p:nvSpPr>
        <p:spPr>
          <a:xfrm>
            <a:off x="6812280" y="3694176"/>
            <a:ext cx="4876495"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THREE TENSION POINTS THAT DECIDE THE STRATEGY</a:t>
            </a:r>
            <a:endParaRPr lang="en-US" sz="950" dirty="0"/>
          </a:p>
        </p:txBody>
      </p:sp>
      <p:sp>
        <p:nvSpPr>
          <p:cNvPr id="38" name="Shape 35"/>
          <p:cNvSpPr/>
          <p:nvPr/>
        </p:nvSpPr>
        <p:spPr>
          <a:xfrm>
            <a:off x="6812280" y="3986784"/>
            <a:ext cx="4876495" cy="694944"/>
          </a:xfrm>
          <a:prstGeom prst="roundRect">
            <a:avLst>
              <a:gd name="adj" fmla="val 6579"/>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39" name="Shape 36"/>
          <p:cNvSpPr/>
          <p:nvPr/>
        </p:nvSpPr>
        <p:spPr>
          <a:xfrm>
            <a:off x="6812280" y="3986784"/>
            <a:ext cx="41148" cy="694944"/>
          </a:xfrm>
          <a:prstGeom prst="rect">
            <a:avLst/>
          </a:prstGeom>
          <a:solidFill>
            <a:srgbClr val="9E3A24"/>
          </a:solidFill>
          <a:ln w="12700">
            <a:solidFill>
              <a:srgbClr val="333333"/>
            </a:solidFill>
            <a:prstDash val="solid"/>
          </a:ln>
        </p:spPr>
      </p:sp>
      <p:sp>
        <p:nvSpPr>
          <p:cNvPr id="40" name="Text 37"/>
          <p:cNvSpPr/>
          <p:nvPr/>
        </p:nvSpPr>
        <p:spPr>
          <a:xfrm>
            <a:off x="6995160" y="4059936"/>
            <a:ext cx="4510735" cy="292608"/>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01  Revenue is anchored in the slowest-growing, lowest-margin block.</a:t>
            </a:r>
            <a:endParaRPr lang="en-US" sz="950" dirty="0"/>
          </a:p>
        </p:txBody>
      </p:sp>
      <p:sp>
        <p:nvSpPr>
          <p:cNvPr id="41" name="Text 38"/>
          <p:cNvSpPr/>
          <p:nvPr/>
        </p:nvSpPr>
        <p:spPr>
          <a:xfrm>
            <a:off x="6995160" y="4352544"/>
            <a:ext cx="4510735" cy="292608"/>
          </a:xfrm>
          <a:prstGeom prst="rect">
            <a:avLst/>
          </a:prstGeom>
          <a:noFill/>
          <a:ln/>
        </p:spPr>
        <p:txBody>
          <a:bodyPr wrap="square" lIns="0" tIns="0" rIns="0" bIns="0" rtlCol="0" anchor="t"/>
          <a:lstStyle/>
          <a:p>
            <a:pPr indent="0" marL="0">
              <a:lnSpc>
                <a:spcPct val="106000"/>
              </a:lnSpc>
              <a:buNone/>
            </a:pPr>
            <a:r>
              <a:rPr lang="en-US" sz="850" dirty="0">
                <a:solidFill>
                  <a:srgbClr val="54606F"/>
                </a:solidFill>
                <a:latin typeface="Nunito Sans" pitchFamily="34" charset="0"/>
                <a:ea typeface="Nunito Sans" pitchFamily="34" charset="-122"/>
                <a:cs typeface="Nunito Sans" pitchFamily="34" charset="-120"/>
              </a:rPr>
              <a:t>Pulses are 56% of revenue and grow below the portfolio average.</a:t>
            </a:r>
            <a:endParaRPr lang="en-US" sz="850" dirty="0"/>
          </a:p>
        </p:txBody>
      </p:sp>
      <p:sp>
        <p:nvSpPr>
          <p:cNvPr id="42" name="Shape 39"/>
          <p:cNvSpPr/>
          <p:nvPr/>
        </p:nvSpPr>
        <p:spPr>
          <a:xfrm>
            <a:off x="6812280" y="4773168"/>
            <a:ext cx="4876495" cy="694944"/>
          </a:xfrm>
          <a:prstGeom prst="roundRect">
            <a:avLst>
              <a:gd name="adj" fmla="val 6579"/>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43" name="Shape 40"/>
          <p:cNvSpPr/>
          <p:nvPr/>
        </p:nvSpPr>
        <p:spPr>
          <a:xfrm>
            <a:off x="6812280" y="4773168"/>
            <a:ext cx="41148" cy="694944"/>
          </a:xfrm>
          <a:prstGeom prst="rect">
            <a:avLst/>
          </a:prstGeom>
          <a:solidFill>
            <a:srgbClr val="9E3A24"/>
          </a:solidFill>
          <a:ln w="12700">
            <a:solidFill>
              <a:srgbClr val="333333"/>
            </a:solidFill>
            <a:prstDash val="solid"/>
          </a:ln>
        </p:spPr>
      </p:sp>
      <p:sp>
        <p:nvSpPr>
          <p:cNvPr id="44" name="Text 41"/>
          <p:cNvSpPr/>
          <p:nvPr/>
        </p:nvSpPr>
        <p:spPr>
          <a:xfrm>
            <a:off x="6995160" y="4846320"/>
            <a:ext cx="4510735" cy="292608"/>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02  Realisation is falling while volume rises.</a:t>
            </a:r>
            <a:endParaRPr lang="en-US" sz="950" dirty="0"/>
          </a:p>
        </p:txBody>
      </p:sp>
      <p:sp>
        <p:nvSpPr>
          <p:cNvPr id="45" name="Text 42"/>
          <p:cNvSpPr/>
          <p:nvPr/>
        </p:nvSpPr>
        <p:spPr>
          <a:xfrm>
            <a:off x="6995160" y="5138928"/>
            <a:ext cx="4510735" cy="292608"/>
          </a:xfrm>
          <a:prstGeom prst="rect">
            <a:avLst/>
          </a:prstGeom>
          <a:noFill/>
          <a:ln/>
        </p:spPr>
        <p:txBody>
          <a:bodyPr wrap="square" lIns="0" tIns="0" rIns="0" bIns="0" rtlCol="0" anchor="t"/>
          <a:lstStyle/>
          <a:p>
            <a:pPr indent="0" marL="0">
              <a:lnSpc>
                <a:spcPct val="106000"/>
              </a:lnSpc>
              <a:buNone/>
            </a:pPr>
            <a:r>
              <a:rPr lang="en-US" sz="850" dirty="0">
                <a:solidFill>
                  <a:srgbClr val="54606F"/>
                </a:solidFill>
                <a:latin typeface="Nunito Sans" pitchFamily="34" charset="0"/>
                <a:ea typeface="Nunito Sans" pitchFamily="34" charset="-122"/>
                <a:cs typeface="Nunito Sans" pitchFamily="34" charset="-120"/>
              </a:rPr>
              <a:t>Revenue per MT fell 4.3% in FY26-H2; a margin warning masked by tonnage.</a:t>
            </a:r>
            <a:endParaRPr lang="en-US" sz="850" dirty="0"/>
          </a:p>
        </p:txBody>
      </p:sp>
      <p:sp>
        <p:nvSpPr>
          <p:cNvPr id="46" name="Shape 43"/>
          <p:cNvSpPr/>
          <p:nvPr/>
        </p:nvSpPr>
        <p:spPr>
          <a:xfrm>
            <a:off x="6812280" y="5559552"/>
            <a:ext cx="4876495" cy="694944"/>
          </a:xfrm>
          <a:prstGeom prst="roundRect">
            <a:avLst>
              <a:gd name="adj" fmla="val 6579"/>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47" name="Shape 44"/>
          <p:cNvSpPr/>
          <p:nvPr/>
        </p:nvSpPr>
        <p:spPr>
          <a:xfrm>
            <a:off x="6812280" y="5559552"/>
            <a:ext cx="41148" cy="694944"/>
          </a:xfrm>
          <a:prstGeom prst="rect">
            <a:avLst/>
          </a:prstGeom>
          <a:solidFill>
            <a:srgbClr val="9E3A24"/>
          </a:solidFill>
          <a:ln w="12700">
            <a:solidFill>
              <a:srgbClr val="333333"/>
            </a:solidFill>
            <a:prstDash val="solid"/>
          </a:ln>
        </p:spPr>
      </p:sp>
      <p:sp>
        <p:nvSpPr>
          <p:cNvPr id="48" name="Text 45"/>
          <p:cNvSpPr/>
          <p:nvPr/>
        </p:nvSpPr>
        <p:spPr>
          <a:xfrm>
            <a:off x="6995160" y="5632704"/>
            <a:ext cx="4510735" cy="292608"/>
          </a:xfrm>
          <a:prstGeom prst="rect">
            <a:avLst/>
          </a:prstGeom>
          <a:noFill/>
          <a:ln/>
        </p:spPr>
        <p:txBody>
          <a:bodyPr wrap="square" lIns="0" tIns="0" rIns="0" bIns="0" rtlCol="0" anchor="t"/>
          <a:lstStyle/>
          <a:p>
            <a:pPr indent="0" marL="0">
              <a:lnSpc>
                <a:spcPct val="102000"/>
              </a:lnSpc>
              <a:buNone/>
            </a:pPr>
            <a:r>
              <a:rPr lang="en-US" sz="950" b="1" dirty="0">
                <a:solidFill>
                  <a:srgbClr val="0C1A2B"/>
                </a:solidFill>
                <a:latin typeface="Nunito Sans" pitchFamily="34" charset="0"/>
                <a:ea typeface="Nunito Sans" pitchFamily="34" charset="-122"/>
                <a:cs typeface="Nunito Sans" pitchFamily="34" charset="-120"/>
              </a:rPr>
              <a:t>03  Proof is asserted, not demonstrated.</a:t>
            </a:r>
            <a:endParaRPr lang="en-US" sz="950" dirty="0"/>
          </a:p>
        </p:txBody>
      </p:sp>
      <p:sp>
        <p:nvSpPr>
          <p:cNvPr id="49" name="Text 46"/>
          <p:cNvSpPr/>
          <p:nvPr/>
        </p:nvSpPr>
        <p:spPr>
          <a:xfrm>
            <a:off x="6995160" y="5925312"/>
            <a:ext cx="4510735" cy="292608"/>
          </a:xfrm>
          <a:prstGeom prst="rect">
            <a:avLst/>
          </a:prstGeom>
          <a:noFill/>
          <a:ln/>
        </p:spPr>
        <p:txBody>
          <a:bodyPr wrap="square" lIns="0" tIns="0" rIns="0" bIns="0" rtlCol="0" anchor="t"/>
          <a:lstStyle/>
          <a:p>
            <a:pPr indent="0" marL="0">
              <a:lnSpc>
                <a:spcPct val="106000"/>
              </a:lnSpc>
              <a:buNone/>
            </a:pPr>
            <a:r>
              <a:rPr lang="en-US" sz="850" dirty="0">
                <a:solidFill>
                  <a:srgbClr val="54606F"/>
                </a:solidFill>
                <a:latin typeface="Nunito Sans" pitchFamily="34" charset="0"/>
                <a:ea typeface="Nunito Sans" pitchFamily="34" charset="-122"/>
                <a:cs typeface="Nunito Sans" pitchFamily="34" charset="-120"/>
              </a:rPr>
              <a:t>Seven simultaneous taglines, no hierarchy, and "230+ quality checks" stated but never explained.</a:t>
            </a:r>
            <a:endParaRPr lang="en-US" sz="850" dirty="0"/>
          </a:p>
        </p:txBody>
      </p:sp>
      <p:sp>
        <p:nvSpPr>
          <p:cNvPr id="50" name="Shape 47"/>
          <p:cNvSpPr/>
          <p:nvPr/>
        </p:nvSpPr>
        <p:spPr>
          <a:xfrm>
            <a:off x="502920" y="6455664"/>
            <a:ext cx="11185855" cy="0"/>
          </a:xfrm>
          <a:prstGeom prst="line">
            <a:avLst/>
          </a:prstGeom>
          <a:noFill/>
          <a:ln w="9525">
            <a:solidFill>
              <a:srgbClr val="E5DCCB"/>
            </a:solidFill>
            <a:prstDash val="solid"/>
          </a:ln>
        </p:spPr>
      </p:sp>
      <p:sp>
        <p:nvSpPr>
          <p:cNvPr id="51" name="Text 48"/>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05 · THE GROWTH ENGINE</a:t>
            </a:r>
            <a:endParaRPr lang="en-US" sz="800" dirty="0"/>
          </a:p>
        </p:txBody>
      </p:sp>
      <p:sp>
        <p:nvSpPr>
          <p:cNvPr id="52" name="Text 49"/>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31</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159813"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159813"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THE GROWTH AMBITION</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₹53 Cr today. ₹748 Cr by FY31.</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Fourteen times the base in five years — built bottom-up from SKU, channel and city plans rather than a top-down multiple.</a:t>
            </a:r>
            <a:endParaRPr lang="en-US" sz="1100" dirty="0"/>
          </a:p>
        </p:txBody>
      </p:sp>
      <p:sp>
        <p:nvSpPr>
          <p:cNvPr id="7" name="Shape 4"/>
          <p:cNvSpPr/>
          <p:nvPr/>
        </p:nvSpPr>
        <p:spPr>
          <a:xfrm>
            <a:off x="502920" y="2121408"/>
            <a:ext cx="7315200" cy="3840480"/>
          </a:xfrm>
          <a:prstGeom prst="roundRect">
            <a:avLst>
              <a:gd name="adj" fmla="val 2381"/>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8" name="Text 5"/>
          <p:cNvSpPr/>
          <p:nvPr/>
        </p:nvSpPr>
        <p:spPr>
          <a:xfrm>
            <a:off x="777240" y="2304288"/>
            <a:ext cx="45720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NET REVENUE, ₹ CR</a:t>
            </a:r>
            <a:endParaRPr lang="en-US" sz="950" dirty="0"/>
          </a:p>
        </p:txBody>
      </p:sp>
      <p:sp>
        <p:nvSpPr>
          <p:cNvPr id="9" name="Shape 6"/>
          <p:cNvSpPr/>
          <p:nvPr/>
        </p:nvSpPr>
        <p:spPr>
          <a:xfrm>
            <a:off x="868680" y="4796028"/>
            <a:ext cx="6583680" cy="0"/>
          </a:xfrm>
          <a:prstGeom prst="line">
            <a:avLst/>
          </a:prstGeom>
          <a:noFill/>
          <a:ln w="6350">
            <a:solidFill>
              <a:srgbClr val="E5DCCB"/>
            </a:solidFill>
            <a:prstDash val="sysDot"/>
          </a:ln>
        </p:spPr>
      </p:sp>
      <p:sp>
        <p:nvSpPr>
          <p:cNvPr id="10" name="Shape 7"/>
          <p:cNvSpPr/>
          <p:nvPr/>
        </p:nvSpPr>
        <p:spPr>
          <a:xfrm>
            <a:off x="868680" y="4178808"/>
            <a:ext cx="6583680" cy="0"/>
          </a:xfrm>
          <a:prstGeom prst="line">
            <a:avLst/>
          </a:prstGeom>
          <a:noFill/>
          <a:ln w="6350">
            <a:solidFill>
              <a:srgbClr val="E5DCCB"/>
            </a:solidFill>
            <a:prstDash val="sysDot"/>
          </a:ln>
        </p:spPr>
      </p:sp>
      <p:sp>
        <p:nvSpPr>
          <p:cNvPr id="11" name="Shape 8"/>
          <p:cNvSpPr/>
          <p:nvPr/>
        </p:nvSpPr>
        <p:spPr>
          <a:xfrm>
            <a:off x="868680" y="3561588"/>
            <a:ext cx="6583680" cy="0"/>
          </a:xfrm>
          <a:prstGeom prst="line">
            <a:avLst/>
          </a:prstGeom>
          <a:noFill/>
          <a:ln w="6350">
            <a:solidFill>
              <a:srgbClr val="E5DCCB"/>
            </a:solidFill>
            <a:prstDash val="sysDot"/>
          </a:ln>
        </p:spPr>
      </p:sp>
      <p:sp>
        <p:nvSpPr>
          <p:cNvPr id="12" name="Shape 9"/>
          <p:cNvSpPr/>
          <p:nvPr/>
        </p:nvSpPr>
        <p:spPr>
          <a:xfrm>
            <a:off x="868680" y="2944368"/>
            <a:ext cx="6583680" cy="0"/>
          </a:xfrm>
          <a:prstGeom prst="line">
            <a:avLst/>
          </a:prstGeom>
          <a:noFill/>
          <a:ln w="6350">
            <a:solidFill>
              <a:srgbClr val="E5DCCB"/>
            </a:solidFill>
            <a:prstDash val="sysDot"/>
          </a:ln>
        </p:spPr>
      </p:sp>
      <p:sp>
        <p:nvSpPr>
          <p:cNvPr id="13" name="Shape 10"/>
          <p:cNvSpPr/>
          <p:nvPr/>
        </p:nvSpPr>
        <p:spPr>
          <a:xfrm>
            <a:off x="868680" y="5413248"/>
            <a:ext cx="6583680" cy="0"/>
          </a:xfrm>
          <a:prstGeom prst="line">
            <a:avLst/>
          </a:prstGeom>
          <a:noFill/>
          <a:ln w="12700">
            <a:solidFill>
              <a:srgbClr val="E5DCCB"/>
            </a:solidFill>
            <a:prstDash val="solid"/>
          </a:ln>
        </p:spPr>
      </p:sp>
      <p:sp>
        <p:nvSpPr>
          <p:cNvPr id="14" name="Shape 11"/>
          <p:cNvSpPr/>
          <p:nvPr/>
        </p:nvSpPr>
        <p:spPr>
          <a:xfrm>
            <a:off x="868680" y="5255597"/>
            <a:ext cx="868680" cy="157651"/>
          </a:xfrm>
          <a:prstGeom prst="roundRect">
            <a:avLst>
              <a:gd name="adj" fmla="val 29001"/>
            </a:avLst>
          </a:prstGeom>
          <a:solidFill>
            <a:srgbClr val="6688BE"/>
          </a:solidFill>
          <a:ln w="12700">
            <a:solidFill>
              <a:srgbClr val="333333"/>
            </a:solidFill>
            <a:prstDash val="solid"/>
          </a:ln>
        </p:spPr>
      </p:sp>
      <p:sp>
        <p:nvSpPr>
          <p:cNvPr id="15" name="Text 12"/>
          <p:cNvSpPr/>
          <p:nvPr/>
        </p:nvSpPr>
        <p:spPr>
          <a:xfrm>
            <a:off x="822960" y="4981277"/>
            <a:ext cx="960120"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₹53</a:t>
            </a:r>
            <a:endParaRPr lang="en-US" sz="1050" dirty="0"/>
          </a:p>
        </p:txBody>
      </p:sp>
      <p:sp>
        <p:nvSpPr>
          <p:cNvPr id="16" name="Text 13"/>
          <p:cNvSpPr/>
          <p:nvPr/>
        </p:nvSpPr>
        <p:spPr>
          <a:xfrm>
            <a:off x="822960" y="5449824"/>
            <a:ext cx="960120" cy="27432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FY26</a:t>
            </a:r>
            <a:endParaRPr lang="en-US" sz="850" dirty="0"/>
          </a:p>
        </p:txBody>
      </p:sp>
      <p:sp>
        <p:nvSpPr>
          <p:cNvPr id="17" name="Shape 14"/>
          <p:cNvSpPr/>
          <p:nvPr/>
        </p:nvSpPr>
        <p:spPr>
          <a:xfrm>
            <a:off x="2011680" y="5103894"/>
            <a:ext cx="868680" cy="309354"/>
          </a:xfrm>
          <a:prstGeom prst="roundRect">
            <a:avLst>
              <a:gd name="adj" fmla="val 14779"/>
            </a:avLst>
          </a:prstGeom>
          <a:solidFill>
            <a:srgbClr val="6688BE"/>
          </a:solidFill>
          <a:ln w="12700">
            <a:solidFill>
              <a:srgbClr val="333333"/>
            </a:solidFill>
            <a:prstDash val="solid"/>
          </a:ln>
        </p:spPr>
      </p:sp>
      <p:sp>
        <p:nvSpPr>
          <p:cNvPr id="18" name="Text 15"/>
          <p:cNvSpPr/>
          <p:nvPr/>
        </p:nvSpPr>
        <p:spPr>
          <a:xfrm>
            <a:off x="1965960" y="4829574"/>
            <a:ext cx="960120"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₹104</a:t>
            </a:r>
            <a:endParaRPr lang="en-US" sz="1050" dirty="0"/>
          </a:p>
        </p:txBody>
      </p:sp>
      <p:sp>
        <p:nvSpPr>
          <p:cNvPr id="19" name="Text 16"/>
          <p:cNvSpPr/>
          <p:nvPr/>
        </p:nvSpPr>
        <p:spPr>
          <a:xfrm>
            <a:off x="1965960" y="5449824"/>
            <a:ext cx="960120" cy="27432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FY27</a:t>
            </a:r>
            <a:endParaRPr lang="en-US" sz="850" dirty="0"/>
          </a:p>
        </p:txBody>
      </p:sp>
      <p:sp>
        <p:nvSpPr>
          <p:cNvPr id="20" name="Shape 17"/>
          <p:cNvSpPr/>
          <p:nvPr/>
        </p:nvSpPr>
        <p:spPr>
          <a:xfrm>
            <a:off x="3154680" y="4913523"/>
            <a:ext cx="868680" cy="499725"/>
          </a:xfrm>
          <a:prstGeom prst="roundRect">
            <a:avLst>
              <a:gd name="adj" fmla="val 9149"/>
            </a:avLst>
          </a:prstGeom>
          <a:solidFill>
            <a:srgbClr val="3A5D97"/>
          </a:solidFill>
          <a:ln w="12700">
            <a:solidFill>
              <a:srgbClr val="333333"/>
            </a:solidFill>
            <a:prstDash val="solid"/>
          </a:ln>
        </p:spPr>
      </p:sp>
      <p:sp>
        <p:nvSpPr>
          <p:cNvPr id="21" name="Text 18"/>
          <p:cNvSpPr/>
          <p:nvPr/>
        </p:nvSpPr>
        <p:spPr>
          <a:xfrm>
            <a:off x="3108960" y="4639203"/>
            <a:ext cx="960120"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₹168</a:t>
            </a:r>
            <a:endParaRPr lang="en-US" sz="1050" dirty="0"/>
          </a:p>
        </p:txBody>
      </p:sp>
      <p:sp>
        <p:nvSpPr>
          <p:cNvPr id="22" name="Text 19"/>
          <p:cNvSpPr/>
          <p:nvPr/>
        </p:nvSpPr>
        <p:spPr>
          <a:xfrm>
            <a:off x="3108960" y="5449824"/>
            <a:ext cx="960120" cy="27432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FY28</a:t>
            </a:r>
            <a:endParaRPr lang="en-US" sz="850" dirty="0"/>
          </a:p>
        </p:txBody>
      </p:sp>
      <p:sp>
        <p:nvSpPr>
          <p:cNvPr id="23" name="Shape 20"/>
          <p:cNvSpPr/>
          <p:nvPr/>
        </p:nvSpPr>
        <p:spPr>
          <a:xfrm>
            <a:off x="4297680" y="4598220"/>
            <a:ext cx="868680" cy="815028"/>
          </a:xfrm>
          <a:prstGeom prst="roundRect">
            <a:avLst>
              <a:gd name="adj" fmla="val 5610"/>
            </a:avLst>
          </a:prstGeom>
          <a:solidFill>
            <a:srgbClr val="2FA362"/>
          </a:solidFill>
          <a:ln w="12700">
            <a:solidFill>
              <a:srgbClr val="333333"/>
            </a:solidFill>
            <a:prstDash val="solid"/>
          </a:ln>
        </p:spPr>
      </p:sp>
      <p:sp>
        <p:nvSpPr>
          <p:cNvPr id="24" name="Text 21"/>
          <p:cNvSpPr/>
          <p:nvPr/>
        </p:nvSpPr>
        <p:spPr>
          <a:xfrm>
            <a:off x="4251960" y="4323900"/>
            <a:ext cx="960120"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₹274</a:t>
            </a:r>
            <a:endParaRPr lang="en-US" sz="1050" dirty="0"/>
          </a:p>
        </p:txBody>
      </p:sp>
      <p:sp>
        <p:nvSpPr>
          <p:cNvPr id="25" name="Text 22"/>
          <p:cNvSpPr/>
          <p:nvPr/>
        </p:nvSpPr>
        <p:spPr>
          <a:xfrm>
            <a:off x="4251960" y="5449824"/>
            <a:ext cx="960120" cy="27432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FY29</a:t>
            </a:r>
            <a:endParaRPr lang="en-US" sz="850" dirty="0"/>
          </a:p>
        </p:txBody>
      </p:sp>
      <p:sp>
        <p:nvSpPr>
          <p:cNvPr id="26" name="Shape 23"/>
          <p:cNvSpPr/>
          <p:nvPr/>
        </p:nvSpPr>
        <p:spPr>
          <a:xfrm>
            <a:off x="5440680" y="4074699"/>
            <a:ext cx="868680" cy="1338549"/>
          </a:xfrm>
          <a:prstGeom prst="roundRect">
            <a:avLst>
              <a:gd name="adj" fmla="val 5263"/>
            </a:avLst>
          </a:prstGeom>
          <a:solidFill>
            <a:srgbClr val="2FA362"/>
          </a:solidFill>
          <a:ln w="12700">
            <a:solidFill>
              <a:srgbClr val="333333"/>
            </a:solidFill>
            <a:prstDash val="solid"/>
          </a:ln>
        </p:spPr>
      </p:sp>
      <p:sp>
        <p:nvSpPr>
          <p:cNvPr id="27" name="Text 24"/>
          <p:cNvSpPr/>
          <p:nvPr/>
        </p:nvSpPr>
        <p:spPr>
          <a:xfrm>
            <a:off x="5394960" y="3800379"/>
            <a:ext cx="960120"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₹450</a:t>
            </a:r>
            <a:endParaRPr lang="en-US" sz="1050" dirty="0"/>
          </a:p>
        </p:txBody>
      </p:sp>
      <p:sp>
        <p:nvSpPr>
          <p:cNvPr id="28" name="Text 25"/>
          <p:cNvSpPr/>
          <p:nvPr/>
        </p:nvSpPr>
        <p:spPr>
          <a:xfrm>
            <a:off x="5394960" y="5449824"/>
            <a:ext cx="960120" cy="27432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FY30</a:t>
            </a:r>
            <a:endParaRPr lang="en-US" sz="850" dirty="0"/>
          </a:p>
        </p:txBody>
      </p:sp>
      <p:sp>
        <p:nvSpPr>
          <p:cNvPr id="29" name="Shape 26"/>
          <p:cNvSpPr/>
          <p:nvPr/>
        </p:nvSpPr>
        <p:spPr>
          <a:xfrm>
            <a:off x="6583680" y="3188281"/>
            <a:ext cx="868680" cy="2224967"/>
          </a:xfrm>
          <a:prstGeom prst="roundRect">
            <a:avLst>
              <a:gd name="adj" fmla="val 5263"/>
            </a:avLst>
          </a:prstGeom>
          <a:solidFill>
            <a:srgbClr val="177A46"/>
          </a:solidFill>
          <a:ln w="12700">
            <a:solidFill>
              <a:srgbClr val="333333"/>
            </a:solidFill>
            <a:prstDash val="solid"/>
          </a:ln>
        </p:spPr>
      </p:sp>
      <p:sp>
        <p:nvSpPr>
          <p:cNvPr id="30" name="Text 27"/>
          <p:cNvSpPr/>
          <p:nvPr/>
        </p:nvSpPr>
        <p:spPr>
          <a:xfrm>
            <a:off x="6537960" y="2913961"/>
            <a:ext cx="960120" cy="237744"/>
          </a:xfrm>
          <a:prstGeom prst="rect">
            <a:avLst/>
          </a:prstGeom>
          <a:noFill/>
          <a:ln/>
        </p:spPr>
        <p:txBody>
          <a:bodyPr wrap="square" lIns="0" tIns="0" rIns="0" bIns="0" rtlCol="0" anchor="b"/>
          <a:lstStyle/>
          <a:p>
            <a:pPr algn="ctr" indent="0" marL="0">
              <a:buNone/>
            </a:pPr>
            <a:r>
              <a:rPr lang="en-US" sz="1050" b="1" dirty="0">
                <a:solidFill>
                  <a:srgbClr val="0C1A2B"/>
                </a:solidFill>
                <a:latin typeface="Nunito Sans" pitchFamily="34" charset="0"/>
                <a:ea typeface="Nunito Sans" pitchFamily="34" charset="-122"/>
                <a:cs typeface="Nunito Sans" pitchFamily="34" charset="-120"/>
              </a:rPr>
              <a:t>₹748</a:t>
            </a:r>
            <a:endParaRPr lang="en-US" sz="1050" dirty="0"/>
          </a:p>
        </p:txBody>
      </p:sp>
      <p:sp>
        <p:nvSpPr>
          <p:cNvPr id="31" name="Text 28"/>
          <p:cNvSpPr/>
          <p:nvPr/>
        </p:nvSpPr>
        <p:spPr>
          <a:xfrm>
            <a:off x="6537960" y="5449824"/>
            <a:ext cx="960120" cy="274320"/>
          </a:xfrm>
          <a:prstGeom prst="rect">
            <a:avLst/>
          </a:prstGeom>
          <a:noFill/>
          <a:ln/>
        </p:spPr>
        <p:txBody>
          <a:bodyPr wrap="square" lIns="0" tIns="0" rIns="0" bIns="0" rtlCol="0" anchor="t"/>
          <a:lstStyle/>
          <a:p>
            <a:pPr algn="ctr" indent="0" marL="0">
              <a:lnSpc>
                <a:spcPct val="100000"/>
              </a:lnSpc>
              <a:buNone/>
            </a:pPr>
            <a:r>
              <a:rPr lang="en-US" sz="850" dirty="0">
                <a:solidFill>
                  <a:srgbClr val="54606F"/>
                </a:solidFill>
                <a:latin typeface="Nunito Sans" pitchFamily="34" charset="0"/>
                <a:ea typeface="Nunito Sans" pitchFamily="34" charset="-122"/>
                <a:cs typeface="Nunito Sans" pitchFamily="34" charset="-120"/>
              </a:rPr>
              <a:t>FY31</a:t>
            </a:r>
            <a:endParaRPr lang="en-US" sz="850" dirty="0"/>
          </a:p>
        </p:txBody>
      </p:sp>
      <p:sp>
        <p:nvSpPr>
          <p:cNvPr id="32" name="Shape 29"/>
          <p:cNvSpPr/>
          <p:nvPr/>
        </p:nvSpPr>
        <p:spPr>
          <a:xfrm>
            <a:off x="8092440" y="2121408"/>
            <a:ext cx="3596335" cy="0"/>
          </a:xfrm>
          <a:prstGeom prst="line">
            <a:avLst/>
          </a:prstGeom>
          <a:noFill/>
          <a:ln w="25400">
            <a:solidFill>
              <a:srgbClr val="177A46"/>
            </a:solidFill>
            <a:prstDash val="solid"/>
          </a:ln>
        </p:spPr>
      </p:sp>
      <p:sp>
        <p:nvSpPr>
          <p:cNvPr id="33" name="Text 30"/>
          <p:cNvSpPr/>
          <p:nvPr/>
        </p:nvSpPr>
        <p:spPr>
          <a:xfrm>
            <a:off x="8092440" y="2267712"/>
            <a:ext cx="3596335" cy="383032"/>
          </a:xfrm>
          <a:prstGeom prst="rect">
            <a:avLst/>
          </a:prstGeom>
          <a:noFill/>
          <a:ln/>
        </p:spPr>
        <p:txBody>
          <a:bodyPr wrap="square" lIns="0" tIns="0" rIns="0" bIns="0" rtlCol="0" anchor="t"/>
          <a:lstStyle/>
          <a:p>
            <a:pPr indent="0" marL="0">
              <a:buNone/>
            </a:pPr>
            <a:r>
              <a:rPr lang="en-US" sz="2200" dirty="0">
                <a:solidFill>
                  <a:srgbClr val="177A46"/>
                </a:solidFill>
                <a:latin typeface="Archivo Black" pitchFamily="34" charset="0"/>
                <a:ea typeface="Archivo Black" pitchFamily="34" charset="-122"/>
                <a:cs typeface="Archivo Black" pitchFamily="34" charset="-120"/>
              </a:rPr>
              <a:t>14.1×</a:t>
            </a:r>
            <a:endParaRPr lang="en-US" sz="2200" dirty="0"/>
          </a:p>
        </p:txBody>
      </p:sp>
      <p:sp>
        <p:nvSpPr>
          <p:cNvPr id="34" name="Text 31"/>
          <p:cNvSpPr/>
          <p:nvPr/>
        </p:nvSpPr>
        <p:spPr>
          <a:xfrm>
            <a:off x="8092440" y="2687320"/>
            <a:ext cx="3459175" cy="311912"/>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On the FY26 base of ₹53 Cr</a:t>
            </a:r>
            <a:endParaRPr lang="en-US" sz="850" dirty="0"/>
          </a:p>
        </p:txBody>
      </p:sp>
      <p:sp>
        <p:nvSpPr>
          <p:cNvPr id="35" name="Shape 32"/>
          <p:cNvSpPr/>
          <p:nvPr/>
        </p:nvSpPr>
        <p:spPr>
          <a:xfrm>
            <a:off x="8092440" y="3172968"/>
            <a:ext cx="3596335" cy="0"/>
          </a:xfrm>
          <a:prstGeom prst="line">
            <a:avLst/>
          </a:prstGeom>
          <a:noFill/>
          <a:ln w="25400">
            <a:solidFill>
              <a:srgbClr val="177A46"/>
            </a:solidFill>
            <a:prstDash val="solid"/>
          </a:ln>
        </p:spPr>
      </p:sp>
      <p:sp>
        <p:nvSpPr>
          <p:cNvPr id="36" name="Text 33"/>
          <p:cNvSpPr/>
          <p:nvPr/>
        </p:nvSpPr>
        <p:spPr>
          <a:xfrm>
            <a:off x="8092440" y="3319272"/>
            <a:ext cx="3596335" cy="383032"/>
          </a:xfrm>
          <a:prstGeom prst="rect">
            <a:avLst/>
          </a:prstGeom>
          <a:noFill/>
          <a:ln/>
        </p:spPr>
        <p:txBody>
          <a:bodyPr wrap="square" lIns="0" tIns="0" rIns="0" bIns="0" rtlCol="0" anchor="t"/>
          <a:lstStyle/>
          <a:p>
            <a:pPr indent="0" marL="0">
              <a:buNone/>
            </a:pPr>
            <a:r>
              <a:rPr lang="en-US" sz="2200" dirty="0">
                <a:solidFill>
                  <a:srgbClr val="177A46"/>
                </a:solidFill>
                <a:latin typeface="Archivo Black" pitchFamily="34" charset="0"/>
                <a:ea typeface="Archivo Black" pitchFamily="34" charset="-122"/>
                <a:cs typeface="Archivo Black" pitchFamily="34" charset="-120"/>
              </a:rPr>
              <a:t>64%</a:t>
            </a:r>
            <a:endParaRPr lang="en-US" sz="2200" dirty="0"/>
          </a:p>
        </p:txBody>
      </p:sp>
      <p:sp>
        <p:nvSpPr>
          <p:cNvPr id="37" name="Text 34"/>
          <p:cNvSpPr/>
          <p:nvPr/>
        </p:nvSpPr>
        <p:spPr>
          <a:xfrm>
            <a:off x="8092440" y="3738880"/>
            <a:ext cx="3459175" cy="311912"/>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Net revenue CAGR, FY27 to FY31</a:t>
            </a:r>
            <a:endParaRPr lang="en-US" sz="850" dirty="0"/>
          </a:p>
        </p:txBody>
      </p:sp>
      <p:sp>
        <p:nvSpPr>
          <p:cNvPr id="38" name="Shape 35"/>
          <p:cNvSpPr/>
          <p:nvPr/>
        </p:nvSpPr>
        <p:spPr>
          <a:xfrm>
            <a:off x="8092440" y="4224528"/>
            <a:ext cx="3596335" cy="0"/>
          </a:xfrm>
          <a:prstGeom prst="line">
            <a:avLst/>
          </a:prstGeom>
          <a:noFill/>
          <a:ln w="25400">
            <a:solidFill>
              <a:srgbClr val="177A46"/>
            </a:solidFill>
            <a:prstDash val="solid"/>
          </a:ln>
        </p:spPr>
      </p:sp>
      <p:sp>
        <p:nvSpPr>
          <p:cNvPr id="39" name="Text 36"/>
          <p:cNvSpPr/>
          <p:nvPr/>
        </p:nvSpPr>
        <p:spPr>
          <a:xfrm>
            <a:off x="8092440" y="4370832"/>
            <a:ext cx="3596335" cy="383032"/>
          </a:xfrm>
          <a:prstGeom prst="rect">
            <a:avLst/>
          </a:prstGeom>
          <a:noFill/>
          <a:ln/>
        </p:spPr>
        <p:txBody>
          <a:bodyPr wrap="square" lIns="0" tIns="0" rIns="0" bIns="0" rtlCol="0" anchor="t"/>
          <a:lstStyle/>
          <a:p>
            <a:pPr indent="0" marL="0">
              <a:buNone/>
            </a:pPr>
            <a:r>
              <a:rPr lang="en-US" sz="2200" dirty="0">
                <a:solidFill>
                  <a:srgbClr val="177A46"/>
                </a:solidFill>
                <a:latin typeface="Archivo Black" pitchFamily="34" charset="0"/>
                <a:ea typeface="Archivo Black" pitchFamily="34" charset="-122"/>
                <a:cs typeface="Archivo Black" pitchFamily="34" charset="-120"/>
              </a:rPr>
              <a:t>+5.8pp</a:t>
            </a:r>
            <a:endParaRPr lang="en-US" sz="2200" dirty="0"/>
          </a:p>
        </p:txBody>
      </p:sp>
      <p:sp>
        <p:nvSpPr>
          <p:cNvPr id="40" name="Text 37"/>
          <p:cNvSpPr/>
          <p:nvPr/>
        </p:nvSpPr>
        <p:spPr>
          <a:xfrm>
            <a:off x="8092440" y="4790440"/>
            <a:ext cx="3459175" cy="311912"/>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Gross margin, 37.5% → 43.3%</a:t>
            </a:r>
            <a:endParaRPr lang="en-US" sz="850" dirty="0"/>
          </a:p>
        </p:txBody>
      </p:sp>
      <p:pic>
        <p:nvPicPr>
          <p:cNvPr id="41" name="Image 1" descr="/home/user/hopper-tessarakt/site/assets/value-added.jpg">    </p:cNvPr>
          <p:cNvPicPr>
            <a:picLocks noChangeAspect="1"/>
          </p:cNvPicPr>
          <p:nvPr/>
        </p:nvPicPr>
        <p:blipFill>
          <a:blip r:embed="rId2"/>
          <a:srcRect l="0" r="0" t="0" b="0"/>
          <a:stretch/>
        </p:blipFill>
        <p:spPr>
          <a:xfrm>
            <a:off x="8092440" y="5321808"/>
            <a:ext cx="3596335" cy="1060704"/>
          </a:xfrm>
          <a:prstGeom prst="rect">
            <a:avLst/>
          </a:prstGeom>
        </p:spPr>
      </p:pic>
      <p:sp>
        <p:nvSpPr>
          <p:cNvPr id="42" name="Shape 38"/>
          <p:cNvSpPr/>
          <p:nvPr/>
        </p:nvSpPr>
        <p:spPr>
          <a:xfrm>
            <a:off x="502920" y="6455664"/>
            <a:ext cx="11185855" cy="0"/>
          </a:xfrm>
          <a:prstGeom prst="line">
            <a:avLst/>
          </a:prstGeom>
          <a:noFill/>
          <a:ln w="9525">
            <a:solidFill>
              <a:srgbClr val="E5DCCB"/>
            </a:solidFill>
            <a:prstDash val="solid"/>
          </a:ln>
        </p:spPr>
      </p:sp>
      <p:sp>
        <p:nvSpPr>
          <p:cNvPr id="43" name="Text 39"/>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05 · THE GROWTH ENGINE</a:t>
            </a:r>
            <a:endParaRPr lang="en-US" sz="800" dirty="0"/>
          </a:p>
        </p:txBody>
      </p:sp>
      <p:sp>
        <p:nvSpPr>
          <p:cNvPr id="44" name="Text 40"/>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32</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1890979"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1890979"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PORTFOLIO DESIGN</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Pulses hold the volume base. Spices carry the margin.</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The revenue plan and the margin plan are two different stories. Almost the entire margin expansion comes from spices — a category DHF barely sells today.</a:t>
            </a:r>
            <a:endParaRPr lang="en-US" sz="1100" dirty="0"/>
          </a:p>
        </p:txBody>
      </p:sp>
      <p:sp>
        <p:nvSpPr>
          <p:cNvPr id="7" name="Shape 4"/>
          <p:cNvSpPr/>
          <p:nvPr/>
        </p:nvSpPr>
        <p:spPr>
          <a:xfrm>
            <a:off x="502920" y="2121408"/>
            <a:ext cx="7223760" cy="3749040"/>
          </a:xfrm>
          <a:prstGeom prst="roundRect">
            <a:avLst>
              <a:gd name="adj" fmla="val 2439"/>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8" name="Text 5"/>
          <p:cNvSpPr/>
          <p:nvPr/>
        </p:nvSpPr>
        <p:spPr>
          <a:xfrm>
            <a:off x="777240" y="2304288"/>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REVENUE BY CATEGORY, ₹ CR — FY27 VS FY31</a:t>
            </a:r>
            <a:endParaRPr lang="en-US" sz="950" dirty="0"/>
          </a:p>
        </p:txBody>
      </p:sp>
      <p:sp>
        <p:nvSpPr>
          <p:cNvPr id="9" name="Shape 6"/>
          <p:cNvSpPr/>
          <p:nvPr/>
        </p:nvSpPr>
        <p:spPr>
          <a:xfrm>
            <a:off x="914400" y="5276088"/>
            <a:ext cx="6492240" cy="0"/>
          </a:xfrm>
          <a:prstGeom prst="line">
            <a:avLst/>
          </a:prstGeom>
          <a:noFill/>
          <a:ln w="9525">
            <a:solidFill>
              <a:srgbClr val="E5DCCB"/>
            </a:solidFill>
            <a:prstDash val="solid"/>
          </a:ln>
        </p:spPr>
      </p:sp>
      <p:sp>
        <p:nvSpPr>
          <p:cNvPr id="10" name="Shape 7"/>
          <p:cNvSpPr/>
          <p:nvPr/>
        </p:nvSpPr>
        <p:spPr>
          <a:xfrm>
            <a:off x="1005840" y="4827849"/>
            <a:ext cx="493776" cy="448239"/>
          </a:xfrm>
          <a:prstGeom prst="roundRect">
            <a:avLst>
              <a:gd name="adj" fmla="val 10200"/>
            </a:avLst>
          </a:prstGeom>
          <a:solidFill>
            <a:srgbClr val="6688BE"/>
          </a:solidFill>
          <a:ln w="12700">
            <a:solidFill>
              <a:srgbClr val="333333"/>
            </a:solidFill>
            <a:prstDash val="solid"/>
          </a:ln>
        </p:spPr>
      </p:sp>
      <p:sp>
        <p:nvSpPr>
          <p:cNvPr id="11" name="Text 8"/>
          <p:cNvSpPr/>
          <p:nvPr/>
        </p:nvSpPr>
        <p:spPr>
          <a:xfrm>
            <a:off x="914400" y="4590105"/>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₹43</a:t>
            </a:r>
            <a:endParaRPr lang="en-US" sz="850" dirty="0"/>
          </a:p>
        </p:txBody>
      </p:sp>
      <p:sp>
        <p:nvSpPr>
          <p:cNvPr id="12" name="Shape 9"/>
          <p:cNvSpPr/>
          <p:nvPr/>
        </p:nvSpPr>
        <p:spPr>
          <a:xfrm>
            <a:off x="1609344" y="2899380"/>
            <a:ext cx="493776" cy="2376708"/>
          </a:xfrm>
          <a:prstGeom prst="roundRect">
            <a:avLst>
              <a:gd name="adj" fmla="val 9259"/>
            </a:avLst>
          </a:prstGeom>
          <a:solidFill>
            <a:srgbClr val="177A46"/>
          </a:solidFill>
          <a:ln w="12700">
            <a:solidFill>
              <a:srgbClr val="333333"/>
            </a:solidFill>
            <a:prstDash val="solid"/>
          </a:ln>
        </p:spPr>
      </p:sp>
      <p:sp>
        <p:nvSpPr>
          <p:cNvPr id="13" name="Text 10"/>
          <p:cNvSpPr/>
          <p:nvPr/>
        </p:nvSpPr>
        <p:spPr>
          <a:xfrm>
            <a:off x="1517904" y="2661636"/>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₹228</a:t>
            </a:r>
            <a:endParaRPr lang="en-US" sz="850" dirty="0"/>
          </a:p>
        </p:txBody>
      </p:sp>
      <p:sp>
        <p:nvSpPr>
          <p:cNvPr id="14" name="Text 11"/>
          <p:cNvSpPr/>
          <p:nvPr/>
        </p:nvSpPr>
        <p:spPr>
          <a:xfrm>
            <a:off x="914400" y="5330952"/>
            <a:ext cx="1298448" cy="237744"/>
          </a:xfrm>
          <a:prstGeom prst="rect">
            <a:avLst/>
          </a:prstGeom>
          <a:noFill/>
          <a:ln/>
        </p:spPr>
        <p:txBody>
          <a:bodyPr wrap="square" lIns="0" tIns="0" rIns="0" bIns="0" rtlCol="0" anchor="t"/>
          <a:lstStyle/>
          <a:p>
            <a:pPr algn="ctr" indent="0" marL="0">
              <a:buNone/>
            </a:pPr>
            <a:r>
              <a:rPr lang="en-US" sz="850" dirty="0">
                <a:solidFill>
                  <a:srgbClr val="54606F"/>
                </a:solidFill>
                <a:latin typeface="Nunito Sans" pitchFamily="34" charset="0"/>
                <a:ea typeface="Nunito Sans" pitchFamily="34" charset="-122"/>
                <a:cs typeface="Nunito Sans" pitchFamily="34" charset="-120"/>
              </a:rPr>
              <a:t>Pulses</a:t>
            </a:r>
            <a:endParaRPr lang="en-US" sz="850" dirty="0"/>
          </a:p>
        </p:txBody>
      </p:sp>
      <p:sp>
        <p:nvSpPr>
          <p:cNvPr id="15" name="Shape 12"/>
          <p:cNvSpPr/>
          <p:nvPr/>
        </p:nvSpPr>
        <p:spPr>
          <a:xfrm>
            <a:off x="2304288" y="5088453"/>
            <a:ext cx="493776" cy="187635"/>
          </a:xfrm>
          <a:prstGeom prst="roundRect">
            <a:avLst>
              <a:gd name="adj" fmla="val 24366"/>
            </a:avLst>
          </a:prstGeom>
          <a:solidFill>
            <a:srgbClr val="6688BE"/>
          </a:solidFill>
          <a:ln w="12700">
            <a:solidFill>
              <a:srgbClr val="333333"/>
            </a:solidFill>
            <a:prstDash val="solid"/>
          </a:ln>
        </p:spPr>
      </p:sp>
      <p:sp>
        <p:nvSpPr>
          <p:cNvPr id="16" name="Text 13"/>
          <p:cNvSpPr/>
          <p:nvPr/>
        </p:nvSpPr>
        <p:spPr>
          <a:xfrm>
            <a:off x="2212848" y="4850709"/>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₹18</a:t>
            </a:r>
            <a:endParaRPr lang="en-US" sz="850" dirty="0"/>
          </a:p>
        </p:txBody>
      </p:sp>
      <p:sp>
        <p:nvSpPr>
          <p:cNvPr id="17" name="Shape 14"/>
          <p:cNvSpPr/>
          <p:nvPr/>
        </p:nvSpPr>
        <p:spPr>
          <a:xfrm>
            <a:off x="2907792" y="3170408"/>
            <a:ext cx="493776" cy="2105680"/>
          </a:xfrm>
          <a:prstGeom prst="roundRect">
            <a:avLst>
              <a:gd name="adj" fmla="val 9259"/>
            </a:avLst>
          </a:prstGeom>
          <a:solidFill>
            <a:srgbClr val="177A46"/>
          </a:solidFill>
          <a:ln w="12700">
            <a:solidFill>
              <a:srgbClr val="333333"/>
            </a:solidFill>
            <a:prstDash val="solid"/>
          </a:ln>
        </p:spPr>
      </p:sp>
      <p:sp>
        <p:nvSpPr>
          <p:cNvPr id="18" name="Text 15"/>
          <p:cNvSpPr/>
          <p:nvPr/>
        </p:nvSpPr>
        <p:spPr>
          <a:xfrm>
            <a:off x="2816352" y="2932664"/>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₹202</a:t>
            </a:r>
            <a:endParaRPr lang="en-US" sz="850" dirty="0"/>
          </a:p>
        </p:txBody>
      </p:sp>
      <p:sp>
        <p:nvSpPr>
          <p:cNvPr id="19" name="Text 16"/>
          <p:cNvSpPr/>
          <p:nvPr/>
        </p:nvSpPr>
        <p:spPr>
          <a:xfrm>
            <a:off x="2212848" y="5330952"/>
            <a:ext cx="1298448" cy="237744"/>
          </a:xfrm>
          <a:prstGeom prst="rect">
            <a:avLst/>
          </a:prstGeom>
          <a:noFill/>
          <a:ln/>
        </p:spPr>
        <p:txBody>
          <a:bodyPr wrap="square" lIns="0" tIns="0" rIns="0" bIns="0" rtlCol="0" anchor="t"/>
          <a:lstStyle/>
          <a:p>
            <a:pPr algn="ctr" indent="0" marL="0">
              <a:buNone/>
            </a:pPr>
            <a:r>
              <a:rPr lang="en-US" sz="850" dirty="0">
                <a:solidFill>
                  <a:srgbClr val="54606F"/>
                </a:solidFill>
                <a:latin typeface="Nunito Sans" pitchFamily="34" charset="0"/>
                <a:ea typeface="Nunito Sans" pitchFamily="34" charset="-122"/>
                <a:cs typeface="Nunito Sans" pitchFamily="34" charset="-120"/>
              </a:rPr>
              <a:t>Spices</a:t>
            </a:r>
            <a:endParaRPr lang="en-US" sz="850" dirty="0"/>
          </a:p>
        </p:txBody>
      </p:sp>
      <p:sp>
        <p:nvSpPr>
          <p:cNvPr id="20" name="Shape 17"/>
          <p:cNvSpPr/>
          <p:nvPr/>
        </p:nvSpPr>
        <p:spPr>
          <a:xfrm>
            <a:off x="3602736" y="4942515"/>
            <a:ext cx="493776" cy="333573"/>
          </a:xfrm>
          <a:prstGeom prst="roundRect">
            <a:avLst>
              <a:gd name="adj" fmla="val 13706"/>
            </a:avLst>
          </a:prstGeom>
          <a:solidFill>
            <a:srgbClr val="6688BE"/>
          </a:solidFill>
          <a:ln w="12700">
            <a:solidFill>
              <a:srgbClr val="333333"/>
            </a:solidFill>
            <a:prstDash val="solid"/>
          </a:ln>
        </p:spPr>
      </p:sp>
      <p:sp>
        <p:nvSpPr>
          <p:cNvPr id="21" name="Text 18"/>
          <p:cNvSpPr/>
          <p:nvPr/>
        </p:nvSpPr>
        <p:spPr>
          <a:xfrm>
            <a:off x="3511296" y="4704771"/>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₹32</a:t>
            </a:r>
            <a:endParaRPr lang="en-US" sz="850" dirty="0"/>
          </a:p>
        </p:txBody>
      </p:sp>
      <p:sp>
        <p:nvSpPr>
          <p:cNvPr id="22" name="Shape 19"/>
          <p:cNvSpPr/>
          <p:nvPr/>
        </p:nvSpPr>
        <p:spPr>
          <a:xfrm>
            <a:off x="4206240" y="3514405"/>
            <a:ext cx="493776" cy="1761683"/>
          </a:xfrm>
          <a:prstGeom prst="roundRect">
            <a:avLst>
              <a:gd name="adj" fmla="val 9259"/>
            </a:avLst>
          </a:prstGeom>
          <a:solidFill>
            <a:srgbClr val="177A46"/>
          </a:solidFill>
          <a:ln w="12700">
            <a:solidFill>
              <a:srgbClr val="333333"/>
            </a:solidFill>
            <a:prstDash val="solid"/>
          </a:ln>
        </p:spPr>
      </p:sp>
      <p:sp>
        <p:nvSpPr>
          <p:cNvPr id="23" name="Text 20"/>
          <p:cNvSpPr/>
          <p:nvPr/>
        </p:nvSpPr>
        <p:spPr>
          <a:xfrm>
            <a:off x="4114800" y="3276661"/>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₹169</a:t>
            </a:r>
            <a:endParaRPr lang="en-US" sz="850" dirty="0"/>
          </a:p>
        </p:txBody>
      </p:sp>
      <p:sp>
        <p:nvSpPr>
          <p:cNvPr id="24" name="Text 21"/>
          <p:cNvSpPr/>
          <p:nvPr/>
        </p:nvSpPr>
        <p:spPr>
          <a:xfrm>
            <a:off x="3511296" y="5330952"/>
            <a:ext cx="1298448" cy="237744"/>
          </a:xfrm>
          <a:prstGeom prst="rect">
            <a:avLst/>
          </a:prstGeom>
          <a:noFill/>
          <a:ln/>
        </p:spPr>
        <p:txBody>
          <a:bodyPr wrap="square" lIns="0" tIns="0" rIns="0" bIns="0" rtlCol="0" anchor="t"/>
          <a:lstStyle/>
          <a:p>
            <a:pPr algn="ctr" indent="0" marL="0">
              <a:buNone/>
            </a:pPr>
            <a:r>
              <a:rPr lang="en-US" sz="850" dirty="0">
                <a:solidFill>
                  <a:srgbClr val="54606F"/>
                </a:solidFill>
                <a:latin typeface="Nunito Sans" pitchFamily="34" charset="0"/>
                <a:ea typeface="Nunito Sans" pitchFamily="34" charset="-122"/>
                <a:cs typeface="Nunito Sans" pitchFamily="34" charset="-120"/>
              </a:rPr>
              <a:t>Value-Added</a:t>
            </a:r>
            <a:endParaRPr lang="en-US" sz="850" dirty="0"/>
          </a:p>
        </p:txBody>
      </p:sp>
      <p:sp>
        <p:nvSpPr>
          <p:cNvPr id="25" name="Shape 22"/>
          <p:cNvSpPr/>
          <p:nvPr/>
        </p:nvSpPr>
        <p:spPr>
          <a:xfrm>
            <a:off x="4901184" y="5182271"/>
            <a:ext cx="493776" cy="93817"/>
          </a:xfrm>
          <a:prstGeom prst="roundRect">
            <a:avLst>
              <a:gd name="adj" fmla="val 48733"/>
            </a:avLst>
          </a:prstGeom>
          <a:solidFill>
            <a:srgbClr val="6688BE"/>
          </a:solidFill>
          <a:ln w="12700">
            <a:solidFill>
              <a:srgbClr val="333333"/>
            </a:solidFill>
            <a:prstDash val="solid"/>
          </a:ln>
        </p:spPr>
      </p:sp>
      <p:sp>
        <p:nvSpPr>
          <p:cNvPr id="26" name="Text 23"/>
          <p:cNvSpPr/>
          <p:nvPr/>
        </p:nvSpPr>
        <p:spPr>
          <a:xfrm>
            <a:off x="4809744" y="4944527"/>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₹9</a:t>
            </a:r>
            <a:endParaRPr lang="en-US" sz="850" dirty="0"/>
          </a:p>
        </p:txBody>
      </p:sp>
      <p:sp>
        <p:nvSpPr>
          <p:cNvPr id="27" name="Shape 24"/>
          <p:cNvSpPr/>
          <p:nvPr/>
        </p:nvSpPr>
        <p:spPr>
          <a:xfrm>
            <a:off x="5504688" y="4025189"/>
            <a:ext cx="493776" cy="1250899"/>
          </a:xfrm>
          <a:prstGeom prst="roundRect">
            <a:avLst>
              <a:gd name="adj" fmla="val 9259"/>
            </a:avLst>
          </a:prstGeom>
          <a:solidFill>
            <a:srgbClr val="177A46"/>
          </a:solidFill>
          <a:ln w="12700">
            <a:solidFill>
              <a:srgbClr val="333333"/>
            </a:solidFill>
            <a:prstDash val="solid"/>
          </a:ln>
        </p:spPr>
      </p:sp>
      <p:sp>
        <p:nvSpPr>
          <p:cNvPr id="28" name="Text 25"/>
          <p:cNvSpPr/>
          <p:nvPr/>
        </p:nvSpPr>
        <p:spPr>
          <a:xfrm>
            <a:off x="5413248" y="3787445"/>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₹120</a:t>
            </a:r>
            <a:endParaRPr lang="en-US" sz="850" dirty="0"/>
          </a:p>
        </p:txBody>
      </p:sp>
      <p:sp>
        <p:nvSpPr>
          <p:cNvPr id="29" name="Text 26"/>
          <p:cNvSpPr/>
          <p:nvPr/>
        </p:nvSpPr>
        <p:spPr>
          <a:xfrm>
            <a:off x="4809744" y="5330952"/>
            <a:ext cx="1298448" cy="237744"/>
          </a:xfrm>
          <a:prstGeom prst="rect">
            <a:avLst/>
          </a:prstGeom>
          <a:noFill/>
          <a:ln/>
        </p:spPr>
        <p:txBody>
          <a:bodyPr wrap="square" lIns="0" tIns="0" rIns="0" bIns="0" rtlCol="0" anchor="t"/>
          <a:lstStyle/>
          <a:p>
            <a:pPr algn="ctr" indent="0" marL="0">
              <a:buNone/>
            </a:pPr>
            <a:r>
              <a:rPr lang="en-US" sz="850" dirty="0">
                <a:solidFill>
                  <a:srgbClr val="54606F"/>
                </a:solidFill>
                <a:latin typeface="Nunito Sans" pitchFamily="34" charset="0"/>
                <a:ea typeface="Nunito Sans" pitchFamily="34" charset="-122"/>
                <a:cs typeface="Nunito Sans" pitchFamily="34" charset="-120"/>
              </a:rPr>
              <a:t>Oil &amp; Ghee</a:t>
            </a:r>
            <a:endParaRPr lang="en-US" sz="850" dirty="0"/>
          </a:p>
        </p:txBody>
      </p:sp>
      <p:sp>
        <p:nvSpPr>
          <p:cNvPr id="30" name="Shape 27"/>
          <p:cNvSpPr/>
          <p:nvPr/>
        </p:nvSpPr>
        <p:spPr>
          <a:xfrm>
            <a:off x="6199632" y="5239512"/>
            <a:ext cx="493776" cy="36576"/>
          </a:xfrm>
          <a:prstGeom prst="roundRect">
            <a:avLst>
              <a:gd name="adj" fmla="val 125000"/>
            </a:avLst>
          </a:prstGeom>
          <a:solidFill>
            <a:srgbClr val="6688BE"/>
          </a:solidFill>
          <a:ln w="12700">
            <a:solidFill>
              <a:srgbClr val="333333"/>
            </a:solidFill>
            <a:prstDash val="solid"/>
          </a:ln>
        </p:spPr>
      </p:sp>
      <p:sp>
        <p:nvSpPr>
          <p:cNvPr id="31" name="Text 28"/>
          <p:cNvSpPr/>
          <p:nvPr/>
        </p:nvSpPr>
        <p:spPr>
          <a:xfrm>
            <a:off x="6108192" y="5001768"/>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₹2</a:t>
            </a:r>
            <a:endParaRPr lang="en-US" sz="850" dirty="0"/>
          </a:p>
        </p:txBody>
      </p:sp>
      <p:sp>
        <p:nvSpPr>
          <p:cNvPr id="32" name="Shape 29"/>
          <p:cNvSpPr/>
          <p:nvPr/>
        </p:nvSpPr>
        <p:spPr>
          <a:xfrm>
            <a:off x="6803136" y="4963363"/>
            <a:ext cx="493776" cy="312725"/>
          </a:xfrm>
          <a:prstGeom prst="roundRect">
            <a:avLst>
              <a:gd name="adj" fmla="val 14620"/>
            </a:avLst>
          </a:prstGeom>
          <a:solidFill>
            <a:srgbClr val="177A46"/>
          </a:solidFill>
          <a:ln w="12700">
            <a:solidFill>
              <a:srgbClr val="333333"/>
            </a:solidFill>
            <a:prstDash val="solid"/>
          </a:ln>
        </p:spPr>
      </p:sp>
      <p:sp>
        <p:nvSpPr>
          <p:cNvPr id="33" name="Text 30"/>
          <p:cNvSpPr/>
          <p:nvPr/>
        </p:nvSpPr>
        <p:spPr>
          <a:xfrm>
            <a:off x="6711696" y="4725619"/>
            <a:ext cx="676656" cy="219456"/>
          </a:xfrm>
          <a:prstGeom prst="rect">
            <a:avLst/>
          </a:prstGeom>
          <a:noFill/>
          <a:ln/>
        </p:spPr>
        <p:txBody>
          <a:bodyPr wrap="square" lIns="0" tIns="0" rIns="0" bIns="0" rtlCol="0" anchor="b"/>
          <a:lstStyle/>
          <a:p>
            <a:pPr algn="ctr" indent="0" marL="0">
              <a:buNone/>
            </a:pPr>
            <a:r>
              <a:rPr lang="en-US" sz="850" b="1" dirty="0">
                <a:solidFill>
                  <a:srgbClr val="0C1A2B"/>
                </a:solidFill>
                <a:latin typeface="Nunito Sans" pitchFamily="34" charset="0"/>
                <a:ea typeface="Nunito Sans" pitchFamily="34" charset="-122"/>
                <a:cs typeface="Nunito Sans" pitchFamily="34" charset="-120"/>
              </a:rPr>
              <a:t>₹30</a:t>
            </a:r>
            <a:endParaRPr lang="en-US" sz="850" dirty="0"/>
          </a:p>
        </p:txBody>
      </p:sp>
      <p:sp>
        <p:nvSpPr>
          <p:cNvPr id="34" name="Text 31"/>
          <p:cNvSpPr/>
          <p:nvPr/>
        </p:nvSpPr>
        <p:spPr>
          <a:xfrm>
            <a:off x="6108192" y="5330952"/>
            <a:ext cx="1298448" cy="237744"/>
          </a:xfrm>
          <a:prstGeom prst="rect">
            <a:avLst/>
          </a:prstGeom>
          <a:noFill/>
          <a:ln/>
        </p:spPr>
        <p:txBody>
          <a:bodyPr wrap="square" lIns="0" tIns="0" rIns="0" bIns="0" rtlCol="0" anchor="t"/>
          <a:lstStyle/>
          <a:p>
            <a:pPr algn="ctr" indent="0" marL="0">
              <a:buNone/>
            </a:pPr>
            <a:r>
              <a:rPr lang="en-US" sz="850" dirty="0">
                <a:solidFill>
                  <a:srgbClr val="54606F"/>
                </a:solidFill>
                <a:latin typeface="Nunito Sans" pitchFamily="34" charset="0"/>
                <a:ea typeface="Nunito Sans" pitchFamily="34" charset="-122"/>
                <a:cs typeface="Nunito Sans" pitchFamily="34" charset="-120"/>
              </a:rPr>
              <a:t>Processed</a:t>
            </a:r>
            <a:endParaRPr lang="en-US" sz="850" dirty="0"/>
          </a:p>
        </p:txBody>
      </p:sp>
      <p:sp>
        <p:nvSpPr>
          <p:cNvPr id="35" name="Shape 32"/>
          <p:cNvSpPr/>
          <p:nvPr/>
        </p:nvSpPr>
        <p:spPr>
          <a:xfrm>
            <a:off x="914400" y="5641848"/>
            <a:ext cx="146304" cy="146304"/>
          </a:xfrm>
          <a:prstGeom prst="rect">
            <a:avLst/>
          </a:prstGeom>
          <a:solidFill>
            <a:srgbClr val="6688BE"/>
          </a:solidFill>
          <a:ln w="12700">
            <a:solidFill>
              <a:srgbClr val="333333"/>
            </a:solidFill>
            <a:prstDash val="solid"/>
          </a:ln>
        </p:spPr>
      </p:sp>
      <p:sp>
        <p:nvSpPr>
          <p:cNvPr id="36" name="Text 33"/>
          <p:cNvSpPr/>
          <p:nvPr/>
        </p:nvSpPr>
        <p:spPr>
          <a:xfrm>
            <a:off x="1133856" y="5605272"/>
            <a:ext cx="640080" cy="219456"/>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FY27</a:t>
            </a:r>
            <a:endParaRPr lang="en-US" sz="850" dirty="0"/>
          </a:p>
        </p:txBody>
      </p:sp>
      <p:sp>
        <p:nvSpPr>
          <p:cNvPr id="37" name="Shape 34"/>
          <p:cNvSpPr/>
          <p:nvPr/>
        </p:nvSpPr>
        <p:spPr>
          <a:xfrm>
            <a:off x="1874520" y="5641848"/>
            <a:ext cx="146304" cy="146304"/>
          </a:xfrm>
          <a:prstGeom prst="rect">
            <a:avLst/>
          </a:prstGeom>
          <a:solidFill>
            <a:srgbClr val="177A46"/>
          </a:solidFill>
          <a:ln w="12700">
            <a:solidFill>
              <a:srgbClr val="333333"/>
            </a:solidFill>
            <a:prstDash val="solid"/>
          </a:ln>
        </p:spPr>
      </p:sp>
      <p:sp>
        <p:nvSpPr>
          <p:cNvPr id="38" name="Text 35"/>
          <p:cNvSpPr/>
          <p:nvPr/>
        </p:nvSpPr>
        <p:spPr>
          <a:xfrm>
            <a:off x="2093976" y="5605272"/>
            <a:ext cx="640080" cy="219456"/>
          </a:xfrm>
          <a:prstGeom prst="rect">
            <a:avLst/>
          </a:prstGeom>
          <a:noFill/>
          <a:ln/>
        </p:spPr>
        <p:txBody>
          <a:bodyPr wrap="square" lIns="0" tIns="0" rIns="0" bIns="0" rtlCol="0" anchor="ctr"/>
          <a:lstStyle/>
          <a:p>
            <a:pPr indent="0" marL="0">
              <a:buNone/>
            </a:pPr>
            <a:r>
              <a:rPr lang="en-US" sz="850" dirty="0">
                <a:solidFill>
                  <a:srgbClr val="54606F"/>
                </a:solidFill>
                <a:latin typeface="Nunito Sans" pitchFamily="34" charset="0"/>
                <a:ea typeface="Nunito Sans" pitchFamily="34" charset="-122"/>
                <a:cs typeface="Nunito Sans" pitchFamily="34" charset="-120"/>
              </a:rPr>
              <a:t>FY31</a:t>
            </a:r>
            <a:endParaRPr lang="en-US" sz="850" dirty="0"/>
          </a:p>
        </p:txBody>
      </p:sp>
      <p:sp>
        <p:nvSpPr>
          <p:cNvPr id="39" name="Shape 36"/>
          <p:cNvSpPr/>
          <p:nvPr/>
        </p:nvSpPr>
        <p:spPr>
          <a:xfrm>
            <a:off x="8001000" y="2121408"/>
            <a:ext cx="3687775" cy="0"/>
          </a:xfrm>
          <a:prstGeom prst="line">
            <a:avLst/>
          </a:prstGeom>
          <a:noFill/>
          <a:ln w="25400">
            <a:solidFill>
              <a:srgbClr val="177A46"/>
            </a:solidFill>
            <a:prstDash val="solid"/>
          </a:ln>
        </p:spPr>
      </p:sp>
      <p:sp>
        <p:nvSpPr>
          <p:cNvPr id="40" name="Text 37"/>
          <p:cNvSpPr/>
          <p:nvPr/>
        </p:nvSpPr>
        <p:spPr>
          <a:xfrm>
            <a:off x="8001000" y="2267712"/>
            <a:ext cx="3687775" cy="367284"/>
          </a:xfrm>
          <a:prstGeom prst="rect">
            <a:avLst/>
          </a:prstGeom>
          <a:noFill/>
          <a:ln/>
        </p:spPr>
        <p:txBody>
          <a:bodyPr wrap="square" lIns="0" tIns="0" rIns="0" bIns="0" rtlCol="0" anchor="t"/>
          <a:lstStyle/>
          <a:p>
            <a:pPr indent="0" marL="0">
              <a:buNone/>
            </a:pPr>
            <a:r>
              <a:rPr lang="en-US" sz="2100" dirty="0">
                <a:solidFill>
                  <a:srgbClr val="177A46"/>
                </a:solidFill>
                <a:latin typeface="Archivo Black" pitchFamily="34" charset="0"/>
                <a:ea typeface="Archivo Black" pitchFamily="34" charset="-122"/>
                <a:cs typeface="Archivo Black" pitchFamily="34" charset="-120"/>
              </a:rPr>
              <a:t>11.2×</a:t>
            </a:r>
            <a:endParaRPr lang="en-US" sz="2100" dirty="0"/>
          </a:p>
        </p:txBody>
      </p:sp>
      <p:sp>
        <p:nvSpPr>
          <p:cNvPr id="41" name="Text 38"/>
          <p:cNvSpPr/>
          <p:nvPr/>
        </p:nvSpPr>
        <p:spPr>
          <a:xfrm>
            <a:off x="8001000" y="2671572"/>
            <a:ext cx="3550615" cy="419100"/>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Spices, FY27 → FY31. Mix moves from 17% to 27% of revenue, at 51–58% gross margin.</a:t>
            </a:r>
            <a:endParaRPr lang="en-US" sz="850" dirty="0"/>
          </a:p>
        </p:txBody>
      </p:sp>
      <p:sp>
        <p:nvSpPr>
          <p:cNvPr id="42" name="Shape 39"/>
          <p:cNvSpPr/>
          <p:nvPr/>
        </p:nvSpPr>
        <p:spPr>
          <a:xfrm>
            <a:off x="8001000" y="3255264"/>
            <a:ext cx="3687775" cy="0"/>
          </a:xfrm>
          <a:prstGeom prst="line">
            <a:avLst/>
          </a:prstGeom>
          <a:noFill/>
          <a:ln w="25400">
            <a:solidFill>
              <a:srgbClr val="177A46"/>
            </a:solidFill>
            <a:prstDash val="solid"/>
          </a:ln>
        </p:spPr>
      </p:sp>
      <p:sp>
        <p:nvSpPr>
          <p:cNvPr id="43" name="Text 40"/>
          <p:cNvSpPr/>
          <p:nvPr/>
        </p:nvSpPr>
        <p:spPr>
          <a:xfrm>
            <a:off x="8001000" y="3401568"/>
            <a:ext cx="3687775" cy="367284"/>
          </a:xfrm>
          <a:prstGeom prst="rect">
            <a:avLst/>
          </a:prstGeom>
          <a:noFill/>
          <a:ln/>
        </p:spPr>
        <p:txBody>
          <a:bodyPr wrap="square" lIns="0" tIns="0" rIns="0" bIns="0" rtlCol="0" anchor="t"/>
          <a:lstStyle/>
          <a:p>
            <a:pPr indent="0" marL="0">
              <a:buNone/>
            </a:pPr>
            <a:r>
              <a:rPr lang="en-US" sz="2100" dirty="0">
                <a:solidFill>
                  <a:srgbClr val="177A46"/>
                </a:solidFill>
                <a:latin typeface="Archivo Black" pitchFamily="34" charset="0"/>
                <a:ea typeface="Archivo Black" pitchFamily="34" charset="-122"/>
                <a:cs typeface="Archivo Black" pitchFamily="34" charset="-120"/>
              </a:rPr>
              <a:t>₹99.9 Cr</a:t>
            </a:r>
            <a:endParaRPr lang="en-US" sz="2100" dirty="0"/>
          </a:p>
        </p:txBody>
      </p:sp>
      <p:sp>
        <p:nvSpPr>
          <p:cNvPr id="44" name="Text 41"/>
          <p:cNvSpPr/>
          <p:nvPr/>
        </p:nvSpPr>
        <p:spPr>
          <a:xfrm>
            <a:off x="8001000" y="3805428"/>
            <a:ext cx="3550615" cy="419100"/>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Makhana — the single largest SKU in the FY31 plan, and a realisation play, not a tonnage play.</a:t>
            </a:r>
            <a:endParaRPr lang="en-US" sz="850" dirty="0"/>
          </a:p>
        </p:txBody>
      </p:sp>
      <p:sp>
        <p:nvSpPr>
          <p:cNvPr id="45" name="Shape 42"/>
          <p:cNvSpPr/>
          <p:nvPr/>
        </p:nvSpPr>
        <p:spPr>
          <a:xfrm>
            <a:off x="8001000" y="4389120"/>
            <a:ext cx="3687775" cy="0"/>
          </a:xfrm>
          <a:prstGeom prst="line">
            <a:avLst/>
          </a:prstGeom>
          <a:noFill/>
          <a:ln w="25400">
            <a:solidFill>
              <a:srgbClr val="177A46"/>
            </a:solidFill>
            <a:prstDash val="solid"/>
          </a:ln>
        </p:spPr>
      </p:sp>
      <p:sp>
        <p:nvSpPr>
          <p:cNvPr id="46" name="Text 43"/>
          <p:cNvSpPr/>
          <p:nvPr/>
        </p:nvSpPr>
        <p:spPr>
          <a:xfrm>
            <a:off x="8001000" y="4535424"/>
            <a:ext cx="3687775" cy="367284"/>
          </a:xfrm>
          <a:prstGeom prst="rect">
            <a:avLst/>
          </a:prstGeom>
          <a:noFill/>
          <a:ln/>
        </p:spPr>
        <p:txBody>
          <a:bodyPr wrap="square" lIns="0" tIns="0" rIns="0" bIns="0" rtlCol="0" anchor="t"/>
          <a:lstStyle/>
          <a:p>
            <a:pPr indent="0" marL="0">
              <a:buNone/>
            </a:pPr>
            <a:r>
              <a:rPr lang="en-US" sz="2100" dirty="0">
                <a:solidFill>
                  <a:srgbClr val="177A46"/>
                </a:solidFill>
                <a:latin typeface="Archivo Black" pitchFamily="34" charset="0"/>
                <a:ea typeface="Archivo Black" pitchFamily="34" charset="-122"/>
                <a:cs typeface="Archivo Black" pitchFamily="34" charset="-120"/>
              </a:rPr>
              <a:t>₹95.5 Cr</a:t>
            </a:r>
            <a:endParaRPr lang="en-US" sz="2100" dirty="0"/>
          </a:p>
        </p:txBody>
      </p:sp>
      <p:sp>
        <p:nvSpPr>
          <p:cNvPr id="47" name="Text 44"/>
          <p:cNvSpPr/>
          <p:nvPr/>
        </p:nvSpPr>
        <p:spPr>
          <a:xfrm>
            <a:off x="8001000" y="4939284"/>
            <a:ext cx="3550615" cy="419100"/>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From four ground spice powders that do not exist today. Pure NPD, from a zero base.</a:t>
            </a:r>
            <a:endParaRPr lang="en-US" sz="850" dirty="0"/>
          </a:p>
        </p:txBody>
      </p:sp>
      <p:sp>
        <p:nvSpPr>
          <p:cNvPr id="48" name="Shape 45"/>
          <p:cNvSpPr/>
          <p:nvPr/>
        </p:nvSpPr>
        <p:spPr>
          <a:xfrm>
            <a:off x="8001000" y="5641848"/>
            <a:ext cx="3687775" cy="0"/>
          </a:xfrm>
          <a:prstGeom prst="line">
            <a:avLst/>
          </a:prstGeom>
          <a:noFill/>
          <a:ln w="25400">
            <a:solidFill>
              <a:srgbClr val="9E3A24"/>
            </a:solidFill>
            <a:prstDash val="solid"/>
          </a:ln>
        </p:spPr>
      </p:sp>
      <p:sp>
        <p:nvSpPr>
          <p:cNvPr id="49" name="Text 46"/>
          <p:cNvSpPr/>
          <p:nvPr/>
        </p:nvSpPr>
        <p:spPr>
          <a:xfrm>
            <a:off x="8001000" y="5733288"/>
            <a:ext cx="3687775" cy="548640"/>
          </a:xfrm>
          <a:prstGeom prst="rect">
            <a:avLst/>
          </a:prstGeom>
          <a:noFill/>
          <a:ln/>
        </p:spPr>
        <p:txBody>
          <a:bodyPr wrap="square" lIns="0" tIns="0" rIns="0" bIns="0" rtlCol="0" anchor="t"/>
          <a:lstStyle/>
          <a:p>
            <a:pPr indent="0" marL="0">
              <a:lnSpc>
                <a:spcPct val="104000"/>
              </a:lnSpc>
              <a:buNone/>
            </a:pPr>
            <a:r>
              <a:rPr lang="en-US" sz="1200" dirty="0">
                <a:solidFill>
                  <a:srgbClr val="9E3A24"/>
                </a:solidFill>
                <a:latin typeface="Archivo Black" pitchFamily="34" charset="0"/>
                <a:ea typeface="Archivo Black" pitchFamily="34" charset="-122"/>
                <a:cs typeface="Archivo Black" pitchFamily="34" charset="-120"/>
              </a:rPr>
              <a:t>Spices deliver the entire +5.8pp of margin expansion. So, a slipped spice launch is a slipped P&amp;L.</a:t>
            </a:r>
            <a:endParaRPr lang="en-US" sz="1200" dirty="0"/>
          </a:p>
        </p:txBody>
      </p:sp>
      <p:sp>
        <p:nvSpPr>
          <p:cNvPr id="50" name="Shape 47"/>
          <p:cNvSpPr/>
          <p:nvPr/>
        </p:nvSpPr>
        <p:spPr>
          <a:xfrm>
            <a:off x="502920" y="6455664"/>
            <a:ext cx="11185855" cy="0"/>
          </a:xfrm>
          <a:prstGeom prst="line">
            <a:avLst/>
          </a:prstGeom>
          <a:noFill/>
          <a:ln w="9525">
            <a:solidFill>
              <a:srgbClr val="E5DCCB"/>
            </a:solidFill>
            <a:prstDash val="solid"/>
          </a:ln>
        </p:spPr>
      </p:sp>
      <p:sp>
        <p:nvSpPr>
          <p:cNvPr id="51" name="Text 48"/>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05 · THE GROWTH ENGINE</a:t>
            </a:r>
            <a:endParaRPr lang="en-US" sz="800" dirty="0"/>
          </a:p>
        </p:txBody>
      </p:sp>
      <p:sp>
        <p:nvSpPr>
          <p:cNvPr id="52" name="Text 49"/>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33</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607869"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607869"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THE DISTRIBUTION ROADMAP</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Earn the shelf. Then densify it.</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13.5× the selling points at 5× the revenue. The plan does not need better stores, it needs more of them, faster than the dilution.</a:t>
            </a:r>
            <a:endParaRPr lang="en-US" sz="1100" dirty="0"/>
          </a:p>
        </p:txBody>
      </p:sp>
      <p:sp>
        <p:nvSpPr>
          <p:cNvPr id="7" name="Shape 4"/>
          <p:cNvSpPr/>
          <p:nvPr/>
        </p:nvSpPr>
        <p:spPr>
          <a:xfrm>
            <a:off x="502920" y="2121408"/>
            <a:ext cx="3545738" cy="0"/>
          </a:xfrm>
          <a:prstGeom prst="line">
            <a:avLst/>
          </a:prstGeom>
          <a:noFill/>
          <a:ln w="25400">
            <a:solidFill>
              <a:srgbClr val="3A5D97"/>
            </a:solidFill>
            <a:prstDash val="solid"/>
          </a:ln>
        </p:spPr>
      </p:sp>
      <p:sp>
        <p:nvSpPr>
          <p:cNvPr id="8" name="Text 5"/>
          <p:cNvSpPr/>
          <p:nvPr/>
        </p:nvSpPr>
        <p:spPr>
          <a:xfrm>
            <a:off x="502920" y="2267712"/>
            <a:ext cx="3545738" cy="430276"/>
          </a:xfrm>
          <a:prstGeom prst="rect">
            <a:avLst/>
          </a:prstGeom>
          <a:noFill/>
          <a:ln/>
        </p:spPr>
        <p:txBody>
          <a:bodyPr wrap="square" lIns="0" tIns="0" rIns="0" bIns="0" rtlCol="0" anchor="t"/>
          <a:lstStyle/>
          <a:p>
            <a:pPr indent="0" marL="0">
              <a:buNone/>
            </a:pPr>
            <a:r>
              <a:rPr lang="en-US" sz="2500" dirty="0">
                <a:solidFill>
                  <a:srgbClr val="3A5D97"/>
                </a:solidFill>
                <a:latin typeface="Archivo Black" pitchFamily="34" charset="0"/>
                <a:ea typeface="Archivo Black" pitchFamily="34" charset="-122"/>
                <a:cs typeface="Archivo Black" pitchFamily="34" charset="-120"/>
              </a:rPr>
              <a:t>22,628</a:t>
            </a:r>
            <a:endParaRPr lang="en-US" sz="2500" dirty="0"/>
          </a:p>
        </p:txBody>
      </p:sp>
      <p:sp>
        <p:nvSpPr>
          <p:cNvPr id="9" name="Text 6"/>
          <p:cNvSpPr/>
          <p:nvPr/>
        </p:nvSpPr>
        <p:spPr>
          <a:xfrm>
            <a:off x="502920" y="2734564"/>
            <a:ext cx="3408578" cy="410972"/>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selling points by FY31, from 1,672 today</a:t>
            </a:r>
            <a:endParaRPr lang="en-US" sz="850" dirty="0"/>
          </a:p>
        </p:txBody>
      </p:sp>
      <p:sp>
        <p:nvSpPr>
          <p:cNvPr id="10" name="Shape 7"/>
          <p:cNvSpPr/>
          <p:nvPr/>
        </p:nvSpPr>
        <p:spPr>
          <a:xfrm>
            <a:off x="4322978" y="2121408"/>
            <a:ext cx="3545738" cy="0"/>
          </a:xfrm>
          <a:prstGeom prst="line">
            <a:avLst/>
          </a:prstGeom>
          <a:noFill/>
          <a:ln w="25400">
            <a:solidFill>
              <a:srgbClr val="3A5D97"/>
            </a:solidFill>
            <a:prstDash val="solid"/>
          </a:ln>
        </p:spPr>
      </p:sp>
      <p:sp>
        <p:nvSpPr>
          <p:cNvPr id="11" name="Text 8"/>
          <p:cNvSpPr/>
          <p:nvPr/>
        </p:nvSpPr>
        <p:spPr>
          <a:xfrm>
            <a:off x="4322978" y="2267712"/>
            <a:ext cx="3545738" cy="430276"/>
          </a:xfrm>
          <a:prstGeom prst="rect">
            <a:avLst/>
          </a:prstGeom>
          <a:noFill/>
          <a:ln/>
        </p:spPr>
        <p:txBody>
          <a:bodyPr wrap="square" lIns="0" tIns="0" rIns="0" bIns="0" rtlCol="0" anchor="t"/>
          <a:lstStyle/>
          <a:p>
            <a:pPr indent="0" marL="0">
              <a:buNone/>
            </a:pPr>
            <a:r>
              <a:rPr lang="en-US" sz="2500" dirty="0">
                <a:solidFill>
                  <a:srgbClr val="3A5D97"/>
                </a:solidFill>
                <a:latin typeface="Archivo Black" pitchFamily="34" charset="0"/>
                <a:ea typeface="Archivo Black" pitchFamily="34" charset="-122"/>
                <a:cs typeface="Archivo Black" pitchFamily="34" charset="-120"/>
              </a:rPr>
              <a:t>110</a:t>
            </a:r>
            <a:endParaRPr lang="en-US" sz="2500" dirty="0"/>
          </a:p>
        </p:txBody>
      </p:sp>
      <p:sp>
        <p:nvSpPr>
          <p:cNvPr id="12" name="Text 9"/>
          <p:cNvSpPr/>
          <p:nvPr/>
        </p:nvSpPr>
        <p:spPr>
          <a:xfrm>
            <a:off x="4322978" y="2734564"/>
            <a:ext cx="3408578" cy="410972"/>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offline cities, from 22 today</a:t>
            </a:r>
            <a:endParaRPr lang="en-US" sz="850" dirty="0"/>
          </a:p>
        </p:txBody>
      </p:sp>
      <p:sp>
        <p:nvSpPr>
          <p:cNvPr id="13" name="Shape 10"/>
          <p:cNvSpPr/>
          <p:nvPr/>
        </p:nvSpPr>
        <p:spPr>
          <a:xfrm>
            <a:off x="8143037" y="2121408"/>
            <a:ext cx="3545738" cy="0"/>
          </a:xfrm>
          <a:prstGeom prst="line">
            <a:avLst/>
          </a:prstGeom>
          <a:noFill/>
          <a:ln w="25400">
            <a:solidFill>
              <a:srgbClr val="3A5D97"/>
            </a:solidFill>
            <a:prstDash val="solid"/>
          </a:ln>
        </p:spPr>
      </p:sp>
      <p:sp>
        <p:nvSpPr>
          <p:cNvPr id="14" name="Text 11"/>
          <p:cNvSpPr/>
          <p:nvPr/>
        </p:nvSpPr>
        <p:spPr>
          <a:xfrm>
            <a:off x="8143037" y="2267712"/>
            <a:ext cx="3545738" cy="430276"/>
          </a:xfrm>
          <a:prstGeom prst="rect">
            <a:avLst/>
          </a:prstGeom>
          <a:noFill/>
          <a:ln/>
        </p:spPr>
        <p:txBody>
          <a:bodyPr wrap="square" lIns="0" tIns="0" rIns="0" bIns="0" rtlCol="0" anchor="t"/>
          <a:lstStyle/>
          <a:p>
            <a:pPr indent="0" marL="0">
              <a:buNone/>
            </a:pPr>
            <a:r>
              <a:rPr lang="en-US" sz="2500" dirty="0">
                <a:solidFill>
                  <a:srgbClr val="3A5D97"/>
                </a:solidFill>
                <a:latin typeface="Archivo Black" pitchFamily="34" charset="0"/>
                <a:ea typeface="Archivo Black" pitchFamily="34" charset="-122"/>
                <a:cs typeface="Archivo Black" pitchFamily="34" charset="-120"/>
              </a:rPr>
              <a:t>40%</a:t>
            </a:r>
            <a:endParaRPr lang="en-US" sz="2500" dirty="0"/>
          </a:p>
        </p:txBody>
      </p:sp>
      <p:sp>
        <p:nvSpPr>
          <p:cNvPr id="15" name="Text 12"/>
          <p:cNvSpPr/>
          <p:nvPr/>
        </p:nvSpPr>
        <p:spPr>
          <a:xfrm>
            <a:off x="8143037" y="2734564"/>
            <a:ext cx="3408578" cy="410972"/>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the ceiling on any single channel's share of revenue</a:t>
            </a:r>
            <a:endParaRPr lang="en-US" sz="850" dirty="0"/>
          </a:p>
        </p:txBody>
      </p:sp>
      <p:sp>
        <p:nvSpPr>
          <p:cNvPr id="16" name="Text 13"/>
          <p:cNvSpPr/>
          <p:nvPr/>
        </p:nvSpPr>
        <p:spPr>
          <a:xfrm>
            <a:off x="502920" y="3401568"/>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CHANNEL MIX AT FY31, ₹ CR</a:t>
            </a:r>
            <a:endParaRPr lang="en-US" sz="950" dirty="0"/>
          </a:p>
        </p:txBody>
      </p:sp>
      <p:sp>
        <p:nvSpPr>
          <p:cNvPr id="17" name="Shape 14"/>
          <p:cNvSpPr/>
          <p:nvPr/>
        </p:nvSpPr>
        <p:spPr>
          <a:xfrm>
            <a:off x="502920" y="3675888"/>
            <a:ext cx="6035040" cy="2103120"/>
          </a:xfrm>
          <a:prstGeom prst="roundRect">
            <a:avLst>
              <a:gd name="adj" fmla="val 4348"/>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18" name="Text 15"/>
          <p:cNvSpPr/>
          <p:nvPr/>
        </p:nvSpPr>
        <p:spPr>
          <a:xfrm>
            <a:off x="777240" y="3877056"/>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E-commerce &amp; quick commerce</a:t>
            </a:r>
            <a:endParaRPr lang="en-US" sz="950" dirty="0"/>
          </a:p>
        </p:txBody>
      </p:sp>
      <p:sp>
        <p:nvSpPr>
          <p:cNvPr id="19" name="Text 16"/>
          <p:cNvSpPr/>
          <p:nvPr/>
        </p:nvSpPr>
        <p:spPr>
          <a:xfrm>
            <a:off x="4526280" y="3877056"/>
            <a:ext cx="1737360" cy="201168"/>
          </a:xfrm>
          <a:prstGeom prst="rect">
            <a:avLst/>
          </a:prstGeom>
          <a:noFill/>
          <a:ln/>
        </p:spPr>
        <p:txBody>
          <a:bodyPr wrap="square" lIns="0" tIns="0" rIns="0" bIns="0" rtlCol="0" anchor="ctr"/>
          <a:lstStyle/>
          <a:p>
            <a:pPr algn="r" indent="0" marL="0">
              <a:buNone/>
            </a:pPr>
            <a:r>
              <a:rPr lang="en-US" sz="1000" b="1" dirty="0">
                <a:solidFill>
                  <a:srgbClr val="3A5D97"/>
                </a:solidFill>
                <a:latin typeface="Nunito Sans" pitchFamily="34" charset="0"/>
                <a:ea typeface="Nunito Sans" pitchFamily="34" charset="-122"/>
                <a:cs typeface="Nunito Sans" pitchFamily="34" charset="-120"/>
              </a:rPr>
              <a:t>₹304 Cr</a:t>
            </a:r>
            <a:endParaRPr lang="en-US" sz="1000" dirty="0"/>
          </a:p>
        </p:txBody>
      </p:sp>
      <p:sp>
        <p:nvSpPr>
          <p:cNvPr id="20" name="Shape 17"/>
          <p:cNvSpPr/>
          <p:nvPr/>
        </p:nvSpPr>
        <p:spPr>
          <a:xfrm>
            <a:off x="777240" y="4096512"/>
            <a:ext cx="5486400" cy="137160"/>
          </a:xfrm>
          <a:prstGeom prst="roundRect">
            <a:avLst>
              <a:gd name="adj" fmla="val 50000"/>
            </a:avLst>
          </a:prstGeom>
          <a:solidFill>
            <a:srgbClr val="EDE4D4"/>
          </a:solidFill>
          <a:ln w="12700">
            <a:solidFill>
              <a:srgbClr val="333333"/>
            </a:solidFill>
            <a:prstDash val="solid"/>
          </a:ln>
        </p:spPr>
      </p:sp>
      <p:sp>
        <p:nvSpPr>
          <p:cNvPr id="21" name="Shape 18"/>
          <p:cNvSpPr/>
          <p:nvPr/>
        </p:nvSpPr>
        <p:spPr>
          <a:xfrm>
            <a:off x="777240" y="4096512"/>
            <a:ext cx="4905487" cy="137160"/>
          </a:xfrm>
          <a:prstGeom prst="roundRect">
            <a:avLst>
              <a:gd name="adj" fmla="val 50000"/>
            </a:avLst>
          </a:prstGeom>
          <a:solidFill>
            <a:srgbClr val="3A5D97"/>
          </a:solidFill>
          <a:ln w="12700">
            <a:solidFill>
              <a:srgbClr val="333333"/>
            </a:solidFill>
            <a:prstDash val="solid"/>
          </a:ln>
        </p:spPr>
      </p:sp>
      <p:sp>
        <p:nvSpPr>
          <p:cNvPr id="22" name="Text 19"/>
          <p:cNvSpPr/>
          <p:nvPr/>
        </p:nvSpPr>
        <p:spPr>
          <a:xfrm>
            <a:off x="777240" y="4315968"/>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Regional &amp; premium offline</a:t>
            </a:r>
            <a:endParaRPr lang="en-US" sz="950" dirty="0"/>
          </a:p>
        </p:txBody>
      </p:sp>
      <p:sp>
        <p:nvSpPr>
          <p:cNvPr id="23" name="Text 20"/>
          <p:cNvSpPr/>
          <p:nvPr/>
        </p:nvSpPr>
        <p:spPr>
          <a:xfrm>
            <a:off x="4526280" y="4315968"/>
            <a:ext cx="1737360" cy="201168"/>
          </a:xfrm>
          <a:prstGeom prst="rect">
            <a:avLst/>
          </a:prstGeom>
          <a:noFill/>
          <a:ln/>
        </p:spPr>
        <p:txBody>
          <a:bodyPr wrap="square" lIns="0" tIns="0" rIns="0" bIns="0" rtlCol="0" anchor="ctr"/>
          <a:lstStyle/>
          <a:p>
            <a:pPr algn="r" indent="0" marL="0">
              <a:buNone/>
            </a:pPr>
            <a:r>
              <a:rPr lang="en-US" sz="1000" b="1" dirty="0">
                <a:solidFill>
                  <a:srgbClr val="177A46"/>
                </a:solidFill>
                <a:latin typeface="Nunito Sans" pitchFamily="34" charset="0"/>
                <a:ea typeface="Nunito Sans" pitchFamily="34" charset="-122"/>
                <a:cs typeface="Nunito Sans" pitchFamily="34" charset="-120"/>
              </a:rPr>
              <a:t>₹263 Cr</a:t>
            </a:r>
            <a:endParaRPr lang="en-US" sz="1000" dirty="0"/>
          </a:p>
        </p:txBody>
      </p:sp>
      <p:sp>
        <p:nvSpPr>
          <p:cNvPr id="24" name="Shape 21"/>
          <p:cNvSpPr/>
          <p:nvPr/>
        </p:nvSpPr>
        <p:spPr>
          <a:xfrm>
            <a:off x="777240" y="4535424"/>
            <a:ext cx="5486400" cy="137160"/>
          </a:xfrm>
          <a:prstGeom prst="roundRect">
            <a:avLst>
              <a:gd name="adj" fmla="val 50000"/>
            </a:avLst>
          </a:prstGeom>
          <a:solidFill>
            <a:srgbClr val="EDE4D4"/>
          </a:solidFill>
          <a:ln w="12700">
            <a:solidFill>
              <a:srgbClr val="333333"/>
            </a:solidFill>
            <a:prstDash val="solid"/>
          </a:ln>
        </p:spPr>
      </p:sp>
      <p:sp>
        <p:nvSpPr>
          <p:cNvPr id="25" name="Shape 22"/>
          <p:cNvSpPr/>
          <p:nvPr/>
        </p:nvSpPr>
        <p:spPr>
          <a:xfrm>
            <a:off x="777240" y="4535424"/>
            <a:ext cx="4243892" cy="137160"/>
          </a:xfrm>
          <a:prstGeom prst="roundRect">
            <a:avLst>
              <a:gd name="adj" fmla="val 50000"/>
            </a:avLst>
          </a:prstGeom>
          <a:solidFill>
            <a:srgbClr val="177A46"/>
          </a:solidFill>
          <a:ln w="12700">
            <a:solidFill>
              <a:srgbClr val="333333"/>
            </a:solidFill>
            <a:prstDash val="solid"/>
          </a:ln>
        </p:spPr>
      </p:sp>
      <p:sp>
        <p:nvSpPr>
          <p:cNvPr id="26" name="Text 23"/>
          <p:cNvSpPr/>
          <p:nvPr/>
        </p:nvSpPr>
        <p:spPr>
          <a:xfrm>
            <a:off x="777240" y="4754880"/>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National modern trade</a:t>
            </a:r>
            <a:endParaRPr lang="en-US" sz="950" dirty="0"/>
          </a:p>
        </p:txBody>
      </p:sp>
      <p:sp>
        <p:nvSpPr>
          <p:cNvPr id="27" name="Text 24"/>
          <p:cNvSpPr/>
          <p:nvPr/>
        </p:nvSpPr>
        <p:spPr>
          <a:xfrm>
            <a:off x="4526280" y="4754880"/>
            <a:ext cx="1737360" cy="201168"/>
          </a:xfrm>
          <a:prstGeom prst="rect">
            <a:avLst/>
          </a:prstGeom>
          <a:noFill/>
          <a:ln/>
        </p:spPr>
        <p:txBody>
          <a:bodyPr wrap="square" lIns="0" tIns="0" rIns="0" bIns="0" rtlCol="0" anchor="ctr"/>
          <a:lstStyle/>
          <a:p>
            <a:pPr algn="r" indent="0" marL="0">
              <a:buNone/>
            </a:pPr>
            <a:r>
              <a:rPr lang="en-US" sz="1000" b="1" dirty="0">
                <a:solidFill>
                  <a:srgbClr val="6688BE"/>
                </a:solidFill>
                <a:latin typeface="Nunito Sans" pitchFamily="34" charset="0"/>
                <a:ea typeface="Nunito Sans" pitchFamily="34" charset="-122"/>
                <a:cs typeface="Nunito Sans" pitchFamily="34" charset="-120"/>
              </a:rPr>
              <a:t>₹129 Cr</a:t>
            </a:r>
            <a:endParaRPr lang="en-US" sz="1000" dirty="0"/>
          </a:p>
        </p:txBody>
      </p:sp>
      <p:sp>
        <p:nvSpPr>
          <p:cNvPr id="28" name="Shape 25"/>
          <p:cNvSpPr/>
          <p:nvPr/>
        </p:nvSpPr>
        <p:spPr>
          <a:xfrm>
            <a:off x="777240" y="4974336"/>
            <a:ext cx="5486400" cy="137160"/>
          </a:xfrm>
          <a:prstGeom prst="roundRect">
            <a:avLst>
              <a:gd name="adj" fmla="val 50000"/>
            </a:avLst>
          </a:prstGeom>
          <a:solidFill>
            <a:srgbClr val="EDE4D4"/>
          </a:solidFill>
          <a:ln w="12700">
            <a:solidFill>
              <a:srgbClr val="333333"/>
            </a:solidFill>
            <a:prstDash val="solid"/>
          </a:ln>
        </p:spPr>
      </p:sp>
      <p:sp>
        <p:nvSpPr>
          <p:cNvPr id="29" name="Shape 26"/>
          <p:cNvSpPr/>
          <p:nvPr/>
        </p:nvSpPr>
        <p:spPr>
          <a:xfrm>
            <a:off x="777240" y="4974336"/>
            <a:ext cx="2081605" cy="137160"/>
          </a:xfrm>
          <a:prstGeom prst="roundRect">
            <a:avLst>
              <a:gd name="adj" fmla="val 50000"/>
            </a:avLst>
          </a:prstGeom>
          <a:solidFill>
            <a:srgbClr val="6688BE"/>
          </a:solidFill>
          <a:ln w="12700">
            <a:solidFill>
              <a:srgbClr val="333333"/>
            </a:solidFill>
            <a:prstDash val="solid"/>
          </a:ln>
        </p:spPr>
      </p:sp>
      <p:sp>
        <p:nvSpPr>
          <p:cNvPr id="30" name="Text 27"/>
          <p:cNvSpPr/>
          <p:nvPr/>
        </p:nvSpPr>
        <p:spPr>
          <a:xfrm>
            <a:off x="777240" y="5193792"/>
            <a:ext cx="3749040" cy="201168"/>
          </a:xfrm>
          <a:prstGeom prst="rect">
            <a:avLst/>
          </a:prstGeom>
          <a:noFill/>
          <a:ln/>
        </p:spPr>
        <p:txBody>
          <a:bodyPr wrap="square" lIns="0" tIns="0" rIns="0" bIns="0" rtlCol="0" anchor="ctr"/>
          <a:lstStyle/>
          <a:p>
            <a:pPr indent="0" marL="0">
              <a:buNone/>
            </a:pPr>
            <a:r>
              <a:rPr lang="en-US" sz="950" dirty="0">
                <a:solidFill>
                  <a:srgbClr val="54606F"/>
                </a:solidFill>
                <a:latin typeface="Nunito Sans" pitchFamily="34" charset="0"/>
                <a:ea typeface="Nunito Sans" pitchFamily="34" charset="-122"/>
                <a:cs typeface="Nunito Sans" pitchFamily="34" charset="-120"/>
              </a:rPr>
              <a:t>Exports</a:t>
            </a:r>
            <a:endParaRPr lang="en-US" sz="950" dirty="0"/>
          </a:p>
        </p:txBody>
      </p:sp>
      <p:sp>
        <p:nvSpPr>
          <p:cNvPr id="31" name="Text 28"/>
          <p:cNvSpPr/>
          <p:nvPr/>
        </p:nvSpPr>
        <p:spPr>
          <a:xfrm>
            <a:off x="4526280" y="5193792"/>
            <a:ext cx="1737360" cy="201168"/>
          </a:xfrm>
          <a:prstGeom prst="rect">
            <a:avLst/>
          </a:prstGeom>
          <a:noFill/>
          <a:ln/>
        </p:spPr>
        <p:txBody>
          <a:bodyPr wrap="square" lIns="0" tIns="0" rIns="0" bIns="0" rtlCol="0" anchor="ctr"/>
          <a:lstStyle/>
          <a:p>
            <a:pPr algn="r" indent="0" marL="0">
              <a:buNone/>
            </a:pPr>
            <a:r>
              <a:rPr lang="en-US" sz="1000" b="1" dirty="0">
                <a:solidFill>
                  <a:srgbClr val="C8922E"/>
                </a:solidFill>
                <a:latin typeface="Nunito Sans" pitchFamily="34" charset="0"/>
                <a:ea typeface="Nunito Sans" pitchFamily="34" charset="-122"/>
                <a:cs typeface="Nunito Sans" pitchFamily="34" charset="-120"/>
              </a:rPr>
              <a:t>₹54 Cr</a:t>
            </a:r>
            <a:endParaRPr lang="en-US" sz="1000" dirty="0"/>
          </a:p>
        </p:txBody>
      </p:sp>
      <p:sp>
        <p:nvSpPr>
          <p:cNvPr id="32" name="Shape 29"/>
          <p:cNvSpPr/>
          <p:nvPr/>
        </p:nvSpPr>
        <p:spPr>
          <a:xfrm>
            <a:off x="777240" y="5413248"/>
            <a:ext cx="5486400" cy="137160"/>
          </a:xfrm>
          <a:prstGeom prst="roundRect">
            <a:avLst>
              <a:gd name="adj" fmla="val 50000"/>
            </a:avLst>
          </a:prstGeom>
          <a:solidFill>
            <a:srgbClr val="EDE4D4"/>
          </a:solidFill>
          <a:ln w="12700">
            <a:solidFill>
              <a:srgbClr val="333333"/>
            </a:solidFill>
            <a:prstDash val="solid"/>
          </a:ln>
        </p:spPr>
      </p:sp>
      <p:sp>
        <p:nvSpPr>
          <p:cNvPr id="33" name="Shape 30"/>
          <p:cNvSpPr/>
          <p:nvPr/>
        </p:nvSpPr>
        <p:spPr>
          <a:xfrm>
            <a:off x="777240" y="5413248"/>
            <a:ext cx="871369" cy="137160"/>
          </a:xfrm>
          <a:prstGeom prst="roundRect">
            <a:avLst>
              <a:gd name="adj" fmla="val 50000"/>
            </a:avLst>
          </a:prstGeom>
          <a:solidFill>
            <a:srgbClr val="C8922E"/>
          </a:solidFill>
          <a:ln w="12700">
            <a:solidFill>
              <a:srgbClr val="333333"/>
            </a:solidFill>
            <a:prstDash val="solid"/>
          </a:ln>
        </p:spPr>
      </p:sp>
      <p:sp>
        <p:nvSpPr>
          <p:cNvPr id="34" name="Shape 31"/>
          <p:cNvSpPr/>
          <p:nvPr/>
        </p:nvSpPr>
        <p:spPr>
          <a:xfrm>
            <a:off x="502920" y="5888736"/>
            <a:ext cx="6035040" cy="566928"/>
          </a:xfrm>
          <a:prstGeom prst="roundRect">
            <a:avLst>
              <a:gd name="adj" fmla="val 16129"/>
            </a:avLst>
          </a:prstGeom>
          <a:solidFill>
            <a:srgbClr val="EAF0F8"/>
          </a:solidFill>
          <a:ln w="6350">
            <a:solidFill>
              <a:srgbClr val="EAF0F8"/>
            </a:solidFill>
            <a:prstDash val="solid"/>
          </a:ln>
        </p:spPr>
      </p:sp>
      <p:sp>
        <p:nvSpPr>
          <p:cNvPr id="35" name="Text 32"/>
          <p:cNvSpPr/>
          <p:nvPr/>
        </p:nvSpPr>
        <p:spPr>
          <a:xfrm>
            <a:off x="704088" y="6007608"/>
            <a:ext cx="5632704" cy="356616"/>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No single channel above 40% — the ceiling is what stops the plan becoming a bet on one platform.</a:t>
            </a:r>
            <a:endParaRPr lang="en-US" sz="900" dirty="0"/>
          </a:p>
        </p:txBody>
      </p:sp>
      <p:sp>
        <p:nvSpPr>
          <p:cNvPr id="36" name="Text 33"/>
          <p:cNvSpPr/>
          <p:nvPr/>
        </p:nvSpPr>
        <p:spPr>
          <a:xfrm>
            <a:off x="6812280" y="3401568"/>
            <a:ext cx="4876495"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SEQUENCE</a:t>
            </a:r>
            <a:endParaRPr lang="en-US" sz="950" dirty="0"/>
          </a:p>
        </p:txBody>
      </p:sp>
      <p:sp>
        <p:nvSpPr>
          <p:cNvPr id="37" name="Shape 34"/>
          <p:cNvSpPr/>
          <p:nvPr/>
        </p:nvSpPr>
        <p:spPr>
          <a:xfrm>
            <a:off x="6812280" y="3675888"/>
            <a:ext cx="4876495" cy="640080"/>
          </a:xfrm>
          <a:prstGeom prst="roundRect">
            <a:avLst>
              <a:gd name="adj" fmla="val 14286"/>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38" name="Shape 35"/>
          <p:cNvSpPr/>
          <p:nvPr/>
        </p:nvSpPr>
        <p:spPr>
          <a:xfrm>
            <a:off x="6995160" y="3813048"/>
            <a:ext cx="365760" cy="365760"/>
          </a:xfrm>
          <a:prstGeom prst="ellipse">
            <a:avLst/>
          </a:prstGeom>
          <a:solidFill>
            <a:srgbClr val="3A5D97"/>
          </a:solidFill>
          <a:ln w="12700">
            <a:solidFill>
              <a:srgbClr val="333333"/>
            </a:solidFill>
            <a:prstDash val="solid"/>
          </a:ln>
        </p:spPr>
      </p:sp>
      <p:sp>
        <p:nvSpPr>
          <p:cNvPr id="39" name="Text 36"/>
          <p:cNvSpPr/>
          <p:nvPr/>
        </p:nvSpPr>
        <p:spPr>
          <a:xfrm>
            <a:off x="6995160" y="3813048"/>
            <a:ext cx="365760" cy="365760"/>
          </a:xfrm>
          <a:prstGeom prst="rect">
            <a:avLst/>
          </a:prstGeom>
          <a:noFill/>
          <a:ln/>
        </p:spPr>
        <p:txBody>
          <a:bodyPr wrap="square" lIns="0" tIns="0" rIns="0" bIns="0" rtlCol="0" anchor="ctr"/>
          <a:lstStyle/>
          <a:p>
            <a:pPr algn="ctr" indent="0" marL="0">
              <a:buNone/>
            </a:pPr>
            <a:r>
              <a:rPr lang="en-US" sz="1000" dirty="0">
                <a:solidFill>
                  <a:srgbClr val="FFFFFF"/>
                </a:solidFill>
                <a:latin typeface="Archivo Black" pitchFamily="34" charset="0"/>
                <a:ea typeface="Archivo Black" pitchFamily="34" charset="-122"/>
                <a:cs typeface="Archivo Black" pitchFamily="34" charset="-120"/>
              </a:rPr>
              <a:t>1</a:t>
            </a:r>
            <a:endParaRPr lang="en-US" sz="1000" dirty="0"/>
          </a:p>
        </p:txBody>
      </p:sp>
      <p:sp>
        <p:nvSpPr>
          <p:cNvPr id="40" name="Text 37"/>
          <p:cNvSpPr/>
          <p:nvPr/>
        </p:nvSpPr>
        <p:spPr>
          <a:xfrm>
            <a:off x="7470648" y="3749040"/>
            <a:ext cx="4035247" cy="237744"/>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Earn the metro shelf</a:t>
            </a:r>
            <a:endParaRPr lang="en-US" sz="950" dirty="0"/>
          </a:p>
        </p:txBody>
      </p:sp>
      <p:sp>
        <p:nvSpPr>
          <p:cNvPr id="41" name="Text 38"/>
          <p:cNvSpPr/>
          <p:nvPr/>
        </p:nvSpPr>
        <p:spPr>
          <a:xfrm>
            <a:off x="7470648" y="3986784"/>
            <a:ext cx="4035247" cy="274320"/>
          </a:xfrm>
          <a:prstGeom prst="rect">
            <a:avLst/>
          </a:prstGeom>
          <a:noFill/>
          <a:ln/>
        </p:spPr>
        <p:txBody>
          <a:bodyPr wrap="square" lIns="0" tIns="0" rIns="0" bIns="0" rtlCol="0" anchor="t"/>
          <a:lstStyle/>
          <a:p>
            <a:pPr indent="0" marL="0">
              <a:lnSpc>
                <a:spcPct val="102000"/>
              </a:lnSpc>
              <a:buNone/>
            </a:pPr>
            <a:r>
              <a:rPr lang="en-US" sz="800" dirty="0">
                <a:solidFill>
                  <a:srgbClr val="54606F"/>
                </a:solidFill>
                <a:latin typeface="Nunito Sans" pitchFamily="34" charset="0"/>
                <a:ea typeface="Nunito Sans" pitchFamily="34" charset="-122"/>
                <a:cs typeface="Nunito Sans" pitchFamily="34" charset="-120"/>
              </a:rPr>
              <a:t>Prove velocity where the Guardians already shop.</a:t>
            </a:r>
            <a:endParaRPr lang="en-US" sz="800" dirty="0"/>
          </a:p>
        </p:txBody>
      </p:sp>
      <p:sp>
        <p:nvSpPr>
          <p:cNvPr id="42" name="Shape 39"/>
          <p:cNvSpPr/>
          <p:nvPr/>
        </p:nvSpPr>
        <p:spPr>
          <a:xfrm>
            <a:off x="6812280" y="4389120"/>
            <a:ext cx="4876495" cy="640080"/>
          </a:xfrm>
          <a:prstGeom prst="roundRect">
            <a:avLst>
              <a:gd name="adj" fmla="val 14286"/>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43" name="Shape 40"/>
          <p:cNvSpPr/>
          <p:nvPr/>
        </p:nvSpPr>
        <p:spPr>
          <a:xfrm>
            <a:off x="6995160" y="4526280"/>
            <a:ext cx="365760" cy="365760"/>
          </a:xfrm>
          <a:prstGeom prst="ellipse">
            <a:avLst/>
          </a:prstGeom>
          <a:solidFill>
            <a:srgbClr val="3A5D97"/>
          </a:solidFill>
          <a:ln w="12700">
            <a:solidFill>
              <a:srgbClr val="333333"/>
            </a:solidFill>
            <a:prstDash val="solid"/>
          </a:ln>
        </p:spPr>
      </p:sp>
      <p:sp>
        <p:nvSpPr>
          <p:cNvPr id="44" name="Text 41"/>
          <p:cNvSpPr/>
          <p:nvPr/>
        </p:nvSpPr>
        <p:spPr>
          <a:xfrm>
            <a:off x="6995160" y="4526280"/>
            <a:ext cx="365760" cy="365760"/>
          </a:xfrm>
          <a:prstGeom prst="rect">
            <a:avLst/>
          </a:prstGeom>
          <a:noFill/>
          <a:ln/>
        </p:spPr>
        <p:txBody>
          <a:bodyPr wrap="square" lIns="0" tIns="0" rIns="0" bIns="0" rtlCol="0" anchor="ctr"/>
          <a:lstStyle/>
          <a:p>
            <a:pPr algn="ctr" indent="0" marL="0">
              <a:buNone/>
            </a:pPr>
            <a:r>
              <a:rPr lang="en-US" sz="1000" dirty="0">
                <a:solidFill>
                  <a:srgbClr val="FFFFFF"/>
                </a:solidFill>
                <a:latin typeface="Archivo Black" pitchFamily="34" charset="0"/>
                <a:ea typeface="Archivo Black" pitchFamily="34" charset="-122"/>
                <a:cs typeface="Archivo Black" pitchFamily="34" charset="-120"/>
              </a:rPr>
              <a:t>2</a:t>
            </a:r>
            <a:endParaRPr lang="en-US" sz="1000" dirty="0"/>
          </a:p>
        </p:txBody>
      </p:sp>
      <p:sp>
        <p:nvSpPr>
          <p:cNvPr id="45" name="Text 42"/>
          <p:cNvSpPr/>
          <p:nvPr/>
        </p:nvSpPr>
        <p:spPr>
          <a:xfrm>
            <a:off x="7470648" y="4462272"/>
            <a:ext cx="4035247" cy="237744"/>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Ride quick commerce into Tier 2 &amp; 3</a:t>
            </a:r>
            <a:endParaRPr lang="en-US" sz="950" dirty="0"/>
          </a:p>
        </p:txBody>
      </p:sp>
      <p:sp>
        <p:nvSpPr>
          <p:cNvPr id="46" name="Text 43"/>
          <p:cNvSpPr/>
          <p:nvPr/>
        </p:nvSpPr>
        <p:spPr>
          <a:xfrm>
            <a:off x="7470648" y="4700016"/>
            <a:ext cx="4035247" cy="274320"/>
          </a:xfrm>
          <a:prstGeom prst="rect">
            <a:avLst/>
          </a:prstGeom>
          <a:noFill/>
          <a:ln/>
        </p:spPr>
        <p:txBody>
          <a:bodyPr wrap="square" lIns="0" tIns="0" rIns="0" bIns="0" rtlCol="0" anchor="t"/>
          <a:lstStyle/>
          <a:p>
            <a:pPr indent="0" marL="0">
              <a:lnSpc>
                <a:spcPct val="102000"/>
              </a:lnSpc>
              <a:buNone/>
            </a:pPr>
            <a:r>
              <a:rPr lang="en-US" sz="800" dirty="0">
                <a:solidFill>
                  <a:srgbClr val="54606F"/>
                </a:solidFill>
                <a:latin typeface="Nunito Sans" pitchFamily="34" charset="0"/>
                <a:ea typeface="Nunito Sans" pitchFamily="34" charset="-122"/>
                <a:cs typeface="Nunito Sans" pitchFamily="34" charset="-120"/>
              </a:rPr>
              <a:t>Distribution without the fixed cost of feet on street.</a:t>
            </a:r>
            <a:endParaRPr lang="en-US" sz="800" dirty="0"/>
          </a:p>
        </p:txBody>
      </p:sp>
      <p:sp>
        <p:nvSpPr>
          <p:cNvPr id="47" name="Shape 44"/>
          <p:cNvSpPr/>
          <p:nvPr/>
        </p:nvSpPr>
        <p:spPr>
          <a:xfrm>
            <a:off x="6812280" y="5102352"/>
            <a:ext cx="4876495" cy="640080"/>
          </a:xfrm>
          <a:prstGeom prst="roundRect">
            <a:avLst>
              <a:gd name="adj" fmla="val 14286"/>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48" name="Shape 45"/>
          <p:cNvSpPr/>
          <p:nvPr/>
        </p:nvSpPr>
        <p:spPr>
          <a:xfrm>
            <a:off x="6995160" y="5239512"/>
            <a:ext cx="365760" cy="365760"/>
          </a:xfrm>
          <a:prstGeom prst="ellipse">
            <a:avLst/>
          </a:prstGeom>
          <a:solidFill>
            <a:srgbClr val="3A5D97"/>
          </a:solidFill>
          <a:ln w="12700">
            <a:solidFill>
              <a:srgbClr val="333333"/>
            </a:solidFill>
            <a:prstDash val="solid"/>
          </a:ln>
        </p:spPr>
      </p:sp>
      <p:sp>
        <p:nvSpPr>
          <p:cNvPr id="49" name="Text 46"/>
          <p:cNvSpPr/>
          <p:nvPr/>
        </p:nvSpPr>
        <p:spPr>
          <a:xfrm>
            <a:off x="6995160" y="5239512"/>
            <a:ext cx="365760" cy="365760"/>
          </a:xfrm>
          <a:prstGeom prst="rect">
            <a:avLst/>
          </a:prstGeom>
          <a:noFill/>
          <a:ln/>
        </p:spPr>
        <p:txBody>
          <a:bodyPr wrap="square" lIns="0" tIns="0" rIns="0" bIns="0" rtlCol="0" anchor="ctr"/>
          <a:lstStyle/>
          <a:p>
            <a:pPr algn="ctr" indent="0" marL="0">
              <a:buNone/>
            </a:pPr>
            <a:r>
              <a:rPr lang="en-US" sz="1000" dirty="0">
                <a:solidFill>
                  <a:srgbClr val="FFFFFF"/>
                </a:solidFill>
                <a:latin typeface="Archivo Black" pitchFamily="34" charset="0"/>
                <a:ea typeface="Archivo Black" pitchFamily="34" charset="-122"/>
                <a:cs typeface="Archivo Black" pitchFamily="34" charset="-120"/>
              </a:rPr>
              <a:t>3</a:t>
            </a:r>
            <a:endParaRPr lang="en-US" sz="1000" dirty="0"/>
          </a:p>
        </p:txBody>
      </p:sp>
      <p:sp>
        <p:nvSpPr>
          <p:cNvPr id="50" name="Text 47"/>
          <p:cNvSpPr/>
          <p:nvPr/>
        </p:nvSpPr>
        <p:spPr>
          <a:xfrm>
            <a:off x="7470648" y="5175504"/>
            <a:ext cx="4035247" cy="237744"/>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Convert regional chains, state by state</a:t>
            </a:r>
            <a:endParaRPr lang="en-US" sz="950" dirty="0"/>
          </a:p>
        </p:txBody>
      </p:sp>
      <p:sp>
        <p:nvSpPr>
          <p:cNvPr id="51" name="Text 48"/>
          <p:cNvSpPr/>
          <p:nvPr/>
        </p:nvSpPr>
        <p:spPr>
          <a:xfrm>
            <a:off x="7470648" y="5413248"/>
            <a:ext cx="4035247" cy="274320"/>
          </a:xfrm>
          <a:prstGeom prst="rect">
            <a:avLst/>
          </a:prstGeom>
          <a:noFill/>
          <a:ln/>
        </p:spPr>
        <p:txBody>
          <a:bodyPr wrap="square" lIns="0" tIns="0" rIns="0" bIns="0" rtlCol="0" anchor="t"/>
          <a:lstStyle/>
          <a:p>
            <a:pPr indent="0" marL="0">
              <a:lnSpc>
                <a:spcPct val="102000"/>
              </a:lnSpc>
              <a:buNone/>
            </a:pPr>
            <a:r>
              <a:rPr lang="en-US" sz="800" dirty="0">
                <a:solidFill>
                  <a:srgbClr val="54606F"/>
                </a:solidFill>
                <a:latin typeface="Nunito Sans" pitchFamily="34" charset="0"/>
                <a:ea typeface="Nunito Sans" pitchFamily="34" charset="-122"/>
                <a:cs typeface="Nunito Sans" pitchFamily="34" charset="-120"/>
              </a:rPr>
              <a:t>Regional &amp; premium offline is the second-largest pool at ₹263 Cr.</a:t>
            </a:r>
            <a:endParaRPr lang="en-US" sz="800" dirty="0"/>
          </a:p>
        </p:txBody>
      </p:sp>
      <p:sp>
        <p:nvSpPr>
          <p:cNvPr id="52" name="Shape 49"/>
          <p:cNvSpPr/>
          <p:nvPr/>
        </p:nvSpPr>
        <p:spPr>
          <a:xfrm>
            <a:off x="6812280" y="5815584"/>
            <a:ext cx="4876495" cy="640080"/>
          </a:xfrm>
          <a:prstGeom prst="roundRect">
            <a:avLst>
              <a:gd name="adj" fmla="val 14286"/>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53" name="Shape 50"/>
          <p:cNvSpPr/>
          <p:nvPr/>
        </p:nvSpPr>
        <p:spPr>
          <a:xfrm>
            <a:off x="6995160" y="5952744"/>
            <a:ext cx="365760" cy="365760"/>
          </a:xfrm>
          <a:prstGeom prst="ellipse">
            <a:avLst/>
          </a:prstGeom>
          <a:solidFill>
            <a:srgbClr val="3A5D97"/>
          </a:solidFill>
          <a:ln w="12700">
            <a:solidFill>
              <a:srgbClr val="333333"/>
            </a:solidFill>
            <a:prstDash val="solid"/>
          </a:ln>
        </p:spPr>
      </p:sp>
      <p:sp>
        <p:nvSpPr>
          <p:cNvPr id="54" name="Text 51"/>
          <p:cNvSpPr/>
          <p:nvPr/>
        </p:nvSpPr>
        <p:spPr>
          <a:xfrm>
            <a:off x="6995160" y="5952744"/>
            <a:ext cx="365760" cy="365760"/>
          </a:xfrm>
          <a:prstGeom prst="rect">
            <a:avLst/>
          </a:prstGeom>
          <a:noFill/>
          <a:ln/>
        </p:spPr>
        <p:txBody>
          <a:bodyPr wrap="square" lIns="0" tIns="0" rIns="0" bIns="0" rtlCol="0" anchor="ctr"/>
          <a:lstStyle/>
          <a:p>
            <a:pPr algn="ctr" indent="0" marL="0">
              <a:buNone/>
            </a:pPr>
            <a:r>
              <a:rPr lang="en-US" sz="1000" dirty="0">
                <a:solidFill>
                  <a:srgbClr val="FFFFFF"/>
                </a:solidFill>
                <a:latin typeface="Archivo Black" pitchFamily="34" charset="0"/>
                <a:ea typeface="Archivo Black" pitchFamily="34" charset="-122"/>
                <a:cs typeface="Archivo Black" pitchFamily="34" charset="-120"/>
              </a:rPr>
              <a:t>4</a:t>
            </a:r>
            <a:endParaRPr lang="en-US" sz="1000" dirty="0"/>
          </a:p>
        </p:txBody>
      </p:sp>
      <p:sp>
        <p:nvSpPr>
          <p:cNvPr id="55" name="Text 52"/>
          <p:cNvSpPr/>
          <p:nvPr/>
        </p:nvSpPr>
        <p:spPr>
          <a:xfrm>
            <a:off x="7470648" y="5888736"/>
            <a:ext cx="4035247" cy="237744"/>
          </a:xfrm>
          <a:prstGeom prst="rect">
            <a:avLst/>
          </a:prstGeom>
          <a:noFill/>
          <a:ln/>
        </p:spPr>
        <p:txBody>
          <a:bodyPr wrap="square" lIns="0" tIns="0" rIns="0" bIns="0" rtlCol="0" anchor="t"/>
          <a:lstStyle/>
          <a:p>
            <a:pPr indent="0" marL="0">
              <a:buNone/>
            </a:pPr>
            <a:r>
              <a:rPr lang="en-US" sz="950" b="1" dirty="0">
                <a:solidFill>
                  <a:srgbClr val="0C1A2B"/>
                </a:solidFill>
                <a:latin typeface="Nunito Sans" pitchFamily="34" charset="0"/>
                <a:ea typeface="Nunito Sans" pitchFamily="34" charset="-122"/>
                <a:cs typeface="Nunito Sans" pitchFamily="34" charset="-120"/>
              </a:rPr>
              <a:t>Densify what is already open</a:t>
            </a:r>
            <a:endParaRPr lang="en-US" sz="950" dirty="0"/>
          </a:p>
        </p:txBody>
      </p:sp>
      <p:sp>
        <p:nvSpPr>
          <p:cNvPr id="56" name="Text 53"/>
          <p:cNvSpPr/>
          <p:nvPr/>
        </p:nvSpPr>
        <p:spPr>
          <a:xfrm>
            <a:off x="7470648" y="6126480"/>
            <a:ext cx="4035247" cy="274320"/>
          </a:xfrm>
          <a:prstGeom prst="rect">
            <a:avLst/>
          </a:prstGeom>
          <a:noFill/>
          <a:ln/>
        </p:spPr>
        <p:txBody>
          <a:bodyPr wrap="square" lIns="0" tIns="0" rIns="0" bIns="0" rtlCol="0" anchor="t"/>
          <a:lstStyle/>
          <a:p>
            <a:pPr indent="0" marL="0">
              <a:lnSpc>
                <a:spcPct val="102000"/>
              </a:lnSpc>
              <a:buNone/>
            </a:pPr>
            <a:r>
              <a:rPr lang="en-US" sz="800" dirty="0">
                <a:solidFill>
                  <a:srgbClr val="54606F"/>
                </a:solidFill>
                <a:latin typeface="Nunito Sans" pitchFamily="34" charset="0"/>
                <a:ea typeface="Nunito Sans" pitchFamily="34" charset="-122"/>
                <a:cs typeface="Nunito Sans" pitchFamily="34" charset="-120"/>
              </a:rPr>
              <a:t>Adding SKUs per store is cheaper than adding stores.</a:t>
            </a:r>
            <a:endParaRPr lang="en-US" sz="800" dirty="0"/>
          </a:p>
        </p:txBody>
      </p:sp>
      <p:sp>
        <p:nvSpPr>
          <p:cNvPr id="57" name="Shape 54"/>
          <p:cNvSpPr/>
          <p:nvPr/>
        </p:nvSpPr>
        <p:spPr>
          <a:xfrm>
            <a:off x="502920" y="6455664"/>
            <a:ext cx="11185855" cy="0"/>
          </a:xfrm>
          <a:prstGeom prst="line">
            <a:avLst/>
          </a:prstGeom>
          <a:noFill/>
          <a:ln w="9525">
            <a:solidFill>
              <a:srgbClr val="E5DCCB"/>
            </a:solidFill>
            <a:prstDash val="solid"/>
          </a:ln>
        </p:spPr>
      </p:sp>
      <p:sp>
        <p:nvSpPr>
          <p:cNvPr id="58" name="Text 55"/>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05 · THE GROWTH ENGINE</a:t>
            </a:r>
            <a:endParaRPr lang="en-US" sz="800" dirty="0"/>
          </a:p>
        </p:txBody>
      </p:sp>
      <p:sp>
        <p:nvSpPr>
          <p:cNvPr id="59" name="Text 56"/>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34</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logo.png">    </p:cNvPr>
          <p:cNvPicPr>
            <a:picLocks noChangeAspect="1"/>
          </p:cNvPicPr>
          <p:nvPr/>
        </p:nvPicPr>
        <p:blipFill>
          <a:blip r:embed="rId1"/>
          <a:stretch>
            <a:fillRect/>
          </a:stretch>
        </p:blipFill>
        <p:spPr>
          <a:xfrm>
            <a:off x="10317175" y="457200"/>
            <a:ext cx="1371600" cy="502920"/>
          </a:xfrm>
          <a:prstGeom prst="rect">
            <a:avLst/>
          </a:prstGeom>
        </p:spPr>
      </p:pic>
      <p:sp>
        <p:nvSpPr>
          <p:cNvPr id="3" name="Shape 0"/>
          <p:cNvSpPr/>
          <p:nvPr/>
        </p:nvSpPr>
        <p:spPr>
          <a:xfrm>
            <a:off x="502920" y="2212848"/>
            <a:ext cx="1005840" cy="64008"/>
          </a:xfrm>
          <a:prstGeom prst="rect">
            <a:avLst/>
          </a:prstGeom>
          <a:solidFill>
            <a:srgbClr val="5FC28C"/>
          </a:solidFill>
          <a:ln w="6350">
            <a:solidFill>
              <a:srgbClr val="5FC28C"/>
            </a:solidFill>
            <a:prstDash val="solid"/>
          </a:ln>
        </p:spPr>
      </p:sp>
      <p:sp>
        <p:nvSpPr>
          <p:cNvPr id="4" name="Text 1"/>
          <p:cNvSpPr/>
          <p:nvPr/>
        </p:nvSpPr>
        <p:spPr>
          <a:xfrm>
            <a:off x="502920" y="2432304"/>
            <a:ext cx="7315200" cy="256032"/>
          </a:xfrm>
          <a:prstGeom prst="rect">
            <a:avLst/>
          </a:prstGeom>
          <a:noFill/>
          <a:ln/>
        </p:spPr>
        <p:txBody>
          <a:bodyPr wrap="square" lIns="0" tIns="0" rIns="0" bIns="0" rtlCol="0" anchor="ctr"/>
          <a:lstStyle/>
          <a:p>
            <a:pPr indent="0" marL="0">
              <a:buNone/>
            </a:pPr>
            <a:r>
              <a:rPr lang="en-US" sz="950" b="1" spc="260" kern="0" dirty="0">
                <a:solidFill>
                  <a:srgbClr val="5FC28C"/>
                </a:solidFill>
                <a:latin typeface="Nunito Sans" pitchFamily="34" charset="0"/>
                <a:ea typeface="Nunito Sans" pitchFamily="34" charset="-122"/>
                <a:cs typeface="Nunito Sans" pitchFamily="34" charset="-120"/>
              </a:rPr>
              <a:t>THE LEVER IN PART 05</a:t>
            </a:r>
            <a:endParaRPr lang="en-US" sz="950" dirty="0"/>
          </a:p>
        </p:txBody>
      </p:sp>
      <p:sp>
        <p:nvSpPr>
          <p:cNvPr id="5" name="Text 2"/>
          <p:cNvSpPr/>
          <p:nvPr/>
        </p:nvSpPr>
        <p:spPr>
          <a:xfrm>
            <a:off x="502920" y="2788920"/>
            <a:ext cx="9509760" cy="1920240"/>
          </a:xfrm>
          <a:prstGeom prst="rect">
            <a:avLst/>
          </a:prstGeom>
          <a:noFill/>
          <a:ln/>
        </p:spPr>
        <p:txBody>
          <a:bodyPr wrap="square" lIns="0" tIns="0" rIns="0" bIns="0" rtlCol="0" anchor="t"/>
          <a:lstStyle/>
          <a:p>
            <a:pPr indent="0" marL="0">
              <a:lnSpc>
                <a:spcPct val="106000"/>
              </a:lnSpc>
              <a:buNone/>
            </a:pPr>
            <a:r>
              <a:rPr lang="en-US" sz="3000" dirty="0">
                <a:solidFill>
                  <a:srgbClr val="FFFFFF"/>
                </a:solidFill>
                <a:latin typeface="Archivo Black" pitchFamily="34" charset="0"/>
                <a:ea typeface="Archivo Black" pitchFamily="34" charset="-122"/>
                <a:cs typeface="Archivo Black" pitchFamily="34" charset="-120"/>
              </a:rPr>
              <a:t>Spices deliver the entire +5.8pp of margin expansion.</a:t>
            </a:r>
            <a:endParaRPr lang="en-US" sz="3000" dirty="0"/>
          </a:p>
        </p:txBody>
      </p:sp>
      <p:sp>
        <p:nvSpPr>
          <p:cNvPr id="6" name="Text 3"/>
          <p:cNvSpPr/>
          <p:nvPr/>
        </p:nvSpPr>
        <p:spPr>
          <a:xfrm>
            <a:off x="502920" y="4846320"/>
            <a:ext cx="7863840" cy="457200"/>
          </a:xfrm>
          <a:prstGeom prst="rect">
            <a:avLst/>
          </a:prstGeom>
          <a:noFill/>
          <a:ln/>
        </p:spPr>
        <p:txBody>
          <a:bodyPr wrap="square" lIns="0" tIns="0" rIns="0" bIns="0" rtlCol="0" anchor="t"/>
          <a:lstStyle/>
          <a:p>
            <a:pPr indent="0" marL="0">
              <a:lnSpc>
                <a:spcPct val="112000"/>
              </a:lnSpc>
              <a:buNone/>
            </a:pPr>
            <a:r>
              <a:rPr lang="en-US" sz="1200" dirty="0">
                <a:solidFill>
                  <a:srgbClr val="A9B6C7"/>
                </a:solidFill>
                <a:latin typeface="Nunito Sans" pitchFamily="34" charset="0"/>
                <a:ea typeface="Nunito Sans" pitchFamily="34" charset="-122"/>
                <a:cs typeface="Nunito Sans" pitchFamily="34" charset="-120"/>
              </a:rPr>
              <a:t>So a slipped spice launch is a slipped P&amp;L.</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div-06.jpg">    </p:cNvPr>
          <p:cNvPicPr>
            <a:picLocks noChangeAspect="1"/>
          </p:cNvPicPr>
          <p:nvPr/>
        </p:nvPicPr>
        <p:blipFill>
          <a:blip r:embed="rId1"/>
          <a:srcRect l="0" r="0" t="0" b="0"/>
          <a:stretch/>
        </p:blipFill>
        <p:spPr>
          <a:xfrm>
            <a:off x="0" y="0"/>
            <a:ext cx="12191695" cy="6858000"/>
          </a:xfrm>
          <a:prstGeom prst="rect">
            <a:avLst/>
          </a:prstGeom>
        </p:spPr>
      </p:pic>
      <p:pic>
        <p:nvPicPr>
          <p:cNvPr id="3" name="Image 1" descr="/home/user/hopper-tessarakt/site/assets/logo.png">    </p:cNvPr>
          <p:cNvPicPr>
            <a:picLocks noChangeAspect="1"/>
          </p:cNvPicPr>
          <p:nvPr/>
        </p:nvPicPr>
        <p:blipFill>
          <a:blip r:embed="rId2"/>
          <a:stretch>
            <a:fillRect/>
          </a:stretch>
        </p:blipFill>
        <p:spPr>
          <a:xfrm>
            <a:off x="10317175" y="457200"/>
            <a:ext cx="1371600" cy="502920"/>
          </a:xfrm>
          <a:prstGeom prst="rect">
            <a:avLst/>
          </a:prstGeom>
        </p:spPr>
      </p:pic>
      <p:sp>
        <p:nvSpPr>
          <p:cNvPr id="4" name="Text 0"/>
          <p:cNvSpPr/>
          <p:nvPr/>
        </p:nvSpPr>
        <p:spPr>
          <a:xfrm>
            <a:off x="502920" y="3200400"/>
            <a:ext cx="5486400" cy="274320"/>
          </a:xfrm>
          <a:prstGeom prst="rect">
            <a:avLst/>
          </a:prstGeom>
          <a:noFill/>
          <a:ln/>
        </p:spPr>
        <p:txBody>
          <a:bodyPr wrap="square" lIns="0" tIns="0" rIns="0" bIns="0" rtlCol="0" anchor="ctr"/>
          <a:lstStyle/>
          <a:p>
            <a:pPr indent="0" marL="0">
              <a:buNone/>
            </a:pPr>
            <a:r>
              <a:rPr lang="en-US" sz="1000" b="1" spc="320" kern="0" dirty="0">
                <a:solidFill>
                  <a:srgbClr val="5FC28C"/>
                </a:solidFill>
                <a:latin typeface="Nunito Sans" pitchFamily="34" charset="0"/>
                <a:ea typeface="Nunito Sans" pitchFamily="34" charset="-122"/>
                <a:cs typeface="Nunito Sans" pitchFamily="34" charset="-120"/>
              </a:rPr>
              <a:t>PART 06</a:t>
            </a:r>
            <a:endParaRPr lang="en-US" sz="1000" dirty="0"/>
          </a:p>
        </p:txBody>
      </p:sp>
      <p:sp>
        <p:nvSpPr>
          <p:cNvPr id="5" name="Text 1"/>
          <p:cNvSpPr/>
          <p:nvPr/>
        </p:nvSpPr>
        <p:spPr>
          <a:xfrm>
            <a:off x="502920" y="3529584"/>
            <a:ext cx="8595360" cy="960120"/>
          </a:xfrm>
          <a:prstGeom prst="rect">
            <a:avLst/>
          </a:prstGeom>
          <a:noFill/>
          <a:ln/>
        </p:spPr>
        <p:txBody>
          <a:bodyPr wrap="square" lIns="0" tIns="0" rIns="0" bIns="0" rtlCol="0" anchor="t"/>
          <a:lstStyle/>
          <a:p>
            <a:pPr indent="0" marL="0">
              <a:buNone/>
            </a:pPr>
            <a:r>
              <a:rPr lang="en-US" sz="4000" dirty="0">
                <a:solidFill>
                  <a:srgbClr val="FFFFFF"/>
                </a:solidFill>
                <a:latin typeface="Archivo Black" pitchFamily="34" charset="0"/>
                <a:ea typeface="Archivo Black" pitchFamily="34" charset="-122"/>
                <a:cs typeface="Archivo Black" pitchFamily="34" charset="-120"/>
              </a:rPr>
              <a:t>The Moat &amp; The Ask</a:t>
            </a:r>
            <a:endParaRPr lang="en-US" sz="4000" dirty="0"/>
          </a:p>
        </p:txBody>
      </p:sp>
      <p:sp>
        <p:nvSpPr>
          <p:cNvPr id="6" name="Text 2"/>
          <p:cNvSpPr/>
          <p:nvPr/>
        </p:nvSpPr>
        <p:spPr>
          <a:xfrm>
            <a:off x="502920" y="4553712"/>
            <a:ext cx="7498080" cy="457200"/>
          </a:xfrm>
          <a:prstGeom prst="rect">
            <a:avLst/>
          </a:prstGeom>
          <a:noFill/>
          <a:ln/>
        </p:spPr>
        <p:txBody>
          <a:bodyPr wrap="square" lIns="0" tIns="0" rIns="0" bIns="0" rtlCol="0" anchor="t"/>
          <a:lstStyle/>
          <a:p>
            <a:pPr indent="0" marL="0">
              <a:lnSpc>
                <a:spcPct val="114000"/>
              </a:lnSpc>
              <a:buNone/>
            </a:pPr>
            <a:r>
              <a:rPr lang="en-US" sz="1300" dirty="0">
                <a:solidFill>
                  <a:srgbClr val="A9B6C7"/>
                </a:solidFill>
                <a:latin typeface="Nunito Sans" pitchFamily="34" charset="0"/>
                <a:ea typeface="Nunito Sans" pitchFamily="34" charset="-122"/>
                <a:cs typeface="Nunito Sans" pitchFamily="34" charset="-120"/>
              </a:rPr>
              <a:t>What DHF controls, how long it survives imitation, and what it costs to build.</a:t>
            </a:r>
            <a:endParaRPr lang="en-US" sz="1300" dirty="0"/>
          </a:p>
        </p:txBody>
      </p:sp>
      <p:sp>
        <p:nvSpPr>
          <p:cNvPr id="7" name="Shape 3"/>
          <p:cNvSpPr/>
          <p:nvPr/>
        </p:nvSpPr>
        <p:spPr>
          <a:xfrm>
            <a:off x="502920" y="5413248"/>
            <a:ext cx="3362858" cy="0"/>
          </a:xfrm>
          <a:prstGeom prst="line">
            <a:avLst/>
          </a:prstGeom>
          <a:noFill/>
          <a:ln w="9525">
            <a:solidFill>
              <a:srgbClr val="FFFFFF">
                <a:alpha val="28000"/>
              </a:srgbClr>
            </a:solidFill>
            <a:prstDash val="solid"/>
          </a:ln>
        </p:spPr>
      </p:sp>
      <p:sp>
        <p:nvSpPr>
          <p:cNvPr id="8" name="Text 4"/>
          <p:cNvSpPr/>
          <p:nvPr/>
        </p:nvSpPr>
        <p:spPr>
          <a:xfrm>
            <a:off x="502920"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We control the input, not the harvest test</a:t>
            </a:r>
            <a:endParaRPr lang="en-US" sz="950" dirty="0"/>
          </a:p>
        </p:txBody>
      </p:sp>
      <p:sp>
        <p:nvSpPr>
          <p:cNvPr id="9" name="Shape 5"/>
          <p:cNvSpPr/>
          <p:nvPr/>
        </p:nvSpPr>
        <p:spPr>
          <a:xfrm>
            <a:off x="4231538" y="5413248"/>
            <a:ext cx="3362858" cy="0"/>
          </a:xfrm>
          <a:prstGeom prst="line">
            <a:avLst/>
          </a:prstGeom>
          <a:noFill/>
          <a:ln w="9525">
            <a:solidFill>
              <a:srgbClr val="FFFFFF">
                <a:alpha val="28000"/>
              </a:srgbClr>
            </a:solidFill>
            <a:prstDash val="solid"/>
          </a:ln>
        </p:spPr>
      </p:sp>
      <p:sp>
        <p:nvSpPr>
          <p:cNvPr id="10" name="Text 6"/>
          <p:cNvSpPr/>
          <p:nvPr/>
        </p:nvSpPr>
        <p:spPr>
          <a:xfrm>
            <a:off x="4231538"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Only L3 and L4 survive imitation</a:t>
            </a:r>
            <a:endParaRPr lang="en-US" sz="950" dirty="0"/>
          </a:p>
        </p:txBody>
      </p:sp>
      <p:sp>
        <p:nvSpPr>
          <p:cNvPr id="11" name="Shape 7"/>
          <p:cNvSpPr/>
          <p:nvPr/>
        </p:nvSpPr>
        <p:spPr>
          <a:xfrm>
            <a:off x="7960157" y="5413248"/>
            <a:ext cx="3362858" cy="0"/>
          </a:xfrm>
          <a:prstGeom prst="line">
            <a:avLst/>
          </a:prstGeom>
          <a:noFill/>
          <a:ln w="9525">
            <a:solidFill>
              <a:srgbClr val="FFFFFF">
                <a:alpha val="28000"/>
              </a:srgbClr>
            </a:solidFill>
            <a:prstDash val="solid"/>
          </a:ln>
        </p:spPr>
      </p:sp>
      <p:sp>
        <p:nvSpPr>
          <p:cNvPr id="12" name="Text 8"/>
          <p:cNvSpPr/>
          <p:nvPr/>
        </p:nvSpPr>
        <p:spPr>
          <a:xfrm>
            <a:off x="7960157" y="5486400"/>
            <a:ext cx="3362858" cy="457200"/>
          </a:xfrm>
          <a:prstGeom prst="rect">
            <a:avLst/>
          </a:prstGeom>
          <a:noFill/>
          <a:ln/>
        </p:spPr>
        <p:txBody>
          <a:bodyPr wrap="square" lIns="0" tIns="0" rIns="0" bIns="0" rtlCol="0" anchor="t"/>
          <a:lstStyle/>
          <a:p>
            <a:pPr indent="0" marL="0">
              <a:lnSpc>
                <a:spcPct val="106000"/>
              </a:lnSpc>
              <a:buNone/>
            </a:pPr>
            <a:r>
              <a:rPr lang="en-US" sz="950" b="1" dirty="0">
                <a:solidFill>
                  <a:srgbClr val="EEE9E0"/>
                </a:solidFill>
                <a:latin typeface="Nunito Sans" pitchFamily="34" charset="0"/>
                <a:ea typeface="Nunito Sans" pitchFamily="34" charset="-122"/>
                <a:cs typeface="Nunito Sans" pitchFamily="34" charset="-120"/>
              </a:rPr>
              <a:t>₹105 Cr buys breakeven by FY29</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159813"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159813"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COMPETITIVE DEFENCE</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We don't test the harvest. We control the input.</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Every competitor can buy a certificate or commission a lab. None of them can decide what a farmer plants and sprays — because none of them run the agritech network the farmer already uses.</a:t>
            </a:r>
            <a:endParaRPr lang="en-US" sz="1100" dirty="0"/>
          </a:p>
        </p:txBody>
      </p:sp>
      <p:sp>
        <p:nvSpPr>
          <p:cNvPr id="7" name="Shape 4"/>
          <p:cNvSpPr/>
          <p:nvPr/>
        </p:nvSpPr>
        <p:spPr>
          <a:xfrm>
            <a:off x="502920" y="2121408"/>
            <a:ext cx="3545738" cy="0"/>
          </a:xfrm>
          <a:prstGeom prst="line">
            <a:avLst/>
          </a:prstGeom>
          <a:noFill/>
          <a:ln w="25400">
            <a:solidFill>
              <a:srgbClr val="177A46"/>
            </a:solidFill>
            <a:prstDash val="solid"/>
          </a:ln>
        </p:spPr>
      </p:sp>
      <p:sp>
        <p:nvSpPr>
          <p:cNvPr id="8" name="Text 5"/>
          <p:cNvSpPr/>
          <p:nvPr/>
        </p:nvSpPr>
        <p:spPr>
          <a:xfrm>
            <a:off x="502920" y="2267712"/>
            <a:ext cx="3545738" cy="430276"/>
          </a:xfrm>
          <a:prstGeom prst="rect">
            <a:avLst/>
          </a:prstGeom>
          <a:noFill/>
          <a:ln/>
        </p:spPr>
        <p:txBody>
          <a:bodyPr wrap="square" lIns="0" tIns="0" rIns="0" bIns="0" rtlCol="0" anchor="t"/>
          <a:lstStyle/>
          <a:p>
            <a:pPr indent="0" marL="0">
              <a:buNone/>
            </a:pPr>
            <a:r>
              <a:rPr lang="en-US" sz="2500" dirty="0">
                <a:solidFill>
                  <a:srgbClr val="177A46"/>
                </a:solidFill>
                <a:latin typeface="Archivo Black" pitchFamily="34" charset="0"/>
                <a:ea typeface="Archivo Black" pitchFamily="34" charset="-122"/>
                <a:cs typeface="Archivo Black" pitchFamily="34" charset="-120"/>
              </a:rPr>
              <a:t>10 Mn+</a:t>
            </a:r>
            <a:endParaRPr lang="en-US" sz="2500" dirty="0"/>
          </a:p>
        </p:txBody>
      </p:sp>
      <p:sp>
        <p:nvSpPr>
          <p:cNvPr id="9" name="Text 6"/>
          <p:cNvSpPr/>
          <p:nvPr/>
        </p:nvSpPr>
        <p:spPr>
          <a:xfrm>
            <a:off x="502920" y="2734564"/>
            <a:ext cx="3408578" cy="337820"/>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Farmers on the DeHaat network</a:t>
            </a:r>
            <a:endParaRPr lang="en-US" sz="850" dirty="0"/>
          </a:p>
        </p:txBody>
      </p:sp>
      <p:sp>
        <p:nvSpPr>
          <p:cNvPr id="10" name="Shape 7"/>
          <p:cNvSpPr/>
          <p:nvPr/>
        </p:nvSpPr>
        <p:spPr>
          <a:xfrm>
            <a:off x="4322978" y="2121408"/>
            <a:ext cx="3545738" cy="0"/>
          </a:xfrm>
          <a:prstGeom prst="line">
            <a:avLst/>
          </a:prstGeom>
          <a:noFill/>
          <a:ln w="25400">
            <a:solidFill>
              <a:srgbClr val="177A46"/>
            </a:solidFill>
            <a:prstDash val="solid"/>
          </a:ln>
        </p:spPr>
      </p:sp>
      <p:sp>
        <p:nvSpPr>
          <p:cNvPr id="11" name="Text 8"/>
          <p:cNvSpPr/>
          <p:nvPr/>
        </p:nvSpPr>
        <p:spPr>
          <a:xfrm>
            <a:off x="4322978" y="2267712"/>
            <a:ext cx="3545738" cy="430276"/>
          </a:xfrm>
          <a:prstGeom prst="rect">
            <a:avLst/>
          </a:prstGeom>
          <a:noFill/>
          <a:ln/>
        </p:spPr>
        <p:txBody>
          <a:bodyPr wrap="square" lIns="0" tIns="0" rIns="0" bIns="0" rtlCol="0" anchor="t"/>
          <a:lstStyle/>
          <a:p>
            <a:pPr indent="0" marL="0">
              <a:buNone/>
            </a:pPr>
            <a:r>
              <a:rPr lang="en-US" sz="2500" dirty="0">
                <a:solidFill>
                  <a:srgbClr val="177A46"/>
                </a:solidFill>
                <a:latin typeface="Archivo Black" pitchFamily="34" charset="0"/>
                <a:ea typeface="Archivo Black" pitchFamily="34" charset="-122"/>
                <a:cs typeface="Archivo Black" pitchFamily="34" charset="-120"/>
              </a:rPr>
              <a:t>8</a:t>
            </a:r>
            <a:endParaRPr lang="en-US" sz="2500" dirty="0"/>
          </a:p>
        </p:txBody>
      </p:sp>
      <p:sp>
        <p:nvSpPr>
          <p:cNvPr id="12" name="Text 9"/>
          <p:cNvSpPr/>
          <p:nvPr/>
        </p:nvSpPr>
        <p:spPr>
          <a:xfrm>
            <a:off x="4322978" y="2734564"/>
            <a:ext cx="3408578" cy="337820"/>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Sourcing clusters owned end to end</a:t>
            </a:r>
            <a:endParaRPr lang="en-US" sz="850" dirty="0"/>
          </a:p>
        </p:txBody>
      </p:sp>
      <p:sp>
        <p:nvSpPr>
          <p:cNvPr id="13" name="Shape 10"/>
          <p:cNvSpPr/>
          <p:nvPr/>
        </p:nvSpPr>
        <p:spPr>
          <a:xfrm>
            <a:off x="8143037" y="2121408"/>
            <a:ext cx="3545738" cy="0"/>
          </a:xfrm>
          <a:prstGeom prst="line">
            <a:avLst/>
          </a:prstGeom>
          <a:noFill/>
          <a:ln w="25400">
            <a:solidFill>
              <a:srgbClr val="177A46"/>
            </a:solidFill>
            <a:prstDash val="solid"/>
          </a:ln>
        </p:spPr>
      </p:sp>
      <p:sp>
        <p:nvSpPr>
          <p:cNvPr id="14" name="Text 11"/>
          <p:cNvSpPr/>
          <p:nvPr/>
        </p:nvSpPr>
        <p:spPr>
          <a:xfrm>
            <a:off x="8143037" y="2267712"/>
            <a:ext cx="3545738" cy="430276"/>
          </a:xfrm>
          <a:prstGeom prst="rect">
            <a:avLst/>
          </a:prstGeom>
          <a:noFill/>
          <a:ln/>
        </p:spPr>
        <p:txBody>
          <a:bodyPr wrap="square" lIns="0" tIns="0" rIns="0" bIns="0" rtlCol="0" anchor="t"/>
          <a:lstStyle/>
          <a:p>
            <a:pPr indent="0" marL="0">
              <a:buNone/>
            </a:pPr>
            <a:r>
              <a:rPr lang="en-US" sz="2500" dirty="0">
                <a:solidFill>
                  <a:srgbClr val="177A46"/>
                </a:solidFill>
                <a:latin typeface="Archivo Black" pitchFamily="34" charset="0"/>
                <a:ea typeface="Archivo Black" pitchFamily="34" charset="-122"/>
                <a:cs typeface="Archivo Black" pitchFamily="34" charset="-120"/>
              </a:rPr>
              <a:t>230+</a:t>
            </a:r>
            <a:endParaRPr lang="en-US" sz="2500" dirty="0"/>
          </a:p>
        </p:txBody>
      </p:sp>
      <p:sp>
        <p:nvSpPr>
          <p:cNvPr id="15" name="Text 12"/>
          <p:cNvSpPr/>
          <p:nvPr/>
        </p:nvSpPr>
        <p:spPr>
          <a:xfrm>
            <a:off x="8143037" y="2734564"/>
            <a:ext cx="3408578" cy="337820"/>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Pesticide checks on every batch</a:t>
            </a:r>
            <a:endParaRPr lang="en-US" sz="850" dirty="0"/>
          </a:p>
        </p:txBody>
      </p:sp>
      <p:sp>
        <p:nvSpPr>
          <p:cNvPr id="16" name="Text 13"/>
          <p:cNvSpPr/>
          <p:nvPr/>
        </p:nvSpPr>
        <p:spPr>
          <a:xfrm>
            <a:off x="502920" y="3419856"/>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FIVE STEPS BEHIND THE CLAIM</a:t>
            </a:r>
            <a:endParaRPr lang="en-US" sz="950" dirty="0"/>
          </a:p>
        </p:txBody>
      </p:sp>
      <p:sp>
        <p:nvSpPr>
          <p:cNvPr id="17" name="Shape 14"/>
          <p:cNvSpPr/>
          <p:nvPr/>
        </p:nvSpPr>
        <p:spPr>
          <a:xfrm>
            <a:off x="502920" y="3694176"/>
            <a:ext cx="2061606" cy="868680"/>
          </a:xfrm>
          <a:prstGeom prst="roundRect">
            <a:avLst>
              <a:gd name="adj" fmla="val 10526"/>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18" name="Shape 15"/>
          <p:cNvSpPr/>
          <p:nvPr/>
        </p:nvSpPr>
        <p:spPr>
          <a:xfrm>
            <a:off x="1350843" y="3822192"/>
            <a:ext cx="365760" cy="365760"/>
          </a:xfrm>
          <a:prstGeom prst="ellipse">
            <a:avLst/>
          </a:prstGeom>
          <a:solidFill>
            <a:srgbClr val="E4F2EA"/>
          </a:solidFill>
          <a:ln w="12700">
            <a:solidFill>
              <a:srgbClr val="333333"/>
            </a:solidFill>
            <a:prstDash val="solid"/>
          </a:ln>
        </p:spPr>
      </p:sp>
      <p:sp>
        <p:nvSpPr>
          <p:cNvPr id="19" name="Text 16"/>
          <p:cNvSpPr/>
          <p:nvPr/>
        </p:nvSpPr>
        <p:spPr>
          <a:xfrm>
            <a:off x="1350843" y="3822192"/>
            <a:ext cx="365760" cy="365760"/>
          </a:xfrm>
          <a:prstGeom prst="rect">
            <a:avLst/>
          </a:prstGeom>
          <a:noFill/>
          <a:ln/>
        </p:spPr>
        <p:txBody>
          <a:bodyPr wrap="square" lIns="0" tIns="0" rIns="0" bIns="0" rtlCol="0" anchor="ctr"/>
          <a:lstStyle/>
          <a:p>
            <a:pPr algn="ctr" indent="0" marL="0">
              <a:buNone/>
            </a:pPr>
            <a:r>
              <a:rPr lang="en-US" sz="1000" dirty="0">
                <a:solidFill>
                  <a:srgbClr val="177A46"/>
                </a:solidFill>
                <a:latin typeface="Archivo Black" pitchFamily="34" charset="0"/>
                <a:ea typeface="Archivo Black" pitchFamily="34" charset="-122"/>
                <a:cs typeface="Archivo Black" pitchFamily="34" charset="-120"/>
              </a:rPr>
              <a:t>1</a:t>
            </a:r>
            <a:endParaRPr lang="en-US" sz="1000" dirty="0"/>
          </a:p>
        </p:txBody>
      </p:sp>
      <p:sp>
        <p:nvSpPr>
          <p:cNvPr id="20" name="Text 17"/>
          <p:cNvSpPr/>
          <p:nvPr/>
        </p:nvSpPr>
        <p:spPr>
          <a:xfrm>
            <a:off x="594360" y="4224528"/>
            <a:ext cx="1878726" cy="274320"/>
          </a:xfrm>
          <a:prstGeom prst="rect">
            <a:avLst/>
          </a:prstGeom>
          <a:noFill/>
          <a:ln/>
        </p:spPr>
        <p:txBody>
          <a:bodyPr wrap="square" lIns="0" tIns="0" rIns="0" bIns="0" rtlCol="0" anchor="ctr"/>
          <a:lstStyle/>
          <a:p>
            <a:pPr algn="ctr" indent="0" marL="0">
              <a:buNone/>
            </a:pPr>
            <a:r>
              <a:rPr lang="en-US" sz="900" b="1" dirty="0">
                <a:solidFill>
                  <a:srgbClr val="16202D"/>
                </a:solidFill>
                <a:latin typeface="Nunito Sans" pitchFamily="34" charset="0"/>
                <a:ea typeface="Nunito Sans" pitchFamily="34" charset="-122"/>
                <a:cs typeface="Nunito Sans" pitchFamily="34" charset="-120"/>
              </a:rPr>
              <a:t>Clean cultivation</a:t>
            </a:r>
            <a:endParaRPr lang="en-US" sz="900" dirty="0"/>
          </a:p>
        </p:txBody>
      </p:sp>
      <p:sp>
        <p:nvSpPr>
          <p:cNvPr id="21" name="Shape 18"/>
          <p:cNvSpPr/>
          <p:nvPr/>
        </p:nvSpPr>
        <p:spPr>
          <a:xfrm>
            <a:off x="2783982" y="3694176"/>
            <a:ext cx="2061606" cy="868680"/>
          </a:xfrm>
          <a:prstGeom prst="roundRect">
            <a:avLst>
              <a:gd name="adj" fmla="val 10526"/>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22" name="Shape 19"/>
          <p:cNvSpPr/>
          <p:nvPr/>
        </p:nvSpPr>
        <p:spPr>
          <a:xfrm>
            <a:off x="3631905" y="3822192"/>
            <a:ext cx="365760" cy="365760"/>
          </a:xfrm>
          <a:prstGeom prst="ellipse">
            <a:avLst/>
          </a:prstGeom>
          <a:solidFill>
            <a:srgbClr val="E4F2EA"/>
          </a:solidFill>
          <a:ln w="12700">
            <a:solidFill>
              <a:srgbClr val="333333"/>
            </a:solidFill>
            <a:prstDash val="solid"/>
          </a:ln>
        </p:spPr>
      </p:sp>
      <p:sp>
        <p:nvSpPr>
          <p:cNvPr id="23" name="Text 20"/>
          <p:cNvSpPr/>
          <p:nvPr/>
        </p:nvSpPr>
        <p:spPr>
          <a:xfrm>
            <a:off x="3631905" y="3822192"/>
            <a:ext cx="365760" cy="365760"/>
          </a:xfrm>
          <a:prstGeom prst="rect">
            <a:avLst/>
          </a:prstGeom>
          <a:noFill/>
          <a:ln/>
        </p:spPr>
        <p:txBody>
          <a:bodyPr wrap="square" lIns="0" tIns="0" rIns="0" bIns="0" rtlCol="0" anchor="ctr"/>
          <a:lstStyle/>
          <a:p>
            <a:pPr algn="ctr" indent="0" marL="0">
              <a:buNone/>
            </a:pPr>
            <a:r>
              <a:rPr lang="en-US" sz="1000" dirty="0">
                <a:solidFill>
                  <a:srgbClr val="177A46"/>
                </a:solidFill>
                <a:latin typeface="Archivo Black" pitchFamily="34" charset="0"/>
                <a:ea typeface="Archivo Black" pitchFamily="34" charset="-122"/>
                <a:cs typeface="Archivo Black" pitchFamily="34" charset="-120"/>
              </a:rPr>
              <a:t>2</a:t>
            </a:r>
            <a:endParaRPr lang="en-US" sz="1000" dirty="0"/>
          </a:p>
        </p:txBody>
      </p:sp>
      <p:sp>
        <p:nvSpPr>
          <p:cNvPr id="24" name="Text 21"/>
          <p:cNvSpPr/>
          <p:nvPr/>
        </p:nvSpPr>
        <p:spPr>
          <a:xfrm>
            <a:off x="2875422" y="4224528"/>
            <a:ext cx="1878726" cy="274320"/>
          </a:xfrm>
          <a:prstGeom prst="rect">
            <a:avLst/>
          </a:prstGeom>
          <a:noFill/>
          <a:ln/>
        </p:spPr>
        <p:txBody>
          <a:bodyPr wrap="square" lIns="0" tIns="0" rIns="0" bIns="0" rtlCol="0" anchor="ctr"/>
          <a:lstStyle/>
          <a:p>
            <a:pPr algn="ctr" indent="0" marL="0">
              <a:buNone/>
            </a:pPr>
            <a:r>
              <a:rPr lang="en-US" sz="900" b="1" dirty="0">
                <a:solidFill>
                  <a:srgbClr val="16202D"/>
                </a:solidFill>
                <a:latin typeface="Nunito Sans" pitchFamily="34" charset="0"/>
                <a:ea typeface="Nunito Sans" pitchFamily="34" charset="-122"/>
                <a:cs typeface="Nunito Sans" pitchFamily="34" charset="-120"/>
              </a:rPr>
              <a:t>Direct sourcing</a:t>
            </a:r>
            <a:endParaRPr lang="en-US" sz="900" dirty="0"/>
          </a:p>
        </p:txBody>
      </p:sp>
      <p:sp>
        <p:nvSpPr>
          <p:cNvPr id="25" name="Shape 22"/>
          <p:cNvSpPr/>
          <p:nvPr/>
        </p:nvSpPr>
        <p:spPr>
          <a:xfrm>
            <a:off x="5065044" y="3694176"/>
            <a:ext cx="2061606" cy="868680"/>
          </a:xfrm>
          <a:prstGeom prst="roundRect">
            <a:avLst>
              <a:gd name="adj" fmla="val 10526"/>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26" name="Shape 23"/>
          <p:cNvSpPr/>
          <p:nvPr/>
        </p:nvSpPr>
        <p:spPr>
          <a:xfrm>
            <a:off x="5912968" y="3822192"/>
            <a:ext cx="365760" cy="365760"/>
          </a:xfrm>
          <a:prstGeom prst="ellipse">
            <a:avLst/>
          </a:prstGeom>
          <a:solidFill>
            <a:srgbClr val="E4F2EA"/>
          </a:solidFill>
          <a:ln w="12700">
            <a:solidFill>
              <a:srgbClr val="333333"/>
            </a:solidFill>
            <a:prstDash val="solid"/>
          </a:ln>
        </p:spPr>
      </p:sp>
      <p:sp>
        <p:nvSpPr>
          <p:cNvPr id="27" name="Text 24"/>
          <p:cNvSpPr/>
          <p:nvPr/>
        </p:nvSpPr>
        <p:spPr>
          <a:xfrm>
            <a:off x="5912968" y="3822192"/>
            <a:ext cx="365760" cy="365760"/>
          </a:xfrm>
          <a:prstGeom prst="rect">
            <a:avLst/>
          </a:prstGeom>
          <a:noFill/>
          <a:ln/>
        </p:spPr>
        <p:txBody>
          <a:bodyPr wrap="square" lIns="0" tIns="0" rIns="0" bIns="0" rtlCol="0" anchor="ctr"/>
          <a:lstStyle/>
          <a:p>
            <a:pPr algn="ctr" indent="0" marL="0">
              <a:buNone/>
            </a:pPr>
            <a:r>
              <a:rPr lang="en-US" sz="1000" dirty="0">
                <a:solidFill>
                  <a:srgbClr val="177A46"/>
                </a:solidFill>
                <a:latin typeface="Archivo Black" pitchFamily="34" charset="0"/>
                <a:ea typeface="Archivo Black" pitchFamily="34" charset="-122"/>
                <a:cs typeface="Archivo Black" pitchFamily="34" charset="-120"/>
              </a:rPr>
              <a:t>3</a:t>
            </a:r>
            <a:endParaRPr lang="en-US" sz="1000" dirty="0"/>
          </a:p>
        </p:txBody>
      </p:sp>
      <p:sp>
        <p:nvSpPr>
          <p:cNvPr id="28" name="Text 25"/>
          <p:cNvSpPr/>
          <p:nvPr/>
        </p:nvSpPr>
        <p:spPr>
          <a:xfrm>
            <a:off x="5156484" y="4224528"/>
            <a:ext cx="1878726" cy="274320"/>
          </a:xfrm>
          <a:prstGeom prst="rect">
            <a:avLst/>
          </a:prstGeom>
          <a:noFill/>
          <a:ln/>
        </p:spPr>
        <p:txBody>
          <a:bodyPr wrap="square" lIns="0" tIns="0" rIns="0" bIns="0" rtlCol="0" anchor="ctr"/>
          <a:lstStyle/>
          <a:p>
            <a:pPr algn="ctr" indent="0" marL="0">
              <a:buNone/>
            </a:pPr>
            <a:r>
              <a:rPr lang="en-US" sz="900" b="1" dirty="0">
                <a:solidFill>
                  <a:srgbClr val="16202D"/>
                </a:solidFill>
                <a:latin typeface="Nunito Sans" pitchFamily="34" charset="0"/>
                <a:ea typeface="Nunito Sans" pitchFamily="34" charset="-122"/>
                <a:cs typeface="Nunito Sans" pitchFamily="34" charset="-120"/>
              </a:rPr>
              <a:t>230+ checks</a:t>
            </a:r>
            <a:endParaRPr lang="en-US" sz="900" dirty="0"/>
          </a:p>
        </p:txBody>
      </p:sp>
      <p:sp>
        <p:nvSpPr>
          <p:cNvPr id="29" name="Shape 26"/>
          <p:cNvSpPr/>
          <p:nvPr/>
        </p:nvSpPr>
        <p:spPr>
          <a:xfrm>
            <a:off x="7346107" y="3694176"/>
            <a:ext cx="2061606" cy="868680"/>
          </a:xfrm>
          <a:prstGeom prst="roundRect">
            <a:avLst>
              <a:gd name="adj" fmla="val 10526"/>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30" name="Shape 27"/>
          <p:cNvSpPr/>
          <p:nvPr/>
        </p:nvSpPr>
        <p:spPr>
          <a:xfrm>
            <a:off x="8194030" y="3822192"/>
            <a:ext cx="365760" cy="365760"/>
          </a:xfrm>
          <a:prstGeom prst="ellipse">
            <a:avLst/>
          </a:prstGeom>
          <a:solidFill>
            <a:srgbClr val="E4F2EA"/>
          </a:solidFill>
          <a:ln w="12700">
            <a:solidFill>
              <a:srgbClr val="333333"/>
            </a:solidFill>
            <a:prstDash val="solid"/>
          </a:ln>
        </p:spPr>
      </p:sp>
      <p:sp>
        <p:nvSpPr>
          <p:cNvPr id="31" name="Text 28"/>
          <p:cNvSpPr/>
          <p:nvPr/>
        </p:nvSpPr>
        <p:spPr>
          <a:xfrm>
            <a:off x="8194030" y="3822192"/>
            <a:ext cx="365760" cy="365760"/>
          </a:xfrm>
          <a:prstGeom prst="rect">
            <a:avLst/>
          </a:prstGeom>
          <a:noFill/>
          <a:ln/>
        </p:spPr>
        <p:txBody>
          <a:bodyPr wrap="square" lIns="0" tIns="0" rIns="0" bIns="0" rtlCol="0" anchor="ctr"/>
          <a:lstStyle/>
          <a:p>
            <a:pPr algn="ctr" indent="0" marL="0">
              <a:buNone/>
            </a:pPr>
            <a:r>
              <a:rPr lang="en-US" sz="1000" dirty="0">
                <a:solidFill>
                  <a:srgbClr val="177A46"/>
                </a:solidFill>
                <a:latin typeface="Archivo Black" pitchFamily="34" charset="0"/>
                <a:ea typeface="Archivo Black" pitchFamily="34" charset="-122"/>
                <a:cs typeface="Archivo Black" pitchFamily="34" charset="-120"/>
              </a:rPr>
              <a:t>4</a:t>
            </a:r>
            <a:endParaRPr lang="en-US" sz="1000" dirty="0"/>
          </a:p>
        </p:txBody>
      </p:sp>
      <p:sp>
        <p:nvSpPr>
          <p:cNvPr id="32" name="Text 29"/>
          <p:cNvSpPr/>
          <p:nvPr/>
        </p:nvSpPr>
        <p:spPr>
          <a:xfrm>
            <a:off x="7437547" y="4224528"/>
            <a:ext cx="1878726" cy="274320"/>
          </a:xfrm>
          <a:prstGeom prst="rect">
            <a:avLst/>
          </a:prstGeom>
          <a:noFill/>
          <a:ln/>
        </p:spPr>
        <p:txBody>
          <a:bodyPr wrap="square" lIns="0" tIns="0" rIns="0" bIns="0" rtlCol="0" anchor="ctr"/>
          <a:lstStyle/>
          <a:p>
            <a:pPr algn="ctr" indent="0" marL="0">
              <a:buNone/>
            </a:pPr>
            <a:r>
              <a:rPr lang="en-US" sz="900" b="1" dirty="0">
                <a:solidFill>
                  <a:srgbClr val="16202D"/>
                </a:solidFill>
                <a:latin typeface="Nunito Sans" pitchFamily="34" charset="0"/>
                <a:ea typeface="Nunito Sans" pitchFamily="34" charset="-122"/>
                <a:cs typeface="Nunito Sans" pitchFamily="34" charset="-120"/>
              </a:rPr>
              <a:t>Controlled processing</a:t>
            </a:r>
            <a:endParaRPr lang="en-US" sz="900" dirty="0"/>
          </a:p>
        </p:txBody>
      </p:sp>
      <p:sp>
        <p:nvSpPr>
          <p:cNvPr id="33" name="Shape 30"/>
          <p:cNvSpPr/>
          <p:nvPr/>
        </p:nvSpPr>
        <p:spPr>
          <a:xfrm>
            <a:off x="9627169" y="3694176"/>
            <a:ext cx="2061606" cy="868680"/>
          </a:xfrm>
          <a:prstGeom prst="roundRect">
            <a:avLst>
              <a:gd name="adj" fmla="val 10526"/>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34" name="Shape 31"/>
          <p:cNvSpPr/>
          <p:nvPr/>
        </p:nvSpPr>
        <p:spPr>
          <a:xfrm>
            <a:off x="10475092" y="3822192"/>
            <a:ext cx="365760" cy="365760"/>
          </a:xfrm>
          <a:prstGeom prst="ellipse">
            <a:avLst/>
          </a:prstGeom>
          <a:solidFill>
            <a:srgbClr val="E4F2EA"/>
          </a:solidFill>
          <a:ln w="12700">
            <a:solidFill>
              <a:srgbClr val="333333"/>
            </a:solidFill>
            <a:prstDash val="solid"/>
          </a:ln>
        </p:spPr>
      </p:sp>
      <p:sp>
        <p:nvSpPr>
          <p:cNvPr id="35" name="Text 32"/>
          <p:cNvSpPr/>
          <p:nvPr/>
        </p:nvSpPr>
        <p:spPr>
          <a:xfrm>
            <a:off x="10475092" y="3822192"/>
            <a:ext cx="365760" cy="365760"/>
          </a:xfrm>
          <a:prstGeom prst="rect">
            <a:avLst/>
          </a:prstGeom>
          <a:noFill/>
          <a:ln/>
        </p:spPr>
        <p:txBody>
          <a:bodyPr wrap="square" lIns="0" tIns="0" rIns="0" bIns="0" rtlCol="0" anchor="ctr"/>
          <a:lstStyle/>
          <a:p>
            <a:pPr algn="ctr" indent="0" marL="0">
              <a:buNone/>
            </a:pPr>
            <a:r>
              <a:rPr lang="en-US" sz="1000" dirty="0">
                <a:solidFill>
                  <a:srgbClr val="177A46"/>
                </a:solidFill>
                <a:latin typeface="Archivo Black" pitchFamily="34" charset="0"/>
                <a:ea typeface="Archivo Black" pitchFamily="34" charset="-122"/>
                <a:cs typeface="Archivo Black" pitchFamily="34" charset="-120"/>
              </a:rPr>
              <a:t>5</a:t>
            </a:r>
            <a:endParaRPr lang="en-US" sz="1000" dirty="0"/>
          </a:p>
        </p:txBody>
      </p:sp>
      <p:sp>
        <p:nvSpPr>
          <p:cNvPr id="36" name="Text 33"/>
          <p:cNvSpPr/>
          <p:nvPr/>
        </p:nvSpPr>
        <p:spPr>
          <a:xfrm>
            <a:off x="9718609" y="4224528"/>
            <a:ext cx="1878726" cy="274320"/>
          </a:xfrm>
          <a:prstGeom prst="rect">
            <a:avLst/>
          </a:prstGeom>
          <a:noFill/>
          <a:ln/>
        </p:spPr>
        <p:txBody>
          <a:bodyPr wrap="square" lIns="0" tIns="0" rIns="0" bIns="0" rtlCol="0" anchor="ctr"/>
          <a:lstStyle/>
          <a:p>
            <a:pPr algn="ctr" indent="0" marL="0">
              <a:buNone/>
            </a:pPr>
            <a:r>
              <a:rPr lang="en-US" sz="900" b="1" dirty="0">
                <a:solidFill>
                  <a:srgbClr val="16202D"/>
                </a:solidFill>
                <a:latin typeface="Nunito Sans" pitchFamily="34" charset="0"/>
                <a:ea typeface="Nunito Sans" pitchFamily="34" charset="-122"/>
                <a:cs typeface="Nunito Sans" pitchFamily="34" charset="-120"/>
              </a:rPr>
              <a:t>Traceable to source</a:t>
            </a:r>
            <a:endParaRPr lang="en-US" sz="900" dirty="0"/>
          </a:p>
        </p:txBody>
      </p:sp>
      <p:sp>
        <p:nvSpPr>
          <p:cNvPr id="37" name="Text 34"/>
          <p:cNvSpPr/>
          <p:nvPr/>
        </p:nvSpPr>
        <p:spPr>
          <a:xfrm>
            <a:off x="502920" y="4663440"/>
            <a:ext cx="11185855" cy="237744"/>
          </a:xfrm>
          <a:prstGeom prst="rect">
            <a:avLst/>
          </a:prstGeom>
          <a:noFill/>
          <a:ln/>
        </p:spPr>
        <p:txBody>
          <a:bodyPr wrap="square" lIns="0" tIns="0" rIns="0" bIns="0" rtlCol="0" anchor="ctr"/>
          <a:lstStyle/>
          <a:p>
            <a:pPr indent="0" marL="0">
              <a:buNone/>
            </a:pPr>
            <a:r>
              <a:rPr lang="en-US" sz="850" b="1" spc="90" kern="0" dirty="0">
                <a:solidFill>
                  <a:srgbClr val="8B95A2"/>
                </a:solidFill>
                <a:latin typeface="Nunito Sans" pitchFamily="34" charset="0"/>
                <a:ea typeface="Nunito Sans" pitchFamily="34" charset="-122"/>
                <a:cs typeface="Nunito Sans" pitchFamily="34" charset="-120"/>
              </a:rPr>
              <a:t>BIHAR MAKHANA  ·  UTTARAKHAND JAGGERY  ·  GUJARAT JAVA PEANUT  ·  AND FIVE MORE, OWNED END-TO-END</a:t>
            </a:r>
            <a:endParaRPr lang="en-US" sz="850" dirty="0"/>
          </a:p>
        </p:txBody>
      </p:sp>
      <p:pic>
        <p:nvPicPr>
          <p:cNvPr id="38" name="Image 1" descr="/home/user/hopper-tessarakt/site/assets/team-field.jpg">    </p:cNvPr>
          <p:cNvPicPr>
            <a:picLocks noChangeAspect="1"/>
          </p:cNvPicPr>
          <p:nvPr/>
        </p:nvPicPr>
        <p:blipFill>
          <a:blip r:embed="rId2"/>
          <a:srcRect l="0" r="0" t="0" b="0"/>
          <a:stretch/>
        </p:blipFill>
        <p:spPr>
          <a:xfrm>
            <a:off x="502920" y="4937760"/>
            <a:ext cx="6766560" cy="1371600"/>
          </a:xfrm>
          <a:prstGeom prst="rect">
            <a:avLst/>
          </a:prstGeom>
        </p:spPr>
      </p:pic>
      <p:sp>
        <p:nvSpPr>
          <p:cNvPr id="39" name="Shape 35"/>
          <p:cNvSpPr/>
          <p:nvPr/>
        </p:nvSpPr>
        <p:spPr>
          <a:xfrm>
            <a:off x="7543800" y="4937760"/>
            <a:ext cx="4144975" cy="1371600"/>
          </a:xfrm>
          <a:prstGeom prst="roundRect">
            <a:avLst>
              <a:gd name="adj" fmla="val 6667"/>
            </a:avLst>
          </a:prstGeom>
          <a:solidFill>
            <a:srgbClr val="E4F2EA"/>
          </a:solidFill>
          <a:ln w="6350">
            <a:solidFill>
              <a:srgbClr val="E4F2EA"/>
            </a:solidFill>
            <a:prstDash val="solid"/>
          </a:ln>
        </p:spPr>
      </p:sp>
      <p:sp>
        <p:nvSpPr>
          <p:cNvPr id="40" name="Text 36"/>
          <p:cNvSpPr/>
          <p:nvPr/>
        </p:nvSpPr>
        <p:spPr>
          <a:xfrm>
            <a:off x="7744968" y="5056632"/>
            <a:ext cx="3742639" cy="219456"/>
          </a:xfrm>
          <a:prstGeom prst="rect">
            <a:avLst/>
          </a:prstGeom>
          <a:noFill/>
          <a:ln/>
        </p:spPr>
        <p:txBody>
          <a:bodyPr wrap="square" lIns="0" tIns="0" rIns="0" bIns="0" rtlCol="0" anchor="t"/>
          <a:lstStyle/>
          <a:p>
            <a:pPr indent="0" marL="0">
              <a:lnSpc>
                <a:spcPct val="102000"/>
              </a:lnSpc>
              <a:buNone/>
            </a:pPr>
            <a:r>
              <a:rPr lang="en-US" sz="1050" b="1" dirty="0">
                <a:solidFill>
                  <a:srgbClr val="177A46"/>
                </a:solidFill>
                <a:latin typeface="Nunito Sans" pitchFamily="34" charset="0"/>
                <a:ea typeface="Nunito Sans" pitchFamily="34" charset="-122"/>
                <a:cs typeface="Nunito Sans" pitchFamily="34" charset="-120"/>
              </a:rPr>
              <a:t>Proof comes from procurement control.</a:t>
            </a:r>
            <a:endParaRPr lang="en-US" sz="1050" dirty="0"/>
          </a:p>
        </p:txBody>
      </p:sp>
      <p:sp>
        <p:nvSpPr>
          <p:cNvPr id="41" name="Text 37"/>
          <p:cNvSpPr/>
          <p:nvPr/>
        </p:nvSpPr>
        <p:spPr>
          <a:xfrm>
            <a:off x="7744968" y="5303520"/>
            <a:ext cx="3742639" cy="914400"/>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Not from holding a certificate. AgriTech-embedded input control, continuous quality intelligence across 2M farms, and a farmer economic ecosystem earning 30 to 50% better returns — none of it is contractable by a competitor.</a:t>
            </a:r>
            <a:endParaRPr lang="en-US" sz="900" dirty="0"/>
          </a:p>
        </p:txBody>
      </p:sp>
      <p:sp>
        <p:nvSpPr>
          <p:cNvPr id="42" name="Shape 38"/>
          <p:cNvSpPr/>
          <p:nvPr/>
        </p:nvSpPr>
        <p:spPr>
          <a:xfrm>
            <a:off x="502920" y="6455664"/>
            <a:ext cx="11185855" cy="0"/>
          </a:xfrm>
          <a:prstGeom prst="line">
            <a:avLst/>
          </a:prstGeom>
          <a:noFill/>
          <a:ln w="9525">
            <a:solidFill>
              <a:srgbClr val="E5DCCB"/>
            </a:solidFill>
            <a:prstDash val="solid"/>
          </a:ln>
        </p:spPr>
      </p:sp>
      <p:sp>
        <p:nvSpPr>
          <p:cNvPr id="43" name="Text 39"/>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06 · THE MOAT &amp; THE ASK</a:t>
            </a:r>
            <a:endParaRPr lang="en-US" sz="800" dirty="0"/>
          </a:p>
        </p:txBody>
      </p:sp>
      <p:sp>
        <p:nvSpPr>
          <p:cNvPr id="44" name="Text 40"/>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37</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159813"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159813"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COMPETITIVE DEFENCE</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The moat has to be visible by FY29.</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Five layers of defensibility, ordered by how long each survives a determined competitor. DHF sits at L1 — and only L3 and L4 survive imitation.</a:t>
            </a:r>
            <a:endParaRPr lang="en-US" sz="1100" dirty="0"/>
          </a:p>
        </p:txBody>
      </p:sp>
      <p:sp>
        <p:nvSpPr>
          <p:cNvPr id="7" name="Shape 4"/>
          <p:cNvSpPr/>
          <p:nvPr/>
        </p:nvSpPr>
        <p:spPr>
          <a:xfrm>
            <a:off x="502920" y="2121408"/>
            <a:ext cx="6766560" cy="512064"/>
          </a:xfrm>
          <a:prstGeom prst="roundRect">
            <a:avLst>
              <a:gd name="adj" fmla="val 8929"/>
            </a:avLst>
          </a:prstGeom>
          <a:solidFill>
            <a:srgbClr val="E4F2EA"/>
          </a:solidFill>
          <a:ln w="9525">
            <a:solidFill>
              <a:srgbClr val="E5DCCB"/>
            </a:solidFill>
            <a:prstDash val="solid"/>
          </a:ln>
          <a:effectLst>
            <a:outerShdw sx="100000" sy="100000" kx="0" ky="0" algn="bl" rotWithShape="0" blurRad="228600" dist="25400" dir="5400000">
              <a:srgbClr val="0C1A2B">
                <a:alpha val="7000"/>
              </a:srgbClr>
            </a:outerShdw>
          </a:effectLst>
        </p:spPr>
      </p:sp>
      <p:sp>
        <p:nvSpPr>
          <p:cNvPr id="8" name="Text 5"/>
          <p:cNvSpPr/>
          <p:nvPr/>
        </p:nvSpPr>
        <p:spPr>
          <a:xfrm>
            <a:off x="685800" y="2121408"/>
            <a:ext cx="548640" cy="512064"/>
          </a:xfrm>
          <a:prstGeom prst="rect">
            <a:avLst/>
          </a:prstGeom>
          <a:noFill/>
          <a:ln/>
        </p:spPr>
        <p:txBody>
          <a:bodyPr wrap="square" lIns="0" tIns="0" rIns="0" bIns="0" rtlCol="0" anchor="ctr"/>
          <a:lstStyle/>
          <a:p>
            <a:pPr indent="0" marL="0">
              <a:buNone/>
            </a:pPr>
            <a:r>
              <a:rPr lang="en-US" sz="1300" dirty="0">
                <a:solidFill>
                  <a:srgbClr val="177A46"/>
                </a:solidFill>
                <a:latin typeface="Archivo Black" pitchFamily="34" charset="0"/>
                <a:ea typeface="Archivo Black" pitchFamily="34" charset="-122"/>
                <a:cs typeface="Archivo Black" pitchFamily="34" charset="-120"/>
              </a:rPr>
              <a:t>L4</a:t>
            </a:r>
            <a:endParaRPr lang="en-US" sz="1300" dirty="0"/>
          </a:p>
        </p:txBody>
      </p:sp>
      <p:sp>
        <p:nvSpPr>
          <p:cNvPr id="9" name="Text 6"/>
          <p:cNvSpPr/>
          <p:nvPr/>
        </p:nvSpPr>
        <p:spPr>
          <a:xfrm>
            <a:off x="1325880" y="2121408"/>
            <a:ext cx="3383280" cy="512064"/>
          </a:xfrm>
          <a:prstGeom prst="rect">
            <a:avLst/>
          </a:prstGeom>
          <a:noFill/>
          <a:ln/>
        </p:spPr>
        <p:txBody>
          <a:bodyPr wrap="square" lIns="0" tIns="0" rIns="0" bIns="0" rtlCol="0" anchor="ctr"/>
          <a:lstStyle/>
          <a:p>
            <a:pPr indent="0" marL="0">
              <a:buNone/>
            </a:pPr>
            <a:r>
              <a:rPr lang="en-US" sz="1100" b="1" dirty="0">
                <a:solidFill>
                  <a:srgbClr val="0C1A2B"/>
                </a:solidFill>
                <a:latin typeface="Nunito Sans" pitchFamily="34" charset="0"/>
                <a:ea typeface="Nunito Sans" pitchFamily="34" charset="-122"/>
                <a:cs typeface="Nunito Sans" pitchFamily="34" charset="-120"/>
              </a:rPr>
              <a:t>Farmer-direct transparency</a:t>
            </a:r>
            <a:endParaRPr lang="en-US" sz="1100" dirty="0"/>
          </a:p>
        </p:txBody>
      </p:sp>
      <p:sp>
        <p:nvSpPr>
          <p:cNvPr id="10" name="Text 7"/>
          <p:cNvSpPr/>
          <p:nvPr/>
        </p:nvSpPr>
        <p:spPr>
          <a:xfrm>
            <a:off x="4709160" y="2121408"/>
            <a:ext cx="2377440" cy="512064"/>
          </a:xfrm>
          <a:prstGeom prst="rect">
            <a:avLst/>
          </a:prstGeom>
          <a:noFill/>
          <a:ln/>
        </p:spPr>
        <p:txBody>
          <a:bodyPr wrap="square" lIns="0" tIns="0" rIns="0" bIns="0" rtlCol="0" anchor="ctr"/>
          <a:lstStyle/>
          <a:p>
            <a:pPr algn="r" indent="0" marL="0">
              <a:buNone/>
            </a:pPr>
            <a:r>
              <a:rPr lang="en-US" sz="850" b="1" spc="70" kern="0" dirty="0">
                <a:solidFill>
                  <a:srgbClr val="177A46"/>
                </a:solidFill>
                <a:latin typeface="Nunito Sans" pitchFamily="34" charset="0"/>
                <a:ea typeface="Nunito Sans" pitchFamily="34" charset="-122"/>
                <a:cs typeface="Nunito Sans" pitchFamily="34" charset="-120"/>
              </a:rPr>
              <a:t>STRUCTURAL</a:t>
            </a:r>
            <a:endParaRPr lang="en-US" sz="850" dirty="0"/>
          </a:p>
        </p:txBody>
      </p:sp>
      <p:sp>
        <p:nvSpPr>
          <p:cNvPr id="11" name="Shape 8"/>
          <p:cNvSpPr/>
          <p:nvPr/>
        </p:nvSpPr>
        <p:spPr>
          <a:xfrm>
            <a:off x="502920" y="2724912"/>
            <a:ext cx="6766560" cy="512064"/>
          </a:xfrm>
          <a:prstGeom prst="roundRect">
            <a:avLst>
              <a:gd name="adj" fmla="val 8929"/>
            </a:avLst>
          </a:prstGeom>
          <a:solidFill>
            <a:srgbClr val="FFFFFF"/>
          </a:solidFill>
          <a:ln w="9525">
            <a:solidFill>
              <a:srgbClr val="E5DCCB"/>
            </a:solidFill>
            <a:prstDash val="solid"/>
          </a:ln>
          <a:effectLst>
            <a:outerShdw sx="100000" sy="100000" kx="0" ky="0" algn="bl" rotWithShape="0" blurRad="228600" dist="25400" dir="5400000">
              <a:srgbClr val="0C1A2B">
                <a:alpha val="7000"/>
              </a:srgbClr>
            </a:outerShdw>
          </a:effectLst>
        </p:spPr>
      </p:sp>
      <p:sp>
        <p:nvSpPr>
          <p:cNvPr id="12" name="Text 9"/>
          <p:cNvSpPr/>
          <p:nvPr/>
        </p:nvSpPr>
        <p:spPr>
          <a:xfrm>
            <a:off x="685800" y="2724912"/>
            <a:ext cx="548640" cy="512064"/>
          </a:xfrm>
          <a:prstGeom prst="rect">
            <a:avLst/>
          </a:prstGeom>
          <a:noFill/>
          <a:ln/>
        </p:spPr>
        <p:txBody>
          <a:bodyPr wrap="square" lIns="0" tIns="0" rIns="0" bIns="0" rtlCol="0" anchor="ctr"/>
          <a:lstStyle/>
          <a:p>
            <a:pPr indent="0" marL="0">
              <a:buNone/>
            </a:pPr>
            <a:r>
              <a:rPr lang="en-US" sz="1300" dirty="0">
                <a:solidFill>
                  <a:srgbClr val="4C8F3F"/>
                </a:solidFill>
                <a:latin typeface="Archivo Black" pitchFamily="34" charset="0"/>
                <a:ea typeface="Archivo Black" pitchFamily="34" charset="-122"/>
                <a:cs typeface="Archivo Black" pitchFamily="34" charset="-120"/>
              </a:rPr>
              <a:t>L3</a:t>
            </a:r>
            <a:endParaRPr lang="en-US" sz="1300" dirty="0"/>
          </a:p>
        </p:txBody>
      </p:sp>
      <p:sp>
        <p:nvSpPr>
          <p:cNvPr id="13" name="Text 10"/>
          <p:cNvSpPr/>
          <p:nvPr/>
        </p:nvSpPr>
        <p:spPr>
          <a:xfrm>
            <a:off x="1325880" y="2724912"/>
            <a:ext cx="3383280" cy="512064"/>
          </a:xfrm>
          <a:prstGeom prst="rect">
            <a:avLst/>
          </a:prstGeom>
          <a:noFill/>
          <a:ln/>
        </p:spPr>
        <p:txBody>
          <a:bodyPr wrap="square" lIns="0" tIns="0" rIns="0" bIns="0" rtlCol="0" anchor="ctr"/>
          <a:lstStyle/>
          <a:p>
            <a:pPr indent="0" marL="0">
              <a:buNone/>
            </a:pPr>
            <a:r>
              <a:rPr lang="en-US" sz="1100" b="1" dirty="0">
                <a:solidFill>
                  <a:srgbClr val="0C1A2B"/>
                </a:solidFill>
                <a:latin typeface="Nunito Sans" pitchFamily="34" charset="0"/>
                <a:ea typeface="Nunito Sans" pitchFamily="34" charset="-122"/>
                <a:cs typeface="Nunito Sans" pitchFamily="34" charset="-120"/>
              </a:rPr>
              <a:t>DeHaat input control</a:t>
            </a:r>
            <a:endParaRPr lang="en-US" sz="1100" dirty="0"/>
          </a:p>
        </p:txBody>
      </p:sp>
      <p:sp>
        <p:nvSpPr>
          <p:cNvPr id="14" name="Text 11"/>
          <p:cNvSpPr/>
          <p:nvPr/>
        </p:nvSpPr>
        <p:spPr>
          <a:xfrm>
            <a:off x="4709160" y="2724912"/>
            <a:ext cx="2377440" cy="512064"/>
          </a:xfrm>
          <a:prstGeom prst="rect">
            <a:avLst/>
          </a:prstGeom>
          <a:noFill/>
          <a:ln/>
        </p:spPr>
        <p:txBody>
          <a:bodyPr wrap="square" lIns="0" tIns="0" rIns="0" bIns="0" rtlCol="0" anchor="ctr"/>
          <a:lstStyle/>
          <a:p>
            <a:pPr algn="r" indent="0" marL="0">
              <a:buNone/>
            </a:pPr>
            <a:r>
              <a:rPr lang="en-US" sz="850" b="1" spc="70" kern="0" dirty="0">
                <a:solidFill>
                  <a:srgbClr val="4C8F3F"/>
                </a:solidFill>
                <a:latin typeface="Nunito Sans" pitchFamily="34" charset="0"/>
                <a:ea typeface="Nunito Sans" pitchFamily="34" charset="-122"/>
                <a:cs typeface="Nunito Sans" pitchFamily="34" charset="-120"/>
              </a:rPr>
              <a:t>5.5 YRS TO COPY</a:t>
            </a:r>
            <a:endParaRPr lang="en-US" sz="850" dirty="0"/>
          </a:p>
        </p:txBody>
      </p:sp>
      <p:sp>
        <p:nvSpPr>
          <p:cNvPr id="15" name="Shape 12"/>
          <p:cNvSpPr/>
          <p:nvPr/>
        </p:nvSpPr>
        <p:spPr>
          <a:xfrm>
            <a:off x="502920" y="3328416"/>
            <a:ext cx="6766560" cy="512064"/>
          </a:xfrm>
          <a:prstGeom prst="roundRect">
            <a:avLst>
              <a:gd name="adj" fmla="val 8929"/>
            </a:avLst>
          </a:prstGeom>
          <a:solidFill>
            <a:srgbClr val="FFFFFF"/>
          </a:solidFill>
          <a:ln w="9525">
            <a:solidFill>
              <a:srgbClr val="E5DCCB"/>
            </a:solidFill>
            <a:prstDash val="solid"/>
          </a:ln>
          <a:effectLst>
            <a:outerShdw sx="100000" sy="100000" kx="0" ky="0" algn="bl" rotWithShape="0" blurRad="228600" dist="25400" dir="5400000">
              <a:srgbClr val="0C1A2B">
                <a:alpha val="7000"/>
              </a:srgbClr>
            </a:outerShdw>
          </a:effectLst>
        </p:spPr>
      </p:sp>
      <p:sp>
        <p:nvSpPr>
          <p:cNvPr id="16" name="Text 13"/>
          <p:cNvSpPr/>
          <p:nvPr/>
        </p:nvSpPr>
        <p:spPr>
          <a:xfrm>
            <a:off x="685800" y="3328416"/>
            <a:ext cx="548640" cy="512064"/>
          </a:xfrm>
          <a:prstGeom prst="rect">
            <a:avLst/>
          </a:prstGeom>
          <a:noFill/>
          <a:ln/>
        </p:spPr>
        <p:txBody>
          <a:bodyPr wrap="square" lIns="0" tIns="0" rIns="0" bIns="0" rtlCol="0" anchor="ctr"/>
          <a:lstStyle/>
          <a:p>
            <a:pPr indent="0" marL="0">
              <a:buNone/>
            </a:pPr>
            <a:r>
              <a:rPr lang="en-US" sz="1300" dirty="0">
                <a:solidFill>
                  <a:srgbClr val="8B95A2"/>
                </a:solidFill>
                <a:latin typeface="Archivo Black" pitchFamily="34" charset="0"/>
                <a:ea typeface="Archivo Black" pitchFamily="34" charset="-122"/>
                <a:cs typeface="Archivo Black" pitchFamily="34" charset="-120"/>
              </a:rPr>
              <a:t>L2</a:t>
            </a:r>
            <a:endParaRPr lang="en-US" sz="1300" dirty="0"/>
          </a:p>
        </p:txBody>
      </p:sp>
      <p:sp>
        <p:nvSpPr>
          <p:cNvPr id="17" name="Text 14"/>
          <p:cNvSpPr/>
          <p:nvPr/>
        </p:nvSpPr>
        <p:spPr>
          <a:xfrm>
            <a:off x="1325880" y="3328416"/>
            <a:ext cx="3383280" cy="512064"/>
          </a:xfrm>
          <a:prstGeom prst="rect">
            <a:avLst/>
          </a:prstGeom>
          <a:noFill/>
          <a:ln/>
        </p:spPr>
        <p:txBody>
          <a:bodyPr wrap="square" lIns="0" tIns="0" rIns="0" bIns="0" rtlCol="0" anchor="ctr"/>
          <a:lstStyle/>
          <a:p>
            <a:pPr indent="0" marL="0">
              <a:buNone/>
            </a:pPr>
            <a:r>
              <a:rPr lang="en-US" sz="1100" b="1" dirty="0">
                <a:solidFill>
                  <a:srgbClr val="0C1A2B"/>
                </a:solidFill>
                <a:latin typeface="Nunito Sans" pitchFamily="34" charset="0"/>
                <a:ea typeface="Nunito Sans" pitchFamily="34" charset="-122"/>
                <a:cs typeface="Nunito Sans" pitchFamily="34" charset="-120"/>
              </a:rPr>
              <a:t>NPOP certification</a:t>
            </a:r>
            <a:endParaRPr lang="en-US" sz="1100" dirty="0"/>
          </a:p>
        </p:txBody>
      </p:sp>
      <p:sp>
        <p:nvSpPr>
          <p:cNvPr id="18" name="Text 15"/>
          <p:cNvSpPr/>
          <p:nvPr/>
        </p:nvSpPr>
        <p:spPr>
          <a:xfrm>
            <a:off x="4709160" y="3328416"/>
            <a:ext cx="2377440" cy="512064"/>
          </a:xfrm>
          <a:prstGeom prst="rect">
            <a:avLst/>
          </a:prstGeom>
          <a:noFill/>
          <a:ln/>
        </p:spPr>
        <p:txBody>
          <a:bodyPr wrap="square" lIns="0" tIns="0" rIns="0" bIns="0" rtlCol="0" anchor="ctr"/>
          <a:lstStyle/>
          <a:p>
            <a:pPr algn="r" indent="0" marL="0">
              <a:buNone/>
            </a:pPr>
            <a:r>
              <a:rPr lang="en-US" sz="850" b="1" spc="70" kern="0" dirty="0">
                <a:solidFill>
                  <a:srgbClr val="8B95A2"/>
                </a:solidFill>
                <a:latin typeface="Nunito Sans" pitchFamily="34" charset="0"/>
                <a:ea typeface="Nunito Sans" pitchFamily="34" charset="-122"/>
                <a:cs typeface="Nunito Sans" pitchFamily="34" charset="-120"/>
              </a:rPr>
              <a:t>PARITY</a:t>
            </a:r>
            <a:endParaRPr lang="en-US" sz="850" dirty="0"/>
          </a:p>
        </p:txBody>
      </p:sp>
      <p:sp>
        <p:nvSpPr>
          <p:cNvPr id="19" name="Shape 16"/>
          <p:cNvSpPr/>
          <p:nvPr/>
        </p:nvSpPr>
        <p:spPr>
          <a:xfrm>
            <a:off x="502920" y="3931920"/>
            <a:ext cx="6766560" cy="512064"/>
          </a:xfrm>
          <a:prstGeom prst="roundRect">
            <a:avLst>
              <a:gd name="adj" fmla="val 8929"/>
            </a:avLst>
          </a:prstGeom>
          <a:solidFill>
            <a:srgbClr val="EAF0F8"/>
          </a:solidFill>
          <a:ln w="19050">
            <a:solidFill>
              <a:srgbClr val="3A5D97"/>
            </a:solidFill>
            <a:prstDash val="solid"/>
          </a:ln>
          <a:effectLst>
            <a:outerShdw sx="100000" sy="100000" kx="0" ky="0" algn="bl" rotWithShape="0" blurRad="228600" dist="25400" dir="5400000">
              <a:srgbClr val="0C1A2B">
                <a:alpha val="7000"/>
              </a:srgbClr>
            </a:outerShdw>
          </a:effectLst>
        </p:spPr>
      </p:sp>
      <p:sp>
        <p:nvSpPr>
          <p:cNvPr id="20" name="Text 17"/>
          <p:cNvSpPr/>
          <p:nvPr/>
        </p:nvSpPr>
        <p:spPr>
          <a:xfrm>
            <a:off x="685800" y="3931920"/>
            <a:ext cx="548640" cy="512064"/>
          </a:xfrm>
          <a:prstGeom prst="rect">
            <a:avLst/>
          </a:prstGeom>
          <a:noFill/>
          <a:ln/>
        </p:spPr>
        <p:txBody>
          <a:bodyPr wrap="square" lIns="0" tIns="0" rIns="0" bIns="0" rtlCol="0" anchor="ctr"/>
          <a:lstStyle/>
          <a:p>
            <a:pPr indent="0" marL="0">
              <a:buNone/>
            </a:pPr>
            <a:r>
              <a:rPr lang="en-US" sz="1300" dirty="0">
                <a:solidFill>
                  <a:srgbClr val="3A5D97"/>
                </a:solidFill>
                <a:latin typeface="Archivo Black" pitchFamily="34" charset="0"/>
                <a:ea typeface="Archivo Black" pitchFamily="34" charset="-122"/>
                <a:cs typeface="Archivo Black" pitchFamily="34" charset="-120"/>
              </a:rPr>
              <a:t>L1</a:t>
            </a:r>
            <a:endParaRPr lang="en-US" sz="1300" dirty="0"/>
          </a:p>
        </p:txBody>
      </p:sp>
      <p:sp>
        <p:nvSpPr>
          <p:cNvPr id="21" name="Text 18"/>
          <p:cNvSpPr/>
          <p:nvPr/>
        </p:nvSpPr>
        <p:spPr>
          <a:xfrm>
            <a:off x="1325880" y="3931920"/>
            <a:ext cx="3383280" cy="512064"/>
          </a:xfrm>
          <a:prstGeom prst="rect">
            <a:avLst/>
          </a:prstGeom>
          <a:noFill/>
          <a:ln/>
        </p:spPr>
        <p:txBody>
          <a:bodyPr wrap="square" lIns="0" tIns="0" rIns="0" bIns="0" rtlCol="0" anchor="ctr"/>
          <a:lstStyle/>
          <a:p>
            <a:pPr indent="0" marL="0">
              <a:buNone/>
            </a:pPr>
            <a:r>
              <a:rPr lang="en-US" sz="1100" b="1" dirty="0">
                <a:solidFill>
                  <a:srgbClr val="0C1A2B"/>
                </a:solidFill>
                <a:latin typeface="Nunito Sans" pitchFamily="34" charset="0"/>
                <a:ea typeface="Nunito Sans" pitchFamily="34" charset="-122"/>
                <a:cs typeface="Nunito Sans" pitchFamily="34" charset="-120"/>
              </a:rPr>
              <a:t>QR to the batch lab report</a:t>
            </a:r>
            <a:endParaRPr lang="en-US" sz="1100" dirty="0"/>
          </a:p>
        </p:txBody>
      </p:sp>
      <p:sp>
        <p:nvSpPr>
          <p:cNvPr id="22" name="Text 19"/>
          <p:cNvSpPr/>
          <p:nvPr/>
        </p:nvSpPr>
        <p:spPr>
          <a:xfrm>
            <a:off x="4709160" y="3931920"/>
            <a:ext cx="2377440" cy="512064"/>
          </a:xfrm>
          <a:prstGeom prst="rect">
            <a:avLst/>
          </a:prstGeom>
          <a:noFill/>
          <a:ln/>
        </p:spPr>
        <p:txBody>
          <a:bodyPr wrap="square" lIns="0" tIns="0" rIns="0" bIns="0" rtlCol="0" anchor="ctr"/>
          <a:lstStyle/>
          <a:p>
            <a:pPr algn="r" indent="0" marL="0">
              <a:buNone/>
            </a:pPr>
            <a:r>
              <a:rPr lang="en-US" sz="850" b="1" spc="70" kern="0" dirty="0">
                <a:solidFill>
                  <a:srgbClr val="3A5D97"/>
                </a:solidFill>
                <a:latin typeface="Nunito Sans" pitchFamily="34" charset="0"/>
                <a:ea typeface="Nunito Sans" pitchFamily="34" charset="-122"/>
                <a:cs typeface="Nunito Sans" pitchFamily="34" charset="-120"/>
              </a:rPr>
              <a:t>DHF IS HERE  ·  1.2 YRS TO COPY</a:t>
            </a:r>
            <a:endParaRPr lang="en-US" sz="850" dirty="0"/>
          </a:p>
        </p:txBody>
      </p:sp>
      <p:sp>
        <p:nvSpPr>
          <p:cNvPr id="23" name="Shape 20"/>
          <p:cNvSpPr/>
          <p:nvPr/>
        </p:nvSpPr>
        <p:spPr>
          <a:xfrm>
            <a:off x="502920" y="4535424"/>
            <a:ext cx="6766560" cy="512064"/>
          </a:xfrm>
          <a:prstGeom prst="roundRect">
            <a:avLst>
              <a:gd name="adj" fmla="val 8929"/>
            </a:avLst>
          </a:prstGeom>
          <a:solidFill>
            <a:srgbClr val="FFFFFF"/>
          </a:solidFill>
          <a:ln w="9525">
            <a:solidFill>
              <a:srgbClr val="E5DCCB"/>
            </a:solidFill>
            <a:prstDash val="solid"/>
          </a:ln>
          <a:effectLst>
            <a:outerShdw sx="100000" sy="100000" kx="0" ky="0" algn="bl" rotWithShape="0" blurRad="228600" dist="25400" dir="5400000">
              <a:srgbClr val="0C1A2B">
                <a:alpha val="7000"/>
              </a:srgbClr>
            </a:outerShdw>
          </a:effectLst>
        </p:spPr>
      </p:sp>
      <p:sp>
        <p:nvSpPr>
          <p:cNvPr id="24" name="Text 21"/>
          <p:cNvSpPr/>
          <p:nvPr/>
        </p:nvSpPr>
        <p:spPr>
          <a:xfrm>
            <a:off x="685800" y="4535424"/>
            <a:ext cx="548640" cy="512064"/>
          </a:xfrm>
          <a:prstGeom prst="rect">
            <a:avLst/>
          </a:prstGeom>
          <a:noFill/>
          <a:ln/>
        </p:spPr>
        <p:txBody>
          <a:bodyPr wrap="square" lIns="0" tIns="0" rIns="0" bIns="0" rtlCol="0" anchor="ctr"/>
          <a:lstStyle/>
          <a:p>
            <a:pPr indent="0" marL="0">
              <a:buNone/>
            </a:pPr>
            <a:r>
              <a:rPr lang="en-US" sz="1300" dirty="0">
                <a:solidFill>
                  <a:srgbClr val="9E3A24"/>
                </a:solidFill>
                <a:latin typeface="Archivo Black" pitchFamily="34" charset="0"/>
                <a:ea typeface="Archivo Black" pitchFamily="34" charset="-122"/>
                <a:cs typeface="Archivo Black" pitchFamily="34" charset="-120"/>
              </a:rPr>
              <a:t>L0</a:t>
            </a:r>
            <a:endParaRPr lang="en-US" sz="1300" dirty="0"/>
          </a:p>
        </p:txBody>
      </p:sp>
      <p:sp>
        <p:nvSpPr>
          <p:cNvPr id="25" name="Text 22"/>
          <p:cNvSpPr/>
          <p:nvPr/>
        </p:nvSpPr>
        <p:spPr>
          <a:xfrm>
            <a:off x="1325880" y="4535424"/>
            <a:ext cx="3383280" cy="512064"/>
          </a:xfrm>
          <a:prstGeom prst="rect">
            <a:avLst/>
          </a:prstGeom>
          <a:noFill/>
          <a:ln/>
        </p:spPr>
        <p:txBody>
          <a:bodyPr wrap="square" lIns="0" tIns="0" rIns="0" bIns="0" rtlCol="0" anchor="ctr"/>
          <a:lstStyle/>
          <a:p>
            <a:pPr indent="0" marL="0">
              <a:buNone/>
            </a:pPr>
            <a:r>
              <a:rPr lang="en-US" sz="1100" b="1" dirty="0">
                <a:solidFill>
                  <a:srgbClr val="0C1A2B"/>
                </a:solidFill>
                <a:latin typeface="Nunito Sans" pitchFamily="34" charset="0"/>
                <a:ea typeface="Nunito Sans" pitchFamily="34" charset="-122"/>
                <a:cs typeface="Nunito Sans" pitchFamily="34" charset="-120"/>
              </a:rPr>
              <a:t>A label claim</a:t>
            </a:r>
            <a:endParaRPr lang="en-US" sz="1100" dirty="0"/>
          </a:p>
        </p:txBody>
      </p:sp>
      <p:sp>
        <p:nvSpPr>
          <p:cNvPr id="26" name="Text 23"/>
          <p:cNvSpPr/>
          <p:nvPr/>
        </p:nvSpPr>
        <p:spPr>
          <a:xfrm>
            <a:off x="4709160" y="4535424"/>
            <a:ext cx="2377440" cy="512064"/>
          </a:xfrm>
          <a:prstGeom prst="rect">
            <a:avLst/>
          </a:prstGeom>
          <a:noFill/>
          <a:ln/>
        </p:spPr>
        <p:txBody>
          <a:bodyPr wrap="square" lIns="0" tIns="0" rIns="0" bIns="0" rtlCol="0" anchor="ctr"/>
          <a:lstStyle/>
          <a:p>
            <a:pPr algn="r" indent="0" marL="0">
              <a:buNone/>
            </a:pPr>
            <a:r>
              <a:rPr lang="en-US" sz="850" b="1" spc="70" kern="0" dirty="0">
                <a:solidFill>
                  <a:srgbClr val="9E3A24"/>
                </a:solidFill>
                <a:latin typeface="Nunito Sans" pitchFamily="34" charset="0"/>
                <a:ea typeface="Nunito Sans" pitchFamily="34" charset="-122"/>
                <a:cs typeface="Nunito Sans" pitchFamily="34" charset="-120"/>
              </a:rPr>
              <a:t>0.3 YRS TO COPY</a:t>
            </a:r>
            <a:endParaRPr lang="en-US" sz="850" dirty="0"/>
          </a:p>
        </p:txBody>
      </p:sp>
      <p:sp>
        <p:nvSpPr>
          <p:cNvPr id="27" name="Shape 24"/>
          <p:cNvSpPr/>
          <p:nvPr/>
        </p:nvSpPr>
        <p:spPr>
          <a:xfrm>
            <a:off x="7543800" y="2121408"/>
            <a:ext cx="4144975" cy="1170432"/>
          </a:xfrm>
          <a:prstGeom prst="roundRect">
            <a:avLst>
              <a:gd name="adj" fmla="val 7813"/>
            </a:avLst>
          </a:prstGeom>
          <a:solidFill>
            <a:srgbClr val="E4F2EA"/>
          </a:solidFill>
          <a:ln w="6350">
            <a:solidFill>
              <a:srgbClr val="E4F2EA"/>
            </a:solidFill>
            <a:prstDash val="solid"/>
          </a:ln>
        </p:spPr>
      </p:sp>
      <p:sp>
        <p:nvSpPr>
          <p:cNvPr id="28" name="Text 25"/>
          <p:cNvSpPr/>
          <p:nvPr/>
        </p:nvSpPr>
        <p:spPr>
          <a:xfrm>
            <a:off x="7744968" y="2240280"/>
            <a:ext cx="3742639" cy="219456"/>
          </a:xfrm>
          <a:prstGeom prst="rect">
            <a:avLst/>
          </a:prstGeom>
          <a:noFill/>
          <a:ln/>
        </p:spPr>
        <p:txBody>
          <a:bodyPr wrap="square" lIns="0" tIns="0" rIns="0" bIns="0" rtlCol="0" anchor="t"/>
          <a:lstStyle/>
          <a:p>
            <a:pPr indent="0" marL="0">
              <a:lnSpc>
                <a:spcPct val="102000"/>
              </a:lnSpc>
              <a:buNone/>
            </a:pPr>
            <a:r>
              <a:rPr lang="en-US" sz="1050" b="1" dirty="0">
                <a:solidFill>
                  <a:srgbClr val="177A46"/>
                </a:solidFill>
                <a:latin typeface="Nunito Sans" pitchFamily="34" charset="0"/>
                <a:ea typeface="Nunito Sans" pitchFamily="34" charset="-122"/>
                <a:cs typeface="Nunito Sans" pitchFamily="34" charset="-120"/>
              </a:rPr>
              <a:t>Only L3 and L4 survive imitation.</a:t>
            </a:r>
            <a:endParaRPr lang="en-US" sz="1050" dirty="0"/>
          </a:p>
        </p:txBody>
      </p:sp>
      <p:sp>
        <p:nvSpPr>
          <p:cNvPr id="29" name="Text 26"/>
          <p:cNvSpPr/>
          <p:nvPr/>
        </p:nvSpPr>
        <p:spPr>
          <a:xfrm>
            <a:off x="7744968" y="2487168"/>
            <a:ext cx="3742639" cy="713232"/>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A label claim is copied in months. A QR to a lab report is copied in a year. Control of what a farmer plants takes five and a half — because it is a network, not a feature.</a:t>
            </a:r>
            <a:endParaRPr lang="en-US" sz="900" dirty="0"/>
          </a:p>
        </p:txBody>
      </p:sp>
      <p:sp>
        <p:nvSpPr>
          <p:cNvPr id="30" name="Shape 27"/>
          <p:cNvSpPr/>
          <p:nvPr/>
        </p:nvSpPr>
        <p:spPr>
          <a:xfrm>
            <a:off x="7543800" y="3419856"/>
            <a:ext cx="4144975" cy="1572768"/>
          </a:xfrm>
          <a:prstGeom prst="roundRect">
            <a:avLst>
              <a:gd name="adj" fmla="val 5814"/>
            </a:avLst>
          </a:prstGeom>
          <a:solidFill>
            <a:srgbClr val="FBE9E3"/>
          </a:solidFill>
          <a:ln w="6350">
            <a:solidFill>
              <a:srgbClr val="FBE9E3"/>
            </a:solidFill>
            <a:prstDash val="solid"/>
          </a:ln>
        </p:spPr>
      </p:sp>
      <p:sp>
        <p:nvSpPr>
          <p:cNvPr id="31" name="Text 28"/>
          <p:cNvSpPr/>
          <p:nvPr/>
        </p:nvSpPr>
        <p:spPr>
          <a:xfrm>
            <a:off x="7744968" y="3538728"/>
            <a:ext cx="3742639" cy="402336"/>
          </a:xfrm>
          <a:prstGeom prst="rect">
            <a:avLst/>
          </a:prstGeom>
          <a:noFill/>
          <a:ln/>
        </p:spPr>
        <p:txBody>
          <a:bodyPr wrap="square" lIns="0" tIns="0" rIns="0" bIns="0" rtlCol="0" anchor="t"/>
          <a:lstStyle/>
          <a:p>
            <a:pPr indent="0" marL="0">
              <a:lnSpc>
                <a:spcPct val="102000"/>
              </a:lnSpc>
              <a:buNone/>
            </a:pPr>
            <a:r>
              <a:rPr lang="en-US" sz="1050" b="1" dirty="0">
                <a:solidFill>
                  <a:srgbClr val="9E3A24"/>
                </a:solidFill>
                <a:latin typeface="Nunito Sans" pitchFamily="34" charset="0"/>
                <a:ea typeface="Nunito Sans" pitchFamily="34" charset="-122"/>
                <a:cs typeface="Nunito Sans" pitchFamily="34" charset="-120"/>
              </a:rPr>
              <a:t>Roughly two years before it is worth attacking.</a:t>
            </a:r>
            <a:endParaRPr lang="en-US" sz="1050" dirty="0"/>
          </a:p>
        </p:txBody>
      </p:sp>
      <p:sp>
        <p:nvSpPr>
          <p:cNvPr id="32" name="Text 29"/>
          <p:cNvSpPr/>
          <p:nvPr/>
        </p:nvSpPr>
        <p:spPr>
          <a:xfrm>
            <a:off x="7744968" y="3968496"/>
            <a:ext cx="3742639" cy="932688"/>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The only asset that cannot be bought inside five years. ITC bought 24 Mantra; Wingreens bought Safe Harvest — DHF has roughly two years to build, certify and make this moat consumer-visible before ₹274 Cr makes it worth attacking.</a:t>
            </a:r>
            <a:endParaRPr lang="en-US" sz="900" dirty="0"/>
          </a:p>
        </p:txBody>
      </p:sp>
      <p:pic>
        <p:nvPicPr>
          <p:cNvPr id="33" name="Image 1" descr="/home/user/hopper-tessarakt/site/assets/makhana-farm.jpg">    </p:cNvPr>
          <p:cNvPicPr>
            <a:picLocks noChangeAspect="1"/>
          </p:cNvPicPr>
          <p:nvPr/>
        </p:nvPicPr>
        <p:blipFill>
          <a:blip r:embed="rId2"/>
          <a:srcRect l="0" r="0" t="0" b="0"/>
          <a:stretch/>
        </p:blipFill>
        <p:spPr>
          <a:xfrm>
            <a:off x="7543800" y="5102352"/>
            <a:ext cx="4144975" cy="1078992"/>
          </a:xfrm>
          <a:prstGeom prst="rect">
            <a:avLst/>
          </a:prstGeom>
        </p:spPr>
      </p:pic>
      <p:pic>
        <p:nvPicPr>
          <p:cNvPr id="34" name="Image 2" descr="/home/user/hopper-tessarakt/site/assets/factory.jpg">    </p:cNvPr>
          <p:cNvPicPr>
            <a:picLocks noChangeAspect="1"/>
          </p:cNvPicPr>
          <p:nvPr/>
        </p:nvPicPr>
        <p:blipFill>
          <a:blip r:embed="rId3"/>
          <a:srcRect l="0" r="0" t="0" b="0"/>
          <a:stretch/>
        </p:blipFill>
        <p:spPr>
          <a:xfrm>
            <a:off x="502920" y="5230368"/>
            <a:ext cx="6766560" cy="950976"/>
          </a:xfrm>
          <a:prstGeom prst="rect">
            <a:avLst/>
          </a:prstGeom>
        </p:spPr>
      </p:pic>
      <p:sp>
        <p:nvSpPr>
          <p:cNvPr id="35" name="Text 30"/>
          <p:cNvSpPr/>
          <p:nvPr/>
        </p:nvSpPr>
        <p:spPr>
          <a:xfrm>
            <a:off x="502920" y="4992624"/>
            <a:ext cx="6766560" cy="237744"/>
          </a:xfrm>
          <a:prstGeom prst="rect">
            <a:avLst/>
          </a:prstGeom>
          <a:noFill/>
          <a:ln/>
        </p:spPr>
        <p:txBody>
          <a:bodyPr wrap="square" lIns="0" tIns="0" rIns="0" bIns="0" rtlCol="0" anchor="ctr"/>
          <a:lstStyle/>
          <a:p>
            <a:pPr indent="0" marL="0">
              <a:buNone/>
            </a:pPr>
            <a:r>
              <a:rPr lang="en-US" sz="850" b="1" spc="60" kern="0" dirty="0">
                <a:solidFill>
                  <a:srgbClr val="8B95A2"/>
                </a:solidFill>
                <a:latin typeface="Nunito Sans" pitchFamily="34" charset="0"/>
                <a:ea typeface="Nunito Sans" pitchFamily="34" charset="-122"/>
                <a:cs typeface="Nunito Sans" pitchFamily="34" charset="-120"/>
              </a:rPr>
              <a:t>Eight sourcing clusters, owned end to end — the layer competitors cannot contract for.</a:t>
            </a:r>
            <a:endParaRPr lang="en-US" sz="850" dirty="0"/>
          </a:p>
        </p:txBody>
      </p:sp>
      <p:sp>
        <p:nvSpPr>
          <p:cNvPr id="36" name="Shape 31"/>
          <p:cNvSpPr/>
          <p:nvPr/>
        </p:nvSpPr>
        <p:spPr>
          <a:xfrm>
            <a:off x="502920" y="6455664"/>
            <a:ext cx="11185855" cy="0"/>
          </a:xfrm>
          <a:prstGeom prst="line">
            <a:avLst/>
          </a:prstGeom>
          <a:noFill/>
          <a:ln w="9525">
            <a:solidFill>
              <a:srgbClr val="E5DCCB"/>
            </a:solidFill>
            <a:prstDash val="solid"/>
          </a:ln>
        </p:spPr>
      </p:sp>
      <p:sp>
        <p:nvSpPr>
          <p:cNvPr id="37" name="Text 32"/>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06 · THE MOAT &amp; THE ASK</a:t>
            </a:r>
            <a:endParaRPr lang="en-US" sz="800" dirty="0"/>
          </a:p>
        </p:txBody>
      </p:sp>
      <p:sp>
        <p:nvSpPr>
          <p:cNvPr id="38" name="Text 33"/>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38</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159813"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159813"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THE SCALE BLUEPRINT</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₹105 Cr buys breakeven by FY29.</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Losses for two years, then positive. Investment intensity falls from 38% to 30% of revenue — breakeven is not efficiency, it is the same rupees over more revenue.</a:t>
            </a:r>
            <a:endParaRPr lang="en-US" sz="1100" dirty="0"/>
          </a:p>
        </p:txBody>
      </p:sp>
      <p:sp>
        <p:nvSpPr>
          <p:cNvPr id="7" name="Text 4"/>
          <p:cNvSpPr/>
          <p:nvPr/>
        </p:nvSpPr>
        <p:spPr>
          <a:xfrm>
            <a:off x="502920" y="2121408"/>
            <a:ext cx="54864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THE PATH TO BREAKEVEN, ₹ CR</a:t>
            </a:r>
            <a:endParaRPr lang="en-US" sz="950" dirty="0"/>
          </a:p>
        </p:txBody>
      </p:sp>
      <p:sp>
        <p:nvSpPr>
          <p:cNvPr id="8" name="Shape 5"/>
          <p:cNvSpPr/>
          <p:nvPr/>
        </p:nvSpPr>
        <p:spPr>
          <a:xfrm>
            <a:off x="502920" y="2414016"/>
            <a:ext cx="5943600" cy="475488"/>
          </a:xfrm>
          <a:prstGeom prst="rect">
            <a:avLst/>
          </a:prstGeom>
          <a:solidFill>
            <a:srgbClr val="F3ECE0"/>
          </a:solidFill>
          <a:ln w="12700">
            <a:solidFill>
              <a:srgbClr val="333333"/>
            </a:solidFill>
            <a:prstDash val="solid"/>
          </a:ln>
        </p:spPr>
      </p:sp>
      <p:sp>
        <p:nvSpPr>
          <p:cNvPr id="9" name="Text 6"/>
          <p:cNvSpPr/>
          <p:nvPr/>
        </p:nvSpPr>
        <p:spPr>
          <a:xfrm>
            <a:off x="640080" y="2414016"/>
            <a:ext cx="2148840" cy="475488"/>
          </a:xfrm>
          <a:prstGeom prst="rect">
            <a:avLst/>
          </a:prstGeom>
          <a:noFill/>
          <a:ln/>
        </p:spPr>
        <p:txBody>
          <a:bodyPr wrap="square" lIns="0" tIns="0" rIns="0" bIns="0" rtlCol="0" anchor="ctr"/>
          <a:lstStyle/>
          <a:p>
            <a:pPr algn="l" indent="0" marL="0">
              <a:buNone/>
            </a:pPr>
            <a:endParaRPr lang="en-US" sz="850" dirty="0"/>
          </a:p>
        </p:txBody>
      </p:sp>
      <p:sp>
        <p:nvSpPr>
          <p:cNvPr id="10" name="Text 7"/>
          <p:cNvSpPr/>
          <p:nvPr/>
        </p:nvSpPr>
        <p:spPr>
          <a:xfrm>
            <a:off x="3017520" y="2414016"/>
            <a:ext cx="960120" cy="475488"/>
          </a:xfrm>
          <a:prstGeom prst="rect">
            <a:avLst/>
          </a:prstGeom>
          <a:noFill/>
          <a:ln/>
        </p:spPr>
        <p:txBody>
          <a:bodyPr wrap="square" lIns="0" tIns="0" rIns="0" bIns="0" rtlCol="0" anchor="ctr"/>
          <a:lstStyle/>
          <a:p>
            <a:pPr algn="r" indent="0" marL="0">
              <a:buNone/>
            </a:pPr>
            <a:r>
              <a:rPr lang="en-US" sz="850" b="1" spc="80" kern="0" dirty="0">
                <a:solidFill>
                  <a:srgbClr val="8B95A2"/>
                </a:solidFill>
                <a:latin typeface="Nunito Sans" pitchFamily="34" charset="0"/>
                <a:ea typeface="Nunito Sans" pitchFamily="34" charset="-122"/>
                <a:cs typeface="Nunito Sans" pitchFamily="34" charset="-120"/>
              </a:rPr>
              <a:t>FY27</a:t>
            </a:r>
            <a:endParaRPr lang="en-US" sz="850" dirty="0"/>
          </a:p>
        </p:txBody>
      </p:sp>
      <p:sp>
        <p:nvSpPr>
          <p:cNvPr id="11" name="Text 8"/>
          <p:cNvSpPr/>
          <p:nvPr/>
        </p:nvSpPr>
        <p:spPr>
          <a:xfrm>
            <a:off x="4206240" y="2414016"/>
            <a:ext cx="960120" cy="475488"/>
          </a:xfrm>
          <a:prstGeom prst="rect">
            <a:avLst/>
          </a:prstGeom>
          <a:noFill/>
          <a:ln/>
        </p:spPr>
        <p:txBody>
          <a:bodyPr wrap="square" lIns="0" tIns="0" rIns="0" bIns="0" rtlCol="0" anchor="ctr"/>
          <a:lstStyle/>
          <a:p>
            <a:pPr algn="r" indent="0" marL="0">
              <a:buNone/>
            </a:pPr>
            <a:r>
              <a:rPr lang="en-US" sz="850" b="1" spc="80" kern="0" dirty="0">
                <a:solidFill>
                  <a:srgbClr val="8B95A2"/>
                </a:solidFill>
                <a:latin typeface="Nunito Sans" pitchFamily="34" charset="0"/>
                <a:ea typeface="Nunito Sans" pitchFamily="34" charset="-122"/>
                <a:cs typeface="Nunito Sans" pitchFamily="34" charset="-120"/>
              </a:rPr>
              <a:t>FY28</a:t>
            </a:r>
            <a:endParaRPr lang="en-US" sz="850" dirty="0"/>
          </a:p>
        </p:txBody>
      </p:sp>
      <p:sp>
        <p:nvSpPr>
          <p:cNvPr id="12" name="Text 9"/>
          <p:cNvSpPr/>
          <p:nvPr/>
        </p:nvSpPr>
        <p:spPr>
          <a:xfrm>
            <a:off x="5394960" y="2414016"/>
            <a:ext cx="960120" cy="475488"/>
          </a:xfrm>
          <a:prstGeom prst="rect">
            <a:avLst/>
          </a:prstGeom>
          <a:noFill/>
          <a:ln/>
        </p:spPr>
        <p:txBody>
          <a:bodyPr wrap="square" lIns="0" tIns="0" rIns="0" bIns="0" rtlCol="0" anchor="ctr"/>
          <a:lstStyle/>
          <a:p>
            <a:pPr algn="r" indent="0" marL="0">
              <a:buNone/>
            </a:pPr>
            <a:r>
              <a:rPr lang="en-US" sz="850" b="1" spc="80" kern="0" dirty="0">
                <a:solidFill>
                  <a:srgbClr val="8B95A2"/>
                </a:solidFill>
                <a:latin typeface="Nunito Sans" pitchFamily="34" charset="0"/>
                <a:ea typeface="Nunito Sans" pitchFamily="34" charset="-122"/>
                <a:cs typeface="Nunito Sans" pitchFamily="34" charset="-120"/>
              </a:rPr>
              <a:t>FY29</a:t>
            </a:r>
            <a:endParaRPr lang="en-US" sz="850" dirty="0"/>
          </a:p>
        </p:txBody>
      </p:sp>
      <p:sp>
        <p:nvSpPr>
          <p:cNvPr id="13" name="Text 10"/>
          <p:cNvSpPr/>
          <p:nvPr/>
        </p:nvSpPr>
        <p:spPr>
          <a:xfrm>
            <a:off x="640080" y="2889504"/>
            <a:ext cx="2148840" cy="475488"/>
          </a:xfrm>
          <a:prstGeom prst="rect">
            <a:avLst/>
          </a:prstGeom>
          <a:noFill/>
          <a:ln/>
        </p:spPr>
        <p:txBody>
          <a:bodyPr wrap="square" lIns="0" tIns="0" rIns="0" bIns="0" rtlCol="0" anchor="ctr"/>
          <a:lstStyle/>
          <a:p>
            <a:pPr algn="l" indent="0" marL="0">
              <a:buNone/>
            </a:pPr>
            <a:r>
              <a:rPr lang="en-US" sz="900" b="1" dirty="0">
                <a:solidFill>
                  <a:srgbClr val="8B95A2"/>
                </a:solidFill>
                <a:latin typeface="Nunito Sans" pitchFamily="34" charset="0"/>
                <a:ea typeface="Nunito Sans" pitchFamily="34" charset="-122"/>
                <a:cs typeface="Nunito Sans" pitchFamily="34" charset="-120"/>
              </a:rPr>
              <a:t>Revenue</a:t>
            </a:r>
            <a:endParaRPr lang="en-US" sz="900" dirty="0"/>
          </a:p>
        </p:txBody>
      </p:sp>
      <p:sp>
        <p:nvSpPr>
          <p:cNvPr id="14" name="Text 11"/>
          <p:cNvSpPr/>
          <p:nvPr/>
        </p:nvSpPr>
        <p:spPr>
          <a:xfrm>
            <a:off x="3017520" y="2889504"/>
            <a:ext cx="960120" cy="475488"/>
          </a:xfrm>
          <a:prstGeom prst="rect">
            <a:avLst/>
          </a:prstGeom>
          <a:noFill/>
          <a:ln/>
        </p:spPr>
        <p:txBody>
          <a:bodyPr wrap="square" lIns="0" tIns="0" rIns="0" bIns="0" rtlCol="0" anchor="ctr"/>
          <a:lstStyle/>
          <a:p>
            <a:pPr algn="r" indent="0" marL="0">
              <a:buNone/>
            </a:pPr>
            <a:r>
              <a:rPr lang="en-US" sz="1400" dirty="0">
                <a:solidFill>
                  <a:srgbClr val="0C1A2B"/>
                </a:solidFill>
                <a:latin typeface="Archivo Black" pitchFamily="34" charset="0"/>
                <a:ea typeface="Archivo Black" pitchFamily="34" charset="-122"/>
                <a:cs typeface="Archivo Black" pitchFamily="34" charset="-120"/>
              </a:rPr>
              <a:t>104</a:t>
            </a:r>
            <a:endParaRPr lang="en-US" sz="1400" dirty="0"/>
          </a:p>
        </p:txBody>
      </p:sp>
      <p:sp>
        <p:nvSpPr>
          <p:cNvPr id="15" name="Text 12"/>
          <p:cNvSpPr/>
          <p:nvPr/>
        </p:nvSpPr>
        <p:spPr>
          <a:xfrm>
            <a:off x="4206240" y="2889504"/>
            <a:ext cx="960120" cy="475488"/>
          </a:xfrm>
          <a:prstGeom prst="rect">
            <a:avLst/>
          </a:prstGeom>
          <a:noFill/>
          <a:ln/>
        </p:spPr>
        <p:txBody>
          <a:bodyPr wrap="square" lIns="0" tIns="0" rIns="0" bIns="0" rtlCol="0" anchor="ctr"/>
          <a:lstStyle/>
          <a:p>
            <a:pPr algn="r" indent="0" marL="0">
              <a:buNone/>
            </a:pPr>
            <a:r>
              <a:rPr lang="en-US" sz="1400" dirty="0">
                <a:solidFill>
                  <a:srgbClr val="0C1A2B"/>
                </a:solidFill>
                <a:latin typeface="Archivo Black" pitchFamily="34" charset="0"/>
                <a:ea typeface="Archivo Black" pitchFamily="34" charset="-122"/>
                <a:cs typeface="Archivo Black" pitchFamily="34" charset="-120"/>
              </a:rPr>
              <a:t>168</a:t>
            </a:r>
            <a:endParaRPr lang="en-US" sz="1400" dirty="0"/>
          </a:p>
        </p:txBody>
      </p:sp>
      <p:sp>
        <p:nvSpPr>
          <p:cNvPr id="16" name="Text 13"/>
          <p:cNvSpPr/>
          <p:nvPr/>
        </p:nvSpPr>
        <p:spPr>
          <a:xfrm>
            <a:off x="5394960" y="2889504"/>
            <a:ext cx="960120" cy="475488"/>
          </a:xfrm>
          <a:prstGeom prst="rect">
            <a:avLst/>
          </a:prstGeom>
          <a:noFill/>
          <a:ln/>
        </p:spPr>
        <p:txBody>
          <a:bodyPr wrap="square" lIns="0" tIns="0" rIns="0" bIns="0" rtlCol="0" anchor="ctr"/>
          <a:lstStyle/>
          <a:p>
            <a:pPr algn="r" indent="0" marL="0">
              <a:buNone/>
            </a:pPr>
            <a:r>
              <a:rPr lang="en-US" sz="1400" dirty="0">
                <a:solidFill>
                  <a:srgbClr val="0C1A2B"/>
                </a:solidFill>
                <a:latin typeface="Archivo Black" pitchFamily="34" charset="0"/>
                <a:ea typeface="Archivo Black" pitchFamily="34" charset="-122"/>
                <a:cs typeface="Archivo Black" pitchFamily="34" charset="-120"/>
              </a:rPr>
              <a:t>274</a:t>
            </a:r>
            <a:endParaRPr lang="en-US" sz="1400" dirty="0"/>
          </a:p>
        </p:txBody>
      </p:sp>
      <p:sp>
        <p:nvSpPr>
          <p:cNvPr id="17" name="Shape 14"/>
          <p:cNvSpPr/>
          <p:nvPr/>
        </p:nvSpPr>
        <p:spPr>
          <a:xfrm>
            <a:off x="502920" y="3364992"/>
            <a:ext cx="5943600" cy="0"/>
          </a:xfrm>
          <a:prstGeom prst="line">
            <a:avLst/>
          </a:prstGeom>
          <a:noFill/>
          <a:ln w="6350">
            <a:solidFill>
              <a:srgbClr val="E5DCCB"/>
            </a:solidFill>
            <a:prstDash val="solid"/>
          </a:ln>
        </p:spPr>
      </p:sp>
      <p:sp>
        <p:nvSpPr>
          <p:cNvPr id="18" name="Text 15"/>
          <p:cNvSpPr/>
          <p:nvPr/>
        </p:nvSpPr>
        <p:spPr>
          <a:xfrm>
            <a:off x="640080" y="3364992"/>
            <a:ext cx="2148840" cy="475488"/>
          </a:xfrm>
          <a:prstGeom prst="rect">
            <a:avLst/>
          </a:prstGeom>
          <a:noFill/>
          <a:ln/>
        </p:spPr>
        <p:txBody>
          <a:bodyPr wrap="square" lIns="0" tIns="0" rIns="0" bIns="0" rtlCol="0" anchor="ctr"/>
          <a:lstStyle/>
          <a:p>
            <a:pPr algn="l" indent="0" marL="0">
              <a:buNone/>
            </a:pPr>
            <a:r>
              <a:rPr lang="en-US" sz="900" b="1" dirty="0">
                <a:solidFill>
                  <a:srgbClr val="8B95A2"/>
                </a:solidFill>
                <a:latin typeface="Nunito Sans" pitchFamily="34" charset="0"/>
                <a:ea typeface="Nunito Sans" pitchFamily="34" charset="-122"/>
                <a:cs typeface="Nunito Sans" pitchFamily="34" charset="-120"/>
              </a:rPr>
              <a:t>Investable margin</a:t>
            </a:r>
            <a:endParaRPr lang="en-US" sz="900" dirty="0"/>
          </a:p>
        </p:txBody>
      </p:sp>
      <p:sp>
        <p:nvSpPr>
          <p:cNvPr id="19" name="Text 16"/>
          <p:cNvSpPr/>
          <p:nvPr/>
        </p:nvSpPr>
        <p:spPr>
          <a:xfrm>
            <a:off x="3017520" y="3364992"/>
            <a:ext cx="960120" cy="475488"/>
          </a:xfrm>
          <a:prstGeom prst="rect">
            <a:avLst/>
          </a:prstGeom>
          <a:noFill/>
          <a:ln/>
        </p:spPr>
        <p:txBody>
          <a:bodyPr wrap="square" lIns="0" tIns="0" rIns="0" bIns="0" rtlCol="0" anchor="ctr"/>
          <a:lstStyle/>
          <a:p>
            <a:pPr algn="r" indent="0" marL="0">
              <a:buNone/>
            </a:pPr>
            <a:r>
              <a:rPr lang="en-US" sz="1400" dirty="0">
                <a:solidFill>
                  <a:srgbClr val="0C1A2B"/>
                </a:solidFill>
                <a:latin typeface="Archivo Black" pitchFamily="34" charset="0"/>
                <a:ea typeface="Archivo Black" pitchFamily="34" charset="-122"/>
                <a:cs typeface="Archivo Black" pitchFamily="34" charset="-120"/>
              </a:rPr>
              <a:t>27.6</a:t>
            </a:r>
            <a:endParaRPr lang="en-US" sz="1400" dirty="0"/>
          </a:p>
        </p:txBody>
      </p:sp>
      <p:sp>
        <p:nvSpPr>
          <p:cNvPr id="20" name="Text 17"/>
          <p:cNvSpPr/>
          <p:nvPr/>
        </p:nvSpPr>
        <p:spPr>
          <a:xfrm>
            <a:off x="4206240" y="3364992"/>
            <a:ext cx="960120" cy="475488"/>
          </a:xfrm>
          <a:prstGeom prst="rect">
            <a:avLst/>
          </a:prstGeom>
          <a:noFill/>
          <a:ln/>
        </p:spPr>
        <p:txBody>
          <a:bodyPr wrap="square" lIns="0" tIns="0" rIns="0" bIns="0" rtlCol="0" anchor="ctr"/>
          <a:lstStyle/>
          <a:p>
            <a:pPr algn="r" indent="0" marL="0">
              <a:buNone/>
            </a:pPr>
            <a:r>
              <a:rPr lang="en-US" sz="1400" dirty="0">
                <a:solidFill>
                  <a:srgbClr val="0C1A2B"/>
                </a:solidFill>
                <a:latin typeface="Archivo Black" pitchFamily="34" charset="0"/>
                <a:ea typeface="Archivo Black" pitchFamily="34" charset="-122"/>
                <a:cs typeface="Archivo Black" pitchFamily="34" charset="-120"/>
              </a:rPr>
              <a:t>50.2</a:t>
            </a:r>
            <a:endParaRPr lang="en-US" sz="1400" dirty="0"/>
          </a:p>
        </p:txBody>
      </p:sp>
      <p:sp>
        <p:nvSpPr>
          <p:cNvPr id="21" name="Text 18"/>
          <p:cNvSpPr/>
          <p:nvPr/>
        </p:nvSpPr>
        <p:spPr>
          <a:xfrm>
            <a:off x="5394960" y="3364992"/>
            <a:ext cx="960120" cy="475488"/>
          </a:xfrm>
          <a:prstGeom prst="rect">
            <a:avLst/>
          </a:prstGeom>
          <a:noFill/>
          <a:ln/>
        </p:spPr>
        <p:txBody>
          <a:bodyPr wrap="square" lIns="0" tIns="0" rIns="0" bIns="0" rtlCol="0" anchor="ctr"/>
          <a:lstStyle/>
          <a:p>
            <a:pPr algn="r" indent="0" marL="0">
              <a:buNone/>
            </a:pPr>
            <a:r>
              <a:rPr lang="en-US" sz="1400" dirty="0">
                <a:solidFill>
                  <a:srgbClr val="0C1A2B"/>
                </a:solidFill>
                <a:latin typeface="Archivo Black" pitchFamily="34" charset="0"/>
                <a:ea typeface="Archivo Black" pitchFamily="34" charset="-122"/>
                <a:cs typeface="Archivo Black" pitchFamily="34" charset="-120"/>
              </a:rPr>
              <a:t>86.6</a:t>
            </a:r>
            <a:endParaRPr lang="en-US" sz="1400" dirty="0"/>
          </a:p>
        </p:txBody>
      </p:sp>
      <p:sp>
        <p:nvSpPr>
          <p:cNvPr id="22" name="Shape 19"/>
          <p:cNvSpPr/>
          <p:nvPr/>
        </p:nvSpPr>
        <p:spPr>
          <a:xfrm>
            <a:off x="502920" y="3840480"/>
            <a:ext cx="5943600" cy="0"/>
          </a:xfrm>
          <a:prstGeom prst="line">
            <a:avLst/>
          </a:prstGeom>
          <a:noFill/>
          <a:ln w="6350">
            <a:solidFill>
              <a:srgbClr val="E5DCCB"/>
            </a:solidFill>
            <a:prstDash val="solid"/>
          </a:ln>
        </p:spPr>
      </p:sp>
      <p:sp>
        <p:nvSpPr>
          <p:cNvPr id="23" name="Text 20"/>
          <p:cNvSpPr/>
          <p:nvPr/>
        </p:nvSpPr>
        <p:spPr>
          <a:xfrm>
            <a:off x="640080" y="3840480"/>
            <a:ext cx="2148840" cy="475488"/>
          </a:xfrm>
          <a:prstGeom prst="rect">
            <a:avLst/>
          </a:prstGeom>
          <a:noFill/>
          <a:ln/>
        </p:spPr>
        <p:txBody>
          <a:bodyPr wrap="square" lIns="0" tIns="0" rIns="0" bIns="0" rtlCol="0" anchor="ctr"/>
          <a:lstStyle/>
          <a:p>
            <a:pPr algn="l" indent="0" marL="0">
              <a:buNone/>
            </a:pPr>
            <a:r>
              <a:rPr lang="en-US" sz="900" b="1" dirty="0">
                <a:solidFill>
                  <a:srgbClr val="8B95A2"/>
                </a:solidFill>
                <a:latin typeface="Nunito Sans" pitchFamily="34" charset="0"/>
                <a:ea typeface="Nunito Sans" pitchFamily="34" charset="-122"/>
                <a:cs typeface="Nunito Sans" pitchFamily="34" charset="-120"/>
              </a:rPr>
              <a:t>EBITDA</a:t>
            </a:r>
            <a:endParaRPr lang="en-US" sz="900" dirty="0"/>
          </a:p>
        </p:txBody>
      </p:sp>
      <p:sp>
        <p:nvSpPr>
          <p:cNvPr id="24" name="Text 21"/>
          <p:cNvSpPr/>
          <p:nvPr/>
        </p:nvSpPr>
        <p:spPr>
          <a:xfrm>
            <a:off x="3017520" y="3840480"/>
            <a:ext cx="960120" cy="475488"/>
          </a:xfrm>
          <a:prstGeom prst="rect">
            <a:avLst/>
          </a:prstGeom>
          <a:noFill/>
          <a:ln/>
        </p:spPr>
        <p:txBody>
          <a:bodyPr wrap="square" lIns="0" tIns="0" rIns="0" bIns="0" rtlCol="0" anchor="ctr"/>
          <a:lstStyle/>
          <a:p>
            <a:pPr algn="r" indent="0" marL="0">
              <a:buNone/>
            </a:pPr>
            <a:r>
              <a:rPr lang="en-US" sz="1400" dirty="0">
                <a:solidFill>
                  <a:srgbClr val="9E3A24"/>
                </a:solidFill>
                <a:latin typeface="Archivo Black" pitchFamily="34" charset="0"/>
                <a:ea typeface="Archivo Black" pitchFamily="34" charset="-122"/>
                <a:cs typeface="Archivo Black" pitchFamily="34" charset="-120"/>
              </a:rPr>
              <a:t>−12.4</a:t>
            </a:r>
            <a:endParaRPr lang="en-US" sz="1400" dirty="0"/>
          </a:p>
        </p:txBody>
      </p:sp>
      <p:sp>
        <p:nvSpPr>
          <p:cNvPr id="25" name="Text 22"/>
          <p:cNvSpPr/>
          <p:nvPr/>
        </p:nvSpPr>
        <p:spPr>
          <a:xfrm>
            <a:off x="4206240" y="3840480"/>
            <a:ext cx="960120" cy="475488"/>
          </a:xfrm>
          <a:prstGeom prst="rect">
            <a:avLst/>
          </a:prstGeom>
          <a:noFill/>
          <a:ln/>
        </p:spPr>
        <p:txBody>
          <a:bodyPr wrap="square" lIns="0" tIns="0" rIns="0" bIns="0" rtlCol="0" anchor="ctr"/>
          <a:lstStyle/>
          <a:p>
            <a:pPr algn="r" indent="0" marL="0">
              <a:buNone/>
            </a:pPr>
            <a:r>
              <a:rPr lang="en-US" sz="1400" dirty="0">
                <a:solidFill>
                  <a:srgbClr val="9E3A24"/>
                </a:solidFill>
                <a:latin typeface="Archivo Black" pitchFamily="34" charset="0"/>
                <a:ea typeface="Archivo Black" pitchFamily="34" charset="-122"/>
                <a:cs typeface="Archivo Black" pitchFamily="34" charset="-120"/>
              </a:rPr>
              <a:t>−7.9</a:t>
            </a:r>
            <a:endParaRPr lang="en-US" sz="1400" dirty="0"/>
          </a:p>
        </p:txBody>
      </p:sp>
      <p:sp>
        <p:nvSpPr>
          <p:cNvPr id="26" name="Text 23"/>
          <p:cNvSpPr/>
          <p:nvPr/>
        </p:nvSpPr>
        <p:spPr>
          <a:xfrm>
            <a:off x="5394960" y="3840480"/>
            <a:ext cx="960120" cy="475488"/>
          </a:xfrm>
          <a:prstGeom prst="rect">
            <a:avLst/>
          </a:prstGeom>
          <a:noFill/>
          <a:ln/>
        </p:spPr>
        <p:txBody>
          <a:bodyPr wrap="square" lIns="0" tIns="0" rIns="0" bIns="0" rtlCol="0" anchor="ctr"/>
          <a:lstStyle/>
          <a:p>
            <a:pPr algn="r" indent="0" marL="0">
              <a:buNone/>
            </a:pPr>
            <a:r>
              <a:rPr lang="en-US" sz="1400" dirty="0">
                <a:solidFill>
                  <a:srgbClr val="177A46"/>
                </a:solidFill>
                <a:latin typeface="Archivo Black" pitchFamily="34" charset="0"/>
                <a:ea typeface="Archivo Black" pitchFamily="34" charset="-122"/>
                <a:cs typeface="Archivo Black" pitchFamily="34" charset="-120"/>
              </a:rPr>
              <a:t>+4.7</a:t>
            </a:r>
            <a:endParaRPr lang="en-US" sz="1400" dirty="0"/>
          </a:p>
        </p:txBody>
      </p:sp>
      <p:sp>
        <p:nvSpPr>
          <p:cNvPr id="27" name="Shape 24"/>
          <p:cNvSpPr/>
          <p:nvPr/>
        </p:nvSpPr>
        <p:spPr>
          <a:xfrm>
            <a:off x="502920" y="4315968"/>
            <a:ext cx="5943600" cy="0"/>
          </a:xfrm>
          <a:prstGeom prst="line">
            <a:avLst/>
          </a:prstGeom>
          <a:noFill/>
          <a:ln w="6350">
            <a:solidFill>
              <a:srgbClr val="E5DCCB"/>
            </a:solidFill>
            <a:prstDash val="solid"/>
          </a:ln>
        </p:spPr>
      </p:sp>
      <p:sp>
        <p:nvSpPr>
          <p:cNvPr id="28" name="Text 25"/>
          <p:cNvSpPr/>
          <p:nvPr/>
        </p:nvSpPr>
        <p:spPr>
          <a:xfrm>
            <a:off x="502920" y="4407408"/>
            <a:ext cx="5943600" cy="365760"/>
          </a:xfrm>
          <a:prstGeom prst="rect">
            <a:avLst/>
          </a:prstGeom>
          <a:noFill/>
          <a:ln/>
        </p:spPr>
        <p:txBody>
          <a:bodyPr wrap="square" lIns="0" tIns="0" rIns="0" bIns="0" rtlCol="0" anchor="t"/>
          <a:lstStyle/>
          <a:p>
            <a:pPr indent="0" marL="0">
              <a:lnSpc>
                <a:spcPct val="108000"/>
              </a:lnSpc>
              <a:buNone/>
            </a:pPr>
            <a:r>
              <a:rPr lang="en-US" sz="850" dirty="0">
                <a:solidFill>
                  <a:srgbClr val="8B95A2"/>
                </a:solidFill>
                <a:latin typeface="Nunito Sans" pitchFamily="34" charset="0"/>
                <a:ea typeface="Nunito Sans" pitchFamily="34" charset="-122"/>
                <a:cs typeface="Nunito Sans" pitchFamily="34" charset="-120"/>
              </a:rPr>
              <a:t>Investment intensity falls from 38% to 30% of revenue. Breakeven is not efficiency — it is the same rupees over more revenue.</a:t>
            </a:r>
            <a:endParaRPr lang="en-US" sz="850" dirty="0"/>
          </a:p>
        </p:txBody>
      </p:sp>
      <p:sp>
        <p:nvSpPr>
          <p:cNvPr id="29" name="Shape 26"/>
          <p:cNvSpPr/>
          <p:nvPr/>
        </p:nvSpPr>
        <p:spPr>
          <a:xfrm>
            <a:off x="502920" y="4864608"/>
            <a:ext cx="5943600" cy="1097280"/>
          </a:xfrm>
          <a:prstGeom prst="roundRect">
            <a:avLst>
              <a:gd name="adj" fmla="val 8333"/>
            </a:avLst>
          </a:prstGeom>
          <a:solidFill>
            <a:srgbClr val="FAF0DA"/>
          </a:solidFill>
          <a:ln w="6350">
            <a:solidFill>
              <a:srgbClr val="FAF0DA"/>
            </a:solidFill>
            <a:prstDash val="solid"/>
          </a:ln>
        </p:spPr>
      </p:sp>
      <p:sp>
        <p:nvSpPr>
          <p:cNvPr id="30" name="Text 27"/>
          <p:cNvSpPr/>
          <p:nvPr/>
        </p:nvSpPr>
        <p:spPr>
          <a:xfrm>
            <a:off x="704088" y="4983480"/>
            <a:ext cx="5541264" cy="886968"/>
          </a:xfrm>
          <a:prstGeom prst="rect">
            <a:avLst/>
          </a:prstGeom>
          <a:noFill/>
          <a:ln/>
        </p:spPr>
        <p:txBody>
          <a:bodyPr wrap="square" lIns="0" tIns="0" rIns="0" bIns="0" rtlCol="0" anchor="t"/>
          <a:lstStyle/>
          <a:p>
            <a:pPr indent="0" marL="0">
              <a:lnSpc>
                <a:spcPct val="110000"/>
              </a:lnSpc>
              <a:buNone/>
            </a:pPr>
            <a:r>
              <a:rPr lang="en-US" sz="900" dirty="0">
                <a:solidFill>
                  <a:srgbClr val="54606F"/>
                </a:solidFill>
                <a:latin typeface="Nunito Sans" pitchFamily="34" charset="0"/>
                <a:ea typeface="Nunito Sans" pitchFamily="34" charset="-122"/>
                <a:cs typeface="Nunito Sans" pitchFamily="34" charset="-120"/>
              </a:rPr>
              <a:t>DHF clears breakeven at ₹274 Cr only because a 43.1% gross margin buys ₹38 Cr that Farmley's 29% does not. No Indian clean-label brand between ₹75 and ₹400 Cr is EBITDA-positive today.</a:t>
            </a:r>
            <a:endParaRPr lang="en-US" sz="900" dirty="0"/>
          </a:p>
        </p:txBody>
      </p:sp>
      <p:sp>
        <p:nvSpPr>
          <p:cNvPr id="31" name="Shape 28"/>
          <p:cNvSpPr/>
          <p:nvPr/>
        </p:nvSpPr>
        <p:spPr>
          <a:xfrm>
            <a:off x="6720840" y="2121408"/>
            <a:ext cx="4967935" cy="2743200"/>
          </a:xfrm>
          <a:prstGeom prst="roundRect">
            <a:avLst>
              <a:gd name="adj" fmla="val 3333"/>
            </a:avLst>
          </a:prstGeom>
          <a:solidFill>
            <a:srgbClr val="0C1A2B"/>
          </a:solidFill>
          <a:ln w="15875">
            <a:solidFill>
              <a:srgbClr val="0C1A2B"/>
            </a:solidFill>
            <a:prstDash val="solid"/>
          </a:ln>
          <a:effectLst>
            <a:outerShdw sx="100000" sy="100000" kx="0" ky="0" algn="bl" rotWithShape="0" blurRad="228600" dist="25400" dir="5400000">
              <a:srgbClr val="0C1A2B">
                <a:alpha val="7000"/>
              </a:srgbClr>
            </a:outerShdw>
          </a:effectLst>
        </p:spPr>
      </p:sp>
      <p:sp>
        <p:nvSpPr>
          <p:cNvPr id="32" name="Text 29"/>
          <p:cNvSpPr/>
          <p:nvPr/>
        </p:nvSpPr>
        <p:spPr>
          <a:xfrm>
            <a:off x="6949440" y="2267712"/>
            <a:ext cx="3657600" cy="219456"/>
          </a:xfrm>
          <a:prstGeom prst="rect">
            <a:avLst/>
          </a:prstGeom>
          <a:noFill/>
          <a:ln/>
        </p:spPr>
        <p:txBody>
          <a:bodyPr wrap="square" lIns="0" tIns="0" rIns="0" bIns="0" rtlCol="0" anchor="ctr"/>
          <a:lstStyle/>
          <a:p>
            <a:pPr indent="0" marL="0">
              <a:buNone/>
            </a:pPr>
            <a:r>
              <a:rPr lang="en-US" sz="950" b="1" spc="180" kern="0" dirty="0">
                <a:solidFill>
                  <a:srgbClr val="5FC28C"/>
                </a:solidFill>
                <a:latin typeface="Nunito Sans" pitchFamily="34" charset="0"/>
                <a:ea typeface="Nunito Sans" pitchFamily="34" charset="-122"/>
                <a:cs typeface="Nunito Sans" pitchFamily="34" charset="-120"/>
              </a:rPr>
              <a:t>THE FUNDING ASK</a:t>
            </a:r>
            <a:endParaRPr lang="en-US" sz="950" dirty="0"/>
          </a:p>
        </p:txBody>
      </p:sp>
      <p:sp>
        <p:nvSpPr>
          <p:cNvPr id="33" name="Text 30"/>
          <p:cNvSpPr/>
          <p:nvPr/>
        </p:nvSpPr>
        <p:spPr>
          <a:xfrm>
            <a:off x="6949440" y="2505456"/>
            <a:ext cx="4510735" cy="658368"/>
          </a:xfrm>
          <a:prstGeom prst="rect">
            <a:avLst/>
          </a:prstGeom>
          <a:noFill/>
          <a:ln/>
        </p:spPr>
        <p:txBody>
          <a:bodyPr wrap="square" lIns="0" tIns="0" rIns="0" bIns="0" rtlCol="0" anchor="t"/>
          <a:lstStyle/>
          <a:p>
            <a:pPr indent="0" marL="0">
              <a:buNone/>
            </a:pPr>
            <a:r>
              <a:rPr lang="en-US" sz="3200" dirty="0">
                <a:solidFill>
                  <a:srgbClr val="FFFFFF"/>
                </a:solidFill>
                <a:latin typeface="Archivo Black" pitchFamily="34" charset="0"/>
                <a:ea typeface="Archivo Black" pitchFamily="34" charset="-122"/>
                <a:cs typeface="Archivo Black" pitchFamily="34" charset="-120"/>
              </a:rPr>
              <a:t>₹105 Cr</a:t>
            </a:r>
            <a:endParaRPr lang="en-US" sz="3200" dirty="0"/>
          </a:p>
        </p:txBody>
      </p:sp>
      <p:sp>
        <p:nvSpPr>
          <p:cNvPr id="34" name="Text 31"/>
          <p:cNvSpPr/>
          <p:nvPr/>
        </p:nvSpPr>
        <p:spPr>
          <a:xfrm>
            <a:off x="6949440" y="3310128"/>
            <a:ext cx="2377440" cy="274320"/>
          </a:xfrm>
          <a:prstGeom prst="rect">
            <a:avLst/>
          </a:prstGeom>
          <a:noFill/>
          <a:ln/>
        </p:spPr>
        <p:txBody>
          <a:bodyPr wrap="square" lIns="0" tIns="0" rIns="0" bIns="0" rtlCol="0" anchor="ctr"/>
          <a:lstStyle/>
          <a:p>
            <a:pPr indent="0" marL="0">
              <a:buNone/>
            </a:pPr>
            <a:r>
              <a:rPr lang="en-US" sz="950" dirty="0">
                <a:solidFill>
                  <a:srgbClr val="A9B6C7"/>
                </a:solidFill>
                <a:latin typeface="Nunito Sans" pitchFamily="34" charset="0"/>
                <a:ea typeface="Nunito Sans" pitchFamily="34" charset="-122"/>
                <a:cs typeface="Nunito Sans" pitchFamily="34" charset="-120"/>
              </a:rPr>
              <a:t>Operating losses</a:t>
            </a:r>
            <a:endParaRPr lang="en-US" sz="950" dirty="0"/>
          </a:p>
        </p:txBody>
      </p:sp>
      <p:sp>
        <p:nvSpPr>
          <p:cNvPr id="35" name="Text 32"/>
          <p:cNvSpPr/>
          <p:nvPr/>
        </p:nvSpPr>
        <p:spPr>
          <a:xfrm>
            <a:off x="10225735" y="3310128"/>
            <a:ext cx="1234440" cy="274320"/>
          </a:xfrm>
          <a:prstGeom prst="rect">
            <a:avLst/>
          </a:prstGeom>
          <a:noFill/>
          <a:ln/>
        </p:spPr>
        <p:txBody>
          <a:bodyPr wrap="square" lIns="0" tIns="0" rIns="0" bIns="0" rtlCol="0" anchor="ctr"/>
          <a:lstStyle/>
          <a:p>
            <a:pPr algn="r" indent="0" marL="0">
              <a:buNone/>
            </a:pPr>
            <a:r>
              <a:rPr lang="en-US" sz="950" b="1" dirty="0">
                <a:solidFill>
                  <a:srgbClr val="FFFFFF"/>
                </a:solidFill>
                <a:latin typeface="Nunito Sans" pitchFamily="34" charset="0"/>
                <a:ea typeface="Nunito Sans" pitchFamily="34" charset="-122"/>
                <a:cs typeface="Nunito Sans" pitchFamily="34" charset="-120"/>
              </a:rPr>
              <a:t>₹20.3 Cr</a:t>
            </a:r>
            <a:endParaRPr lang="en-US" sz="950" dirty="0"/>
          </a:p>
        </p:txBody>
      </p:sp>
      <p:sp>
        <p:nvSpPr>
          <p:cNvPr id="36" name="Shape 33"/>
          <p:cNvSpPr/>
          <p:nvPr/>
        </p:nvSpPr>
        <p:spPr>
          <a:xfrm>
            <a:off x="6949440" y="3584448"/>
            <a:ext cx="4510735" cy="0"/>
          </a:xfrm>
          <a:prstGeom prst="line">
            <a:avLst/>
          </a:prstGeom>
          <a:noFill/>
          <a:ln w="6350">
            <a:solidFill>
              <a:srgbClr val="FFFFFF">
                <a:alpha val="16000"/>
              </a:srgbClr>
            </a:solidFill>
            <a:prstDash val="solid"/>
          </a:ln>
        </p:spPr>
      </p:sp>
      <p:sp>
        <p:nvSpPr>
          <p:cNvPr id="37" name="Text 34"/>
          <p:cNvSpPr/>
          <p:nvPr/>
        </p:nvSpPr>
        <p:spPr>
          <a:xfrm>
            <a:off x="6949440" y="3639312"/>
            <a:ext cx="2377440" cy="274320"/>
          </a:xfrm>
          <a:prstGeom prst="rect">
            <a:avLst/>
          </a:prstGeom>
          <a:noFill/>
          <a:ln/>
        </p:spPr>
        <p:txBody>
          <a:bodyPr wrap="square" lIns="0" tIns="0" rIns="0" bIns="0" rtlCol="0" anchor="ctr"/>
          <a:lstStyle/>
          <a:p>
            <a:pPr indent="0" marL="0">
              <a:buNone/>
            </a:pPr>
            <a:r>
              <a:rPr lang="en-US" sz="950" dirty="0">
                <a:solidFill>
                  <a:srgbClr val="A9B6C7"/>
                </a:solidFill>
                <a:latin typeface="Nunito Sans" pitchFamily="34" charset="0"/>
                <a:ea typeface="Nunito Sans" pitchFamily="34" charset="-122"/>
                <a:cs typeface="Nunito Sans" pitchFamily="34" charset="-120"/>
              </a:rPr>
              <a:t>Capex</a:t>
            </a:r>
            <a:endParaRPr lang="en-US" sz="950" dirty="0"/>
          </a:p>
        </p:txBody>
      </p:sp>
      <p:sp>
        <p:nvSpPr>
          <p:cNvPr id="38" name="Text 35"/>
          <p:cNvSpPr/>
          <p:nvPr/>
        </p:nvSpPr>
        <p:spPr>
          <a:xfrm>
            <a:off x="10225735" y="3639312"/>
            <a:ext cx="1234440" cy="274320"/>
          </a:xfrm>
          <a:prstGeom prst="rect">
            <a:avLst/>
          </a:prstGeom>
          <a:noFill/>
          <a:ln/>
        </p:spPr>
        <p:txBody>
          <a:bodyPr wrap="square" lIns="0" tIns="0" rIns="0" bIns="0" rtlCol="0" anchor="ctr"/>
          <a:lstStyle/>
          <a:p>
            <a:pPr algn="r" indent="0" marL="0">
              <a:buNone/>
            </a:pPr>
            <a:r>
              <a:rPr lang="en-US" sz="950" b="1" dirty="0">
                <a:solidFill>
                  <a:srgbClr val="FFFFFF"/>
                </a:solidFill>
                <a:latin typeface="Nunito Sans" pitchFamily="34" charset="0"/>
                <a:ea typeface="Nunito Sans" pitchFamily="34" charset="-122"/>
                <a:cs typeface="Nunito Sans" pitchFamily="34" charset="-120"/>
              </a:rPr>
              <a:t>₹29.5 Cr</a:t>
            </a:r>
            <a:endParaRPr lang="en-US" sz="950" dirty="0"/>
          </a:p>
        </p:txBody>
      </p:sp>
      <p:sp>
        <p:nvSpPr>
          <p:cNvPr id="39" name="Shape 36"/>
          <p:cNvSpPr/>
          <p:nvPr/>
        </p:nvSpPr>
        <p:spPr>
          <a:xfrm>
            <a:off x="6949440" y="3913632"/>
            <a:ext cx="4510735" cy="0"/>
          </a:xfrm>
          <a:prstGeom prst="line">
            <a:avLst/>
          </a:prstGeom>
          <a:noFill/>
          <a:ln w="6350">
            <a:solidFill>
              <a:srgbClr val="FFFFFF">
                <a:alpha val="16000"/>
              </a:srgbClr>
            </a:solidFill>
            <a:prstDash val="solid"/>
          </a:ln>
        </p:spPr>
      </p:sp>
      <p:sp>
        <p:nvSpPr>
          <p:cNvPr id="40" name="Text 37"/>
          <p:cNvSpPr/>
          <p:nvPr/>
        </p:nvSpPr>
        <p:spPr>
          <a:xfrm>
            <a:off x="6949440" y="3968496"/>
            <a:ext cx="2377440" cy="274320"/>
          </a:xfrm>
          <a:prstGeom prst="rect">
            <a:avLst/>
          </a:prstGeom>
          <a:noFill/>
          <a:ln/>
        </p:spPr>
        <p:txBody>
          <a:bodyPr wrap="square" lIns="0" tIns="0" rIns="0" bIns="0" rtlCol="0" anchor="ctr"/>
          <a:lstStyle/>
          <a:p>
            <a:pPr indent="0" marL="0">
              <a:buNone/>
            </a:pPr>
            <a:r>
              <a:rPr lang="en-US" sz="950" dirty="0">
                <a:solidFill>
                  <a:srgbClr val="A9B6C7"/>
                </a:solidFill>
                <a:latin typeface="Nunito Sans" pitchFamily="34" charset="0"/>
                <a:ea typeface="Nunito Sans" pitchFamily="34" charset="-122"/>
                <a:cs typeface="Nunito Sans" pitchFamily="34" charset="-120"/>
              </a:rPr>
              <a:t>Working capital</a:t>
            </a:r>
            <a:endParaRPr lang="en-US" sz="950" dirty="0"/>
          </a:p>
        </p:txBody>
      </p:sp>
      <p:sp>
        <p:nvSpPr>
          <p:cNvPr id="41" name="Text 38"/>
          <p:cNvSpPr/>
          <p:nvPr/>
        </p:nvSpPr>
        <p:spPr>
          <a:xfrm>
            <a:off x="10225735" y="3968496"/>
            <a:ext cx="1234440" cy="274320"/>
          </a:xfrm>
          <a:prstGeom prst="rect">
            <a:avLst/>
          </a:prstGeom>
          <a:noFill/>
          <a:ln/>
        </p:spPr>
        <p:txBody>
          <a:bodyPr wrap="square" lIns="0" tIns="0" rIns="0" bIns="0" rtlCol="0" anchor="ctr"/>
          <a:lstStyle/>
          <a:p>
            <a:pPr algn="r" indent="0" marL="0">
              <a:buNone/>
            </a:pPr>
            <a:r>
              <a:rPr lang="en-US" sz="950" b="1" dirty="0">
                <a:solidFill>
                  <a:srgbClr val="FFFFFF"/>
                </a:solidFill>
                <a:latin typeface="Nunito Sans" pitchFamily="34" charset="0"/>
                <a:ea typeface="Nunito Sans" pitchFamily="34" charset="-122"/>
                <a:cs typeface="Nunito Sans" pitchFamily="34" charset="-120"/>
              </a:rPr>
              <a:t>₹37.3 Cr</a:t>
            </a:r>
            <a:endParaRPr lang="en-US" sz="950" dirty="0"/>
          </a:p>
        </p:txBody>
      </p:sp>
      <p:sp>
        <p:nvSpPr>
          <p:cNvPr id="42" name="Shape 39"/>
          <p:cNvSpPr/>
          <p:nvPr/>
        </p:nvSpPr>
        <p:spPr>
          <a:xfrm>
            <a:off x="6949440" y="4242816"/>
            <a:ext cx="4510735" cy="0"/>
          </a:xfrm>
          <a:prstGeom prst="line">
            <a:avLst/>
          </a:prstGeom>
          <a:noFill/>
          <a:ln w="6350">
            <a:solidFill>
              <a:srgbClr val="FFFFFF">
                <a:alpha val="16000"/>
              </a:srgbClr>
            </a:solidFill>
            <a:prstDash val="solid"/>
          </a:ln>
        </p:spPr>
      </p:sp>
      <p:sp>
        <p:nvSpPr>
          <p:cNvPr id="43" name="Text 40"/>
          <p:cNvSpPr/>
          <p:nvPr/>
        </p:nvSpPr>
        <p:spPr>
          <a:xfrm>
            <a:off x="6949440" y="4297680"/>
            <a:ext cx="2377440" cy="274320"/>
          </a:xfrm>
          <a:prstGeom prst="rect">
            <a:avLst/>
          </a:prstGeom>
          <a:noFill/>
          <a:ln/>
        </p:spPr>
        <p:txBody>
          <a:bodyPr wrap="square" lIns="0" tIns="0" rIns="0" bIns="0" rtlCol="0" anchor="ctr"/>
          <a:lstStyle/>
          <a:p>
            <a:pPr indent="0" marL="0">
              <a:buNone/>
            </a:pPr>
            <a:r>
              <a:rPr lang="en-US" sz="950" dirty="0">
                <a:solidFill>
                  <a:srgbClr val="A9B6C7"/>
                </a:solidFill>
                <a:latin typeface="Nunito Sans" pitchFamily="34" charset="0"/>
                <a:ea typeface="Nunito Sans" pitchFamily="34" charset="-122"/>
                <a:cs typeface="Nunito Sans" pitchFamily="34" charset="-120"/>
              </a:rPr>
              <a:t>Contingency</a:t>
            </a:r>
            <a:endParaRPr lang="en-US" sz="950" dirty="0"/>
          </a:p>
        </p:txBody>
      </p:sp>
      <p:sp>
        <p:nvSpPr>
          <p:cNvPr id="44" name="Text 41"/>
          <p:cNvSpPr/>
          <p:nvPr/>
        </p:nvSpPr>
        <p:spPr>
          <a:xfrm>
            <a:off x="10225735" y="4297680"/>
            <a:ext cx="1234440" cy="274320"/>
          </a:xfrm>
          <a:prstGeom prst="rect">
            <a:avLst/>
          </a:prstGeom>
          <a:noFill/>
          <a:ln/>
        </p:spPr>
        <p:txBody>
          <a:bodyPr wrap="square" lIns="0" tIns="0" rIns="0" bIns="0" rtlCol="0" anchor="ctr"/>
          <a:lstStyle/>
          <a:p>
            <a:pPr algn="r" indent="0" marL="0">
              <a:buNone/>
            </a:pPr>
            <a:r>
              <a:rPr lang="en-US" sz="950" b="1" dirty="0">
                <a:solidFill>
                  <a:srgbClr val="FFFFFF"/>
                </a:solidFill>
                <a:latin typeface="Nunito Sans" pitchFamily="34" charset="0"/>
                <a:ea typeface="Nunito Sans" pitchFamily="34" charset="-122"/>
                <a:cs typeface="Nunito Sans" pitchFamily="34" charset="-120"/>
              </a:rPr>
              <a:t>₹17.4 Cr</a:t>
            </a:r>
            <a:endParaRPr lang="en-US" sz="950" dirty="0"/>
          </a:p>
        </p:txBody>
      </p:sp>
      <p:sp>
        <p:nvSpPr>
          <p:cNvPr id="45" name="Shape 42"/>
          <p:cNvSpPr/>
          <p:nvPr/>
        </p:nvSpPr>
        <p:spPr>
          <a:xfrm>
            <a:off x="6949440" y="4572000"/>
            <a:ext cx="4510735" cy="0"/>
          </a:xfrm>
          <a:prstGeom prst="line">
            <a:avLst/>
          </a:prstGeom>
          <a:noFill/>
          <a:ln w="6350">
            <a:solidFill>
              <a:srgbClr val="FFFFFF">
                <a:alpha val="16000"/>
              </a:srgbClr>
            </a:solidFill>
            <a:prstDash val="solid"/>
          </a:ln>
        </p:spPr>
      </p:sp>
      <p:sp>
        <p:nvSpPr>
          <p:cNvPr id="46" name="Text 43"/>
          <p:cNvSpPr/>
          <p:nvPr/>
        </p:nvSpPr>
        <p:spPr>
          <a:xfrm>
            <a:off x="6949440" y="4608576"/>
            <a:ext cx="4510735" cy="219456"/>
          </a:xfrm>
          <a:prstGeom prst="rect">
            <a:avLst/>
          </a:prstGeom>
          <a:noFill/>
          <a:ln/>
        </p:spPr>
        <p:txBody>
          <a:bodyPr wrap="square" lIns="0" tIns="0" rIns="0" bIns="0" rtlCol="0" anchor="ctr"/>
          <a:lstStyle/>
          <a:p>
            <a:pPr indent="0" marL="0">
              <a:buNone/>
            </a:pPr>
            <a:r>
              <a:rPr lang="en-US" sz="850" i="1" dirty="0">
                <a:solidFill>
                  <a:srgbClr val="A9B6C7"/>
                </a:solidFill>
                <a:latin typeface="Nunito Sans" pitchFamily="34" charset="0"/>
                <a:ea typeface="Nunito Sans" pitchFamily="34" charset="-122"/>
                <a:cs typeface="Nunito Sans" pitchFamily="34" charset="-120"/>
              </a:rPr>
              <a:t>Below every comparable in the set.</a:t>
            </a:r>
            <a:endParaRPr lang="en-US" sz="850" dirty="0"/>
          </a:p>
        </p:txBody>
      </p:sp>
      <p:sp>
        <p:nvSpPr>
          <p:cNvPr id="47" name="Shape 44"/>
          <p:cNvSpPr/>
          <p:nvPr/>
        </p:nvSpPr>
        <p:spPr>
          <a:xfrm>
            <a:off x="6720840" y="5047488"/>
            <a:ext cx="4967935" cy="0"/>
          </a:xfrm>
          <a:prstGeom prst="line">
            <a:avLst/>
          </a:prstGeom>
          <a:noFill/>
          <a:ln w="25400">
            <a:solidFill>
              <a:srgbClr val="3A5D97"/>
            </a:solidFill>
            <a:prstDash val="solid"/>
          </a:ln>
        </p:spPr>
      </p:sp>
      <p:sp>
        <p:nvSpPr>
          <p:cNvPr id="48" name="Text 45"/>
          <p:cNvSpPr/>
          <p:nvPr/>
        </p:nvSpPr>
        <p:spPr>
          <a:xfrm>
            <a:off x="6720840" y="5193792"/>
            <a:ext cx="4967935" cy="383032"/>
          </a:xfrm>
          <a:prstGeom prst="rect">
            <a:avLst/>
          </a:prstGeom>
          <a:noFill/>
          <a:ln/>
        </p:spPr>
        <p:txBody>
          <a:bodyPr wrap="square" lIns="0" tIns="0" rIns="0" bIns="0" rtlCol="0" anchor="t"/>
          <a:lstStyle/>
          <a:p>
            <a:pPr indent="0" marL="0">
              <a:buNone/>
            </a:pPr>
            <a:r>
              <a:rPr lang="en-US" sz="2200" dirty="0">
                <a:solidFill>
                  <a:srgbClr val="3A5D97"/>
                </a:solidFill>
                <a:latin typeface="Archivo Black" pitchFamily="34" charset="0"/>
                <a:ea typeface="Archivo Black" pitchFamily="34" charset="-122"/>
                <a:cs typeface="Archivo Black" pitchFamily="34" charset="-120"/>
              </a:rPr>
              <a:t>22 → 98</a:t>
            </a:r>
            <a:endParaRPr lang="en-US" sz="2200" dirty="0"/>
          </a:p>
        </p:txBody>
      </p:sp>
      <p:sp>
        <p:nvSpPr>
          <p:cNvPr id="49" name="Text 46"/>
          <p:cNvSpPr/>
          <p:nvPr/>
        </p:nvSpPr>
        <p:spPr>
          <a:xfrm>
            <a:off x="6720840" y="5613400"/>
            <a:ext cx="4830775" cy="293624"/>
          </a:xfrm>
          <a:prstGeom prst="rect">
            <a:avLst/>
          </a:prstGeom>
          <a:noFill/>
          <a:ln/>
        </p:spPr>
        <p:txBody>
          <a:bodyPr wrap="square" lIns="0" tIns="0" rIns="0" bIns="0" rtlCol="0" anchor="t"/>
          <a:lstStyle/>
          <a:p>
            <a:pPr indent="0" marL="0">
              <a:lnSpc>
                <a:spcPct val="114000"/>
              </a:lnSpc>
              <a:buNone/>
            </a:pPr>
            <a:r>
              <a:rPr lang="en-US" sz="850" dirty="0">
                <a:solidFill>
                  <a:srgbClr val="54606F"/>
                </a:solidFill>
                <a:latin typeface="Nunito Sans" pitchFamily="34" charset="0"/>
                <a:ea typeface="Nunito Sans" pitchFamily="34" charset="-122"/>
                <a:cs typeface="Nunito Sans" pitchFamily="34" charset="-120"/>
              </a:rPr>
              <a:t>People, FY26 to FY29, across six functions. Revenue per head reaches ₹2.80 Cr.</a:t>
            </a:r>
            <a:endParaRPr lang="en-US" sz="850" dirty="0"/>
          </a:p>
        </p:txBody>
      </p:sp>
      <p:sp>
        <p:nvSpPr>
          <p:cNvPr id="50" name="Shape 47"/>
          <p:cNvSpPr/>
          <p:nvPr/>
        </p:nvSpPr>
        <p:spPr>
          <a:xfrm>
            <a:off x="502920" y="6455664"/>
            <a:ext cx="11185855" cy="0"/>
          </a:xfrm>
          <a:prstGeom prst="line">
            <a:avLst/>
          </a:prstGeom>
          <a:noFill/>
          <a:ln w="9525">
            <a:solidFill>
              <a:srgbClr val="E5DCCB"/>
            </a:solidFill>
            <a:prstDash val="solid"/>
          </a:ln>
        </p:spPr>
      </p:sp>
      <p:sp>
        <p:nvSpPr>
          <p:cNvPr id="51" name="Text 48"/>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06 · THE MOAT &amp; THE ASK</a:t>
            </a:r>
            <a:endParaRPr lang="en-US" sz="800" dirty="0"/>
          </a:p>
        </p:txBody>
      </p:sp>
      <p:sp>
        <p:nvSpPr>
          <p:cNvPr id="52" name="Text 49"/>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39</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502920" y="310896"/>
            <a:ext cx="2159813" cy="274320"/>
          </a:xfrm>
          <a:prstGeom prst="roundRect">
            <a:avLst>
              <a:gd name="adj" fmla="val 23333"/>
            </a:avLst>
          </a:prstGeom>
          <a:solidFill>
            <a:srgbClr val="3A5D97"/>
          </a:solidFill>
          <a:ln w="12700">
            <a:solidFill>
              <a:srgbClr val="333333"/>
            </a:solidFill>
            <a:prstDash val="solid"/>
          </a:ln>
        </p:spPr>
      </p:sp>
      <p:sp>
        <p:nvSpPr>
          <p:cNvPr id="3" name="Text 1"/>
          <p:cNvSpPr/>
          <p:nvPr/>
        </p:nvSpPr>
        <p:spPr>
          <a:xfrm>
            <a:off x="502920" y="310896"/>
            <a:ext cx="2159813" cy="274320"/>
          </a:xfrm>
          <a:prstGeom prst="rect">
            <a:avLst/>
          </a:prstGeom>
          <a:noFill/>
          <a:ln/>
        </p:spPr>
        <p:txBody>
          <a:bodyPr wrap="square" lIns="0" tIns="0" rIns="0" bIns="0" rtlCol="0" anchor="ctr"/>
          <a:lstStyle/>
          <a:p>
            <a:pPr algn="ctr" indent="0" marL="0">
              <a:buNone/>
            </a:pPr>
            <a:r>
              <a:rPr lang="en-US" sz="900" b="1" spc="160" kern="0" dirty="0">
                <a:solidFill>
                  <a:srgbClr val="FFFFFF"/>
                </a:solidFill>
                <a:latin typeface="Nunito Sans" pitchFamily="34" charset="0"/>
                <a:ea typeface="Nunito Sans" pitchFamily="34" charset="-122"/>
                <a:cs typeface="Nunito Sans" pitchFamily="34" charset="-120"/>
              </a:rPr>
              <a:t>CATEGORY LEADERSHIP</a:t>
            </a:r>
            <a:endParaRPr lang="en-US" sz="900" dirty="0"/>
          </a:p>
        </p:txBody>
      </p:sp>
      <p:pic>
        <p:nvPicPr>
          <p:cNvPr id="4" name="Image 0" descr="/home/user/hopper-tessarakt/site/assets/logo.png">    </p:cNvPr>
          <p:cNvPicPr>
            <a:picLocks noChangeAspect="1"/>
          </p:cNvPicPr>
          <p:nvPr/>
        </p:nvPicPr>
        <p:blipFill>
          <a:blip r:embed="rId1"/>
          <a:stretch>
            <a:fillRect/>
          </a:stretch>
        </p:blipFill>
        <p:spPr>
          <a:xfrm>
            <a:off x="10545775" y="292608"/>
            <a:ext cx="1143000" cy="420624"/>
          </a:xfrm>
          <a:prstGeom prst="rect">
            <a:avLst/>
          </a:prstGeom>
        </p:spPr>
      </p:pic>
      <p:sp>
        <p:nvSpPr>
          <p:cNvPr id="5" name="Text 2"/>
          <p:cNvSpPr/>
          <p:nvPr/>
        </p:nvSpPr>
        <p:spPr>
          <a:xfrm>
            <a:off x="502920" y="658368"/>
            <a:ext cx="9814255" cy="786384"/>
          </a:xfrm>
          <a:prstGeom prst="rect">
            <a:avLst/>
          </a:prstGeom>
          <a:noFill/>
          <a:ln/>
        </p:spPr>
        <p:txBody>
          <a:bodyPr wrap="square" lIns="0" tIns="0" rIns="0" bIns="0" rtlCol="0" anchor="t"/>
          <a:lstStyle/>
          <a:p>
            <a:pPr indent="0" marL="0">
              <a:lnSpc>
                <a:spcPct val="102000"/>
              </a:lnSpc>
              <a:buNone/>
            </a:pPr>
            <a:r>
              <a:rPr lang="en-US" sz="2500" dirty="0">
                <a:solidFill>
                  <a:srgbClr val="0C1A2B"/>
                </a:solidFill>
                <a:latin typeface="Archivo Black" pitchFamily="34" charset="0"/>
                <a:ea typeface="Archivo Black" pitchFamily="34" charset="-122"/>
                <a:cs typeface="Archivo Black" pitchFamily="34" charset="-120"/>
              </a:rPr>
              <a:t>Open the category to make it a proprietary eponym.</a:t>
            </a:r>
            <a:endParaRPr lang="en-US" sz="2500" dirty="0"/>
          </a:p>
        </p:txBody>
      </p:sp>
      <p:sp>
        <p:nvSpPr>
          <p:cNvPr id="6" name="Text 3"/>
          <p:cNvSpPr/>
          <p:nvPr/>
        </p:nvSpPr>
        <p:spPr>
          <a:xfrm>
            <a:off x="502920" y="1499616"/>
            <a:ext cx="9692640" cy="493776"/>
          </a:xfrm>
          <a:prstGeom prst="rect">
            <a:avLst/>
          </a:prstGeom>
          <a:noFill/>
          <a:ln/>
        </p:spPr>
        <p:txBody>
          <a:bodyPr wrap="square" lIns="0" tIns="0" rIns="0" bIns="0" rtlCol="0" anchor="t"/>
          <a:lstStyle/>
          <a:p>
            <a:pPr indent="0" marL="0">
              <a:lnSpc>
                <a:spcPct val="114000"/>
              </a:lnSpc>
              <a:buNone/>
            </a:pPr>
            <a:r>
              <a:rPr lang="en-US" sz="1100" dirty="0">
                <a:solidFill>
                  <a:srgbClr val="54606F"/>
                </a:solidFill>
                <a:latin typeface="Nunito Sans" pitchFamily="34" charset="0"/>
                <a:ea typeface="Nunito Sans" pitchFamily="34" charset="-122"/>
                <a:cs typeface="Nunito Sans" pitchFamily="34" charset="-120"/>
              </a:rPr>
              <a:t>A category only becomes large if others are allowed in. DeHaat Honest Farms wins not by owning the words, but by owning the standard, the proof, and the relevance in consumers' lives.</a:t>
            </a:r>
            <a:endParaRPr lang="en-US" sz="1100" dirty="0"/>
          </a:p>
        </p:txBody>
      </p:sp>
      <p:sp>
        <p:nvSpPr>
          <p:cNvPr id="7" name="Shape 4"/>
          <p:cNvSpPr/>
          <p:nvPr/>
        </p:nvSpPr>
        <p:spPr>
          <a:xfrm>
            <a:off x="502920" y="2121408"/>
            <a:ext cx="3557930" cy="2286000"/>
          </a:xfrm>
          <a:prstGeom prst="roundRect">
            <a:avLst>
              <a:gd name="adj" fmla="val 4000"/>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8" name="Text 5"/>
          <p:cNvSpPr/>
          <p:nvPr/>
        </p:nvSpPr>
        <p:spPr>
          <a:xfrm>
            <a:off x="704088" y="2267712"/>
            <a:ext cx="731520" cy="274320"/>
          </a:xfrm>
          <a:prstGeom prst="rect">
            <a:avLst/>
          </a:prstGeom>
          <a:noFill/>
          <a:ln/>
        </p:spPr>
        <p:txBody>
          <a:bodyPr wrap="square" lIns="0" tIns="0" rIns="0" bIns="0" rtlCol="0" anchor="t"/>
          <a:lstStyle/>
          <a:p>
            <a:pPr indent="0" marL="0">
              <a:buNone/>
            </a:pPr>
            <a:r>
              <a:rPr lang="en-US" sz="1400" dirty="0">
                <a:solidFill>
                  <a:srgbClr val="177A46"/>
                </a:solidFill>
                <a:latin typeface="Archivo Black" pitchFamily="34" charset="0"/>
                <a:ea typeface="Archivo Black" pitchFamily="34" charset="-122"/>
                <a:cs typeface="Archivo Black" pitchFamily="34" charset="-120"/>
              </a:rPr>
              <a:t>01</a:t>
            </a:r>
            <a:endParaRPr lang="en-US" sz="1400" dirty="0"/>
          </a:p>
        </p:txBody>
      </p:sp>
      <p:sp>
        <p:nvSpPr>
          <p:cNvPr id="9" name="Text 6"/>
          <p:cNvSpPr/>
          <p:nvPr/>
        </p:nvSpPr>
        <p:spPr>
          <a:xfrm>
            <a:off x="704088" y="2578608"/>
            <a:ext cx="3155594" cy="292608"/>
          </a:xfrm>
          <a:prstGeom prst="rect">
            <a:avLst/>
          </a:prstGeom>
          <a:noFill/>
          <a:ln/>
        </p:spPr>
        <p:txBody>
          <a:bodyPr wrap="square" lIns="0" tIns="0" rIns="0" bIns="0" rtlCol="0" anchor="t"/>
          <a:lstStyle/>
          <a:p>
            <a:pPr indent="0" marL="0">
              <a:buNone/>
            </a:pPr>
            <a:r>
              <a:rPr lang="en-US" sz="1050" b="1" dirty="0">
                <a:solidFill>
                  <a:srgbClr val="0C1A2B"/>
                </a:solidFill>
                <a:latin typeface="Nunito Sans" pitchFamily="34" charset="0"/>
                <a:ea typeface="Nunito Sans" pitchFamily="34" charset="-122"/>
                <a:cs typeface="Nunito Sans" pitchFamily="34" charset="-120"/>
              </a:rPr>
              <a:t>Educate what pesticide-free means</a:t>
            </a:r>
            <a:endParaRPr lang="en-US" sz="1050" dirty="0"/>
          </a:p>
        </p:txBody>
      </p:sp>
      <p:sp>
        <p:nvSpPr>
          <p:cNvPr id="10" name="Text 7"/>
          <p:cNvSpPr/>
          <p:nvPr/>
        </p:nvSpPr>
        <p:spPr>
          <a:xfrm>
            <a:off x="704088" y="2926080"/>
            <a:ext cx="3155594" cy="1371600"/>
          </a:xfrm>
          <a:prstGeom prst="rect">
            <a:avLst/>
          </a:prstGeom>
          <a:noFill/>
          <a:ln/>
        </p:spPr>
        <p:txBody>
          <a:bodyPr wrap="square" lIns="0" tIns="0" rIns="0" bIns="0" rtlCol="0" anchor="t"/>
          <a:lstStyle/>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Pesticide-free call-out with QR to the farmer, carrying the Jaivik Bharat logo, on the front of pack</a:t>
            </a:r>
            <a:endParaRPr lang="en-US" sz="800" dirty="0"/>
          </a:p>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Invite parents, teachers and children to the farm to see the process and meet the farmers</a:t>
            </a:r>
            <a:endParaRPr lang="en-US" sz="800" dirty="0"/>
          </a:p>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Bring the 56% core audience into cook-off sessions after the visit; give the 18% sceptics firsthand access</a:t>
            </a:r>
            <a:endParaRPr lang="en-US" sz="800" dirty="0"/>
          </a:p>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Webinars and podcasts led by the farmers and doctors — the two voices the research says are believed</a:t>
            </a:r>
            <a:endParaRPr lang="en-US" sz="800" dirty="0"/>
          </a:p>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On-ground activation in schools and colleges, and with GPs, gastro specialists and nutritionists</a:t>
            </a:r>
            <a:endParaRPr lang="en-US" sz="800" dirty="0"/>
          </a:p>
        </p:txBody>
      </p:sp>
      <p:sp>
        <p:nvSpPr>
          <p:cNvPr id="11" name="Shape 8"/>
          <p:cNvSpPr/>
          <p:nvPr/>
        </p:nvSpPr>
        <p:spPr>
          <a:xfrm>
            <a:off x="4316882" y="2121408"/>
            <a:ext cx="3557930" cy="2286000"/>
          </a:xfrm>
          <a:prstGeom prst="roundRect">
            <a:avLst>
              <a:gd name="adj" fmla="val 4000"/>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12" name="Text 9"/>
          <p:cNvSpPr/>
          <p:nvPr/>
        </p:nvSpPr>
        <p:spPr>
          <a:xfrm>
            <a:off x="4518050" y="2267712"/>
            <a:ext cx="731520" cy="274320"/>
          </a:xfrm>
          <a:prstGeom prst="rect">
            <a:avLst/>
          </a:prstGeom>
          <a:noFill/>
          <a:ln/>
        </p:spPr>
        <p:txBody>
          <a:bodyPr wrap="square" lIns="0" tIns="0" rIns="0" bIns="0" rtlCol="0" anchor="t"/>
          <a:lstStyle/>
          <a:p>
            <a:pPr indent="0" marL="0">
              <a:buNone/>
            </a:pPr>
            <a:r>
              <a:rPr lang="en-US" sz="1400" dirty="0">
                <a:solidFill>
                  <a:srgbClr val="177A46"/>
                </a:solidFill>
                <a:latin typeface="Archivo Black" pitchFamily="34" charset="0"/>
                <a:ea typeface="Archivo Black" pitchFamily="34" charset="-122"/>
                <a:cs typeface="Archivo Black" pitchFamily="34" charset="-120"/>
              </a:rPr>
              <a:t>02</a:t>
            </a:r>
            <a:endParaRPr lang="en-US" sz="1400" dirty="0"/>
          </a:p>
        </p:txBody>
      </p:sp>
      <p:sp>
        <p:nvSpPr>
          <p:cNvPr id="13" name="Text 10"/>
          <p:cNvSpPr/>
          <p:nvPr/>
        </p:nvSpPr>
        <p:spPr>
          <a:xfrm>
            <a:off x="4518050" y="2578608"/>
            <a:ext cx="3155594" cy="292608"/>
          </a:xfrm>
          <a:prstGeom prst="rect">
            <a:avLst/>
          </a:prstGeom>
          <a:noFill/>
          <a:ln/>
        </p:spPr>
        <p:txBody>
          <a:bodyPr wrap="square" lIns="0" tIns="0" rIns="0" bIns="0" rtlCol="0" anchor="t"/>
          <a:lstStyle/>
          <a:p>
            <a:pPr indent="0" marL="0">
              <a:buNone/>
            </a:pPr>
            <a:r>
              <a:rPr lang="en-US" sz="1050" b="1" dirty="0">
                <a:solidFill>
                  <a:srgbClr val="0C1A2B"/>
                </a:solidFill>
                <a:latin typeface="Nunito Sans" pitchFamily="34" charset="0"/>
                <a:ea typeface="Nunito Sans" pitchFamily="34" charset="-122"/>
                <a:cs typeface="Nunito Sans" pitchFamily="34" charset="-120"/>
              </a:rPr>
              <a:t>Out-proof everyone: certification visible</a:t>
            </a:r>
            <a:endParaRPr lang="en-US" sz="1050" dirty="0"/>
          </a:p>
        </p:txBody>
      </p:sp>
      <p:sp>
        <p:nvSpPr>
          <p:cNvPr id="14" name="Text 11"/>
          <p:cNvSpPr/>
          <p:nvPr/>
        </p:nvSpPr>
        <p:spPr>
          <a:xfrm>
            <a:off x="4518050" y="2926080"/>
            <a:ext cx="3155594" cy="1371600"/>
          </a:xfrm>
          <a:prstGeom prst="rect">
            <a:avLst/>
          </a:prstGeom>
          <a:noFill/>
          <a:ln/>
        </p:spPr>
        <p:txBody>
          <a:bodyPr wrap="square" lIns="0" tIns="0" rIns="0" bIns="0" rtlCol="0" anchor="t"/>
          <a:lstStyle/>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Quick-commerce platforms like Zepto, Amazon — showcase the Pesticide-Free certificate for every product on the app (like Nykaa)</a:t>
            </a:r>
            <a:endParaRPr lang="en-US" sz="800" dirty="0"/>
          </a:p>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The copycat test: when an incumbent prints "Pesticide-free", DeHaat Honest Farms asks publicly — "Where is the batch certificate?"</a:t>
            </a:r>
            <a:endParaRPr lang="en-US" sz="800" dirty="0"/>
          </a:p>
        </p:txBody>
      </p:sp>
      <p:sp>
        <p:nvSpPr>
          <p:cNvPr id="15" name="Shape 12"/>
          <p:cNvSpPr/>
          <p:nvPr/>
        </p:nvSpPr>
        <p:spPr>
          <a:xfrm>
            <a:off x="8130845" y="2121408"/>
            <a:ext cx="3557930" cy="2286000"/>
          </a:xfrm>
          <a:prstGeom prst="roundRect">
            <a:avLst>
              <a:gd name="adj" fmla="val 4000"/>
            </a:avLst>
          </a:prstGeom>
          <a:solidFill>
            <a:srgbClr val="FFFFFF"/>
          </a:solidFill>
          <a:ln w="6350">
            <a:solidFill>
              <a:srgbClr val="FFFFFF"/>
            </a:solidFill>
            <a:prstDash val="solid"/>
          </a:ln>
          <a:effectLst>
            <a:outerShdw sx="100000" sy="100000" kx="0" ky="0" algn="bl" rotWithShape="0" blurRad="228600" dist="25400" dir="5400000">
              <a:srgbClr val="0C1A2B">
                <a:alpha val="7000"/>
              </a:srgbClr>
            </a:outerShdw>
          </a:effectLst>
        </p:spPr>
      </p:sp>
      <p:sp>
        <p:nvSpPr>
          <p:cNvPr id="16" name="Text 13"/>
          <p:cNvSpPr/>
          <p:nvPr/>
        </p:nvSpPr>
        <p:spPr>
          <a:xfrm>
            <a:off x="8332013" y="2267712"/>
            <a:ext cx="731520" cy="274320"/>
          </a:xfrm>
          <a:prstGeom prst="rect">
            <a:avLst/>
          </a:prstGeom>
          <a:noFill/>
          <a:ln/>
        </p:spPr>
        <p:txBody>
          <a:bodyPr wrap="square" lIns="0" tIns="0" rIns="0" bIns="0" rtlCol="0" anchor="t"/>
          <a:lstStyle/>
          <a:p>
            <a:pPr indent="0" marL="0">
              <a:buNone/>
            </a:pPr>
            <a:r>
              <a:rPr lang="en-US" sz="1400" dirty="0">
                <a:solidFill>
                  <a:srgbClr val="177A46"/>
                </a:solidFill>
                <a:latin typeface="Archivo Black" pitchFamily="34" charset="0"/>
                <a:ea typeface="Archivo Black" pitchFamily="34" charset="-122"/>
                <a:cs typeface="Archivo Black" pitchFamily="34" charset="-120"/>
              </a:rPr>
              <a:t>03</a:t>
            </a:r>
            <a:endParaRPr lang="en-US" sz="1400" dirty="0"/>
          </a:p>
        </p:txBody>
      </p:sp>
      <p:sp>
        <p:nvSpPr>
          <p:cNvPr id="17" name="Text 14"/>
          <p:cNvSpPr/>
          <p:nvPr/>
        </p:nvSpPr>
        <p:spPr>
          <a:xfrm>
            <a:off x="8332013" y="2578608"/>
            <a:ext cx="3155594" cy="292608"/>
          </a:xfrm>
          <a:prstGeom prst="rect">
            <a:avLst/>
          </a:prstGeom>
          <a:noFill/>
          <a:ln/>
        </p:spPr>
        <p:txBody>
          <a:bodyPr wrap="square" lIns="0" tIns="0" rIns="0" bIns="0" rtlCol="0" anchor="t"/>
          <a:lstStyle/>
          <a:p>
            <a:pPr indent="0" marL="0">
              <a:buNone/>
            </a:pPr>
            <a:r>
              <a:rPr lang="en-US" sz="1050" b="1" dirty="0">
                <a:solidFill>
                  <a:srgbClr val="0C1A2B"/>
                </a:solidFill>
                <a:latin typeface="Nunito Sans" pitchFamily="34" charset="0"/>
                <a:ea typeface="Nunito Sans" pitchFamily="34" charset="-122"/>
                <a:cs typeface="Nunito Sans" pitchFamily="34" charset="-120"/>
              </a:rPr>
              <a:t>Vertical sourcing control: farm to fork</a:t>
            </a:r>
            <a:endParaRPr lang="en-US" sz="1050" dirty="0"/>
          </a:p>
        </p:txBody>
      </p:sp>
      <p:sp>
        <p:nvSpPr>
          <p:cNvPr id="18" name="Text 15"/>
          <p:cNvSpPr/>
          <p:nvPr/>
        </p:nvSpPr>
        <p:spPr>
          <a:xfrm>
            <a:off x="8332013" y="2926080"/>
            <a:ext cx="3155594" cy="1371600"/>
          </a:xfrm>
          <a:prstGeom prst="rect">
            <a:avLst/>
          </a:prstGeom>
          <a:noFill/>
          <a:ln/>
        </p:spPr>
        <p:txBody>
          <a:bodyPr wrap="square" lIns="0" tIns="0" rIns="0" bIns="0" rtlCol="0" anchor="t"/>
          <a:lstStyle/>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Own the input decision, not just the output test. Control at sowing is what a competitor cannot contract for</a:t>
            </a:r>
            <a:endParaRPr lang="en-US" sz="800" dirty="0"/>
          </a:p>
          <a:p>
            <a:pPr marL="342900" indent="-342900">
              <a:spcAft>
                <a:spcPts val="400"/>
              </a:spcAft>
              <a:buSzPct val="100000"/>
              <a:buChar char="•"/>
            </a:pPr>
            <a:r>
              <a:rPr lang="en-US" sz="800" dirty="0">
                <a:solidFill>
                  <a:srgbClr val="54606F"/>
                </a:solidFill>
                <a:latin typeface="Nunito Sans" pitchFamily="34" charset="0"/>
                <a:ea typeface="Nunito Sans" pitchFamily="34" charset="-122"/>
                <a:cs typeface="Nunito Sans" pitchFamily="34" charset="-120"/>
              </a:rPr>
              <a:t>Embed the brand in Indian routine until the habit forms: Think Pesticide-free, Think Honest Farms</a:t>
            </a:r>
            <a:endParaRPr lang="en-US" sz="800" dirty="0"/>
          </a:p>
        </p:txBody>
      </p:sp>
      <p:sp>
        <p:nvSpPr>
          <p:cNvPr id="19" name="Text 16"/>
          <p:cNvSpPr/>
          <p:nvPr/>
        </p:nvSpPr>
        <p:spPr>
          <a:xfrm>
            <a:off x="502920" y="4681728"/>
            <a:ext cx="7315200" cy="219456"/>
          </a:xfrm>
          <a:prstGeom prst="rect">
            <a:avLst/>
          </a:prstGeom>
          <a:noFill/>
          <a:ln/>
        </p:spPr>
        <p:txBody>
          <a:bodyPr wrap="square" lIns="0" tIns="0" rIns="0" bIns="0" rtlCol="0" anchor="ctr"/>
          <a:lstStyle/>
          <a:p>
            <a:pPr indent="0" marL="0">
              <a:buNone/>
            </a:pPr>
            <a:r>
              <a:rPr lang="en-US" sz="950" b="1" spc="180" kern="0" dirty="0">
                <a:solidFill>
                  <a:srgbClr val="8B95A2"/>
                </a:solidFill>
                <a:latin typeface="Nunito Sans" pitchFamily="34" charset="0"/>
                <a:ea typeface="Nunito Sans" pitchFamily="34" charset="-122"/>
                <a:cs typeface="Nunito Sans" pitchFamily="34" charset="-120"/>
              </a:rPr>
              <a:t>GUARDRAILS FOR COMMUNICATION, IN LINE WITH INDUSTRY BODIES</a:t>
            </a:r>
            <a:endParaRPr lang="en-US" sz="950" dirty="0"/>
          </a:p>
        </p:txBody>
      </p:sp>
      <p:sp>
        <p:nvSpPr>
          <p:cNvPr id="20" name="Shape 17"/>
          <p:cNvSpPr/>
          <p:nvPr/>
        </p:nvSpPr>
        <p:spPr>
          <a:xfrm>
            <a:off x="502920" y="4956048"/>
            <a:ext cx="4480560" cy="1691640"/>
          </a:xfrm>
          <a:prstGeom prst="roundRect">
            <a:avLst>
              <a:gd name="adj" fmla="val 5405"/>
            </a:avLst>
          </a:prstGeom>
          <a:solidFill>
            <a:srgbClr val="E4F2EA"/>
          </a:solidFill>
          <a:ln w="15875">
            <a:solidFill>
              <a:srgbClr val="C6E3D3"/>
            </a:solidFill>
            <a:prstDash val="solid"/>
          </a:ln>
          <a:effectLst>
            <a:outerShdw sx="100000" sy="100000" kx="0" ky="0" algn="bl" rotWithShape="0" blurRad="228600" dist="25400" dir="5400000">
              <a:srgbClr val="0C1A2B">
                <a:alpha val="7000"/>
              </a:srgbClr>
            </a:outerShdw>
          </a:effectLst>
        </p:spPr>
      </p:sp>
      <p:sp>
        <p:nvSpPr>
          <p:cNvPr id="21" name="Text 18"/>
          <p:cNvSpPr/>
          <p:nvPr/>
        </p:nvSpPr>
        <p:spPr>
          <a:xfrm>
            <a:off x="704088" y="5065776"/>
            <a:ext cx="4078224" cy="219456"/>
          </a:xfrm>
          <a:prstGeom prst="rect">
            <a:avLst/>
          </a:prstGeom>
          <a:noFill/>
          <a:ln/>
        </p:spPr>
        <p:txBody>
          <a:bodyPr wrap="square" lIns="0" tIns="0" rIns="0" bIns="0" rtlCol="0" anchor="ctr"/>
          <a:lstStyle/>
          <a:p>
            <a:pPr indent="0" marL="0">
              <a:buNone/>
            </a:pPr>
            <a:r>
              <a:rPr lang="en-US" sz="900" b="1" spc="100" kern="0" dirty="0">
                <a:solidFill>
                  <a:srgbClr val="177A46"/>
                </a:solidFill>
                <a:latin typeface="Nunito Sans" pitchFamily="34" charset="0"/>
                <a:ea typeface="Nunito Sans" pitchFamily="34" charset="-122"/>
                <a:cs typeface="Nunito Sans" pitchFamily="34" charset="-120"/>
              </a:rPr>
              <a:t>✓  WHAT WE SAY</a:t>
            </a:r>
            <a:endParaRPr lang="en-US" sz="900" dirty="0"/>
          </a:p>
        </p:txBody>
      </p:sp>
      <p:sp>
        <p:nvSpPr>
          <p:cNvPr id="22" name="Text 19"/>
          <p:cNvSpPr/>
          <p:nvPr/>
        </p:nvSpPr>
        <p:spPr>
          <a:xfrm>
            <a:off x="704088" y="5321808"/>
            <a:ext cx="4078224" cy="960120"/>
          </a:xfrm>
          <a:prstGeom prst="rect">
            <a:avLst/>
          </a:prstGeom>
          <a:noFill/>
          <a:ln/>
        </p:spPr>
        <p:txBody>
          <a:bodyPr wrap="square" lIns="0" tIns="0" rIns="0" bIns="0" rtlCol="0" anchor="t"/>
          <a:lstStyle/>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"Tested for 230+ pesticides. None Detected."</a:t>
            </a:r>
            <a:endParaRPr lang="en-US" sz="850" dirty="0"/>
          </a:p>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"No detectable pesticide residue, verified batch by batch."</a:t>
            </a:r>
            <a:endParaRPr lang="en-US" sz="850" dirty="0"/>
          </a:p>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"Independently lab-tested. Scan to see this batch's report."</a:t>
            </a:r>
            <a:endParaRPr lang="en-US" sz="850" dirty="0"/>
          </a:p>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"Stronger residue testing than the organic standard requires."</a:t>
            </a:r>
            <a:endParaRPr lang="en-US" sz="850" dirty="0"/>
          </a:p>
        </p:txBody>
      </p:sp>
      <p:sp>
        <p:nvSpPr>
          <p:cNvPr id="23" name="Shape 20"/>
          <p:cNvSpPr/>
          <p:nvPr/>
        </p:nvSpPr>
        <p:spPr>
          <a:xfrm>
            <a:off x="5257800" y="4956048"/>
            <a:ext cx="4480560" cy="1691640"/>
          </a:xfrm>
          <a:prstGeom prst="roundRect">
            <a:avLst>
              <a:gd name="adj" fmla="val 5405"/>
            </a:avLst>
          </a:prstGeom>
          <a:solidFill>
            <a:srgbClr val="FBE9E3"/>
          </a:solidFill>
          <a:ln w="15875">
            <a:solidFill>
              <a:srgbClr val="F0CDC2"/>
            </a:solidFill>
            <a:prstDash val="solid"/>
          </a:ln>
          <a:effectLst>
            <a:outerShdw sx="100000" sy="100000" kx="0" ky="0" algn="bl" rotWithShape="0" blurRad="228600" dist="25400" dir="5400000">
              <a:srgbClr val="0C1A2B">
                <a:alpha val="7000"/>
              </a:srgbClr>
            </a:outerShdw>
          </a:effectLst>
        </p:spPr>
      </p:sp>
      <p:sp>
        <p:nvSpPr>
          <p:cNvPr id="24" name="Text 21"/>
          <p:cNvSpPr/>
          <p:nvPr/>
        </p:nvSpPr>
        <p:spPr>
          <a:xfrm>
            <a:off x="5458968" y="5065776"/>
            <a:ext cx="4078224" cy="219456"/>
          </a:xfrm>
          <a:prstGeom prst="rect">
            <a:avLst/>
          </a:prstGeom>
          <a:noFill/>
          <a:ln/>
        </p:spPr>
        <p:txBody>
          <a:bodyPr wrap="square" lIns="0" tIns="0" rIns="0" bIns="0" rtlCol="0" anchor="ctr"/>
          <a:lstStyle/>
          <a:p>
            <a:pPr indent="0" marL="0">
              <a:buNone/>
            </a:pPr>
            <a:r>
              <a:rPr lang="en-US" sz="900" b="1" spc="100" kern="0" dirty="0">
                <a:solidFill>
                  <a:srgbClr val="9E3A24"/>
                </a:solidFill>
                <a:latin typeface="Nunito Sans" pitchFamily="34" charset="0"/>
                <a:ea typeface="Nunito Sans" pitchFamily="34" charset="-122"/>
                <a:cs typeface="Nunito Sans" pitchFamily="34" charset="-120"/>
              </a:rPr>
              <a:t>✕  WHAT WE NEVER SAY</a:t>
            </a:r>
            <a:endParaRPr lang="en-US" sz="900" dirty="0"/>
          </a:p>
        </p:txBody>
      </p:sp>
      <p:sp>
        <p:nvSpPr>
          <p:cNvPr id="25" name="Text 22"/>
          <p:cNvSpPr/>
          <p:nvPr/>
        </p:nvSpPr>
        <p:spPr>
          <a:xfrm>
            <a:off x="5458968" y="5321808"/>
            <a:ext cx="4078224" cy="960120"/>
          </a:xfrm>
          <a:prstGeom prst="rect">
            <a:avLst/>
          </a:prstGeom>
          <a:noFill/>
          <a:ln/>
        </p:spPr>
        <p:txBody>
          <a:bodyPr wrap="square" lIns="0" tIns="0" rIns="0" bIns="0" rtlCol="0" anchor="t"/>
          <a:lstStyle/>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"100% pesticide-free" — or any absolute.</a:t>
            </a:r>
            <a:endParaRPr lang="en-US" sz="850" dirty="0"/>
          </a:p>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"Chemical-free", "toxin-free", "100% pure".</a:t>
            </a:r>
            <a:endParaRPr lang="en-US" sz="850" dirty="0"/>
          </a:p>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"Healthier than organic."</a:t>
            </a:r>
            <a:endParaRPr lang="en-US" sz="850" dirty="0"/>
          </a:p>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Anything implying the product prevents disease.</a:t>
            </a:r>
            <a:endParaRPr lang="en-US" sz="850" dirty="0"/>
          </a:p>
          <a:p>
            <a:pPr marL="342900" indent="-342900">
              <a:spcAft>
                <a:spcPts val="300"/>
              </a:spcAft>
              <a:buSzPct val="100000"/>
              <a:buChar char="•"/>
            </a:pPr>
            <a:r>
              <a:rPr lang="en-US" sz="850" dirty="0">
                <a:solidFill>
                  <a:srgbClr val="54606F"/>
                </a:solidFill>
                <a:latin typeface="Nunito Sans" pitchFamily="34" charset="0"/>
                <a:ea typeface="Nunito Sans" pitchFamily="34" charset="-122"/>
                <a:cs typeface="Nunito Sans" pitchFamily="34" charset="-120"/>
              </a:rPr>
              <a:t>Never win by attacking organic or conventional.</a:t>
            </a:r>
            <a:endParaRPr lang="en-US" sz="850" dirty="0"/>
          </a:p>
        </p:txBody>
      </p:sp>
      <p:pic>
        <p:nvPicPr>
          <p:cNvPr id="26" name="Image 1" descr="/home/user/hopper-tessarakt/site/assets/jaivik.png">    </p:cNvPr>
          <p:cNvPicPr>
            <a:picLocks noChangeAspect="1"/>
          </p:cNvPicPr>
          <p:nvPr/>
        </p:nvPicPr>
        <p:blipFill>
          <a:blip r:embed="rId2"/>
          <a:stretch>
            <a:fillRect/>
          </a:stretch>
        </p:blipFill>
        <p:spPr>
          <a:xfrm>
            <a:off x="10195560" y="5065776"/>
            <a:ext cx="502920" cy="521208"/>
          </a:xfrm>
          <a:prstGeom prst="rect">
            <a:avLst/>
          </a:prstGeom>
        </p:spPr>
      </p:pic>
      <p:pic>
        <p:nvPicPr>
          <p:cNvPr id="27" name="Image 2" descr="/home/user/hopper-tessarakt/site/assets/fssai.png">    </p:cNvPr>
          <p:cNvPicPr>
            <a:picLocks noChangeAspect="1"/>
          </p:cNvPicPr>
          <p:nvPr/>
        </p:nvPicPr>
        <p:blipFill>
          <a:blip r:embed="rId3"/>
          <a:stretch>
            <a:fillRect/>
          </a:stretch>
        </p:blipFill>
        <p:spPr>
          <a:xfrm>
            <a:off x="10927080" y="5157216"/>
            <a:ext cx="685800" cy="374904"/>
          </a:xfrm>
          <a:prstGeom prst="rect">
            <a:avLst/>
          </a:prstGeom>
        </p:spPr>
      </p:pic>
      <p:pic>
        <p:nvPicPr>
          <p:cNvPr id="28" name="Image 3" descr="/home/user/hopper-tessarakt/site/assets/asci.png">    </p:cNvPr>
          <p:cNvPicPr>
            <a:picLocks noChangeAspect="1"/>
          </p:cNvPicPr>
          <p:nvPr/>
        </p:nvPicPr>
        <p:blipFill>
          <a:blip r:embed="rId4"/>
          <a:stretch>
            <a:fillRect/>
          </a:stretch>
        </p:blipFill>
        <p:spPr>
          <a:xfrm>
            <a:off x="10195560" y="5824728"/>
            <a:ext cx="777240" cy="356616"/>
          </a:xfrm>
          <a:prstGeom prst="rect">
            <a:avLst/>
          </a:prstGeom>
        </p:spPr>
      </p:pic>
      <p:sp>
        <p:nvSpPr>
          <p:cNvPr id="29" name="Shape 23"/>
          <p:cNvSpPr/>
          <p:nvPr/>
        </p:nvSpPr>
        <p:spPr>
          <a:xfrm>
            <a:off x="502920" y="6455664"/>
            <a:ext cx="11185855" cy="0"/>
          </a:xfrm>
          <a:prstGeom prst="line">
            <a:avLst/>
          </a:prstGeom>
          <a:noFill/>
          <a:ln w="9525">
            <a:solidFill>
              <a:srgbClr val="E5DCCB"/>
            </a:solidFill>
            <a:prstDash val="solid"/>
          </a:ln>
        </p:spPr>
      </p:sp>
      <p:sp>
        <p:nvSpPr>
          <p:cNvPr id="30" name="Text 24"/>
          <p:cNvSpPr/>
          <p:nvPr/>
        </p:nvSpPr>
        <p:spPr>
          <a:xfrm>
            <a:off x="502920" y="6492240"/>
            <a:ext cx="5120640" cy="237744"/>
          </a:xfrm>
          <a:prstGeom prst="rect">
            <a:avLst/>
          </a:prstGeom>
          <a:noFill/>
          <a:ln/>
        </p:spPr>
        <p:txBody>
          <a:bodyPr wrap="square" lIns="0" tIns="0" rIns="0" bIns="0" rtlCol="0" anchor="ctr"/>
          <a:lstStyle/>
          <a:p>
            <a:pPr indent="0" marL="0">
              <a:buNone/>
            </a:pPr>
            <a:r>
              <a:rPr lang="en-US" sz="800" b="1" spc="140" kern="0" dirty="0">
                <a:solidFill>
                  <a:srgbClr val="8B95A2"/>
                </a:solidFill>
                <a:latin typeface="Nunito Sans" pitchFamily="34" charset="0"/>
                <a:ea typeface="Nunito Sans" pitchFamily="34" charset="-122"/>
                <a:cs typeface="Nunito Sans" pitchFamily="34" charset="-120"/>
              </a:rPr>
              <a:t>PART 06 · THE MOAT &amp; THE ASK</a:t>
            </a:r>
            <a:endParaRPr lang="en-US" sz="800" dirty="0"/>
          </a:p>
        </p:txBody>
      </p:sp>
      <p:sp>
        <p:nvSpPr>
          <p:cNvPr id="31" name="Text 25"/>
          <p:cNvSpPr/>
          <p:nvPr/>
        </p:nvSpPr>
        <p:spPr>
          <a:xfrm>
            <a:off x="10774375" y="6473952"/>
            <a:ext cx="914400" cy="274320"/>
          </a:xfrm>
          <a:prstGeom prst="rect">
            <a:avLst/>
          </a:prstGeom>
          <a:noFill/>
          <a:ln/>
        </p:spPr>
        <p:txBody>
          <a:bodyPr wrap="square" lIns="0" tIns="0" rIns="0" bIns="0" rtlCol="0" anchor="ctr"/>
          <a:lstStyle/>
          <a:p>
            <a:pPr algn="r" indent="0" marL="0">
              <a:buNone/>
            </a:pPr>
            <a:r>
              <a:rPr lang="en-US" sz="1100" dirty="0">
                <a:solidFill>
                  <a:srgbClr val="177A46"/>
                </a:solidFill>
                <a:latin typeface="Archivo Black" pitchFamily="34" charset="0"/>
                <a:ea typeface="Archivo Black" pitchFamily="34" charset="-122"/>
                <a:cs typeface="Archivo Black" pitchFamily="34" charset="-120"/>
              </a:rPr>
              <a:t>40</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C1A2B"/>
        </a:solidFill>
      </p:bgPr>
    </p:bg>
    <p:spTree>
      <p:nvGrpSpPr>
        <p:cNvPr id="1" name=""/>
        <p:cNvGrpSpPr/>
        <p:nvPr/>
      </p:nvGrpSpPr>
      <p:grpSpPr>
        <a:xfrm>
          <a:off x="0" y="0"/>
          <a:ext cx="0" cy="0"/>
          <a:chOff x="0" y="0"/>
          <a:chExt cx="0" cy="0"/>
        </a:xfrm>
      </p:grpSpPr>
      <p:pic>
        <p:nvPicPr>
          <p:cNvPr id="2" name="Image 0" descr="/home/user/hopper-tessarakt/site/assets/team-field.jpg">    </p:cNvPr>
          <p:cNvPicPr>
            <a:picLocks noChangeAspect="1"/>
          </p:cNvPicPr>
          <p:nvPr/>
        </p:nvPicPr>
        <p:blipFill>
          <a:blip r:embed="rId1"/>
          <a:srcRect l="0" r="0" t="0" b="0"/>
          <a:stretch/>
        </p:blipFill>
        <p:spPr>
          <a:xfrm>
            <a:off x="0" y="0"/>
            <a:ext cx="12191695" cy="6858000"/>
          </a:xfrm>
          <a:prstGeom prst="rect">
            <a:avLst/>
          </a:prstGeom>
        </p:spPr>
      </p:pic>
      <p:pic>
        <p:nvPicPr>
          <p:cNvPr id="3" name="Image 1" descr="/home/user/hopper-tessarakt/site/assets/veil-radial.png">    </p:cNvPr>
          <p:cNvPicPr>
            <a:picLocks noChangeAspect="1"/>
          </p:cNvPicPr>
          <p:nvPr/>
        </p:nvPicPr>
        <p:blipFill>
          <a:blip r:embed="rId2"/>
          <a:stretch>
            <a:fillRect/>
          </a:stretch>
        </p:blipFill>
        <p:spPr>
          <a:xfrm>
            <a:off x="0" y="0"/>
            <a:ext cx="12191695" cy="6858000"/>
          </a:xfrm>
          <a:prstGeom prst="rect">
            <a:avLst/>
          </a:prstGeom>
        </p:spPr>
      </p:pic>
      <p:sp>
        <p:nvSpPr>
          <p:cNvPr id="4" name="Text 0"/>
          <p:cNvSpPr/>
          <p:nvPr/>
        </p:nvSpPr>
        <p:spPr>
          <a:xfrm>
            <a:off x="0" y="1874520"/>
            <a:ext cx="12191695" cy="1188720"/>
          </a:xfrm>
          <a:prstGeom prst="rect">
            <a:avLst/>
          </a:prstGeom>
          <a:noFill/>
          <a:ln/>
        </p:spPr>
        <p:txBody>
          <a:bodyPr wrap="square" lIns="0" tIns="0" rIns="0" bIns="0" rtlCol="0" anchor="ctr"/>
          <a:lstStyle/>
          <a:p>
            <a:pPr algn="ctr" indent="0" marL="0">
              <a:buNone/>
            </a:pPr>
            <a:r>
              <a:rPr lang="en-US" sz="5000" dirty="0">
                <a:solidFill>
                  <a:srgbClr val="FFFFFF"/>
                </a:solidFill>
                <a:latin typeface="Noto Sans Devanagari" pitchFamily="34" charset="0"/>
                <a:ea typeface="Noto Sans Devanagari" pitchFamily="34" charset="-122"/>
                <a:cs typeface="Noto Sans Devanagari" pitchFamily="34" charset="-120"/>
              </a:rPr>
              <a:t>धन्यवाद</a:t>
            </a:r>
            <a:endParaRPr lang="en-US" sz="5000" dirty="0"/>
          </a:p>
        </p:txBody>
      </p:sp>
      <p:sp>
        <p:nvSpPr>
          <p:cNvPr id="5" name="Text 1"/>
          <p:cNvSpPr/>
          <p:nvPr/>
        </p:nvSpPr>
        <p:spPr>
          <a:xfrm>
            <a:off x="0" y="3154680"/>
            <a:ext cx="12191695" cy="457200"/>
          </a:xfrm>
          <a:prstGeom prst="rect">
            <a:avLst/>
          </a:prstGeom>
          <a:noFill/>
          <a:ln/>
        </p:spPr>
        <p:txBody>
          <a:bodyPr wrap="square" lIns="0" tIns="0" rIns="0" bIns="0" rtlCol="0" anchor="ctr"/>
          <a:lstStyle/>
          <a:p>
            <a:pPr algn="ctr" indent="0" marL="0">
              <a:buNone/>
            </a:pPr>
            <a:r>
              <a:rPr lang="en-US" sz="1800" i="1" dirty="0">
                <a:solidFill>
                  <a:srgbClr val="5FC28C"/>
                </a:solidFill>
                <a:latin typeface="Nunito Sans" pitchFamily="34" charset="0"/>
                <a:ea typeface="Nunito Sans" pitchFamily="34" charset="-122"/>
                <a:cs typeface="Nunito Sans" pitchFamily="34" charset="-120"/>
              </a:rPr>
              <a:t>Verified in the fields. Honest on the shelves.</a:t>
            </a:r>
            <a:endParaRPr lang="en-US" sz="1800" dirty="0"/>
          </a:p>
        </p:txBody>
      </p:sp>
      <p:pic>
        <p:nvPicPr>
          <p:cNvPr id="6" name="Image 2" descr="/home/user/hopper-tessarakt/site/assets/logo.png">    </p:cNvPr>
          <p:cNvPicPr>
            <a:picLocks noChangeAspect="1"/>
          </p:cNvPicPr>
          <p:nvPr/>
        </p:nvPicPr>
        <p:blipFill>
          <a:blip r:embed="rId3"/>
          <a:stretch>
            <a:fillRect/>
          </a:stretch>
        </p:blipFill>
        <p:spPr>
          <a:xfrm>
            <a:off x="5135728" y="3931920"/>
            <a:ext cx="1920240" cy="713232"/>
          </a:xfrm>
          <a:prstGeom prst="rect">
            <a:avLst/>
          </a:prstGeom>
        </p:spPr>
      </p:pic>
      <p:sp>
        <p:nvSpPr>
          <p:cNvPr id="7" name="Text 2"/>
          <p:cNvSpPr/>
          <p:nvPr/>
        </p:nvSpPr>
        <p:spPr>
          <a:xfrm>
            <a:off x="0" y="4892040"/>
            <a:ext cx="12191695" cy="274320"/>
          </a:xfrm>
          <a:prstGeom prst="rect">
            <a:avLst/>
          </a:prstGeom>
          <a:noFill/>
          <a:ln/>
        </p:spPr>
        <p:txBody>
          <a:bodyPr wrap="square" lIns="0" tIns="0" rIns="0" bIns="0" rtlCol="0" anchor="ctr"/>
          <a:lstStyle/>
          <a:p>
            <a:pPr algn="ctr" indent="0" marL="0">
              <a:buNone/>
            </a:pPr>
            <a:r>
              <a:rPr lang="en-US" sz="1000" b="1" spc="240" kern="0" dirty="0">
                <a:solidFill>
                  <a:srgbClr val="5FC28C"/>
                </a:solidFill>
                <a:latin typeface="Nunito Sans" pitchFamily="34" charset="0"/>
                <a:ea typeface="Nunito Sans" pitchFamily="34" charset="-122"/>
                <a:cs typeface="Nunito Sans" pitchFamily="34" charset="-120"/>
              </a:rPr>
              <a:t>TEAM 1  ·  ISB CGMO COHORT II</a:t>
            </a:r>
            <a:endParaRPr lang="en-US" sz="1000" dirty="0"/>
          </a:p>
        </p:txBody>
      </p:sp>
      <p:sp>
        <p:nvSpPr>
          <p:cNvPr id="8" name="Text 3"/>
          <p:cNvSpPr/>
          <p:nvPr/>
        </p:nvSpPr>
        <p:spPr>
          <a:xfrm>
            <a:off x="0" y="5212080"/>
            <a:ext cx="12191695" cy="292608"/>
          </a:xfrm>
          <a:prstGeom prst="rect">
            <a:avLst/>
          </a:prstGeom>
          <a:noFill/>
          <a:ln/>
        </p:spPr>
        <p:txBody>
          <a:bodyPr wrap="square" lIns="0" tIns="0" rIns="0" bIns="0" rtlCol="0" anchor="ctr"/>
          <a:lstStyle/>
          <a:p>
            <a:pPr algn="ctr" indent="0" marL="0">
              <a:buNone/>
            </a:pPr>
            <a:r>
              <a:rPr lang="en-US" sz="1200" dirty="0">
                <a:solidFill>
                  <a:srgbClr val="EEE9E0"/>
                </a:solidFill>
                <a:latin typeface="Nunito Sans" pitchFamily="34" charset="0"/>
                <a:ea typeface="Nunito Sans" pitchFamily="34" charset="-122"/>
                <a:cs typeface="Nunito Sans" pitchFamily="34" charset="-120"/>
              </a:rPr>
              <a:t>Sabika Mirza  ·  Sharon Batliwalla  ·  Syed Kashif Ali  ·  Sonu Adarsh  ·  Abhishek Nandan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DeHaat Honest Farms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Category Creation &amp; Scale Acceleration</dc:title>
  <dc:subject>PptxGenJS Presentation</dc:subject>
  <dc:creator>Team 1 — ISB CGMO Cohort II</dc:creator>
  <cp:lastModifiedBy>Team 1 — ISB CGMO Cohort II</cp:lastModifiedBy>
  <cp:revision>1</cp:revision>
  <dcterms:created xsi:type="dcterms:W3CDTF">2026-08-17T20:29:04Z</dcterms:created>
  <dcterms:modified xsi:type="dcterms:W3CDTF">2026-08-17T20:29:04Z</dcterms:modified>
</cp:coreProperties>
</file>