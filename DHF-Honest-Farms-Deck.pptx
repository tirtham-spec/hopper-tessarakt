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a promise about the value you deliver to your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22% full trust when the pesticide-free claim carries an independent certificate — a 5× uplift, the largest of any claim tested. The three layers together address the cognitive, institutional and "I can check it" needs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the only metric that goes down if the proof mechanism breaks — brand awareness would not.
It is measurable from day one, without a tracker study: scans, microsite sessions, report downloads, audit sign-ups.
It is the one number a professor, a retailer and a farmer would all read the same way.
Karan counts as verified without ever scanning — someone else’s verification is what put the product in front of him. That is how a category becomes the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image" Target="../media/image-4-6.jp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image" Target="../media/image-13-6.jpg"/><Relationship Id="rId7" Type="http://schemas.openxmlformats.org/officeDocument/2006/relationships/image" Target="../media/image-13-7.jpg"/><Relationship Id="rId8" Type="http://schemas.openxmlformats.org/officeDocument/2006/relationships/image" Target="../media/image-13-8.jpg"/><Relationship Id="rId9" Type="http://schemas.openxmlformats.org/officeDocument/2006/relationships/image" Target="../media/image-13-9.jpg"/><Relationship Id="rId10" Type="http://schemas.openxmlformats.org/officeDocument/2006/relationships/image" Target="../media/image-13-10.jpg"/><Relationship Id="rId11" Type="http://schemas.openxmlformats.org/officeDocument/2006/relationships/image" Target="../media/image-13-11.jpg"/><Relationship Id="rId12" Type="http://schemas.openxmlformats.org/officeDocument/2006/relationships/slideLayout" Target="../slideLayouts/slideLayout1.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jp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jp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A2B"/>
        </a:solidFill>
      </p:bgPr>
    </p:bg>
    <p:spTree>
      <p:nvGrpSpPr>
        <p:cNvPr id="1" name=""/>
        <p:cNvGrpSpPr/>
        <p:nvPr/>
      </p:nvGrpSpPr>
      <p:grpSpPr>
        <a:xfrm>
          <a:off x="0" y="0"/>
          <a:ext cx="0" cy="0"/>
          <a:chOff x="0" y="0"/>
          <a:chExt cx="0" cy="0"/>
        </a:xfrm>
      </p:grpSpPr>
      <p:pic>
        <p:nvPicPr>
          <p:cNvPr id="2" name="Image 0" descr="/home/user/hopper-tessarakt/site/assets/makhana-farm.jpg">    </p:cNvPr>
          <p:cNvPicPr>
            <a:picLocks noChangeAspect="1"/>
          </p:cNvPicPr>
          <p:nvPr/>
        </p:nvPicPr>
        <p:blipFill>
          <a:blip r:embed="rId1"/>
          <a:srcRect l="0" r="0" t="0" b="0"/>
          <a:stretch/>
        </p:blipFill>
        <p:spPr>
          <a:xfrm>
            <a:off x="0" y="0"/>
            <a:ext cx="12191695" cy="6858000"/>
          </a:xfrm>
          <a:prstGeom prst="rect">
            <a:avLst/>
          </a:prstGeom>
        </p:spPr>
      </p:pic>
      <p:pic>
        <p:nvPicPr>
          <p:cNvPr id="3" name="Image 1" descr="/home/user/hopper-tessarakt/site/assets/veil-h.png">    </p:cNvPr>
          <p:cNvPicPr>
            <a:picLocks noChangeAspect="1"/>
          </p:cNvPicPr>
          <p:nvPr/>
        </p:nvPicPr>
        <p:blipFill>
          <a:blip r:embed="rId2"/>
          <a:stretch>
            <a:fillRect/>
          </a:stretch>
        </p:blipFill>
        <p:spPr>
          <a:xfrm>
            <a:off x="0" y="0"/>
            <a:ext cx="12191695" cy="6858000"/>
          </a:xfrm>
          <a:prstGeom prst="rect">
            <a:avLst/>
          </a:prstGeom>
        </p:spPr>
      </p:pic>
      <p:sp>
        <p:nvSpPr>
          <p:cNvPr id="4" name="Text 0"/>
          <p:cNvSpPr/>
          <p:nvPr/>
        </p:nvSpPr>
        <p:spPr>
          <a:xfrm>
            <a:off x="502920" y="1234440"/>
            <a:ext cx="8229600" cy="274320"/>
          </a:xfrm>
          <a:prstGeom prst="rect">
            <a:avLst/>
          </a:prstGeom>
          <a:noFill/>
          <a:ln/>
        </p:spPr>
        <p:txBody>
          <a:bodyPr wrap="square" lIns="0" tIns="0" rIns="0" bIns="0" rtlCol="0" anchor="ctr"/>
          <a:lstStyle/>
          <a:p>
            <a:pPr indent="0" marL="0">
              <a:buNone/>
            </a:pPr>
            <a:r>
              <a:rPr lang="en-US" sz="1050" b="1" spc="280" kern="0" dirty="0">
                <a:solidFill>
                  <a:srgbClr val="5FC28C"/>
                </a:solidFill>
                <a:latin typeface="Nunito Sans" pitchFamily="34" charset="0"/>
                <a:ea typeface="Nunito Sans" pitchFamily="34" charset="-122"/>
                <a:cs typeface="Nunito Sans" pitchFamily="34" charset="-120"/>
              </a:rPr>
              <a:t>ISB CGMO COHORT II   ·   BUSINESS LEADERSHIP CHALLENGE</a:t>
            </a:r>
            <a:endParaRPr lang="en-US" sz="1050" dirty="0"/>
          </a:p>
        </p:txBody>
      </p:sp>
      <p:pic>
        <p:nvPicPr>
          <p:cNvPr id="5" name="Image 2" descr="/home/user/hopper-tessarakt/site/assets/logo.png">    </p:cNvPr>
          <p:cNvPicPr>
            <a:picLocks noChangeAspect="1"/>
          </p:cNvPicPr>
          <p:nvPr/>
        </p:nvPicPr>
        <p:blipFill>
          <a:blip r:embed="rId3"/>
          <a:stretch>
            <a:fillRect/>
          </a:stretch>
        </p:blipFill>
        <p:spPr>
          <a:xfrm>
            <a:off x="502920" y="1691640"/>
            <a:ext cx="2286000" cy="841248"/>
          </a:xfrm>
          <a:prstGeom prst="rect">
            <a:avLst/>
          </a:prstGeom>
        </p:spPr>
      </p:pic>
      <p:sp>
        <p:nvSpPr>
          <p:cNvPr id="6" name="Text 1"/>
          <p:cNvSpPr/>
          <p:nvPr/>
        </p:nvSpPr>
        <p:spPr>
          <a:xfrm>
            <a:off x="502920" y="2761488"/>
            <a:ext cx="8412480" cy="603504"/>
          </a:xfrm>
          <a:prstGeom prst="rect">
            <a:avLst/>
          </a:prstGeom>
          <a:noFill/>
          <a:ln/>
        </p:spPr>
        <p:txBody>
          <a:bodyPr wrap="square" lIns="0" tIns="0" rIns="0" bIns="0" rtlCol="0" anchor="t"/>
          <a:lstStyle/>
          <a:p>
            <a:pPr indent="0" marL="0">
              <a:buNone/>
            </a:pPr>
            <a:r>
              <a:rPr lang="en-US" sz="3000" dirty="0">
                <a:solidFill>
                  <a:srgbClr val="FFFFFF"/>
                </a:solidFill>
                <a:latin typeface="Archivo Black" pitchFamily="34" charset="0"/>
                <a:ea typeface="Archivo Black" pitchFamily="34" charset="-122"/>
                <a:cs typeface="Archivo Black" pitchFamily="34" charset="-120"/>
              </a:rPr>
              <a:t>DeHaat Honest Farms:</a:t>
            </a:r>
            <a:endParaRPr lang="en-US" sz="3000" dirty="0"/>
          </a:p>
        </p:txBody>
      </p:sp>
      <p:sp>
        <p:nvSpPr>
          <p:cNvPr id="7" name="Text 2"/>
          <p:cNvSpPr/>
          <p:nvPr/>
        </p:nvSpPr>
        <p:spPr>
          <a:xfrm>
            <a:off x="502920" y="3383280"/>
            <a:ext cx="10424160" cy="640080"/>
          </a:xfrm>
          <a:prstGeom prst="rect">
            <a:avLst/>
          </a:prstGeom>
          <a:noFill/>
          <a:ln/>
        </p:spPr>
        <p:txBody>
          <a:bodyPr wrap="square" lIns="0" tIns="0" rIns="0" bIns="0" rtlCol="0" anchor="t"/>
          <a:lstStyle/>
          <a:p>
            <a:pPr indent="0" marL="0">
              <a:buNone/>
            </a:pPr>
            <a:r>
              <a:rPr lang="en-US" sz="3000" dirty="0">
                <a:solidFill>
                  <a:srgbClr val="5FC28C"/>
                </a:solidFill>
                <a:latin typeface="Archivo Black" pitchFamily="34" charset="0"/>
                <a:ea typeface="Archivo Black" pitchFamily="34" charset="-122"/>
                <a:cs typeface="Archivo Black" pitchFamily="34" charset="-120"/>
              </a:rPr>
              <a:t>Category Creation &amp; Scale Acceleration</a:t>
            </a:r>
            <a:endParaRPr lang="en-US" sz="3000" dirty="0"/>
          </a:p>
        </p:txBody>
      </p:sp>
      <p:sp>
        <p:nvSpPr>
          <p:cNvPr id="8" name="Text 3"/>
          <p:cNvSpPr/>
          <p:nvPr/>
        </p:nvSpPr>
        <p:spPr>
          <a:xfrm>
            <a:off x="502920" y="4334256"/>
            <a:ext cx="7315200" cy="365760"/>
          </a:xfrm>
          <a:prstGeom prst="rect">
            <a:avLst/>
          </a:prstGeom>
          <a:noFill/>
          <a:ln/>
        </p:spPr>
        <p:txBody>
          <a:bodyPr wrap="square" lIns="0" tIns="0" rIns="0" bIns="0" rtlCol="0" anchor="ctr"/>
          <a:lstStyle/>
          <a:p>
            <a:pPr indent="0" marL="0">
              <a:buNone/>
            </a:pPr>
            <a:r>
              <a:rPr lang="en-US" sz="1500" i="1" dirty="0">
                <a:solidFill>
                  <a:srgbClr val="EEE9E0"/>
                </a:solidFill>
                <a:latin typeface="Nunito Sans" pitchFamily="34" charset="0"/>
                <a:ea typeface="Nunito Sans" pitchFamily="34" charset="-122"/>
                <a:cs typeface="Nunito Sans" pitchFamily="34" charset="-120"/>
              </a:rPr>
              <a:t>Verified in the fields. Honest on the shelves.</a:t>
            </a:r>
            <a:endParaRPr lang="en-US" sz="1500" dirty="0"/>
          </a:p>
        </p:txBody>
      </p:sp>
      <p:sp>
        <p:nvSpPr>
          <p:cNvPr id="9" name="Shape 4"/>
          <p:cNvSpPr/>
          <p:nvPr/>
        </p:nvSpPr>
        <p:spPr>
          <a:xfrm>
            <a:off x="502920" y="5074920"/>
            <a:ext cx="8778240" cy="0"/>
          </a:xfrm>
          <a:prstGeom prst="line">
            <a:avLst/>
          </a:prstGeom>
          <a:noFill/>
          <a:ln w="9525">
            <a:solidFill>
              <a:srgbClr val="FFFFFF">
                <a:alpha val="22000"/>
              </a:srgbClr>
            </a:solidFill>
            <a:prstDash val="solid"/>
          </a:ln>
        </p:spPr>
      </p:sp>
      <p:sp>
        <p:nvSpPr>
          <p:cNvPr id="10" name="Shape 5"/>
          <p:cNvSpPr/>
          <p:nvPr/>
        </p:nvSpPr>
        <p:spPr>
          <a:xfrm>
            <a:off x="502920" y="5285232"/>
            <a:ext cx="960120" cy="292608"/>
          </a:xfrm>
          <a:prstGeom prst="roundRect">
            <a:avLst>
              <a:gd name="adj" fmla="val 50000"/>
            </a:avLst>
          </a:prstGeom>
          <a:solidFill>
            <a:srgbClr val="5FC28C"/>
          </a:solidFill>
          <a:ln w="6350">
            <a:solidFill>
              <a:srgbClr val="5FC28C"/>
            </a:solidFill>
            <a:prstDash val="solid"/>
          </a:ln>
        </p:spPr>
      </p:sp>
      <p:sp>
        <p:nvSpPr>
          <p:cNvPr id="11" name="Text 6"/>
          <p:cNvSpPr/>
          <p:nvPr/>
        </p:nvSpPr>
        <p:spPr>
          <a:xfrm>
            <a:off x="502920" y="5285232"/>
            <a:ext cx="960120" cy="292608"/>
          </a:xfrm>
          <a:prstGeom prst="rect">
            <a:avLst/>
          </a:prstGeom>
          <a:noFill/>
          <a:ln/>
        </p:spPr>
        <p:txBody>
          <a:bodyPr wrap="square" lIns="0" tIns="0" rIns="0" bIns="0" rtlCol="0" anchor="ctr"/>
          <a:lstStyle/>
          <a:p>
            <a:pPr algn="ctr" indent="0" marL="0">
              <a:buNone/>
            </a:pPr>
            <a:r>
              <a:rPr lang="en-US" sz="900" b="1" spc="140" kern="0" dirty="0">
                <a:solidFill>
                  <a:srgbClr val="0C1A2B"/>
                </a:solidFill>
                <a:latin typeface="Nunito Sans" pitchFamily="34" charset="0"/>
                <a:ea typeface="Nunito Sans" pitchFamily="34" charset="-122"/>
                <a:cs typeface="Nunito Sans" pitchFamily="34" charset="-120"/>
              </a:rPr>
              <a:t>TEAM 1</a:t>
            </a:r>
            <a:endParaRPr lang="en-US" sz="900" dirty="0"/>
          </a:p>
        </p:txBody>
      </p:sp>
      <p:sp>
        <p:nvSpPr>
          <p:cNvPr id="12" name="Text 7"/>
          <p:cNvSpPr/>
          <p:nvPr/>
        </p:nvSpPr>
        <p:spPr>
          <a:xfrm>
            <a:off x="1645920" y="5285232"/>
            <a:ext cx="8412480" cy="292608"/>
          </a:xfrm>
          <a:prstGeom prst="rect">
            <a:avLst/>
          </a:prstGeom>
          <a:noFill/>
          <a:ln/>
        </p:spPr>
        <p:txBody>
          <a:bodyPr wrap="square" lIns="0" tIns="0" rIns="0" bIns="0" rtlCol="0" anchor="ctr"/>
          <a:lstStyle/>
          <a:p>
            <a:pPr indent="0" marL="0">
              <a:buNone/>
            </a:pPr>
            <a:r>
              <a:rPr lang="en-US" sz="1150" dirty="0">
                <a:solidFill>
                  <a:srgbClr val="EEE9E0"/>
                </a:solidFill>
                <a:latin typeface="Nunito Sans" pitchFamily="34" charset="0"/>
                <a:ea typeface="Nunito Sans" pitchFamily="34" charset="-122"/>
                <a:cs typeface="Nunito Sans" pitchFamily="34" charset="-120"/>
              </a:rPr>
              <a:t>Sabika Mirza   ·   Sharon Batliwalla   ·   Syed Kashif Ali   ·   Sonu Adarsh   ·   Abhishek Nandan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1442923"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1442923"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THE MANDATE</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500" dirty="0">
                <a:solidFill>
                  <a:srgbClr val="0C1A2B"/>
                </a:solidFill>
                <a:latin typeface="Archivo Black" pitchFamily="34" charset="0"/>
                <a:ea typeface="Archivo Black" pitchFamily="34" charset="-122"/>
                <a:cs typeface="Archivo Black" pitchFamily="34" charset="-120"/>
              </a:rPr>
              <a:t>Scale DHF from ₹53 Cr (FY26) to ₹300+ Cr in three years.</a:t>
            </a:r>
            <a:endParaRPr lang="en-US" sz="2500" dirty="0"/>
          </a:p>
        </p:txBody>
      </p:sp>
      <p:sp>
        <p:nvSpPr>
          <p:cNvPr id="6" name="Text 3"/>
          <p:cNvSpPr/>
          <p:nvPr/>
        </p:nvSpPr>
        <p:spPr>
          <a:xfrm>
            <a:off x="502920" y="1408176"/>
            <a:ext cx="9692640" cy="310896"/>
          </a:xfrm>
          <a:prstGeom prst="rect">
            <a:avLst/>
          </a:prstGeom>
          <a:noFill/>
          <a:ln/>
        </p:spPr>
        <p:txBody>
          <a:bodyPr wrap="square" lIns="0" tIns="0" rIns="0" bIns="0" rtlCol="0" anchor="t"/>
          <a:lstStyle/>
          <a:p>
            <a:pPr indent="0" marL="0">
              <a:lnSpc>
                <a:spcPct val="114000"/>
              </a:lnSpc>
              <a:buNone/>
            </a:pPr>
            <a:r>
              <a:rPr lang="en-US" sz="1100" dirty="0">
                <a:solidFill>
                  <a:srgbClr val="54606F"/>
                </a:solidFill>
                <a:latin typeface="Nunito Sans" pitchFamily="34" charset="0"/>
                <a:ea typeface="Nunito Sans" pitchFamily="34" charset="-122"/>
                <a:cs typeface="Nunito Sans" pitchFamily="34" charset="-120"/>
              </a:rPr>
              <a:t>Not by outspending organic, but by creating and owning a category that does not yet formally exist.</a:t>
            </a:r>
            <a:endParaRPr lang="en-US" sz="1100" dirty="0"/>
          </a:p>
        </p:txBody>
      </p:sp>
      <p:sp>
        <p:nvSpPr>
          <p:cNvPr id="7" name="Shape 4"/>
          <p:cNvSpPr/>
          <p:nvPr/>
        </p:nvSpPr>
        <p:spPr>
          <a:xfrm>
            <a:off x="502920" y="1828800"/>
            <a:ext cx="2618156" cy="2395728"/>
          </a:xfrm>
          <a:prstGeom prst="roundRect">
            <a:avLst>
              <a:gd name="adj" fmla="val 3817"/>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8" name="Shape 5"/>
          <p:cNvSpPr/>
          <p:nvPr/>
        </p:nvSpPr>
        <p:spPr>
          <a:xfrm>
            <a:off x="502920" y="1828800"/>
            <a:ext cx="45720" cy="2395728"/>
          </a:xfrm>
          <a:prstGeom prst="rect">
            <a:avLst/>
          </a:prstGeom>
          <a:solidFill>
            <a:srgbClr val="177A46"/>
          </a:solidFill>
          <a:ln w="6350">
            <a:solidFill>
              <a:srgbClr val="177A46"/>
            </a:solidFill>
            <a:prstDash val="solid"/>
          </a:ln>
        </p:spPr>
      </p:sp>
      <p:sp>
        <p:nvSpPr>
          <p:cNvPr id="9" name="Text 6"/>
          <p:cNvSpPr/>
          <p:nvPr/>
        </p:nvSpPr>
        <p:spPr>
          <a:xfrm>
            <a:off x="722376" y="1975104"/>
            <a:ext cx="2252396" cy="237744"/>
          </a:xfrm>
          <a:prstGeom prst="rect">
            <a:avLst/>
          </a:prstGeom>
          <a:noFill/>
          <a:ln/>
        </p:spPr>
        <p:txBody>
          <a:bodyPr wrap="square" lIns="0" tIns="0" rIns="0" bIns="0" rtlCol="0" anchor="t"/>
          <a:lstStyle/>
          <a:p>
            <a:pPr indent="0" marL="0">
              <a:buNone/>
            </a:pPr>
            <a:r>
              <a:rPr lang="en-US" sz="900" b="1" spc="140" kern="0" dirty="0">
                <a:solidFill>
                  <a:srgbClr val="177A46"/>
                </a:solidFill>
                <a:latin typeface="Nunito Sans" pitchFamily="34" charset="0"/>
                <a:ea typeface="Nunito Sans" pitchFamily="34" charset="-122"/>
                <a:cs typeface="Nunito Sans" pitchFamily="34" charset="-120"/>
              </a:rPr>
              <a:t>PHASE 1</a:t>
            </a:r>
            <a:endParaRPr lang="en-US" sz="900" dirty="0"/>
          </a:p>
        </p:txBody>
      </p:sp>
      <p:sp>
        <p:nvSpPr>
          <p:cNvPr id="10" name="Text 7"/>
          <p:cNvSpPr/>
          <p:nvPr/>
        </p:nvSpPr>
        <p:spPr>
          <a:xfrm>
            <a:off x="722376" y="2231136"/>
            <a:ext cx="2252396" cy="512064"/>
          </a:xfrm>
          <a:prstGeom prst="rect">
            <a:avLst/>
          </a:prstGeom>
          <a:noFill/>
          <a:ln/>
        </p:spPr>
        <p:txBody>
          <a:bodyPr wrap="square" lIns="0" tIns="0" rIns="0" bIns="0" rtlCol="0" anchor="t"/>
          <a:lstStyle/>
          <a:p>
            <a:pPr indent="0" marL="0">
              <a:lnSpc>
                <a:spcPct val="102000"/>
              </a:lnSpc>
              <a:buNone/>
            </a:pPr>
            <a:r>
              <a:rPr lang="en-US" sz="1250" dirty="0">
                <a:solidFill>
                  <a:srgbClr val="0C1A2B"/>
                </a:solidFill>
                <a:latin typeface="Archivo Black" pitchFamily="34" charset="0"/>
                <a:ea typeface="Archivo Black" pitchFamily="34" charset="-122"/>
                <a:cs typeface="Archivo Black" pitchFamily="34" charset="-120"/>
              </a:rPr>
              <a:t>DIAGNOSE &amp; DECODE</a:t>
            </a:r>
            <a:endParaRPr lang="en-US" sz="1250" dirty="0"/>
          </a:p>
        </p:txBody>
      </p:sp>
      <p:sp>
        <p:nvSpPr>
          <p:cNvPr id="11" name="Text 8"/>
          <p:cNvSpPr/>
          <p:nvPr/>
        </p:nvSpPr>
        <p:spPr>
          <a:xfrm>
            <a:off x="722376" y="2779776"/>
            <a:ext cx="2252396" cy="603504"/>
          </a:xfrm>
          <a:prstGeom prst="rect">
            <a:avLst/>
          </a:prstGeom>
          <a:noFill/>
          <a:ln/>
        </p:spPr>
        <p:txBody>
          <a:bodyPr wrap="square" lIns="0" tIns="0" rIns="0" bIns="0" rtlCol="0" anchor="t"/>
          <a:lstStyle/>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Build a shared, fact-based understanding of category, competition &amp; consumer</a:t>
            </a:r>
            <a:endParaRPr lang="en-US" sz="900" dirty="0"/>
          </a:p>
        </p:txBody>
      </p:sp>
      <p:sp>
        <p:nvSpPr>
          <p:cNvPr id="12" name="Text 9"/>
          <p:cNvSpPr/>
          <p:nvPr/>
        </p:nvSpPr>
        <p:spPr>
          <a:xfrm>
            <a:off x="722376" y="3419856"/>
            <a:ext cx="2252396" cy="749808"/>
          </a:xfrm>
          <a:prstGeom prst="rect">
            <a:avLst/>
          </a:prstGeom>
          <a:noFill/>
          <a:ln/>
        </p:spPr>
        <p:txBody>
          <a:bodyPr wrap="square" lIns="0" tIns="0" rIns="0" bIns="0" rtlCol="0" anchor="t"/>
          <a:lstStyle/>
          <a:p>
            <a:pPr marL="342900" indent="-342900">
              <a:spcAft>
                <a:spcPts val="200"/>
              </a:spcAft>
              <a:buSzPct val="100000"/>
              <a:buChar char="•"/>
            </a:pPr>
            <a:r>
              <a:rPr lang="en-US" sz="850" dirty="0">
                <a:solidFill>
                  <a:srgbClr val="54606F"/>
                </a:solidFill>
                <a:latin typeface="Nunito Sans" pitchFamily="34" charset="0"/>
                <a:ea typeface="Nunito Sans" pitchFamily="34" charset="-122"/>
                <a:cs typeface="Nunito Sans" pitchFamily="34" charset="-120"/>
              </a:rPr>
              <a:t>Category &amp; consumer insight base</a:t>
            </a:r>
            <a:endParaRPr lang="en-US" sz="850" dirty="0"/>
          </a:p>
          <a:p>
            <a:pPr marL="342900" indent="-342900">
              <a:spcAft>
                <a:spcPts val="200"/>
              </a:spcAft>
              <a:buSzPct val="100000"/>
              <a:buChar char="•"/>
            </a:pPr>
            <a:r>
              <a:rPr lang="en-US" sz="850" dirty="0">
                <a:solidFill>
                  <a:srgbClr val="54606F"/>
                </a:solidFill>
                <a:latin typeface="Nunito Sans" pitchFamily="34" charset="0"/>
                <a:ea typeface="Nunito Sans" pitchFamily="34" charset="-122"/>
                <a:cs typeface="Nunito Sans" pitchFamily="34" charset="-120"/>
              </a:rPr>
              <a:t>Trust tension map + segmentation</a:t>
            </a:r>
            <a:endParaRPr lang="en-US" sz="850" dirty="0"/>
          </a:p>
          <a:p>
            <a:pPr marL="342900" indent="-342900">
              <a:spcAft>
                <a:spcPts val="200"/>
              </a:spcAft>
              <a:buSzPct val="100000"/>
              <a:buChar char="•"/>
            </a:pPr>
            <a:r>
              <a:rPr lang="en-US" sz="850" dirty="0">
                <a:solidFill>
                  <a:srgbClr val="54606F"/>
                </a:solidFill>
                <a:latin typeface="Nunito Sans" pitchFamily="34" charset="0"/>
                <a:ea typeface="Nunito Sans" pitchFamily="34" charset="-122"/>
                <a:cs typeface="Nunito Sans" pitchFamily="34" charset="-120"/>
              </a:rPr>
              <a:t>Imitation risk heatmap</a:t>
            </a:r>
            <a:endParaRPr lang="en-US" sz="850" dirty="0"/>
          </a:p>
          <a:p>
            <a:pPr marL="342900" indent="-342900">
              <a:spcAft>
                <a:spcPts val="200"/>
              </a:spcAft>
              <a:buSzPct val="100000"/>
              <a:buChar char="•"/>
            </a:pPr>
            <a:r>
              <a:rPr lang="en-US" sz="850" dirty="0">
                <a:solidFill>
                  <a:srgbClr val="54606F"/>
                </a:solidFill>
                <a:latin typeface="Nunito Sans" pitchFamily="34" charset="0"/>
                <a:ea typeface="Nunito Sans" pitchFamily="34" charset="-122"/>
                <a:cs typeface="Nunito Sans" pitchFamily="34" charset="-120"/>
              </a:rPr>
              <a:t>Internal diagnosis snapshot</a:t>
            </a:r>
            <a:endParaRPr lang="en-US" sz="850" dirty="0"/>
          </a:p>
        </p:txBody>
      </p:sp>
      <p:sp>
        <p:nvSpPr>
          <p:cNvPr id="13" name="Shape 10"/>
          <p:cNvSpPr/>
          <p:nvPr/>
        </p:nvSpPr>
        <p:spPr>
          <a:xfrm>
            <a:off x="3358820" y="1828800"/>
            <a:ext cx="2618156" cy="2395728"/>
          </a:xfrm>
          <a:prstGeom prst="roundRect">
            <a:avLst>
              <a:gd name="adj" fmla="val 3817"/>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4" name="Shape 11"/>
          <p:cNvSpPr/>
          <p:nvPr/>
        </p:nvSpPr>
        <p:spPr>
          <a:xfrm>
            <a:off x="3358820" y="1828800"/>
            <a:ext cx="45720" cy="2395728"/>
          </a:xfrm>
          <a:prstGeom prst="rect">
            <a:avLst/>
          </a:prstGeom>
          <a:solidFill>
            <a:srgbClr val="177A46"/>
          </a:solidFill>
          <a:ln w="6350">
            <a:solidFill>
              <a:srgbClr val="177A46"/>
            </a:solidFill>
            <a:prstDash val="solid"/>
          </a:ln>
        </p:spPr>
      </p:sp>
      <p:sp>
        <p:nvSpPr>
          <p:cNvPr id="15" name="Text 12"/>
          <p:cNvSpPr/>
          <p:nvPr/>
        </p:nvSpPr>
        <p:spPr>
          <a:xfrm>
            <a:off x="3578276" y="1975104"/>
            <a:ext cx="2252396" cy="237744"/>
          </a:xfrm>
          <a:prstGeom prst="rect">
            <a:avLst/>
          </a:prstGeom>
          <a:noFill/>
          <a:ln/>
        </p:spPr>
        <p:txBody>
          <a:bodyPr wrap="square" lIns="0" tIns="0" rIns="0" bIns="0" rtlCol="0" anchor="t"/>
          <a:lstStyle/>
          <a:p>
            <a:pPr indent="0" marL="0">
              <a:buNone/>
            </a:pPr>
            <a:r>
              <a:rPr lang="en-US" sz="900" b="1" spc="140" kern="0" dirty="0">
                <a:solidFill>
                  <a:srgbClr val="177A46"/>
                </a:solidFill>
                <a:latin typeface="Nunito Sans" pitchFamily="34" charset="0"/>
                <a:ea typeface="Nunito Sans" pitchFamily="34" charset="-122"/>
                <a:cs typeface="Nunito Sans" pitchFamily="34" charset="-120"/>
              </a:rPr>
              <a:t>PHASE 2</a:t>
            </a:r>
            <a:endParaRPr lang="en-US" sz="900" dirty="0"/>
          </a:p>
        </p:txBody>
      </p:sp>
      <p:sp>
        <p:nvSpPr>
          <p:cNvPr id="16" name="Text 13"/>
          <p:cNvSpPr/>
          <p:nvPr/>
        </p:nvSpPr>
        <p:spPr>
          <a:xfrm>
            <a:off x="3578276" y="2231136"/>
            <a:ext cx="2252396" cy="512064"/>
          </a:xfrm>
          <a:prstGeom prst="rect">
            <a:avLst/>
          </a:prstGeom>
          <a:noFill/>
          <a:ln/>
        </p:spPr>
        <p:txBody>
          <a:bodyPr wrap="square" lIns="0" tIns="0" rIns="0" bIns="0" rtlCol="0" anchor="t"/>
          <a:lstStyle/>
          <a:p>
            <a:pPr indent="0" marL="0">
              <a:lnSpc>
                <a:spcPct val="102000"/>
              </a:lnSpc>
              <a:buNone/>
            </a:pPr>
            <a:r>
              <a:rPr lang="en-US" sz="1250" dirty="0">
                <a:solidFill>
                  <a:srgbClr val="0C1A2B"/>
                </a:solidFill>
                <a:latin typeface="Archivo Black" pitchFamily="34" charset="0"/>
                <a:ea typeface="Archivo Black" pitchFamily="34" charset="-122"/>
                <a:cs typeface="Archivo Black" pitchFamily="34" charset="-120"/>
              </a:rPr>
              <a:t>CATEGORY &amp; BRAND STRATEGY</a:t>
            </a:r>
            <a:endParaRPr lang="en-US" sz="1250" dirty="0"/>
          </a:p>
        </p:txBody>
      </p:sp>
      <p:sp>
        <p:nvSpPr>
          <p:cNvPr id="17" name="Text 14"/>
          <p:cNvSpPr/>
          <p:nvPr/>
        </p:nvSpPr>
        <p:spPr>
          <a:xfrm>
            <a:off x="3578276" y="2779776"/>
            <a:ext cx="2252396" cy="603504"/>
          </a:xfrm>
          <a:prstGeom prst="rect">
            <a:avLst/>
          </a:prstGeom>
          <a:noFill/>
          <a:ln/>
        </p:spPr>
        <p:txBody>
          <a:bodyPr wrap="square" lIns="0" tIns="0" rIns="0" bIns="0" rtlCol="0" anchor="t"/>
          <a:lstStyle/>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Define what DHF must own in the mind of the consumers</a:t>
            </a:r>
            <a:endParaRPr lang="en-US" sz="900" dirty="0"/>
          </a:p>
        </p:txBody>
      </p:sp>
      <p:sp>
        <p:nvSpPr>
          <p:cNvPr id="18" name="Text 15"/>
          <p:cNvSpPr/>
          <p:nvPr/>
        </p:nvSpPr>
        <p:spPr>
          <a:xfrm>
            <a:off x="3578276" y="3419856"/>
            <a:ext cx="2252396" cy="749808"/>
          </a:xfrm>
          <a:prstGeom prst="rect">
            <a:avLst/>
          </a:prstGeom>
          <a:noFill/>
          <a:ln/>
        </p:spPr>
        <p:txBody>
          <a:bodyPr wrap="square" lIns="0" tIns="0" rIns="0" bIns="0" rtlCol="0" anchor="t"/>
          <a:lstStyle/>
          <a:p>
            <a:pPr marL="342900" indent="-342900">
              <a:spcAft>
                <a:spcPts val="200"/>
              </a:spcAft>
              <a:buSzPct val="100000"/>
              <a:buChar char="•"/>
            </a:pPr>
            <a:r>
              <a:rPr lang="en-US" sz="850" dirty="0">
                <a:solidFill>
                  <a:srgbClr val="54606F"/>
                </a:solidFill>
                <a:latin typeface="Nunito Sans" pitchFamily="34" charset="0"/>
                <a:ea typeface="Nunito Sans" pitchFamily="34" charset="-122"/>
                <a:cs typeface="Nunito Sans" pitchFamily="34" charset="-120"/>
              </a:rPr>
              <a:t>Category creation framework</a:t>
            </a:r>
            <a:endParaRPr lang="en-US" sz="850" dirty="0"/>
          </a:p>
          <a:p>
            <a:pPr marL="342900" indent="-342900">
              <a:spcAft>
                <a:spcPts val="200"/>
              </a:spcAft>
              <a:buSzPct val="100000"/>
              <a:buChar char="•"/>
            </a:pPr>
            <a:r>
              <a:rPr lang="en-US" sz="850" dirty="0">
                <a:solidFill>
                  <a:srgbClr val="54606F"/>
                </a:solidFill>
                <a:latin typeface="Nunito Sans" pitchFamily="34" charset="0"/>
                <a:ea typeface="Nunito Sans" pitchFamily="34" charset="-122"/>
                <a:cs typeface="Nunito Sans" pitchFamily="34" charset="-120"/>
              </a:rPr>
              <a:t>Positioning &amp; Brand Architecture</a:t>
            </a:r>
            <a:endParaRPr lang="en-US" sz="850" dirty="0"/>
          </a:p>
          <a:p>
            <a:pPr marL="342900" indent="-342900">
              <a:spcAft>
                <a:spcPts val="200"/>
              </a:spcAft>
              <a:buSzPct val="100000"/>
              <a:buChar char="•"/>
            </a:pPr>
            <a:r>
              <a:rPr lang="en-US" sz="850" dirty="0">
                <a:solidFill>
                  <a:srgbClr val="54606F"/>
                </a:solidFill>
                <a:latin typeface="Nunito Sans" pitchFamily="34" charset="0"/>
                <a:ea typeface="Nunito Sans" pitchFamily="34" charset="-122"/>
                <a:cs typeface="Nunito Sans" pitchFamily="34" charset="-120"/>
              </a:rPr>
              <a:t>Proof hierarchy</a:t>
            </a:r>
            <a:endParaRPr lang="en-US" sz="850" dirty="0"/>
          </a:p>
          <a:p>
            <a:pPr marL="342900" indent="-342900">
              <a:spcAft>
                <a:spcPts val="200"/>
              </a:spcAft>
              <a:buSzPct val="100000"/>
              <a:buChar char="•"/>
            </a:pPr>
            <a:r>
              <a:rPr lang="en-US" sz="850" dirty="0">
                <a:solidFill>
                  <a:srgbClr val="54606F"/>
                </a:solidFill>
                <a:latin typeface="Nunito Sans" pitchFamily="34" charset="0"/>
                <a:ea typeface="Nunito Sans" pitchFamily="34" charset="-122"/>
                <a:cs typeface="Nunito Sans" pitchFamily="34" charset="-120"/>
              </a:rPr>
              <a:t>Codified Pesticide-Free standard</a:t>
            </a:r>
            <a:endParaRPr lang="en-US" sz="850" dirty="0"/>
          </a:p>
        </p:txBody>
      </p:sp>
      <p:sp>
        <p:nvSpPr>
          <p:cNvPr id="19" name="Shape 16"/>
          <p:cNvSpPr/>
          <p:nvPr/>
        </p:nvSpPr>
        <p:spPr>
          <a:xfrm>
            <a:off x="6214720" y="1828800"/>
            <a:ext cx="2618156" cy="2395728"/>
          </a:xfrm>
          <a:prstGeom prst="roundRect">
            <a:avLst>
              <a:gd name="adj" fmla="val 3817"/>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20" name="Shape 17"/>
          <p:cNvSpPr/>
          <p:nvPr/>
        </p:nvSpPr>
        <p:spPr>
          <a:xfrm>
            <a:off x="6214720" y="1828800"/>
            <a:ext cx="45720" cy="2395728"/>
          </a:xfrm>
          <a:prstGeom prst="rect">
            <a:avLst/>
          </a:prstGeom>
          <a:solidFill>
            <a:srgbClr val="177A46"/>
          </a:solidFill>
          <a:ln w="6350">
            <a:solidFill>
              <a:srgbClr val="177A46"/>
            </a:solidFill>
            <a:prstDash val="solid"/>
          </a:ln>
        </p:spPr>
      </p:sp>
      <p:sp>
        <p:nvSpPr>
          <p:cNvPr id="21" name="Text 18"/>
          <p:cNvSpPr/>
          <p:nvPr/>
        </p:nvSpPr>
        <p:spPr>
          <a:xfrm>
            <a:off x="6434176" y="1975104"/>
            <a:ext cx="2252396" cy="237744"/>
          </a:xfrm>
          <a:prstGeom prst="rect">
            <a:avLst/>
          </a:prstGeom>
          <a:noFill/>
          <a:ln/>
        </p:spPr>
        <p:txBody>
          <a:bodyPr wrap="square" lIns="0" tIns="0" rIns="0" bIns="0" rtlCol="0" anchor="t"/>
          <a:lstStyle/>
          <a:p>
            <a:pPr indent="0" marL="0">
              <a:buNone/>
            </a:pPr>
            <a:r>
              <a:rPr lang="en-US" sz="900" b="1" spc="140" kern="0" dirty="0">
                <a:solidFill>
                  <a:srgbClr val="177A46"/>
                </a:solidFill>
                <a:latin typeface="Nunito Sans" pitchFamily="34" charset="0"/>
                <a:ea typeface="Nunito Sans" pitchFamily="34" charset="-122"/>
                <a:cs typeface="Nunito Sans" pitchFamily="34" charset="-120"/>
              </a:rPr>
              <a:t>PHASE 3</a:t>
            </a:r>
            <a:endParaRPr lang="en-US" sz="900" dirty="0"/>
          </a:p>
        </p:txBody>
      </p:sp>
      <p:sp>
        <p:nvSpPr>
          <p:cNvPr id="22" name="Text 19"/>
          <p:cNvSpPr/>
          <p:nvPr/>
        </p:nvSpPr>
        <p:spPr>
          <a:xfrm>
            <a:off x="6434176" y="2231136"/>
            <a:ext cx="2252396" cy="512064"/>
          </a:xfrm>
          <a:prstGeom prst="rect">
            <a:avLst/>
          </a:prstGeom>
          <a:noFill/>
          <a:ln/>
        </p:spPr>
        <p:txBody>
          <a:bodyPr wrap="square" lIns="0" tIns="0" rIns="0" bIns="0" rtlCol="0" anchor="t"/>
          <a:lstStyle/>
          <a:p>
            <a:pPr indent="0" marL="0">
              <a:lnSpc>
                <a:spcPct val="102000"/>
              </a:lnSpc>
              <a:buNone/>
            </a:pPr>
            <a:r>
              <a:rPr lang="en-US" sz="1250" dirty="0">
                <a:solidFill>
                  <a:srgbClr val="0C1A2B"/>
                </a:solidFill>
                <a:latin typeface="Archivo Black" pitchFamily="34" charset="0"/>
                <a:ea typeface="Archivo Black" pitchFamily="34" charset="-122"/>
                <a:cs typeface="Archivo Black" pitchFamily="34" charset="-120"/>
              </a:rPr>
              <a:t>GROWTH ENGINE DESIGN</a:t>
            </a:r>
            <a:endParaRPr lang="en-US" sz="1250" dirty="0"/>
          </a:p>
        </p:txBody>
      </p:sp>
      <p:sp>
        <p:nvSpPr>
          <p:cNvPr id="23" name="Text 20"/>
          <p:cNvSpPr/>
          <p:nvPr/>
        </p:nvSpPr>
        <p:spPr>
          <a:xfrm>
            <a:off x="6434176" y="2779776"/>
            <a:ext cx="2252396" cy="603504"/>
          </a:xfrm>
          <a:prstGeom prst="rect">
            <a:avLst/>
          </a:prstGeom>
          <a:noFill/>
          <a:ln/>
        </p:spPr>
        <p:txBody>
          <a:bodyPr wrap="square" lIns="0" tIns="0" rIns="0" bIns="0" rtlCol="0" anchor="t"/>
          <a:lstStyle/>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Decide where to play and how to win – the moat</a:t>
            </a:r>
            <a:endParaRPr lang="en-US" sz="900" dirty="0"/>
          </a:p>
        </p:txBody>
      </p:sp>
      <p:sp>
        <p:nvSpPr>
          <p:cNvPr id="24" name="Text 21"/>
          <p:cNvSpPr/>
          <p:nvPr/>
        </p:nvSpPr>
        <p:spPr>
          <a:xfrm>
            <a:off x="6434176" y="3419856"/>
            <a:ext cx="2252396" cy="749808"/>
          </a:xfrm>
          <a:prstGeom prst="rect">
            <a:avLst/>
          </a:prstGeom>
          <a:noFill/>
          <a:ln/>
        </p:spPr>
        <p:txBody>
          <a:bodyPr wrap="square" lIns="0" tIns="0" rIns="0" bIns="0" rtlCol="0" anchor="t"/>
          <a:lstStyle/>
          <a:p>
            <a:pPr marL="342900" indent="-342900">
              <a:spcAft>
                <a:spcPts val="200"/>
              </a:spcAft>
              <a:buSzPct val="100000"/>
              <a:buChar char="•"/>
            </a:pPr>
            <a:r>
              <a:rPr lang="en-US" sz="850" dirty="0">
                <a:solidFill>
                  <a:srgbClr val="54606F"/>
                </a:solidFill>
                <a:latin typeface="Nunito Sans" pitchFamily="34" charset="0"/>
                <a:ea typeface="Nunito Sans" pitchFamily="34" charset="-122"/>
                <a:cs typeface="Nunito Sans" pitchFamily="34" charset="-120"/>
              </a:rPr>
              <a:t>Top growth drivers</a:t>
            </a:r>
            <a:endParaRPr lang="en-US" sz="850" dirty="0"/>
          </a:p>
          <a:p>
            <a:pPr marL="342900" indent="-342900">
              <a:spcAft>
                <a:spcPts val="200"/>
              </a:spcAft>
              <a:buSzPct val="100000"/>
              <a:buChar char="•"/>
            </a:pPr>
            <a:r>
              <a:rPr lang="en-US" sz="850" dirty="0">
                <a:solidFill>
                  <a:srgbClr val="54606F"/>
                </a:solidFill>
                <a:latin typeface="Nunito Sans" pitchFamily="34" charset="0"/>
                <a:ea typeface="Nunito Sans" pitchFamily="34" charset="-122"/>
                <a:cs typeface="Nunito Sans" pitchFamily="34" charset="-120"/>
              </a:rPr>
              <a:t>Hero SKU list (10–15 SKUs)</a:t>
            </a:r>
            <a:endParaRPr lang="en-US" sz="850" dirty="0"/>
          </a:p>
          <a:p>
            <a:pPr marL="342900" indent="-342900">
              <a:spcAft>
                <a:spcPts val="200"/>
              </a:spcAft>
              <a:buSzPct val="100000"/>
              <a:buChar char="•"/>
            </a:pPr>
            <a:r>
              <a:rPr lang="en-US" sz="850" dirty="0">
                <a:solidFill>
                  <a:srgbClr val="54606F"/>
                </a:solidFill>
                <a:latin typeface="Nunito Sans" pitchFamily="34" charset="0"/>
                <a:ea typeface="Nunito Sans" pitchFamily="34" charset="-122"/>
                <a:cs typeface="Nunito Sans" pitchFamily="34" charset="-120"/>
              </a:rPr>
              <a:t>Channel role matrix</a:t>
            </a:r>
            <a:endParaRPr lang="en-US" sz="850" dirty="0"/>
          </a:p>
          <a:p>
            <a:pPr marL="342900" indent="-342900">
              <a:spcAft>
                <a:spcPts val="200"/>
              </a:spcAft>
              <a:buSzPct val="100000"/>
              <a:buChar char="•"/>
            </a:pPr>
            <a:r>
              <a:rPr lang="en-US" sz="850" dirty="0">
                <a:solidFill>
                  <a:srgbClr val="54606F"/>
                </a:solidFill>
                <a:latin typeface="Nunito Sans" pitchFamily="34" charset="0"/>
                <a:ea typeface="Nunito Sans" pitchFamily="34" charset="-122"/>
                <a:cs typeface="Nunito Sans" pitchFamily="34" charset="-120"/>
              </a:rPr>
              <a:t>Competitive defense playbook</a:t>
            </a:r>
            <a:endParaRPr lang="en-US" sz="850" dirty="0"/>
          </a:p>
        </p:txBody>
      </p:sp>
      <p:sp>
        <p:nvSpPr>
          <p:cNvPr id="25" name="Shape 22"/>
          <p:cNvSpPr/>
          <p:nvPr/>
        </p:nvSpPr>
        <p:spPr>
          <a:xfrm>
            <a:off x="9070619" y="1828800"/>
            <a:ext cx="2618156" cy="2395728"/>
          </a:xfrm>
          <a:prstGeom prst="roundRect">
            <a:avLst>
              <a:gd name="adj" fmla="val 3817"/>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26" name="Shape 23"/>
          <p:cNvSpPr/>
          <p:nvPr/>
        </p:nvSpPr>
        <p:spPr>
          <a:xfrm>
            <a:off x="9070619" y="1828800"/>
            <a:ext cx="45720" cy="2395728"/>
          </a:xfrm>
          <a:prstGeom prst="rect">
            <a:avLst/>
          </a:prstGeom>
          <a:solidFill>
            <a:srgbClr val="177A46"/>
          </a:solidFill>
          <a:ln w="6350">
            <a:solidFill>
              <a:srgbClr val="177A46"/>
            </a:solidFill>
            <a:prstDash val="solid"/>
          </a:ln>
        </p:spPr>
      </p:sp>
      <p:sp>
        <p:nvSpPr>
          <p:cNvPr id="27" name="Text 24"/>
          <p:cNvSpPr/>
          <p:nvPr/>
        </p:nvSpPr>
        <p:spPr>
          <a:xfrm>
            <a:off x="9290075" y="1975104"/>
            <a:ext cx="2252396" cy="237744"/>
          </a:xfrm>
          <a:prstGeom prst="rect">
            <a:avLst/>
          </a:prstGeom>
          <a:noFill/>
          <a:ln/>
        </p:spPr>
        <p:txBody>
          <a:bodyPr wrap="square" lIns="0" tIns="0" rIns="0" bIns="0" rtlCol="0" anchor="t"/>
          <a:lstStyle/>
          <a:p>
            <a:pPr indent="0" marL="0">
              <a:buNone/>
            </a:pPr>
            <a:r>
              <a:rPr lang="en-US" sz="900" b="1" spc="140" kern="0" dirty="0">
                <a:solidFill>
                  <a:srgbClr val="177A46"/>
                </a:solidFill>
                <a:latin typeface="Nunito Sans" pitchFamily="34" charset="0"/>
                <a:ea typeface="Nunito Sans" pitchFamily="34" charset="-122"/>
                <a:cs typeface="Nunito Sans" pitchFamily="34" charset="-120"/>
              </a:rPr>
              <a:t>PHASE 4</a:t>
            </a:r>
            <a:endParaRPr lang="en-US" sz="900" dirty="0"/>
          </a:p>
        </p:txBody>
      </p:sp>
      <p:sp>
        <p:nvSpPr>
          <p:cNvPr id="28" name="Text 25"/>
          <p:cNvSpPr/>
          <p:nvPr/>
        </p:nvSpPr>
        <p:spPr>
          <a:xfrm>
            <a:off x="9290075" y="2231136"/>
            <a:ext cx="2252396" cy="512064"/>
          </a:xfrm>
          <a:prstGeom prst="rect">
            <a:avLst/>
          </a:prstGeom>
          <a:noFill/>
          <a:ln/>
        </p:spPr>
        <p:txBody>
          <a:bodyPr wrap="square" lIns="0" tIns="0" rIns="0" bIns="0" rtlCol="0" anchor="t"/>
          <a:lstStyle/>
          <a:p>
            <a:pPr indent="0" marL="0">
              <a:lnSpc>
                <a:spcPct val="102000"/>
              </a:lnSpc>
              <a:buNone/>
            </a:pPr>
            <a:r>
              <a:rPr lang="en-US" sz="1250" dirty="0">
                <a:solidFill>
                  <a:srgbClr val="0C1A2B"/>
                </a:solidFill>
                <a:latin typeface="Archivo Black" pitchFamily="34" charset="0"/>
                <a:ea typeface="Archivo Black" pitchFamily="34" charset="-122"/>
                <a:cs typeface="Archivo Black" pitchFamily="34" charset="-120"/>
              </a:rPr>
              <a:t>SCALE BLUEPRINT</a:t>
            </a:r>
            <a:endParaRPr lang="en-US" sz="1250" dirty="0"/>
          </a:p>
        </p:txBody>
      </p:sp>
      <p:sp>
        <p:nvSpPr>
          <p:cNvPr id="29" name="Text 26"/>
          <p:cNvSpPr/>
          <p:nvPr/>
        </p:nvSpPr>
        <p:spPr>
          <a:xfrm>
            <a:off x="9290075" y="2779776"/>
            <a:ext cx="2252396" cy="603504"/>
          </a:xfrm>
          <a:prstGeom prst="rect">
            <a:avLst/>
          </a:prstGeom>
          <a:noFill/>
          <a:ln/>
        </p:spPr>
        <p:txBody>
          <a:bodyPr wrap="square" lIns="0" tIns="0" rIns="0" bIns="0" rtlCol="0" anchor="t"/>
          <a:lstStyle/>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Build a sustainable, funded path to growth</a:t>
            </a:r>
            <a:endParaRPr lang="en-US" sz="900" dirty="0"/>
          </a:p>
        </p:txBody>
      </p:sp>
      <p:sp>
        <p:nvSpPr>
          <p:cNvPr id="30" name="Text 27"/>
          <p:cNvSpPr/>
          <p:nvPr/>
        </p:nvSpPr>
        <p:spPr>
          <a:xfrm>
            <a:off x="9290075" y="3419856"/>
            <a:ext cx="2252396" cy="749808"/>
          </a:xfrm>
          <a:prstGeom prst="rect">
            <a:avLst/>
          </a:prstGeom>
          <a:noFill/>
          <a:ln/>
        </p:spPr>
        <p:txBody>
          <a:bodyPr wrap="square" lIns="0" tIns="0" rIns="0" bIns="0" rtlCol="0" anchor="t"/>
          <a:lstStyle/>
          <a:p>
            <a:pPr marL="342900" indent="-342900">
              <a:spcAft>
                <a:spcPts val="200"/>
              </a:spcAft>
              <a:buSzPct val="100000"/>
              <a:buChar char="•"/>
            </a:pPr>
            <a:r>
              <a:rPr lang="en-US" sz="850" dirty="0">
                <a:solidFill>
                  <a:srgbClr val="54606F"/>
                </a:solidFill>
                <a:latin typeface="Nunito Sans" pitchFamily="34" charset="0"/>
                <a:ea typeface="Nunito Sans" pitchFamily="34" charset="-122"/>
                <a:cs typeface="Nunito Sans" pitchFamily="34" charset="-120"/>
              </a:rPr>
              <a:t>5-year growth ambition</a:t>
            </a:r>
            <a:endParaRPr lang="en-US" sz="850" dirty="0"/>
          </a:p>
          <a:p>
            <a:pPr marL="342900" indent="-342900">
              <a:spcAft>
                <a:spcPts val="200"/>
              </a:spcAft>
              <a:buSzPct val="100000"/>
              <a:buChar char="•"/>
            </a:pPr>
            <a:r>
              <a:rPr lang="en-US" sz="850" dirty="0">
                <a:solidFill>
                  <a:srgbClr val="54606F"/>
                </a:solidFill>
                <a:latin typeface="Nunito Sans" pitchFamily="34" charset="0"/>
                <a:ea typeface="Nunito Sans" pitchFamily="34" charset="-122"/>
                <a:cs typeface="Nunito Sans" pitchFamily="34" charset="-120"/>
              </a:rPr>
              <a:t>Investment &amp; capital roadmap</a:t>
            </a:r>
            <a:endParaRPr lang="en-US" sz="850" dirty="0"/>
          </a:p>
          <a:p>
            <a:pPr marL="342900" indent="-342900">
              <a:spcAft>
                <a:spcPts val="200"/>
              </a:spcAft>
              <a:buSzPct val="100000"/>
              <a:buChar char="•"/>
            </a:pPr>
            <a:r>
              <a:rPr lang="en-US" sz="850" dirty="0">
                <a:solidFill>
                  <a:srgbClr val="54606F"/>
                </a:solidFill>
                <a:latin typeface="Nunito Sans" pitchFamily="34" charset="0"/>
                <a:ea typeface="Nunito Sans" pitchFamily="34" charset="-122"/>
                <a:cs typeface="Nunito Sans" pitchFamily="34" charset="-120"/>
              </a:rPr>
              <a:t>Category Rulebook &amp; governance</a:t>
            </a:r>
            <a:endParaRPr lang="en-US" sz="850" dirty="0"/>
          </a:p>
          <a:p>
            <a:pPr marL="342900" indent="-342900">
              <a:spcAft>
                <a:spcPts val="200"/>
              </a:spcAft>
              <a:buSzPct val="100000"/>
              <a:buChar char="•"/>
            </a:pPr>
            <a:r>
              <a:rPr lang="en-US" sz="850" dirty="0">
                <a:solidFill>
                  <a:srgbClr val="54606F"/>
                </a:solidFill>
                <a:latin typeface="Nunito Sans" pitchFamily="34" charset="0"/>
                <a:ea typeface="Nunito Sans" pitchFamily="34" charset="-122"/>
                <a:cs typeface="Nunito Sans" pitchFamily="34" charset="-120"/>
              </a:rPr>
              <a:t>Operating model + KPI framework</a:t>
            </a:r>
            <a:endParaRPr lang="en-US" sz="850" dirty="0"/>
          </a:p>
        </p:txBody>
      </p:sp>
      <p:sp>
        <p:nvSpPr>
          <p:cNvPr id="31" name="Shape 28"/>
          <p:cNvSpPr/>
          <p:nvPr/>
        </p:nvSpPr>
        <p:spPr>
          <a:xfrm>
            <a:off x="502920" y="4462272"/>
            <a:ext cx="11185855" cy="0"/>
          </a:xfrm>
          <a:prstGeom prst="line">
            <a:avLst/>
          </a:prstGeom>
          <a:noFill/>
          <a:ln w="12700">
            <a:solidFill>
              <a:srgbClr val="3A5D97"/>
            </a:solidFill>
            <a:prstDash val="solid"/>
          </a:ln>
        </p:spPr>
      </p:sp>
      <p:sp>
        <p:nvSpPr>
          <p:cNvPr id="32" name="Text 29"/>
          <p:cNvSpPr/>
          <p:nvPr/>
        </p:nvSpPr>
        <p:spPr>
          <a:xfrm>
            <a:off x="502920" y="4507992"/>
            <a:ext cx="11185855"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THE EVIDENCE BASE</a:t>
            </a:r>
            <a:endParaRPr lang="en-US" sz="900" dirty="0"/>
          </a:p>
        </p:txBody>
      </p:sp>
      <p:sp>
        <p:nvSpPr>
          <p:cNvPr id="33" name="Text 30"/>
          <p:cNvSpPr/>
          <p:nvPr/>
        </p:nvSpPr>
        <p:spPr>
          <a:xfrm>
            <a:off x="502920" y="4754880"/>
            <a:ext cx="2522144" cy="384048"/>
          </a:xfrm>
          <a:prstGeom prst="rect">
            <a:avLst/>
          </a:prstGeom>
          <a:noFill/>
          <a:ln/>
        </p:spPr>
        <p:txBody>
          <a:bodyPr wrap="square" lIns="0" tIns="0" rIns="0" bIns="0" rtlCol="0" anchor="t"/>
          <a:lstStyle/>
          <a:p>
            <a:pPr indent="0" marL="0">
              <a:buNone/>
            </a:pPr>
            <a:r>
              <a:rPr lang="en-US" sz="2100" dirty="0">
                <a:solidFill>
                  <a:srgbClr val="3A5D97"/>
                </a:solidFill>
                <a:latin typeface="Archivo Black" pitchFamily="34" charset="0"/>
                <a:ea typeface="Archivo Black" pitchFamily="34" charset="-122"/>
                <a:cs typeface="Archivo Black" pitchFamily="34" charset="-120"/>
              </a:rPr>
              <a:t>305</a:t>
            </a:r>
            <a:endParaRPr lang="en-US" sz="2100" dirty="0"/>
          </a:p>
        </p:txBody>
      </p:sp>
      <p:sp>
        <p:nvSpPr>
          <p:cNvPr id="34" name="Text 31"/>
          <p:cNvSpPr/>
          <p:nvPr/>
        </p:nvSpPr>
        <p:spPr>
          <a:xfrm>
            <a:off x="502920" y="5157216"/>
            <a:ext cx="2522144" cy="548640"/>
          </a:xfrm>
          <a:prstGeom prst="rect">
            <a:avLst/>
          </a:prstGeom>
          <a:noFill/>
          <a:ln/>
        </p:spPr>
        <p:txBody>
          <a:bodyPr wrap="square" lIns="0" tIns="0" rIns="0" bIns="0" rtlCol="0" anchor="t"/>
          <a:lstStyle/>
          <a:p>
            <a:pPr indent="0" marL="0">
              <a:lnSpc>
                <a:spcPct val="110000"/>
              </a:lnSpc>
              <a:buNone/>
            </a:pPr>
            <a:r>
              <a:rPr lang="en-US" sz="850" dirty="0">
                <a:solidFill>
                  <a:srgbClr val="54606F"/>
                </a:solidFill>
                <a:latin typeface="Nunito Sans" pitchFamily="34" charset="0"/>
                <a:ea typeface="Nunito Sans" pitchFamily="34" charset="-122"/>
                <a:cs typeface="Nunito Sans" pitchFamily="34" charset="-120"/>
              </a:rPr>
              <a:t>Respondents for Quantitative survey. 5 metros · Fielded 28–29 May 2026, by 1Lattice</a:t>
            </a:r>
            <a:endParaRPr lang="en-US" sz="850" dirty="0"/>
          </a:p>
        </p:txBody>
      </p:sp>
      <p:sp>
        <p:nvSpPr>
          <p:cNvPr id="35" name="Text 32"/>
          <p:cNvSpPr/>
          <p:nvPr/>
        </p:nvSpPr>
        <p:spPr>
          <a:xfrm>
            <a:off x="3299384" y="4754880"/>
            <a:ext cx="2522144" cy="384048"/>
          </a:xfrm>
          <a:prstGeom prst="rect">
            <a:avLst/>
          </a:prstGeom>
          <a:noFill/>
          <a:ln/>
        </p:spPr>
        <p:txBody>
          <a:bodyPr wrap="square" lIns="0" tIns="0" rIns="0" bIns="0" rtlCol="0" anchor="t"/>
          <a:lstStyle/>
          <a:p>
            <a:pPr indent="0" marL="0">
              <a:buNone/>
            </a:pPr>
            <a:r>
              <a:rPr lang="en-US" sz="2100" dirty="0">
                <a:solidFill>
                  <a:srgbClr val="3A5D97"/>
                </a:solidFill>
                <a:latin typeface="Archivo Black" pitchFamily="34" charset="0"/>
                <a:ea typeface="Archivo Black" pitchFamily="34" charset="-122"/>
                <a:cs typeface="Archivo Black" pitchFamily="34" charset="-120"/>
              </a:rPr>
              <a:t>31+</a:t>
            </a:r>
            <a:endParaRPr lang="en-US" sz="2100" dirty="0"/>
          </a:p>
        </p:txBody>
      </p:sp>
      <p:sp>
        <p:nvSpPr>
          <p:cNvPr id="36" name="Text 33"/>
          <p:cNvSpPr/>
          <p:nvPr/>
        </p:nvSpPr>
        <p:spPr>
          <a:xfrm>
            <a:off x="3299384" y="5157216"/>
            <a:ext cx="2522144" cy="548640"/>
          </a:xfrm>
          <a:prstGeom prst="rect">
            <a:avLst/>
          </a:prstGeom>
          <a:noFill/>
          <a:ln/>
        </p:spPr>
        <p:txBody>
          <a:bodyPr wrap="square" lIns="0" tIns="0" rIns="0" bIns="0" rtlCol="0" anchor="t"/>
          <a:lstStyle/>
          <a:p>
            <a:pPr indent="0" marL="0">
              <a:lnSpc>
                <a:spcPct val="110000"/>
              </a:lnSpc>
              <a:buNone/>
            </a:pPr>
            <a:r>
              <a:rPr lang="en-US" sz="850" dirty="0">
                <a:solidFill>
                  <a:srgbClr val="54606F"/>
                </a:solidFill>
                <a:latin typeface="Nunito Sans" pitchFamily="34" charset="0"/>
                <a:ea typeface="Nunito Sans" pitchFamily="34" charset="-122"/>
                <a:cs typeface="Nunito Sans" pitchFamily="34" charset="-120"/>
              </a:rPr>
              <a:t>Qualitative respondents</a:t>
            </a:r>
            <a:endParaRPr lang="en-US" sz="850" dirty="0"/>
          </a:p>
          <a:p>
            <a:pPr indent="0" marL="0">
              <a:lnSpc>
                <a:spcPct val="110000"/>
              </a:lnSpc>
              <a:buNone/>
            </a:pPr>
            <a:r>
              <a:rPr lang="en-US" sz="850" dirty="0">
                <a:solidFill>
                  <a:srgbClr val="54606F"/>
                </a:solidFill>
                <a:latin typeface="Nunito Sans" pitchFamily="34" charset="0"/>
                <a:ea typeface="Nunito Sans" pitchFamily="34" charset="-122"/>
                <a:cs typeface="Nunito Sans" pitchFamily="34" charset="-120"/>
              </a:rPr>
              <a:t>6 cities · intercepts, IDIs, ethnography</a:t>
            </a:r>
            <a:endParaRPr lang="en-US" sz="850" dirty="0"/>
          </a:p>
        </p:txBody>
      </p:sp>
      <p:sp>
        <p:nvSpPr>
          <p:cNvPr id="37" name="Text 34"/>
          <p:cNvSpPr/>
          <p:nvPr/>
        </p:nvSpPr>
        <p:spPr>
          <a:xfrm>
            <a:off x="6095848" y="4754880"/>
            <a:ext cx="2522144" cy="384048"/>
          </a:xfrm>
          <a:prstGeom prst="rect">
            <a:avLst/>
          </a:prstGeom>
          <a:noFill/>
          <a:ln/>
        </p:spPr>
        <p:txBody>
          <a:bodyPr wrap="square" lIns="0" tIns="0" rIns="0" bIns="0" rtlCol="0" anchor="t"/>
          <a:lstStyle/>
          <a:p>
            <a:pPr indent="0" marL="0">
              <a:buNone/>
            </a:pPr>
            <a:r>
              <a:rPr lang="en-US" sz="2100" dirty="0">
                <a:solidFill>
                  <a:srgbClr val="3A5D97"/>
                </a:solidFill>
                <a:latin typeface="Archivo Black" pitchFamily="34" charset="0"/>
                <a:ea typeface="Archivo Black" pitchFamily="34" charset="-122"/>
                <a:cs typeface="Archivo Black" pitchFamily="34" charset="-120"/>
              </a:rPr>
              <a:t>₹90.9 Cr</a:t>
            </a:r>
            <a:endParaRPr lang="en-US" sz="2100" dirty="0"/>
          </a:p>
        </p:txBody>
      </p:sp>
      <p:sp>
        <p:nvSpPr>
          <p:cNvPr id="38" name="Text 35"/>
          <p:cNvSpPr/>
          <p:nvPr/>
        </p:nvSpPr>
        <p:spPr>
          <a:xfrm>
            <a:off x="6095848" y="5157216"/>
            <a:ext cx="2522144" cy="548640"/>
          </a:xfrm>
          <a:prstGeom prst="rect">
            <a:avLst/>
          </a:prstGeom>
          <a:noFill/>
          <a:ln/>
        </p:spPr>
        <p:txBody>
          <a:bodyPr wrap="square" lIns="0" tIns="0" rIns="0" bIns="0" rtlCol="0" anchor="t"/>
          <a:lstStyle/>
          <a:p>
            <a:pPr indent="0" marL="0">
              <a:lnSpc>
                <a:spcPct val="110000"/>
              </a:lnSpc>
              <a:buNone/>
            </a:pPr>
            <a:r>
              <a:rPr lang="en-US" sz="850" dirty="0">
                <a:solidFill>
                  <a:srgbClr val="54606F"/>
                </a:solidFill>
                <a:latin typeface="Nunito Sans" pitchFamily="34" charset="0"/>
                <a:ea typeface="Nunito Sans" pitchFamily="34" charset="-122"/>
                <a:cs typeface="Nunito Sans" pitchFamily="34" charset="-120"/>
              </a:rPr>
              <a:t>Internal revenue audited</a:t>
            </a:r>
            <a:endParaRPr lang="en-US" sz="850" dirty="0"/>
          </a:p>
          <a:p>
            <a:pPr indent="0" marL="0">
              <a:lnSpc>
                <a:spcPct val="110000"/>
              </a:lnSpc>
              <a:buNone/>
            </a:pPr>
            <a:r>
              <a:rPr lang="en-US" sz="850" dirty="0">
                <a:solidFill>
                  <a:srgbClr val="54606F"/>
                </a:solidFill>
                <a:latin typeface="Nunito Sans" pitchFamily="34" charset="0"/>
                <a:ea typeface="Nunito Sans" pitchFamily="34" charset="-122"/>
                <a:cs typeface="Nunito Sans" pitchFamily="34" charset="-120"/>
              </a:rPr>
              <a:t>4,365 MT · 8 half-years · 8 channels</a:t>
            </a:r>
            <a:endParaRPr lang="en-US" sz="850" dirty="0"/>
          </a:p>
        </p:txBody>
      </p:sp>
      <p:sp>
        <p:nvSpPr>
          <p:cNvPr id="39" name="Text 36"/>
          <p:cNvSpPr/>
          <p:nvPr/>
        </p:nvSpPr>
        <p:spPr>
          <a:xfrm>
            <a:off x="8892311" y="4754880"/>
            <a:ext cx="2522144" cy="384048"/>
          </a:xfrm>
          <a:prstGeom prst="rect">
            <a:avLst/>
          </a:prstGeom>
          <a:noFill/>
          <a:ln/>
        </p:spPr>
        <p:txBody>
          <a:bodyPr wrap="square" lIns="0" tIns="0" rIns="0" bIns="0" rtlCol="0" anchor="t"/>
          <a:lstStyle/>
          <a:p>
            <a:pPr indent="0" marL="0">
              <a:buNone/>
            </a:pPr>
            <a:r>
              <a:rPr lang="en-US" sz="2100" dirty="0">
                <a:solidFill>
                  <a:srgbClr val="3A5D97"/>
                </a:solidFill>
                <a:latin typeface="Archivo Black" pitchFamily="34" charset="0"/>
                <a:ea typeface="Archivo Black" pitchFamily="34" charset="-122"/>
                <a:cs typeface="Archivo Black" pitchFamily="34" charset="-120"/>
              </a:rPr>
              <a:t>4</a:t>
            </a:r>
            <a:endParaRPr lang="en-US" sz="2100" dirty="0"/>
          </a:p>
        </p:txBody>
      </p:sp>
      <p:sp>
        <p:nvSpPr>
          <p:cNvPr id="40" name="Text 37"/>
          <p:cNvSpPr/>
          <p:nvPr/>
        </p:nvSpPr>
        <p:spPr>
          <a:xfrm>
            <a:off x="8892311" y="5157216"/>
            <a:ext cx="2522144" cy="548640"/>
          </a:xfrm>
          <a:prstGeom prst="rect">
            <a:avLst/>
          </a:prstGeom>
          <a:noFill/>
          <a:ln/>
        </p:spPr>
        <p:txBody>
          <a:bodyPr wrap="square" lIns="0" tIns="0" rIns="0" bIns="0" rtlCol="0" anchor="t"/>
          <a:lstStyle/>
          <a:p>
            <a:pPr indent="0" marL="0">
              <a:lnSpc>
                <a:spcPct val="110000"/>
              </a:lnSpc>
              <a:buNone/>
            </a:pPr>
            <a:r>
              <a:rPr lang="en-US" sz="850" dirty="0">
                <a:solidFill>
                  <a:srgbClr val="54606F"/>
                </a:solidFill>
                <a:latin typeface="Nunito Sans" pitchFamily="34" charset="0"/>
                <a:ea typeface="Nunito Sans" pitchFamily="34" charset="-122"/>
                <a:cs typeface="Nunito Sans" pitchFamily="34" charset="-120"/>
              </a:rPr>
              <a:t>Competitors benchmarked</a:t>
            </a:r>
            <a:endParaRPr lang="en-US" sz="850" dirty="0"/>
          </a:p>
          <a:p>
            <a:pPr indent="0" marL="0">
              <a:lnSpc>
                <a:spcPct val="110000"/>
              </a:lnSpc>
              <a:buNone/>
            </a:pPr>
            <a:r>
              <a:rPr lang="en-US" sz="850" dirty="0">
                <a:solidFill>
                  <a:srgbClr val="54606F"/>
                </a:solidFill>
                <a:latin typeface="Nunito Sans" pitchFamily="34" charset="0"/>
                <a:ea typeface="Nunito Sans" pitchFamily="34" charset="-122"/>
                <a:cs typeface="Nunito Sans" pitchFamily="34" charset="-120"/>
              </a:rPr>
              <a:t>11 DHF advantages stress-tested</a:t>
            </a:r>
            <a:endParaRPr lang="en-US" sz="850" dirty="0"/>
          </a:p>
        </p:txBody>
      </p:sp>
      <p:sp>
        <p:nvSpPr>
          <p:cNvPr id="41" name="Shape 38"/>
          <p:cNvSpPr/>
          <p:nvPr/>
        </p:nvSpPr>
        <p:spPr>
          <a:xfrm>
            <a:off x="502920" y="6492240"/>
            <a:ext cx="11185855" cy="0"/>
          </a:xfrm>
          <a:prstGeom prst="line">
            <a:avLst/>
          </a:prstGeom>
          <a:noFill/>
          <a:ln w="9525">
            <a:solidFill>
              <a:srgbClr val="E5DCCB"/>
            </a:solidFill>
            <a:prstDash val="solid"/>
          </a:ln>
        </p:spPr>
      </p:sp>
      <p:sp>
        <p:nvSpPr>
          <p:cNvPr id="42" name="Text 39"/>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THE MANDATE</a:t>
            </a:r>
            <a:endParaRPr lang="en-US" sz="800" dirty="0"/>
          </a:p>
        </p:txBody>
      </p:sp>
      <p:sp>
        <p:nvSpPr>
          <p:cNvPr id="43" name="Text 40"/>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01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1532534"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1532534"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THE CATEGORY</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500" dirty="0">
                <a:solidFill>
                  <a:srgbClr val="0C1A2B"/>
                </a:solidFill>
                <a:latin typeface="Archivo Black" pitchFamily="34" charset="0"/>
                <a:ea typeface="Archivo Black" pitchFamily="34" charset="-122"/>
                <a:cs typeface="Archivo Black" pitchFamily="34" charset="-120"/>
              </a:rPr>
              <a:t>A ₹48,000 Cr Category with No Definition, No Standard, and No Owner.</a:t>
            </a:r>
            <a:endParaRPr lang="en-US" sz="2500" dirty="0"/>
          </a:p>
        </p:txBody>
      </p:sp>
      <p:sp>
        <p:nvSpPr>
          <p:cNvPr id="6" name="Text 3"/>
          <p:cNvSpPr/>
          <p:nvPr/>
        </p:nvSpPr>
        <p:spPr>
          <a:xfrm>
            <a:off x="502920" y="1408176"/>
            <a:ext cx="9692640" cy="292608"/>
          </a:xfrm>
          <a:prstGeom prst="rect">
            <a:avLst/>
          </a:prstGeom>
          <a:noFill/>
          <a:ln/>
        </p:spPr>
        <p:txBody>
          <a:bodyPr wrap="square" lIns="0" tIns="0" rIns="0" bIns="0" rtlCol="0" anchor="t"/>
          <a:lstStyle/>
          <a:p>
            <a:pPr indent="0" marL="0">
              <a:lnSpc>
                <a:spcPct val="114000"/>
              </a:lnSpc>
              <a:buNone/>
            </a:pPr>
            <a:r>
              <a:rPr lang="en-US" sz="1100" dirty="0">
                <a:solidFill>
                  <a:srgbClr val="54606F"/>
                </a:solidFill>
                <a:latin typeface="Nunito Sans" pitchFamily="34" charset="0"/>
                <a:ea typeface="Nunito Sans" pitchFamily="34" charset="-122"/>
                <a:cs typeface="Nunito Sans" pitchFamily="34" charset="-120"/>
              </a:rPr>
              <a:t>The whitespace is regulatory and semantic, not just commercial.</a:t>
            </a:r>
            <a:endParaRPr lang="en-US" sz="1100" dirty="0"/>
          </a:p>
        </p:txBody>
      </p:sp>
      <p:sp>
        <p:nvSpPr>
          <p:cNvPr id="7" name="Shape 4"/>
          <p:cNvSpPr/>
          <p:nvPr/>
        </p:nvSpPr>
        <p:spPr>
          <a:xfrm>
            <a:off x="502920" y="1810512"/>
            <a:ext cx="2618156" cy="0"/>
          </a:xfrm>
          <a:prstGeom prst="line">
            <a:avLst/>
          </a:prstGeom>
          <a:noFill/>
          <a:ln w="25400">
            <a:solidFill>
              <a:srgbClr val="3A5D97"/>
            </a:solidFill>
            <a:prstDash val="solid"/>
          </a:ln>
        </p:spPr>
      </p:sp>
      <p:sp>
        <p:nvSpPr>
          <p:cNvPr id="8" name="Text 5"/>
          <p:cNvSpPr/>
          <p:nvPr/>
        </p:nvSpPr>
        <p:spPr>
          <a:xfrm>
            <a:off x="502920" y="1956816"/>
            <a:ext cx="2618156" cy="414528"/>
          </a:xfrm>
          <a:prstGeom prst="rect">
            <a:avLst/>
          </a:prstGeom>
          <a:noFill/>
          <a:ln/>
        </p:spPr>
        <p:txBody>
          <a:bodyPr wrap="square" lIns="0" tIns="0" rIns="0" bIns="0" rtlCol="0" anchor="t"/>
          <a:lstStyle/>
          <a:p>
            <a:pPr indent="0" marL="0">
              <a:buNone/>
            </a:pPr>
            <a:r>
              <a:rPr lang="en-US" sz="2400" dirty="0">
                <a:solidFill>
                  <a:srgbClr val="3A5D97"/>
                </a:solidFill>
                <a:latin typeface="Archivo Black" pitchFamily="34" charset="0"/>
                <a:ea typeface="Archivo Black" pitchFamily="34" charset="-122"/>
                <a:cs typeface="Archivo Black" pitchFamily="34" charset="-120"/>
              </a:rPr>
              <a:t>84%</a:t>
            </a:r>
            <a:endParaRPr lang="en-US" sz="2400" dirty="0"/>
          </a:p>
        </p:txBody>
      </p:sp>
      <p:sp>
        <p:nvSpPr>
          <p:cNvPr id="9" name="Text 6"/>
          <p:cNvSpPr/>
          <p:nvPr/>
        </p:nvSpPr>
        <p:spPr>
          <a:xfrm>
            <a:off x="502920" y="2407920"/>
            <a:ext cx="2480996" cy="536448"/>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Indian consumers are extremely or very concerned about food safety (PwC Voice of the Consumer 2025)</a:t>
            </a:r>
            <a:endParaRPr lang="en-US" sz="850" dirty="0"/>
          </a:p>
        </p:txBody>
      </p:sp>
      <p:sp>
        <p:nvSpPr>
          <p:cNvPr id="10" name="Shape 7"/>
          <p:cNvSpPr/>
          <p:nvPr/>
        </p:nvSpPr>
        <p:spPr>
          <a:xfrm>
            <a:off x="3358820" y="1810512"/>
            <a:ext cx="2618156" cy="0"/>
          </a:xfrm>
          <a:prstGeom prst="line">
            <a:avLst/>
          </a:prstGeom>
          <a:noFill/>
          <a:ln w="25400">
            <a:solidFill>
              <a:srgbClr val="3A5D97"/>
            </a:solidFill>
            <a:prstDash val="solid"/>
          </a:ln>
        </p:spPr>
      </p:sp>
      <p:sp>
        <p:nvSpPr>
          <p:cNvPr id="11" name="Text 8"/>
          <p:cNvSpPr/>
          <p:nvPr/>
        </p:nvSpPr>
        <p:spPr>
          <a:xfrm>
            <a:off x="3358820" y="1956816"/>
            <a:ext cx="2618156" cy="414528"/>
          </a:xfrm>
          <a:prstGeom prst="rect">
            <a:avLst/>
          </a:prstGeom>
          <a:noFill/>
          <a:ln/>
        </p:spPr>
        <p:txBody>
          <a:bodyPr wrap="square" lIns="0" tIns="0" rIns="0" bIns="0" rtlCol="0" anchor="t"/>
          <a:lstStyle/>
          <a:p>
            <a:pPr indent="0" marL="0">
              <a:buNone/>
            </a:pPr>
            <a:r>
              <a:rPr lang="en-US" sz="2400" dirty="0">
                <a:solidFill>
                  <a:srgbClr val="3A5D97"/>
                </a:solidFill>
                <a:latin typeface="Archivo Black" pitchFamily="34" charset="0"/>
                <a:ea typeface="Archivo Black" pitchFamily="34" charset="-122"/>
                <a:cs typeface="Archivo Black" pitchFamily="34" charset="-120"/>
              </a:rPr>
              <a:t>35.9%</a:t>
            </a:r>
            <a:endParaRPr lang="en-US" sz="2400" dirty="0"/>
          </a:p>
        </p:txBody>
      </p:sp>
      <p:sp>
        <p:nvSpPr>
          <p:cNvPr id="12" name="Text 9"/>
          <p:cNvSpPr/>
          <p:nvPr/>
        </p:nvSpPr>
        <p:spPr>
          <a:xfrm>
            <a:off x="3358820" y="2407920"/>
            <a:ext cx="2480996" cy="536448"/>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Share of monitored samples with detectable residues, up from 22.6% in 2018–19</a:t>
            </a:r>
            <a:endParaRPr lang="en-US" sz="850" dirty="0"/>
          </a:p>
        </p:txBody>
      </p:sp>
      <p:sp>
        <p:nvSpPr>
          <p:cNvPr id="13" name="Shape 10"/>
          <p:cNvSpPr/>
          <p:nvPr/>
        </p:nvSpPr>
        <p:spPr>
          <a:xfrm>
            <a:off x="6214720" y="1810512"/>
            <a:ext cx="2618156" cy="0"/>
          </a:xfrm>
          <a:prstGeom prst="line">
            <a:avLst/>
          </a:prstGeom>
          <a:noFill/>
          <a:ln w="25400">
            <a:solidFill>
              <a:srgbClr val="3A5D97"/>
            </a:solidFill>
            <a:prstDash val="solid"/>
          </a:ln>
        </p:spPr>
      </p:sp>
      <p:sp>
        <p:nvSpPr>
          <p:cNvPr id="14" name="Text 11"/>
          <p:cNvSpPr/>
          <p:nvPr/>
        </p:nvSpPr>
        <p:spPr>
          <a:xfrm>
            <a:off x="6214720" y="1956816"/>
            <a:ext cx="2618156" cy="414528"/>
          </a:xfrm>
          <a:prstGeom prst="rect">
            <a:avLst/>
          </a:prstGeom>
          <a:noFill/>
          <a:ln/>
        </p:spPr>
        <p:txBody>
          <a:bodyPr wrap="square" lIns="0" tIns="0" rIns="0" bIns="0" rtlCol="0" anchor="t"/>
          <a:lstStyle/>
          <a:p>
            <a:pPr indent="0" marL="0">
              <a:buNone/>
            </a:pPr>
            <a:r>
              <a:rPr lang="en-US" sz="2400" dirty="0">
                <a:solidFill>
                  <a:srgbClr val="3A5D97"/>
                </a:solidFill>
                <a:latin typeface="Archivo Black" pitchFamily="34" charset="0"/>
                <a:ea typeface="Archivo Black" pitchFamily="34" charset="-122"/>
                <a:cs typeface="Archivo Black" pitchFamily="34" charset="-120"/>
              </a:rPr>
              <a:t>2.8%</a:t>
            </a:r>
            <a:endParaRPr lang="en-US" sz="2400" dirty="0"/>
          </a:p>
        </p:txBody>
      </p:sp>
      <p:sp>
        <p:nvSpPr>
          <p:cNvPr id="15" name="Text 12"/>
          <p:cNvSpPr/>
          <p:nvPr/>
        </p:nvSpPr>
        <p:spPr>
          <a:xfrm>
            <a:off x="6214720" y="2407920"/>
            <a:ext cx="2480996" cy="536448"/>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Of 86,401 FSSAI samples tested 2022–25 breached maximum residue limits</a:t>
            </a:r>
            <a:endParaRPr lang="en-US" sz="850" dirty="0"/>
          </a:p>
        </p:txBody>
      </p:sp>
      <p:sp>
        <p:nvSpPr>
          <p:cNvPr id="16" name="Shape 13"/>
          <p:cNvSpPr/>
          <p:nvPr/>
        </p:nvSpPr>
        <p:spPr>
          <a:xfrm>
            <a:off x="9070619" y="1810512"/>
            <a:ext cx="2618156" cy="0"/>
          </a:xfrm>
          <a:prstGeom prst="line">
            <a:avLst/>
          </a:prstGeom>
          <a:noFill/>
          <a:ln w="25400">
            <a:solidFill>
              <a:srgbClr val="3A5D97"/>
            </a:solidFill>
            <a:prstDash val="solid"/>
          </a:ln>
        </p:spPr>
      </p:sp>
      <p:sp>
        <p:nvSpPr>
          <p:cNvPr id="17" name="Text 14"/>
          <p:cNvSpPr/>
          <p:nvPr/>
        </p:nvSpPr>
        <p:spPr>
          <a:xfrm>
            <a:off x="9070619" y="1956816"/>
            <a:ext cx="2618156" cy="304292"/>
          </a:xfrm>
          <a:prstGeom prst="rect">
            <a:avLst/>
          </a:prstGeom>
          <a:noFill/>
          <a:ln/>
        </p:spPr>
        <p:txBody>
          <a:bodyPr wrap="square" lIns="0" tIns="0" rIns="0" bIns="0" rtlCol="0" anchor="t"/>
          <a:lstStyle/>
          <a:p>
            <a:pPr indent="0" marL="0">
              <a:buNone/>
            </a:pPr>
            <a:r>
              <a:rPr lang="en-US" sz="1700" dirty="0">
                <a:solidFill>
                  <a:srgbClr val="3A5D97"/>
                </a:solidFill>
                <a:latin typeface="Archivo Black" pitchFamily="34" charset="0"/>
                <a:ea typeface="Archivo Black" pitchFamily="34" charset="-122"/>
                <a:cs typeface="Archivo Black" pitchFamily="34" charset="-120"/>
              </a:rPr>
              <a:t>$8.6B → $22B</a:t>
            </a:r>
            <a:endParaRPr lang="en-US" sz="1700" dirty="0"/>
          </a:p>
        </p:txBody>
      </p:sp>
      <p:sp>
        <p:nvSpPr>
          <p:cNvPr id="18" name="Text 15"/>
          <p:cNvSpPr/>
          <p:nvPr/>
        </p:nvSpPr>
        <p:spPr>
          <a:xfrm>
            <a:off x="9070619" y="2297684"/>
            <a:ext cx="2480996" cy="646684"/>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India organic food, 2024 → 2033 (CAGR ~11%)</a:t>
            </a:r>
            <a:endParaRPr lang="en-US" sz="850" dirty="0"/>
          </a:p>
        </p:txBody>
      </p:sp>
      <p:sp>
        <p:nvSpPr>
          <p:cNvPr id="19" name="Shape 16"/>
          <p:cNvSpPr/>
          <p:nvPr/>
        </p:nvSpPr>
        <p:spPr>
          <a:xfrm>
            <a:off x="502920" y="3145536"/>
            <a:ext cx="5852160" cy="0"/>
          </a:xfrm>
          <a:prstGeom prst="line">
            <a:avLst/>
          </a:prstGeom>
          <a:noFill/>
          <a:ln w="12700">
            <a:solidFill>
              <a:srgbClr val="3A5D97"/>
            </a:solidFill>
            <a:prstDash val="solid"/>
          </a:ln>
        </p:spPr>
      </p:sp>
      <p:sp>
        <p:nvSpPr>
          <p:cNvPr id="20" name="Text 17"/>
          <p:cNvSpPr/>
          <p:nvPr/>
        </p:nvSpPr>
        <p:spPr>
          <a:xfrm>
            <a:off x="502920" y="3191256"/>
            <a:ext cx="5852160"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SIZING THE PESTICIDE-FREE OPPORTUNITY</a:t>
            </a:r>
            <a:endParaRPr lang="en-US" sz="900" dirty="0"/>
          </a:p>
        </p:txBody>
      </p:sp>
      <p:sp>
        <p:nvSpPr>
          <p:cNvPr id="21" name="Shape 18"/>
          <p:cNvSpPr/>
          <p:nvPr/>
        </p:nvSpPr>
        <p:spPr>
          <a:xfrm>
            <a:off x="502920" y="3438144"/>
            <a:ext cx="5852160" cy="768096"/>
          </a:xfrm>
          <a:prstGeom prst="roundRect">
            <a:avLst>
              <a:gd name="adj" fmla="val 11905"/>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22" name="Text 19"/>
          <p:cNvSpPr/>
          <p:nvPr/>
        </p:nvSpPr>
        <p:spPr>
          <a:xfrm>
            <a:off x="685800" y="3557016"/>
            <a:ext cx="640080" cy="237744"/>
          </a:xfrm>
          <a:prstGeom prst="rect">
            <a:avLst/>
          </a:prstGeom>
          <a:noFill/>
          <a:ln/>
        </p:spPr>
        <p:txBody>
          <a:bodyPr wrap="square" lIns="0" tIns="0" rIns="0" bIns="0" rtlCol="0" anchor="ctr"/>
          <a:lstStyle/>
          <a:p>
            <a:pPr indent="0" marL="0">
              <a:buNone/>
            </a:pPr>
            <a:r>
              <a:rPr lang="en-US" sz="950" b="1" spc="140" kern="0" dirty="0">
                <a:solidFill>
                  <a:srgbClr val="3A5D97"/>
                </a:solidFill>
                <a:latin typeface="Nunito Sans" pitchFamily="34" charset="0"/>
                <a:ea typeface="Nunito Sans" pitchFamily="34" charset="-122"/>
                <a:cs typeface="Nunito Sans" pitchFamily="34" charset="-120"/>
              </a:rPr>
              <a:t>TAM</a:t>
            </a:r>
            <a:endParaRPr lang="en-US" sz="950" dirty="0"/>
          </a:p>
        </p:txBody>
      </p:sp>
      <p:sp>
        <p:nvSpPr>
          <p:cNvPr id="23" name="Text 20"/>
          <p:cNvSpPr/>
          <p:nvPr/>
        </p:nvSpPr>
        <p:spPr>
          <a:xfrm>
            <a:off x="1325880" y="3529584"/>
            <a:ext cx="1828800" cy="292608"/>
          </a:xfrm>
          <a:prstGeom prst="rect">
            <a:avLst/>
          </a:prstGeom>
          <a:noFill/>
          <a:ln/>
        </p:spPr>
        <p:txBody>
          <a:bodyPr wrap="square" lIns="0" tIns="0" rIns="0" bIns="0" rtlCol="0" anchor="ctr"/>
          <a:lstStyle/>
          <a:p>
            <a:pPr indent="0" marL="0">
              <a:buNone/>
            </a:pPr>
            <a:r>
              <a:rPr lang="en-US" sz="1500" dirty="0">
                <a:solidFill>
                  <a:srgbClr val="0C1A2B"/>
                </a:solidFill>
                <a:latin typeface="Archivo Black" pitchFamily="34" charset="0"/>
                <a:ea typeface="Archivo Black" pitchFamily="34" charset="-122"/>
                <a:cs typeface="Archivo Black" pitchFamily="34" charset="-120"/>
              </a:rPr>
              <a:t>₹48,000 Cr</a:t>
            </a:r>
            <a:endParaRPr lang="en-US" sz="1500" dirty="0"/>
          </a:p>
        </p:txBody>
      </p:sp>
      <p:sp>
        <p:nvSpPr>
          <p:cNvPr id="24" name="Text 21"/>
          <p:cNvSpPr/>
          <p:nvPr/>
        </p:nvSpPr>
        <p:spPr>
          <a:xfrm>
            <a:off x="3200400" y="3529584"/>
            <a:ext cx="2971800" cy="640080"/>
          </a:xfrm>
          <a:prstGeom prst="rect">
            <a:avLst/>
          </a:prstGeom>
          <a:noFill/>
          <a:ln/>
        </p:spPr>
        <p:txBody>
          <a:bodyPr wrap="square" lIns="0" tIns="0" rIns="0" bIns="0" rtlCol="0" anchor="t"/>
          <a:lstStyle/>
          <a:p>
            <a:pPr indent="0" marL="0">
              <a:lnSpc>
                <a:spcPct val="106000"/>
              </a:lnSpc>
              <a:buNone/>
            </a:pPr>
            <a:r>
              <a:rPr lang="en-US" sz="800" dirty="0">
                <a:solidFill>
                  <a:srgbClr val="54606F"/>
                </a:solidFill>
                <a:latin typeface="Nunito Sans" pitchFamily="34" charset="0"/>
                <a:ea typeface="Nunito Sans" pitchFamily="34" charset="-122"/>
                <a:cs typeface="Nunito Sans" pitchFamily="34" charset="-120"/>
              </a:rPr>
              <a:t>Pesticide-free food across the top 300 cities. Anchored to Technopak's 5–6% organic-of-packaged-food potential (₹35,000 Cr), uplifted 1.3–1.5× because pesticide-free prices below organic.</a:t>
            </a:r>
            <a:endParaRPr lang="en-US" sz="800" dirty="0"/>
          </a:p>
        </p:txBody>
      </p:sp>
      <p:sp>
        <p:nvSpPr>
          <p:cNvPr id="25" name="Shape 22"/>
          <p:cNvSpPr/>
          <p:nvPr/>
        </p:nvSpPr>
        <p:spPr>
          <a:xfrm>
            <a:off x="685800" y="3986784"/>
            <a:ext cx="2377440" cy="82296"/>
          </a:xfrm>
          <a:prstGeom prst="roundRect">
            <a:avLst>
              <a:gd name="adj" fmla="val 50000"/>
            </a:avLst>
          </a:prstGeom>
          <a:solidFill>
            <a:srgbClr val="EDE4D4"/>
          </a:solidFill>
          <a:ln w="6350">
            <a:solidFill>
              <a:srgbClr val="EDE4D4"/>
            </a:solidFill>
            <a:prstDash val="solid"/>
          </a:ln>
        </p:spPr>
      </p:sp>
      <p:sp>
        <p:nvSpPr>
          <p:cNvPr id="26" name="Shape 23"/>
          <p:cNvSpPr/>
          <p:nvPr/>
        </p:nvSpPr>
        <p:spPr>
          <a:xfrm>
            <a:off x="685800" y="3986784"/>
            <a:ext cx="2377440" cy="82296"/>
          </a:xfrm>
          <a:prstGeom prst="roundRect">
            <a:avLst>
              <a:gd name="adj" fmla="val 50000"/>
            </a:avLst>
          </a:prstGeom>
          <a:solidFill>
            <a:srgbClr val="3A5D97"/>
          </a:solidFill>
          <a:ln w="6350">
            <a:solidFill>
              <a:srgbClr val="3A5D97"/>
            </a:solidFill>
            <a:prstDash val="solid"/>
          </a:ln>
        </p:spPr>
      </p:sp>
      <p:sp>
        <p:nvSpPr>
          <p:cNvPr id="27" name="Shape 24"/>
          <p:cNvSpPr/>
          <p:nvPr/>
        </p:nvSpPr>
        <p:spPr>
          <a:xfrm>
            <a:off x="502920" y="4297680"/>
            <a:ext cx="5852160" cy="768096"/>
          </a:xfrm>
          <a:prstGeom prst="roundRect">
            <a:avLst>
              <a:gd name="adj" fmla="val 11905"/>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28" name="Text 25"/>
          <p:cNvSpPr/>
          <p:nvPr/>
        </p:nvSpPr>
        <p:spPr>
          <a:xfrm>
            <a:off x="685800" y="4416552"/>
            <a:ext cx="640080" cy="237744"/>
          </a:xfrm>
          <a:prstGeom prst="rect">
            <a:avLst/>
          </a:prstGeom>
          <a:noFill/>
          <a:ln/>
        </p:spPr>
        <p:txBody>
          <a:bodyPr wrap="square" lIns="0" tIns="0" rIns="0" bIns="0" rtlCol="0" anchor="ctr"/>
          <a:lstStyle/>
          <a:p>
            <a:pPr indent="0" marL="0">
              <a:buNone/>
            </a:pPr>
            <a:r>
              <a:rPr lang="en-US" sz="950" b="1" spc="140" kern="0" dirty="0">
                <a:solidFill>
                  <a:srgbClr val="3A5D97"/>
                </a:solidFill>
                <a:latin typeface="Nunito Sans" pitchFamily="34" charset="0"/>
                <a:ea typeface="Nunito Sans" pitchFamily="34" charset="-122"/>
                <a:cs typeface="Nunito Sans" pitchFamily="34" charset="-120"/>
              </a:rPr>
              <a:t>SAM</a:t>
            </a:r>
            <a:endParaRPr lang="en-US" sz="950" dirty="0"/>
          </a:p>
        </p:txBody>
      </p:sp>
      <p:sp>
        <p:nvSpPr>
          <p:cNvPr id="29" name="Text 26"/>
          <p:cNvSpPr/>
          <p:nvPr/>
        </p:nvSpPr>
        <p:spPr>
          <a:xfrm>
            <a:off x="1325880" y="4389120"/>
            <a:ext cx="1828800" cy="292608"/>
          </a:xfrm>
          <a:prstGeom prst="rect">
            <a:avLst/>
          </a:prstGeom>
          <a:noFill/>
          <a:ln/>
        </p:spPr>
        <p:txBody>
          <a:bodyPr wrap="square" lIns="0" tIns="0" rIns="0" bIns="0" rtlCol="0" anchor="ctr"/>
          <a:lstStyle/>
          <a:p>
            <a:pPr indent="0" marL="0">
              <a:buNone/>
            </a:pPr>
            <a:r>
              <a:rPr lang="en-US" sz="1500" dirty="0">
                <a:solidFill>
                  <a:srgbClr val="0C1A2B"/>
                </a:solidFill>
                <a:latin typeface="Archivo Black" pitchFamily="34" charset="0"/>
                <a:ea typeface="Archivo Black" pitchFamily="34" charset="-122"/>
                <a:cs typeface="Archivo Black" pitchFamily="34" charset="-120"/>
              </a:rPr>
              <a:t>₹13,500 Cr</a:t>
            </a:r>
            <a:endParaRPr lang="en-US" sz="1500" dirty="0"/>
          </a:p>
        </p:txBody>
      </p:sp>
      <p:sp>
        <p:nvSpPr>
          <p:cNvPr id="30" name="Text 27"/>
          <p:cNvSpPr/>
          <p:nvPr/>
        </p:nvSpPr>
        <p:spPr>
          <a:xfrm>
            <a:off x="3200400" y="4389120"/>
            <a:ext cx="2971800" cy="640080"/>
          </a:xfrm>
          <a:prstGeom prst="rect">
            <a:avLst/>
          </a:prstGeom>
          <a:noFill/>
          <a:ln/>
        </p:spPr>
        <p:txBody>
          <a:bodyPr wrap="square" lIns="0" tIns="0" rIns="0" bIns="0" rtlCol="0" anchor="t"/>
          <a:lstStyle/>
          <a:p>
            <a:pPr indent="0" marL="0">
              <a:lnSpc>
                <a:spcPct val="106000"/>
              </a:lnSpc>
              <a:buNone/>
            </a:pPr>
            <a:r>
              <a:rPr lang="en-US" sz="800" dirty="0">
                <a:solidFill>
                  <a:srgbClr val="54606F"/>
                </a:solidFill>
                <a:latin typeface="Nunito Sans" pitchFamily="34" charset="0"/>
                <a:ea typeface="Nunito Sans" pitchFamily="34" charset="-122"/>
                <a:cs typeface="Nunito Sans" pitchFamily="34" charset="-120"/>
              </a:rPr>
              <a:t>A 28% serviceability factor: staples, pulses, rice, spices and select value-added, sold through quick commerce, e-commerce and modern trade to ~25 Mn health-conscious households.</a:t>
            </a:r>
            <a:endParaRPr lang="en-US" sz="800" dirty="0"/>
          </a:p>
        </p:txBody>
      </p:sp>
      <p:sp>
        <p:nvSpPr>
          <p:cNvPr id="31" name="Shape 28"/>
          <p:cNvSpPr/>
          <p:nvPr/>
        </p:nvSpPr>
        <p:spPr>
          <a:xfrm>
            <a:off x="685800" y="4846320"/>
            <a:ext cx="2377440" cy="82296"/>
          </a:xfrm>
          <a:prstGeom prst="roundRect">
            <a:avLst>
              <a:gd name="adj" fmla="val 50000"/>
            </a:avLst>
          </a:prstGeom>
          <a:solidFill>
            <a:srgbClr val="EDE4D4"/>
          </a:solidFill>
          <a:ln w="6350">
            <a:solidFill>
              <a:srgbClr val="EDE4D4"/>
            </a:solidFill>
            <a:prstDash val="solid"/>
          </a:ln>
        </p:spPr>
      </p:sp>
      <p:sp>
        <p:nvSpPr>
          <p:cNvPr id="32" name="Shape 29"/>
          <p:cNvSpPr/>
          <p:nvPr/>
        </p:nvSpPr>
        <p:spPr>
          <a:xfrm>
            <a:off x="685800" y="4846320"/>
            <a:ext cx="665683" cy="82296"/>
          </a:xfrm>
          <a:prstGeom prst="roundRect">
            <a:avLst>
              <a:gd name="adj" fmla="val 50000"/>
            </a:avLst>
          </a:prstGeom>
          <a:solidFill>
            <a:srgbClr val="2FA362"/>
          </a:solidFill>
          <a:ln w="6350">
            <a:solidFill>
              <a:srgbClr val="2FA362"/>
            </a:solidFill>
            <a:prstDash val="solid"/>
          </a:ln>
        </p:spPr>
      </p:sp>
      <p:sp>
        <p:nvSpPr>
          <p:cNvPr id="33" name="Shape 30"/>
          <p:cNvSpPr/>
          <p:nvPr/>
        </p:nvSpPr>
        <p:spPr>
          <a:xfrm>
            <a:off x="502920" y="5157216"/>
            <a:ext cx="5852160" cy="768096"/>
          </a:xfrm>
          <a:prstGeom prst="roundRect">
            <a:avLst>
              <a:gd name="adj" fmla="val 11905"/>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34" name="Text 31"/>
          <p:cNvSpPr/>
          <p:nvPr/>
        </p:nvSpPr>
        <p:spPr>
          <a:xfrm>
            <a:off x="685800" y="5276088"/>
            <a:ext cx="640080" cy="237744"/>
          </a:xfrm>
          <a:prstGeom prst="rect">
            <a:avLst/>
          </a:prstGeom>
          <a:noFill/>
          <a:ln/>
        </p:spPr>
        <p:txBody>
          <a:bodyPr wrap="square" lIns="0" tIns="0" rIns="0" bIns="0" rtlCol="0" anchor="ctr"/>
          <a:lstStyle/>
          <a:p>
            <a:pPr indent="0" marL="0">
              <a:buNone/>
            </a:pPr>
            <a:r>
              <a:rPr lang="en-US" sz="950" b="1" spc="140" kern="0" dirty="0">
                <a:solidFill>
                  <a:srgbClr val="3A5D97"/>
                </a:solidFill>
                <a:latin typeface="Nunito Sans" pitchFamily="34" charset="0"/>
                <a:ea typeface="Nunito Sans" pitchFamily="34" charset="-122"/>
                <a:cs typeface="Nunito Sans" pitchFamily="34" charset="-120"/>
              </a:rPr>
              <a:t>SOM</a:t>
            </a:r>
            <a:endParaRPr lang="en-US" sz="950" dirty="0"/>
          </a:p>
        </p:txBody>
      </p:sp>
      <p:sp>
        <p:nvSpPr>
          <p:cNvPr id="35" name="Text 32"/>
          <p:cNvSpPr/>
          <p:nvPr/>
        </p:nvSpPr>
        <p:spPr>
          <a:xfrm>
            <a:off x="1325880" y="5248656"/>
            <a:ext cx="1828800" cy="292608"/>
          </a:xfrm>
          <a:prstGeom prst="rect">
            <a:avLst/>
          </a:prstGeom>
          <a:noFill/>
          <a:ln/>
        </p:spPr>
        <p:txBody>
          <a:bodyPr wrap="square" lIns="0" tIns="0" rIns="0" bIns="0" rtlCol="0" anchor="ctr"/>
          <a:lstStyle/>
          <a:p>
            <a:pPr indent="0" marL="0">
              <a:buNone/>
            </a:pPr>
            <a:r>
              <a:rPr lang="en-US" sz="1500" dirty="0">
                <a:solidFill>
                  <a:srgbClr val="0C1A2B"/>
                </a:solidFill>
                <a:latin typeface="Archivo Black" pitchFamily="34" charset="0"/>
                <a:ea typeface="Archivo Black" pitchFamily="34" charset="-122"/>
                <a:cs typeface="Archivo Black" pitchFamily="34" charset="-120"/>
              </a:rPr>
              <a:t>₹300–350 Cr</a:t>
            </a:r>
            <a:endParaRPr lang="en-US" sz="1500" dirty="0"/>
          </a:p>
        </p:txBody>
      </p:sp>
      <p:sp>
        <p:nvSpPr>
          <p:cNvPr id="36" name="Text 33"/>
          <p:cNvSpPr/>
          <p:nvPr/>
        </p:nvSpPr>
        <p:spPr>
          <a:xfrm>
            <a:off x="3200400" y="5248656"/>
            <a:ext cx="2971800" cy="640080"/>
          </a:xfrm>
          <a:prstGeom prst="rect">
            <a:avLst/>
          </a:prstGeom>
          <a:noFill/>
          <a:ln/>
        </p:spPr>
        <p:txBody>
          <a:bodyPr wrap="square" lIns="0" tIns="0" rIns="0" bIns="0" rtlCol="0" anchor="t"/>
          <a:lstStyle/>
          <a:p>
            <a:pPr indent="0" marL="0">
              <a:lnSpc>
                <a:spcPct val="106000"/>
              </a:lnSpc>
              <a:buNone/>
            </a:pPr>
            <a:r>
              <a:rPr lang="en-US" sz="800" dirty="0">
                <a:solidFill>
                  <a:srgbClr val="54606F"/>
                </a:solidFill>
                <a:latin typeface="Nunito Sans" pitchFamily="34" charset="0"/>
                <a:ea typeface="Nunito Sans" pitchFamily="34" charset="-122"/>
                <a:cs typeface="Nunito Sans" pitchFamily="34" charset="-120"/>
              </a:rPr>
              <a:t>The three-year ambition — 2.2–2.6% of SAM, 0.6–0.7% of TAM. Five-year aspiration ₹700–800 Cr.</a:t>
            </a:r>
            <a:endParaRPr lang="en-US" sz="800" dirty="0"/>
          </a:p>
        </p:txBody>
      </p:sp>
      <p:sp>
        <p:nvSpPr>
          <p:cNvPr id="37" name="Shape 34"/>
          <p:cNvSpPr/>
          <p:nvPr/>
        </p:nvSpPr>
        <p:spPr>
          <a:xfrm>
            <a:off x="685800" y="5705856"/>
            <a:ext cx="2377440" cy="82296"/>
          </a:xfrm>
          <a:prstGeom prst="roundRect">
            <a:avLst>
              <a:gd name="adj" fmla="val 50000"/>
            </a:avLst>
          </a:prstGeom>
          <a:solidFill>
            <a:srgbClr val="EDE4D4"/>
          </a:solidFill>
          <a:ln w="6350">
            <a:solidFill>
              <a:srgbClr val="EDE4D4"/>
            </a:solidFill>
            <a:prstDash val="solid"/>
          </a:ln>
        </p:spPr>
      </p:sp>
      <p:sp>
        <p:nvSpPr>
          <p:cNvPr id="38" name="Shape 35"/>
          <p:cNvSpPr/>
          <p:nvPr/>
        </p:nvSpPr>
        <p:spPr>
          <a:xfrm>
            <a:off x="685800" y="5705856"/>
            <a:ext cx="82296" cy="82296"/>
          </a:xfrm>
          <a:prstGeom prst="roundRect">
            <a:avLst>
              <a:gd name="adj" fmla="val 50000"/>
            </a:avLst>
          </a:prstGeom>
          <a:solidFill>
            <a:srgbClr val="177A46"/>
          </a:solidFill>
          <a:ln w="6350">
            <a:solidFill>
              <a:srgbClr val="177A46"/>
            </a:solidFill>
            <a:prstDash val="solid"/>
          </a:ln>
        </p:spPr>
      </p:sp>
      <p:sp>
        <p:nvSpPr>
          <p:cNvPr id="39" name="Shape 36"/>
          <p:cNvSpPr/>
          <p:nvPr/>
        </p:nvSpPr>
        <p:spPr>
          <a:xfrm>
            <a:off x="6675120" y="3145536"/>
            <a:ext cx="5013655" cy="0"/>
          </a:xfrm>
          <a:prstGeom prst="line">
            <a:avLst/>
          </a:prstGeom>
          <a:noFill/>
          <a:ln w="12700">
            <a:solidFill>
              <a:srgbClr val="3A5D97"/>
            </a:solidFill>
            <a:prstDash val="solid"/>
          </a:ln>
        </p:spPr>
      </p:sp>
      <p:sp>
        <p:nvSpPr>
          <p:cNvPr id="40" name="Text 37"/>
          <p:cNvSpPr/>
          <p:nvPr/>
        </p:nvSpPr>
        <p:spPr>
          <a:xfrm>
            <a:off x="6675120" y="3191256"/>
            <a:ext cx="5013655"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WHY THE CATEGORY HAS NOT FORMED YET</a:t>
            </a:r>
            <a:endParaRPr lang="en-US" sz="900" dirty="0"/>
          </a:p>
        </p:txBody>
      </p:sp>
      <p:sp>
        <p:nvSpPr>
          <p:cNvPr id="41" name="Text 38"/>
          <p:cNvSpPr/>
          <p:nvPr/>
        </p:nvSpPr>
        <p:spPr>
          <a:xfrm>
            <a:off x="6675120" y="3438144"/>
            <a:ext cx="365760" cy="219456"/>
          </a:xfrm>
          <a:prstGeom prst="rect">
            <a:avLst/>
          </a:prstGeom>
          <a:noFill/>
          <a:ln/>
        </p:spPr>
        <p:txBody>
          <a:bodyPr wrap="square" lIns="0" tIns="0" rIns="0" bIns="0" rtlCol="0" anchor="t"/>
          <a:lstStyle/>
          <a:p>
            <a:pPr indent="0" marL="0">
              <a:buNone/>
            </a:pPr>
            <a:r>
              <a:rPr lang="en-US" sz="1000" dirty="0">
                <a:solidFill>
                  <a:srgbClr val="177A46"/>
                </a:solidFill>
                <a:latin typeface="Archivo Black" pitchFamily="34" charset="0"/>
                <a:ea typeface="Archivo Black" pitchFamily="34" charset="-122"/>
                <a:cs typeface="Archivo Black" pitchFamily="34" charset="-120"/>
              </a:rPr>
              <a:t>01</a:t>
            </a:r>
            <a:endParaRPr lang="en-US" sz="1000" dirty="0"/>
          </a:p>
        </p:txBody>
      </p:sp>
      <p:sp>
        <p:nvSpPr>
          <p:cNvPr id="42" name="Text 39"/>
          <p:cNvSpPr/>
          <p:nvPr/>
        </p:nvSpPr>
        <p:spPr>
          <a:xfrm>
            <a:off x="7059168" y="3438144"/>
            <a:ext cx="4629607" cy="420624"/>
          </a:xfrm>
          <a:prstGeom prst="rect">
            <a:avLst/>
          </a:prstGeom>
          <a:noFill/>
          <a:ln/>
        </p:spPr>
        <p:txBody>
          <a:bodyPr wrap="square" lIns="0" tIns="0" rIns="0" bIns="0" rtlCol="0" anchor="t"/>
          <a:lstStyle/>
          <a:p>
            <a:pPr indent="0" marL="0">
              <a:lnSpc>
                <a:spcPct val="106000"/>
              </a:lnSpc>
              <a:buNone/>
            </a:pPr>
            <a:r>
              <a:rPr lang="en-US" sz="900" dirty="0">
                <a:solidFill>
                  <a:srgbClr val="54606F"/>
                </a:solidFill>
                <a:latin typeface="Nunito Sans" pitchFamily="34" charset="0"/>
                <a:ea typeface="Nunito Sans" pitchFamily="34" charset="-122"/>
                <a:cs typeface="Nunito Sans" pitchFamily="34" charset="-120"/>
              </a:rPr>
              <a:t>No standard definition, "pesticide-free" is not a regulated term in India</a:t>
            </a:r>
            <a:endParaRPr lang="en-US" sz="900" dirty="0"/>
          </a:p>
        </p:txBody>
      </p:sp>
      <p:sp>
        <p:nvSpPr>
          <p:cNvPr id="43" name="Text 40"/>
          <p:cNvSpPr/>
          <p:nvPr/>
        </p:nvSpPr>
        <p:spPr>
          <a:xfrm>
            <a:off x="6675120" y="3913632"/>
            <a:ext cx="365760" cy="219456"/>
          </a:xfrm>
          <a:prstGeom prst="rect">
            <a:avLst/>
          </a:prstGeom>
          <a:noFill/>
          <a:ln/>
        </p:spPr>
        <p:txBody>
          <a:bodyPr wrap="square" lIns="0" tIns="0" rIns="0" bIns="0" rtlCol="0" anchor="t"/>
          <a:lstStyle/>
          <a:p>
            <a:pPr indent="0" marL="0">
              <a:buNone/>
            </a:pPr>
            <a:r>
              <a:rPr lang="en-US" sz="1000" dirty="0">
                <a:solidFill>
                  <a:srgbClr val="177A46"/>
                </a:solidFill>
                <a:latin typeface="Archivo Black" pitchFamily="34" charset="0"/>
                <a:ea typeface="Archivo Black" pitchFamily="34" charset="-122"/>
                <a:cs typeface="Archivo Black" pitchFamily="34" charset="-120"/>
              </a:rPr>
              <a:t>02</a:t>
            </a:r>
            <a:endParaRPr lang="en-US" sz="1000" dirty="0"/>
          </a:p>
        </p:txBody>
      </p:sp>
      <p:sp>
        <p:nvSpPr>
          <p:cNvPr id="44" name="Text 41"/>
          <p:cNvSpPr/>
          <p:nvPr/>
        </p:nvSpPr>
        <p:spPr>
          <a:xfrm>
            <a:off x="7059168" y="3913632"/>
            <a:ext cx="4629607" cy="420624"/>
          </a:xfrm>
          <a:prstGeom prst="rect">
            <a:avLst/>
          </a:prstGeom>
          <a:noFill/>
          <a:ln/>
        </p:spPr>
        <p:txBody>
          <a:bodyPr wrap="square" lIns="0" tIns="0" rIns="0" bIns="0" rtlCol="0" anchor="t"/>
          <a:lstStyle/>
          <a:p>
            <a:pPr indent="0" marL="0">
              <a:lnSpc>
                <a:spcPct val="106000"/>
              </a:lnSpc>
              <a:buNone/>
            </a:pPr>
            <a:r>
              <a:rPr lang="en-US" sz="900" dirty="0">
                <a:solidFill>
                  <a:srgbClr val="54606F"/>
                </a:solidFill>
                <a:latin typeface="Nunito Sans" pitchFamily="34" charset="0"/>
                <a:ea typeface="Nunito Sans" pitchFamily="34" charset="-122"/>
                <a:cs typeface="Nunito Sans" pitchFamily="34" charset="-120"/>
              </a:rPr>
              <a:t>Harder to prove than to claim; proof lives in back-end systems, not on pack</a:t>
            </a:r>
            <a:endParaRPr lang="en-US" sz="900" dirty="0"/>
          </a:p>
        </p:txBody>
      </p:sp>
      <p:sp>
        <p:nvSpPr>
          <p:cNvPr id="45" name="Text 42"/>
          <p:cNvSpPr/>
          <p:nvPr/>
        </p:nvSpPr>
        <p:spPr>
          <a:xfrm>
            <a:off x="6675120" y="4389120"/>
            <a:ext cx="365760" cy="219456"/>
          </a:xfrm>
          <a:prstGeom prst="rect">
            <a:avLst/>
          </a:prstGeom>
          <a:noFill/>
          <a:ln/>
        </p:spPr>
        <p:txBody>
          <a:bodyPr wrap="square" lIns="0" tIns="0" rIns="0" bIns="0" rtlCol="0" anchor="t"/>
          <a:lstStyle/>
          <a:p>
            <a:pPr indent="0" marL="0">
              <a:buNone/>
            </a:pPr>
            <a:r>
              <a:rPr lang="en-US" sz="1000" dirty="0">
                <a:solidFill>
                  <a:srgbClr val="177A46"/>
                </a:solidFill>
                <a:latin typeface="Archivo Black" pitchFamily="34" charset="0"/>
                <a:ea typeface="Archivo Black" pitchFamily="34" charset="-122"/>
                <a:cs typeface="Archivo Black" pitchFamily="34" charset="-120"/>
              </a:rPr>
              <a:t>03</a:t>
            </a:r>
            <a:endParaRPr lang="en-US" sz="1000" dirty="0"/>
          </a:p>
        </p:txBody>
      </p:sp>
      <p:sp>
        <p:nvSpPr>
          <p:cNvPr id="46" name="Text 43"/>
          <p:cNvSpPr/>
          <p:nvPr/>
        </p:nvSpPr>
        <p:spPr>
          <a:xfrm>
            <a:off x="7059168" y="4389120"/>
            <a:ext cx="4629607" cy="420624"/>
          </a:xfrm>
          <a:prstGeom prst="rect">
            <a:avLst/>
          </a:prstGeom>
          <a:noFill/>
          <a:ln/>
        </p:spPr>
        <p:txBody>
          <a:bodyPr wrap="square" lIns="0" tIns="0" rIns="0" bIns="0" rtlCol="0" anchor="t"/>
          <a:lstStyle/>
          <a:p>
            <a:pPr indent="0" marL="0">
              <a:lnSpc>
                <a:spcPct val="106000"/>
              </a:lnSpc>
              <a:buNone/>
            </a:pPr>
            <a:r>
              <a:rPr lang="en-US" sz="900" dirty="0">
                <a:solidFill>
                  <a:srgbClr val="54606F"/>
                </a:solidFill>
                <a:latin typeface="Nunito Sans" pitchFamily="34" charset="0"/>
                <a:ea typeface="Nunito Sans" pitchFamily="34" charset="-122"/>
                <a:cs typeface="Nunito Sans" pitchFamily="34" charset="-120"/>
              </a:rPr>
              <a:t>Awkward economics; trust-led cost structure at a mass-premium price</a:t>
            </a:r>
            <a:endParaRPr lang="en-US" sz="900" dirty="0"/>
          </a:p>
        </p:txBody>
      </p:sp>
      <p:sp>
        <p:nvSpPr>
          <p:cNvPr id="47" name="Text 44"/>
          <p:cNvSpPr/>
          <p:nvPr/>
        </p:nvSpPr>
        <p:spPr>
          <a:xfrm>
            <a:off x="6675120" y="4864608"/>
            <a:ext cx="365760" cy="219456"/>
          </a:xfrm>
          <a:prstGeom prst="rect">
            <a:avLst/>
          </a:prstGeom>
          <a:noFill/>
          <a:ln/>
        </p:spPr>
        <p:txBody>
          <a:bodyPr wrap="square" lIns="0" tIns="0" rIns="0" bIns="0" rtlCol="0" anchor="t"/>
          <a:lstStyle/>
          <a:p>
            <a:pPr indent="0" marL="0">
              <a:buNone/>
            </a:pPr>
            <a:r>
              <a:rPr lang="en-US" sz="1000" dirty="0">
                <a:solidFill>
                  <a:srgbClr val="177A46"/>
                </a:solidFill>
                <a:latin typeface="Archivo Black" pitchFamily="34" charset="0"/>
                <a:ea typeface="Archivo Black" pitchFamily="34" charset="-122"/>
                <a:cs typeface="Archivo Black" pitchFamily="34" charset="-120"/>
              </a:rPr>
              <a:t>04</a:t>
            </a:r>
            <a:endParaRPr lang="en-US" sz="1000" dirty="0"/>
          </a:p>
        </p:txBody>
      </p:sp>
      <p:sp>
        <p:nvSpPr>
          <p:cNvPr id="48" name="Text 45"/>
          <p:cNvSpPr/>
          <p:nvPr/>
        </p:nvSpPr>
        <p:spPr>
          <a:xfrm>
            <a:off x="7059168" y="4864608"/>
            <a:ext cx="4629607" cy="420624"/>
          </a:xfrm>
          <a:prstGeom prst="rect">
            <a:avLst/>
          </a:prstGeom>
          <a:noFill/>
          <a:ln/>
        </p:spPr>
        <p:txBody>
          <a:bodyPr wrap="square" lIns="0" tIns="0" rIns="0" bIns="0" rtlCol="0" anchor="t"/>
          <a:lstStyle/>
          <a:p>
            <a:pPr indent="0" marL="0">
              <a:lnSpc>
                <a:spcPct val="106000"/>
              </a:lnSpc>
              <a:buNone/>
            </a:pPr>
            <a:r>
              <a:rPr lang="en-US" sz="900" dirty="0">
                <a:solidFill>
                  <a:srgbClr val="54606F"/>
                </a:solidFill>
                <a:latin typeface="Nunito Sans" pitchFamily="34" charset="0"/>
                <a:ea typeface="Nunito Sans" pitchFamily="34" charset="-122"/>
                <a:cs typeface="Nunito Sans" pitchFamily="34" charset="-120"/>
              </a:rPr>
              <a:t>No player has codified or defended it; the term commoditizes before standards exist</a:t>
            </a:r>
            <a:endParaRPr lang="en-US" sz="900" dirty="0"/>
          </a:p>
        </p:txBody>
      </p:sp>
      <p:sp>
        <p:nvSpPr>
          <p:cNvPr id="49" name="Shape 46"/>
          <p:cNvSpPr/>
          <p:nvPr/>
        </p:nvSpPr>
        <p:spPr>
          <a:xfrm>
            <a:off x="6675120" y="5413248"/>
            <a:ext cx="5013655" cy="1152144"/>
          </a:xfrm>
          <a:prstGeom prst="roundRect">
            <a:avLst>
              <a:gd name="adj" fmla="val 7937"/>
            </a:avLst>
          </a:prstGeom>
          <a:solidFill>
            <a:srgbClr val="E4F2EA"/>
          </a:solidFill>
          <a:ln w="6350">
            <a:solidFill>
              <a:srgbClr val="E4F2EA"/>
            </a:solidFill>
            <a:prstDash val="solid"/>
          </a:ln>
        </p:spPr>
      </p:sp>
      <p:sp>
        <p:nvSpPr>
          <p:cNvPr id="50" name="Text 47"/>
          <p:cNvSpPr/>
          <p:nvPr/>
        </p:nvSpPr>
        <p:spPr>
          <a:xfrm>
            <a:off x="6876288" y="5532120"/>
            <a:ext cx="4611319" cy="402336"/>
          </a:xfrm>
          <a:prstGeom prst="rect">
            <a:avLst/>
          </a:prstGeom>
          <a:noFill/>
          <a:ln/>
        </p:spPr>
        <p:txBody>
          <a:bodyPr wrap="square" lIns="0" tIns="0" rIns="0" bIns="0" rtlCol="0" anchor="t"/>
          <a:lstStyle/>
          <a:p>
            <a:pPr indent="0" marL="0">
              <a:lnSpc>
                <a:spcPct val="102000"/>
              </a:lnSpc>
              <a:buNone/>
            </a:pPr>
            <a:r>
              <a:rPr lang="en-US" sz="1050" b="1" dirty="0">
                <a:solidFill>
                  <a:srgbClr val="177A46"/>
                </a:solidFill>
                <a:latin typeface="Nunito Sans" pitchFamily="34" charset="0"/>
                <a:ea typeface="Nunito Sans" pitchFamily="34" charset="-122"/>
                <a:cs typeface="Nunito Sans" pitchFamily="34" charset="-120"/>
              </a:rPr>
              <a:t>DEMAND IS REAL. BELIEF IS THE BOTTLENECK.</a:t>
            </a:r>
            <a:endParaRPr lang="en-US" sz="1050" dirty="0"/>
          </a:p>
        </p:txBody>
      </p:sp>
      <p:sp>
        <p:nvSpPr>
          <p:cNvPr id="51" name="Text 48"/>
          <p:cNvSpPr/>
          <p:nvPr/>
        </p:nvSpPr>
        <p:spPr>
          <a:xfrm>
            <a:off x="6876288" y="5961888"/>
            <a:ext cx="4611319" cy="512064"/>
          </a:xfrm>
          <a:prstGeom prst="rect">
            <a:avLst/>
          </a:prstGeom>
          <a:noFill/>
          <a:ln/>
        </p:spPr>
        <p:txBody>
          <a:bodyPr wrap="square" lIns="0" tIns="0" rIns="0" bIns="0" rtlCol="0" anchor="t"/>
          <a:lstStyle/>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Indian shoppers will pay ~20% more for low-impact products — the highest of 11 countries surveyed; yet ~60% fear greenwashing and only ~29% trust corporate environmental claims.</a:t>
            </a:r>
            <a:endParaRPr lang="en-US" sz="900" dirty="0"/>
          </a:p>
        </p:txBody>
      </p:sp>
      <p:sp>
        <p:nvSpPr>
          <p:cNvPr id="52" name="Shape 49"/>
          <p:cNvSpPr/>
          <p:nvPr/>
        </p:nvSpPr>
        <p:spPr>
          <a:xfrm>
            <a:off x="502920" y="6492240"/>
            <a:ext cx="11185855" cy="0"/>
          </a:xfrm>
          <a:prstGeom prst="line">
            <a:avLst/>
          </a:prstGeom>
          <a:noFill/>
          <a:ln w="9525">
            <a:solidFill>
              <a:srgbClr val="E5DCCB"/>
            </a:solidFill>
            <a:prstDash val="solid"/>
          </a:ln>
        </p:spPr>
      </p:sp>
      <p:sp>
        <p:nvSpPr>
          <p:cNvPr id="53" name="Text 50"/>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THE CATEGORY</a:t>
            </a:r>
            <a:endParaRPr lang="en-US" sz="800" dirty="0"/>
          </a:p>
        </p:txBody>
      </p:sp>
      <p:sp>
        <p:nvSpPr>
          <p:cNvPr id="54" name="Text 51"/>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02</a:t>
            </a:r>
            <a:endParaRPr lang="en-US" sz="1100" dirty="0"/>
          </a:p>
        </p:txBody>
      </p:sp>
      <p:sp>
        <p:nvSpPr>
          <p:cNvPr id="55" name="Text 52"/>
          <p:cNvSpPr/>
          <p:nvPr/>
        </p:nvSpPr>
        <p:spPr>
          <a:xfrm>
            <a:off x="6400800" y="6528816"/>
            <a:ext cx="3657600" cy="237744"/>
          </a:xfrm>
          <a:prstGeom prst="rect">
            <a:avLst/>
          </a:prstGeom>
          <a:noFill/>
          <a:ln/>
        </p:spPr>
        <p:txBody>
          <a:bodyPr wrap="square" lIns="0" tIns="0" rIns="0" bIns="0" rtlCol="0" anchor="ctr"/>
          <a:lstStyle/>
          <a:p>
            <a:pPr algn="r" indent="0" marL="0">
              <a:buNone/>
            </a:pPr>
            <a:r>
              <a:rPr lang="en-US" sz="750" dirty="0">
                <a:solidFill>
                  <a:srgbClr val="8B95A2"/>
                </a:solidFill>
                <a:latin typeface="Nunito Sans" pitchFamily="34" charset="0"/>
                <a:ea typeface="Nunito Sans" pitchFamily="34" charset="-122"/>
                <a:cs typeface="Nunito Sans" pitchFamily="34" charset="-120"/>
              </a:rPr>
              <a:t>Source: *Technopak Report 2022-23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1263701"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1263701"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THE SHELF</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500" dirty="0">
                <a:solidFill>
                  <a:srgbClr val="0C1A2B"/>
                </a:solidFill>
                <a:latin typeface="Archivo Black" pitchFamily="34" charset="0"/>
                <a:ea typeface="Archivo Black" pitchFamily="34" charset="-122"/>
                <a:cs typeface="Archivo Black" pitchFamily="34" charset="-120"/>
              </a:rPr>
              <a:t>Category Structure: Laddering on pricing &amp; claims</a:t>
            </a:r>
            <a:endParaRPr lang="en-US" sz="2500" dirty="0"/>
          </a:p>
        </p:txBody>
      </p:sp>
      <p:sp>
        <p:nvSpPr>
          <p:cNvPr id="6" name="Shape 3"/>
          <p:cNvSpPr/>
          <p:nvPr/>
        </p:nvSpPr>
        <p:spPr>
          <a:xfrm>
            <a:off x="502920" y="1463040"/>
            <a:ext cx="2076237" cy="2212848"/>
          </a:xfrm>
          <a:prstGeom prst="roundRect">
            <a:avLst>
              <a:gd name="adj" fmla="val 4404"/>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pic>
        <p:nvPicPr>
          <p:cNvPr id="7" name="Image 1" descr="/home/user/hopper-tessarakt/site/assets/pk-vedaka.jpg">    </p:cNvPr>
          <p:cNvPicPr>
            <a:picLocks noChangeAspect="1"/>
          </p:cNvPicPr>
          <p:nvPr/>
        </p:nvPicPr>
        <p:blipFill>
          <a:blip r:embed="rId2"/>
          <a:srcRect l="0" r="0" t="0" b="0"/>
          <a:stretch/>
        </p:blipFill>
        <p:spPr>
          <a:xfrm>
            <a:off x="886968" y="1591056"/>
            <a:ext cx="1308141" cy="932688"/>
          </a:xfrm>
          <a:prstGeom prst="rect">
            <a:avLst/>
          </a:prstGeom>
        </p:spPr>
      </p:pic>
      <p:sp>
        <p:nvSpPr>
          <p:cNvPr id="8" name="Text 4"/>
          <p:cNvSpPr/>
          <p:nvPr/>
        </p:nvSpPr>
        <p:spPr>
          <a:xfrm>
            <a:off x="667512" y="2596896"/>
            <a:ext cx="1747053" cy="384048"/>
          </a:xfrm>
          <a:prstGeom prst="rect">
            <a:avLst/>
          </a:prstGeom>
          <a:noFill/>
          <a:ln/>
        </p:spPr>
        <p:txBody>
          <a:bodyPr wrap="square" lIns="0" tIns="0" rIns="0" bIns="0" rtlCol="0" anchor="t"/>
          <a:lstStyle/>
          <a:p>
            <a:pPr indent="0" marL="0">
              <a:lnSpc>
                <a:spcPct val="104000"/>
              </a:lnSpc>
              <a:buNone/>
            </a:pPr>
            <a:r>
              <a:rPr lang="en-US" sz="800" b="1" spc="50" kern="0" dirty="0">
                <a:solidFill>
                  <a:srgbClr val="0C1A2B"/>
                </a:solidFill>
                <a:latin typeface="Nunito Sans" pitchFamily="34" charset="0"/>
                <a:ea typeface="Nunito Sans" pitchFamily="34" charset="-122"/>
                <a:cs typeface="Nunito Sans" pitchFamily="34" charset="-120"/>
              </a:rPr>
              <a:t>RETAILER &amp; REGIONAL PRIVATE LABEL</a:t>
            </a:r>
            <a:endParaRPr lang="en-US" sz="800" dirty="0"/>
          </a:p>
        </p:txBody>
      </p:sp>
      <p:sp>
        <p:nvSpPr>
          <p:cNvPr id="9" name="Text 5"/>
          <p:cNvSpPr/>
          <p:nvPr/>
        </p:nvSpPr>
        <p:spPr>
          <a:xfrm>
            <a:off x="667512" y="2999232"/>
            <a:ext cx="1747053" cy="329184"/>
          </a:xfrm>
          <a:prstGeom prst="rect">
            <a:avLst/>
          </a:prstGeom>
          <a:noFill/>
          <a:ln/>
        </p:spPr>
        <p:txBody>
          <a:bodyPr wrap="square" lIns="0" tIns="0" rIns="0" bIns="0" rtlCol="0" anchor="t"/>
          <a:lstStyle/>
          <a:p>
            <a:pPr indent="0" marL="0">
              <a:lnSpc>
                <a:spcPct val="106000"/>
              </a:lnSpc>
              <a:buNone/>
            </a:pPr>
            <a:r>
              <a:rPr lang="en-US" sz="800" dirty="0">
                <a:solidFill>
                  <a:srgbClr val="54606F"/>
                </a:solidFill>
                <a:latin typeface="Nunito Sans" pitchFamily="34" charset="0"/>
                <a:ea typeface="Nunito Sans" pitchFamily="34" charset="-122"/>
                <a:cs typeface="Nunito Sans" pitchFamily="34" charset="-120"/>
              </a:rPr>
              <a:t>Retailer QA and lab testing.</a:t>
            </a:r>
            <a:endParaRPr lang="en-US" sz="800" dirty="0"/>
          </a:p>
        </p:txBody>
      </p:sp>
      <p:sp>
        <p:nvSpPr>
          <p:cNvPr id="10" name="Text 6"/>
          <p:cNvSpPr/>
          <p:nvPr/>
        </p:nvSpPr>
        <p:spPr>
          <a:xfrm>
            <a:off x="667512" y="3310128"/>
            <a:ext cx="1747053" cy="310896"/>
          </a:xfrm>
          <a:prstGeom prst="rect">
            <a:avLst/>
          </a:prstGeom>
          <a:noFill/>
          <a:ln/>
        </p:spPr>
        <p:txBody>
          <a:bodyPr wrap="square" lIns="0" tIns="0" rIns="0" bIns="0" rtlCol="0" anchor="t"/>
          <a:lstStyle/>
          <a:p>
            <a:pPr indent="0" marL="0">
              <a:lnSpc>
                <a:spcPct val="106000"/>
              </a:lnSpc>
              <a:buNone/>
            </a:pPr>
            <a:r>
              <a:rPr lang="en-US" sz="800" b="1" dirty="0">
                <a:solidFill>
                  <a:srgbClr val="9E3A24"/>
                </a:solidFill>
                <a:latin typeface="Nunito Sans" pitchFamily="34" charset="0"/>
                <a:ea typeface="Nunito Sans" pitchFamily="34" charset="-122"/>
                <a:cs typeface="Nunito Sans" pitchFamily="34" charset="-120"/>
              </a:rPr>
              <a:t>No Ownable Narrative</a:t>
            </a:r>
            <a:endParaRPr lang="en-US" sz="800" dirty="0"/>
          </a:p>
        </p:txBody>
      </p:sp>
      <p:sp>
        <p:nvSpPr>
          <p:cNvPr id="11" name="Shape 7"/>
          <p:cNvSpPr/>
          <p:nvPr/>
        </p:nvSpPr>
        <p:spPr>
          <a:xfrm>
            <a:off x="2780325" y="1463040"/>
            <a:ext cx="2076237" cy="2212848"/>
          </a:xfrm>
          <a:prstGeom prst="roundRect">
            <a:avLst>
              <a:gd name="adj" fmla="val 4404"/>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pic>
        <p:nvPicPr>
          <p:cNvPr id="12" name="Image 2" descr="/home/user/hopper-tessarakt/site/assets/pk-fortune.jpg">    </p:cNvPr>
          <p:cNvPicPr>
            <a:picLocks noChangeAspect="1"/>
          </p:cNvPicPr>
          <p:nvPr/>
        </p:nvPicPr>
        <p:blipFill>
          <a:blip r:embed="rId3"/>
          <a:srcRect l="0" r="0" t="0" b="0"/>
          <a:stretch/>
        </p:blipFill>
        <p:spPr>
          <a:xfrm>
            <a:off x="3164373" y="1591056"/>
            <a:ext cx="1308141" cy="932688"/>
          </a:xfrm>
          <a:prstGeom prst="rect">
            <a:avLst/>
          </a:prstGeom>
        </p:spPr>
      </p:pic>
      <p:sp>
        <p:nvSpPr>
          <p:cNvPr id="13" name="Text 8"/>
          <p:cNvSpPr/>
          <p:nvPr/>
        </p:nvSpPr>
        <p:spPr>
          <a:xfrm>
            <a:off x="2944917" y="2596896"/>
            <a:ext cx="1747053" cy="384048"/>
          </a:xfrm>
          <a:prstGeom prst="rect">
            <a:avLst/>
          </a:prstGeom>
          <a:noFill/>
          <a:ln/>
        </p:spPr>
        <p:txBody>
          <a:bodyPr wrap="square" lIns="0" tIns="0" rIns="0" bIns="0" rtlCol="0" anchor="t"/>
          <a:lstStyle/>
          <a:p>
            <a:pPr indent="0" marL="0">
              <a:lnSpc>
                <a:spcPct val="104000"/>
              </a:lnSpc>
              <a:buNone/>
            </a:pPr>
            <a:r>
              <a:rPr lang="en-US" sz="800" b="1" spc="50" kern="0" dirty="0">
                <a:solidFill>
                  <a:srgbClr val="0C1A2B"/>
                </a:solidFill>
                <a:latin typeface="Nunito Sans" pitchFamily="34" charset="0"/>
                <a:ea typeface="Nunito Sans" pitchFamily="34" charset="-122"/>
                <a:cs typeface="Nunito Sans" pitchFamily="34" charset="-120"/>
              </a:rPr>
              <a:t>CONVENTIONAL NATIONAL PACKAGED</a:t>
            </a:r>
            <a:endParaRPr lang="en-US" sz="800" dirty="0"/>
          </a:p>
        </p:txBody>
      </p:sp>
      <p:sp>
        <p:nvSpPr>
          <p:cNvPr id="14" name="Text 9"/>
          <p:cNvSpPr/>
          <p:nvPr/>
        </p:nvSpPr>
        <p:spPr>
          <a:xfrm>
            <a:off x="2944917" y="2999232"/>
            <a:ext cx="1747053" cy="329184"/>
          </a:xfrm>
          <a:prstGeom prst="rect">
            <a:avLst/>
          </a:prstGeom>
          <a:noFill/>
          <a:ln/>
        </p:spPr>
        <p:txBody>
          <a:bodyPr wrap="square" lIns="0" tIns="0" rIns="0" bIns="0" rtlCol="0" anchor="t"/>
          <a:lstStyle/>
          <a:p>
            <a:pPr indent="0" marL="0">
              <a:lnSpc>
                <a:spcPct val="106000"/>
              </a:lnSpc>
              <a:buNone/>
            </a:pPr>
            <a:r>
              <a:rPr lang="en-US" sz="800" dirty="0">
                <a:solidFill>
                  <a:srgbClr val="54606F"/>
                </a:solidFill>
                <a:latin typeface="Nunito Sans" pitchFamily="34" charset="0"/>
                <a:ea typeface="Nunito Sans" pitchFamily="34" charset="-122"/>
                <a:cs typeface="Nunito Sans" pitchFamily="34" charset="-120"/>
              </a:rPr>
              <a:t>Factory &amp; FSSAI process credibility.</a:t>
            </a:r>
            <a:endParaRPr lang="en-US" sz="800" dirty="0"/>
          </a:p>
        </p:txBody>
      </p:sp>
      <p:sp>
        <p:nvSpPr>
          <p:cNvPr id="15" name="Text 10"/>
          <p:cNvSpPr/>
          <p:nvPr/>
        </p:nvSpPr>
        <p:spPr>
          <a:xfrm>
            <a:off x="2944917" y="3310128"/>
            <a:ext cx="1747053" cy="310896"/>
          </a:xfrm>
          <a:prstGeom prst="rect">
            <a:avLst/>
          </a:prstGeom>
          <a:noFill/>
          <a:ln/>
        </p:spPr>
        <p:txBody>
          <a:bodyPr wrap="square" lIns="0" tIns="0" rIns="0" bIns="0" rtlCol="0" anchor="t"/>
          <a:lstStyle/>
          <a:p>
            <a:pPr indent="0" marL="0">
              <a:lnSpc>
                <a:spcPct val="106000"/>
              </a:lnSpc>
              <a:buNone/>
            </a:pPr>
            <a:r>
              <a:rPr lang="en-US" sz="800" b="1" dirty="0">
                <a:solidFill>
                  <a:srgbClr val="9E3A24"/>
                </a:solidFill>
                <a:latin typeface="Nunito Sans" pitchFamily="34" charset="0"/>
                <a:ea typeface="Nunito Sans" pitchFamily="34" charset="-122"/>
                <a:cs typeface="Nunito Sans" pitchFamily="34" charset="-120"/>
              </a:rPr>
              <a:t>Trust Story shallow, easily copied.</a:t>
            </a:r>
            <a:endParaRPr lang="en-US" sz="800" dirty="0"/>
          </a:p>
        </p:txBody>
      </p:sp>
      <p:sp>
        <p:nvSpPr>
          <p:cNvPr id="16" name="Shape 11"/>
          <p:cNvSpPr/>
          <p:nvPr/>
        </p:nvSpPr>
        <p:spPr>
          <a:xfrm>
            <a:off x="5057729" y="1463040"/>
            <a:ext cx="2076237" cy="2212848"/>
          </a:xfrm>
          <a:prstGeom prst="roundRect">
            <a:avLst>
              <a:gd name="adj" fmla="val 4404"/>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pic>
        <p:nvPicPr>
          <p:cNvPr id="17" name="Image 3" descr="/home/user/hopper-tessarakt/site/assets/pk-tatasampann.jpg">    </p:cNvPr>
          <p:cNvPicPr>
            <a:picLocks noChangeAspect="1"/>
          </p:cNvPicPr>
          <p:nvPr/>
        </p:nvPicPr>
        <p:blipFill>
          <a:blip r:embed="rId4"/>
          <a:srcRect l="0" r="0" t="0" b="0"/>
          <a:stretch/>
        </p:blipFill>
        <p:spPr>
          <a:xfrm>
            <a:off x="5441777" y="1591056"/>
            <a:ext cx="1308141" cy="932688"/>
          </a:xfrm>
          <a:prstGeom prst="rect">
            <a:avLst/>
          </a:prstGeom>
        </p:spPr>
      </p:pic>
      <p:sp>
        <p:nvSpPr>
          <p:cNvPr id="18" name="Text 12"/>
          <p:cNvSpPr/>
          <p:nvPr/>
        </p:nvSpPr>
        <p:spPr>
          <a:xfrm>
            <a:off x="5222321" y="2596896"/>
            <a:ext cx="1747053" cy="384048"/>
          </a:xfrm>
          <a:prstGeom prst="rect">
            <a:avLst/>
          </a:prstGeom>
          <a:noFill/>
          <a:ln/>
        </p:spPr>
        <p:txBody>
          <a:bodyPr wrap="square" lIns="0" tIns="0" rIns="0" bIns="0" rtlCol="0" anchor="t"/>
          <a:lstStyle/>
          <a:p>
            <a:pPr indent="0" marL="0">
              <a:lnSpc>
                <a:spcPct val="104000"/>
              </a:lnSpc>
              <a:buNone/>
            </a:pPr>
            <a:r>
              <a:rPr lang="en-US" sz="800" b="1" spc="50" kern="0" dirty="0">
                <a:solidFill>
                  <a:srgbClr val="0C1A2B"/>
                </a:solidFill>
                <a:latin typeface="Nunito Sans" pitchFamily="34" charset="0"/>
                <a:ea typeface="Nunito Sans" pitchFamily="34" charset="-122"/>
                <a:cs typeface="Nunito Sans" pitchFamily="34" charset="-120"/>
              </a:rPr>
              <a:t>NATURAL OR NUTRITION-LED</a:t>
            </a:r>
            <a:endParaRPr lang="en-US" sz="800" dirty="0"/>
          </a:p>
        </p:txBody>
      </p:sp>
      <p:sp>
        <p:nvSpPr>
          <p:cNvPr id="19" name="Text 13"/>
          <p:cNvSpPr/>
          <p:nvPr/>
        </p:nvSpPr>
        <p:spPr>
          <a:xfrm>
            <a:off x="5222321" y="2999232"/>
            <a:ext cx="1747053" cy="329184"/>
          </a:xfrm>
          <a:prstGeom prst="rect">
            <a:avLst/>
          </a:prstGeom>
          <a:noFill/>
          <a:ln/>
        </p:spPr>
        <p:txBody>
          <a:bodyPr wrap="square" lIns="0" tIns="0" rIns="0" bIns="0" rtlCol="0" anchor="t"/>
          <a:lstStyle/>
          <a:p>
            <a:pPr indent="0" marL="0">
              <a:lnSpc>
                <a:spcPct val="106000"/>
              </a:lnSpc>
              <a:buNone/>
            </a:pPr>
            <a:r>
              <a:rPr lang="en-US" sz="800" dirty="0">
                <a:solidFill>
                  <a:srgbClr val="54606F"/>
                </a:solidFill>
                <a:latin typeface="Nunito Sans" pitchFamily="34" charset="0"/>
                <a:ea typeface="Nunito Sans" pitchFamily="34" charset="-122"/>
                <a:cs typeface="Nunito Sans" pitchFamily="34" charset="-120"/>
              </a:rPr>
              <a:t>Process + Nutrition + Brand Legacy.</a:t>
            </a:r>
            <a:endParaRPr lang="en-US" sz="800" dirty="0"/>
          </a:p>
        </p:txBody>
      </p:sp>
      <p:sp>
        <p:nvSpPr>
          <p:cNvPr id="20" name="Text 14"/>
          <p:cNvSpPr/>
          <p:nvPr/>
        </p:nvSpPr>
        <p:spPr>
          <a:xfrm>
            <a:off x="5222321" y="3310128"/>
            <a:ext cx="1747053" cy="310896"/>
          </a:xfrm>
          <a:prstGeom prst="rect">
            <a:avLst/>
          </a:prstGeom>
          <a:noFill/>
          <a:ln/>
        </p:spPr>
        <p:txBody>
          <a:bodyPr wrap="square" lIns="0" tIns="0" rIns="0" bIns="0" rtlCol="0" anchor="t"/>
          <a:lstStyle/>
          <a:p>
            <a:pPr indent="0" marL="0">
              <a:lnSpc>
                <a:spcPct val="106000"/>
              </a:lnSpc>
              <a:buNone/>
            </a:pPr>
            <a:r>
              <a:rPr lang="en-US" sz="800" b="1" dirty="0">
                <a:solidFill>
                  <a:srgbClr val="9E3A24"/>
                </a:solidFill>
                <a:latin typeface="Nunito Sans" pitchFamily="34" charset="0"/>
                <a:ea typeface="Nunito Sans" pitchFamily="34" charset="-122"/>
                <a:cs typeface="Nunito Sans" pitchFamily="34" charset="-120"/>
              </a:rPr>
              <a:t>Natural reads wholesome, Not Safer.</a:t>
            </a:r>
            <a:endParaRPr lang="en-US" sz="800" dirty="0"/>
          </a:p>
        </p:txBody>
      </p:sp>
      <p:sp>
        <p:nvSpPr>
          <p:cNvPr id="21" name="Shape 15"/>
          <p:cNvSpPr/>
          <p:nvPr/>
        </p:nvSpPr>
        <p:spPr>
          <a:xfrm>
            <a:off x="7335134" y="1463040"/>
            <a:ext cx="2076237" cy="2212848"/>
          </a:xfrm>
          <a:prstGeom prst="roundRect">
            <a:avLst>
              <a:gd name="adj" fmla="val 4404"/>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pic>
        <p:nvPicPr>
          <p:cNvPr id="22" name="Image 4" descr="/home/user/hopper-tessarakt/site/assets/pk-conscious.jpg">    </p:cNvPr>
          <p:cNvPicPr>
            <a:picLocks noChangeAspect="1"/>
          </p:cNvPicPr>
          <p:nvPr/>
        </p:nvPicPr>
        <p:blipFill>
          <a:blip r:embed="rId5"/>
          <a:srcRect l="0" r="0" t="0" b="0"/>
          <a:stretch/>
        </p:blipFill>
        <p:spPr>
          <a:xfrm>
            <a:off x="7719182" y="1591056"/>
            <a:ext cx="1308141" cy="932688"/>
          </a:xfrm>
          <a:prstGeom prst="rect">
            <a:avLst/>
          </a:prstGeom>
        </p:spPr>
      </p:pic>
      <p:sp>
        <p:nvSpPr>
          <p:cNvPr id="23" name="Text 16"/>
          <p:cNvSpPr/>
          <p:nvPr/>
        </p:nvSpPr>
        <p:spPr>
          <a:xfrm>
            <a:off x="7499726" y="2596896"/>
            <a:ext cx="1747053" cy="384048"/>
          </a:xfrm>
          <a:prstGeom prst="rect">
            <a:avLst/>
          </a:prstGeom>
          <a:noFill/>
          <a:ln/>
        </p:spPr>
        <p:txBody>
          <a:bodyPr wrap="square" lIns="0" tIns="0" rIns="0" bIns="0" rtlCol="0" anchor="t"/>
          <a:lstStyle/>
          <a:p>
            <a:pPr indent="0" marL="0">
              <a:lnSpc>
                <a:spcPct val="104000"/>
              </a:lnSpc>
              <a:buNone/>
            </a:pPr>
            <a:r>
              <a:rPr lang="en-US" sz="800" b="1" spc="50" kern="0" dirty="0">
                <a:solidFill>
                  <a:srgbClr val="0C1A2B"/>
                </a:solidFill>
                <a:latin typeface="Nunito Sans" pitchFamily="34" charset="0"/>
                <a:ea typeface="Nunito Sans" pitchFamily="34" charset="-122"/>
                <a:cs typeface="Nunito Sans" pitchFamily="34" charset="-120"/>
              </a:rPr>
              <a:t>CLEAN-LABEL / PROVENANCE CHALLENGERS</a:t>
            </a:r>
            <a:endParaRPr lang="en-US" sz="800" dirty="0"/>
          </a:p>
        </p:txBody>
      </p:sp>
      <p:sp>
        <p:nvSpPr>
          <p:cNvPr id="24" name="Text 17"/>
          <p:cNvSpPr/>
          <p:nvPr/>
        </p:nvSpPr>
        <p:spPr>
          <a:xfrm>
            <a:off x="7499726" y="2999232"/>
            <a:ext cx="1747053" cy="329184"/>
          </a:xfrm>
          <a:prstGeom prst="rect">
            <a:avLst/>
          </a:prstGeom>
          <a:noFill/>
          <a:ln/>
        </p:spPr>
        <p:txBody>
          <a:bodyPr wrap="square" lIns="0" tIns="0" rIns="0" bIns="0" rtlCol="0" anchor="t"/>
          <a:lstStyle/>
          <a:p>
            <a:pPr indent="0" marL="0">
              <a:lnSpc>
                <a:spcPct val="106000"/>
              </a:lnSpc>
              <a:buNone/>
            </a:pPr>
            <a:r>
              <a:rPr lang="en-US" sz="800" dirty="0">
                <a:solidFill>
                  <a:srgbClr val="54606F"/>
                </a:solidFill>
                <a:latin typeface="Nunito Sans" pitchFamily="34" charset="0"/>
                <a:ea typeface="Nunito Sans" pitchFamily="34" charset="-122"/>
                <a:cs typeface="Nunito Sans" pitchFamily="34" charset="-120"/>
              </a:rPr>
              <a:t>Sourcing stories.</a:t>
            </a:r>
            <a:endParaRPr lang="en-US" sz="800" dirty="0"/>
          </a:p>
        </p:txBody>
      </p:sp>
      <p:sp>
        <p:nvSpPr>
          <p:cNvPr id="25" name="Text 18"/>
          <p:cNvSpPr/>
          <p:nvPr/>
        </p:nvSpPr>
        <p:spPr>
          <a:xfrm>
            <a:off x="7499726" y="3310128"/>
            <a:ext cx="1747053" cy="310896"/>
          </a:xfrm>
          <a:prstGeom prst="rect">
            <a:avLst/>
          </a:prstGeom>
          <a:noFill/>
          <a:ln/>
        </p:spPr>
        <p:txBody>
          <a:bodyPr wrap="square" lIns="0" tIns="0" rIns="0" bIns="0" rtlCol="0" anchor="t"/>
          <a:lstStyle/>
          <a:p>
            <a:pPr indent="0" marL="0">
              <a:lnSpc>
                <a:spcPct val="106000"/>
              </a:lnSpc>
              <a:buNone/>
            </a:pPr>
            <a:r>
              <a:rPr lang="en-US" sz="800" b="1" dirty="0">
                <a:solidFill>
                  <a:srgbClr val="9E3A24"/>
                </a:solidFill>
                <a:latin typeface="Nunito Sans" pitchFamily="34" charset="0"/>
                <a:ea typeface="Nunito Sans" pitchFamily="34" charset="-122"/>
                <a:cs typeface="Nunito Sans" pitchFamily="34" charset="-120"/>
              </a:rPr>
              <a:t>Premium, fragmented, No Mass Trust Code.</a:t>
            </a:r>
            <a:endParaRPr lang="en-US" sz="800" dirty="0"/>
          </a:p>
        </p:txBody>
      </p:sp>
      <p:sp>
        <p:nvSpPr>
          <p:cNvPr id="26" name="Shape 19"/>
          <p:cNvSpPr/>
          <p:nvPr/>
        </p:nvSpPr>
        <p:spPr>
          <a:xfrm>
            <a:off x="9612539" y="1463040"/>
            <a:ext cx="2076237" cy="2212848"/>
          </a:xfrm>
          <a:prstGeom prst="roundRect">
            <a:avLst>
              <a:gd name="adj" fmla="val 4404"/>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pic>
        <p:nvPicPr>
          <p:cNvPr id="27" name="Image 5" descr="/home/user/hopper-tessarakt/site/assets/pk-24mantra.jpg">    </p:cNvPr>
          <p:cNvPicPr>
            <a:picLocks noChangeAspect="1"/>
          </p:cNvPicPr>
          <p:nvPr/>
        </p:nvPicPr>
        <p:blipFill>
          <a:blip r:embed="rId6"/>
          <a:srcRect l="0" r="0" t="0" b="0"/>
          <a:stretch/>
        </p:blipFill>
        <p:spPr>
          <a:xfrm>
            <a:off x="9996587" y="1591056"/>
            <a:ext cx="1308141" cy="932688"/>
          </a:xfrm>
          <a:prstGeom prst="rect">
            <a:avLst/>
          </a:prstGeom>
        </p:spPr>
      </p:pic>
      <p:sp>
        <p:nvSpPr>
          <p:cNvPr id="28" name="Text 20"/>
          <p:cNvSpPr/>
          <p:nvPr/>
        </p:nvSpPr>
        <p:spPr>
          <a:xfrm>
            <a:off x="9777131" y="2596896"/>
            <a:ext cx="1747053" cy="384048"/>
          </a:xfrm>
          <a:prstGeom prst="rect">
            <a:avLst/>
          </a:prstGeom>
          <a:noFill/>
          <a:ln/>
        </p:spPr>
        <p:txBody>
          <a:bodyPr wrap="square" lIns="0" tIns="0" rIns="0" bIns="0" rtlCol="0" anchor="t"/>
          <a:lstStyle/>
          <a:p>
            <a:pPr indent="0" marL="0">
              <a:lnSpc>
                <a:spcPct val="104000"/>
              </a:lnSpc>
              <a:buNone/>
            </a:pPr>
            <a:r>
              <a:rPr lang="en-US" sz="800" b="1" spc="50" kern="0" dirty="0">
                <a:solidFill>
                  <a:srgbClr val="0C1A2B"/>
                </a:solidFill>
                <a:latin typeface="Nunito Sans" pitchFamily="34" charset="0"/>
                <a:ea typeface="Nunito Sans" pitchFamily="34" charset="-122"/>
                <a:cs typeface="Nunito Sans" pitchFamily="34" charset="-120"/>
              </a:rPr>
              <a:t>CERTIFIED ORGANIC SPECIALISTS</a:t>
            </a:r>
            <a:endParaRPr lang="en-US" sz="800" dirty="0"/>
          </a:p>
        </p:txBody>
      </p:sp>
      <p:sp>
        <p:nvSpPr>
          <p:cNvPr id="29" name="Text 21"/>
          <p:cNvSpPr/>
          <p:nvPr/>
        </p:nvSpPr>
        <p:spPr>
          <a:xfrm>
            <a:off x="9777131" y="2999232"/>
            <a:ext cx="1747053" cy="329184"/>
          </a:xfrm>
          <a:prstGeom prst="rect">
            <a:avLst/>
          </a:prstGeom>
          <a:noFill/>
          <a:ln/>
        </p:spPr>
        <p:txBody>
          <a:bodyPr wrap="square" lIns="0" tIns="0" rIns="0" bIns="0" rtlCol="0" anchor="t"/>
          <a:lstStyle/>
          <a:p>
            <a:pPr indent="0" marL="0">
              <a:lnSpc>
                <a:spcPct val="106000"/>
              </a:lnSpc>
              <a:buNone/>
            </a:pPr>
            <a:r>
              <a:rPr lang="en-US" sz="800" dirty="0">
                <a:solidFill>
                  <a:srgbClr val="54606F"/>
                </a:solidFill>
                <a:latin typeface="Nunito Sans" pitchFamily="34" charset="0"/>
                <a:ea typeface="Nunito Sans" pitchFamily="34" charset="-122"/>
                <a:cs typeface="Nunito Sans" pitchFamily="34" charset="-120"/>
              </a:rPr>
              <a:t>NPOP/NOP certification + traceability.</a:t>
            </a:r>
            <a:endParaRPr lang="en-US" sz="800" dirty="0"/>
          </a:p>
        </p:txBody>
      </p:sp>
      <p:sp>
        <p:nvSpPr>
          <p:cNvPr id="30" name="Text 22"/>
          <p:cNvSpPr/>
          <p:nvPr/>
        </p:nvSpPr>
        <p:spPr>
          <a:xfrm>
            <a:off x="9777131" y="3310128"/>
            <a:ext cx="1747053" cy="310896"/>
          </a:xfrm>
          <a:prstGeom prst="rect">
            <a:avLst/>
          </a:prstGeom>
          <a:noFill/>
          <a:ln/>
        </p:spPr>
        <p:txBody>
          <a:bodyPr wrap="square" lIns="0" tIns="0" rIns="0" bIns="0" rtlCol="0" anchor="t"/>
          <a:lstStyle/>
          <a:p>
            <a:pPr indent="0" marL="0">
              <a:lnSpc>
                <a:spcPct val="106000"/>
              </a:lnSpc>
              <a:buNone/>
            </a:pPr>
            <a:r>
              <a:rPr lang="en-US" sz="800" b="1" dirty="0">
                <a:solidFill>
                  <a:srgbClr val="9E3A24"/>
                </a:solidFill>
                <a:latin typeface="Nunito Sans" pitchFamily="34" charset="0"/>
                <a:ea typeface="Nunito Sans" pitchFamily="34" charset="-122"/>
                <a:cs typeface="Nunito Sans" pitchFamily="34" charset="-120"/>
              </a:rPr>
              <a:t>Structurally higher price ladder; Scale Friction.</a:t>
            </a:r>
            <a:endParaRPr lang="en-US" sz="800" dirty="0"/>
          </a:p>
        </p:txBody>
      </p:sp>
      <p:sp>
        <p:nvSpPr>
          <p:cNvPr id="31" name="Shape 23"/>
          <p:cNvSpPr/>
          <p:nvPr/>
        </p:nvSpPr>
        <p:spPr>
          <a:xfrm>
            <a:off x="502920" y="3895344"/>
            <a:ext cx="11185855" cy="0"/>
          </a:xfrm>
          <a:prstGeom prst="line">
            <a:avLst/>
          </a:prstGeom>
          <a:noFill/>
          <a:ln w="12700">
            <a:solidFill>
              <a:srgbClr val="3A5D97"/>
            </a:solidFill>
            <a:prstDash val="solid"/>
          </a:ln>
        </p:spPr>
      </p:sp>
      <p:sp>
        <p:nvSpPr>
          <p:cNvPr id="32" name="Text 24"/>
          <p:cNvSpPr/>
          <p:nvPr/>
        </p:nvSpPr>
        <p:spPr>
          <a:xfrm>
            <a:off x="502920" y="3941064"/>
            <a:ext cx="11185855"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THE PRICE LADDER: TOOR DAL, ₹ / KG</a:t>
            </a:r>
            <a:endParaRPr lang="en-US" sz="900" dirty="0"/>
          </a:p>
        </p:txBody>
      </p:sp>
      <p:sp>
        <p:nvSpPr>
          <p:cNvPr id="33" name="Shape 25"/>
          <p:cNvSpPr/>
          <p:nvPr/>
        </p:nvSpPr>
        <p:spPr>
          <a:xfrm>
            <a:off x="594360" y="4905425"/>
            <a:ext cx="11002975" cy="466477"/>
          </a:xfrm>
          <a:prstGeom prst="roundRect">
            <a:avLst>
              <a:gd name="adj" fmla="val 9801"/>
            </a:avLst>
          </a:prstGeom>
          <a:solidFill>
            <a:srgbClr val="FAF0DA"/>
          </a:solidFill>
          <a:ln w="12700">
            <a:solidFill>
              <a:srgbClr val="333333"/>
            </a:solidFill>
            <a:prstDash val="solid"/>
          </a:ln>
        </p:spPr>
      </p:sp>
      <p:sp>
        <p:nvSpPr>
          <p:cNvPr id="34" name="Text 26"/>
          <p:cNvSpPr/>
          <p:nvPr/>
        </p:nvSpPr>
        <p:spPr>
          <a:xfrm>
            <a:off x="685800" y="4667681"/>
            <a:ext cx="4621250" cy="201168"/>
          </a:xfrm>
          <a:prstGeom prst="rect">
            <a:avLst/>
          </a:prstGeom>
          <a:noFill/>
          <a:ln/>
        </p:spPr>
        <p:txBody>
          <a:bodyPr wrap="square" lIns="0" tIns="0" rIns="0" bIns="0" rtlCol="0" anchor="ctr"/>
          <a:lstStyle/>
          <a:p>
            <a:pPr algn="r" indent="0" marL="0">
              <a:buNone/>
            </a:pPr>
            <a:r>
              <a:rPr lang="en-US" sz="850" b="1" spc="120" kern="0" dirty="0">
                <a:solidFill>
                  <a:srgbClr val="9E7220"/>
                </a:solidFill>
                <a:latin typeface="Nunito Sans" pitchFamily="34" charset="0"/>
                <a:ea typeface="Nunito Sans" pitchFamily="34" charset="-122"/>
                <a:cs typeface="Nunito Sans" pitchFamily="34" charset="-120"/>
              </a:rPr>
              <a:t>ACCESSIBLE-PREMIUM · ₹150–250 / KG</a:t>
            </a:r>
            <a:endParaRPr lang="en-US" sz="850" dirty="0"/>
          </a:p>
        </p:txBody>
      </p:sp>
      <p:sp>
        <p:nvSpPr>
          <p:cNvPr id="35" name="Shape 27"/>
          <p:cNvSpPr/>
          <p:nvPr/>
        </p:nvSpPr>
        <p:spPr>
          <a:xfrm>
            <a:off x="594360" y="5669280"/>
            <a:ext cx="11002975" cy="0"/>
          </a:xfrm>
          <a:prstGeom prst="line">
            <a:avLst/>
          </a:prstGeom>
          <a:noFill/>
          <a:ln w="6350">
            <a:solidFill>
              <a:srgbClr val="E5DCCB"/>
            </a:solidFill>
            <a:prstDash val="sysDot"/>
          </a:ln>
        </p:spPr>
      </p:sp>
      <p:sp>
        <p:nvSpPr>
          <p:cNvPr id="36" name="Shape 28"/>
          <p:cNvSpPr/>
          <p:nvPr/>
        </p:nvSpPr>
        <p:spPr>
          <a:xfrm>
            <a:off x="594360" y="5266944"/>
            <a:ext cx="11002975" cy="0"/>
          </a:xfrm>
          <a:prstGeom prst="line">
            <a:avLst/>
          </a:prstGeom>
          <a:noFill/>
          <a:ln w="6350">
            <a:solidFill>
              <a:srgbClr val="E5DCCB"/>
            </a:solidFill>
            <a:prstDash val="sysDot"/>
          </a:ln>
        </p:spPr>
      </p:sp>
      <p:sp>
        <p:nvSpPr>
          <p:cNvPr id="37" name="Shape 29"/>
          <p:cNvSpPr/>
          <p:nvPr/>
        </p:nvSpPr>
        <p:spPr>
          <a:xfrm>
            <a:off x="594360" y="4864608"/>
            <a:ext cx="11002975" cy="0"/>
          </a:xfrm>
          <a:prstGeom prst="line">
            <a:avLst/>
          </a:prstGeom>
          <a:noFill/>
          <a:ln w="6350">
            <a:solidFill>
              <a:srgbClr val="E5DCCB"/>
            </a:solidFill>
            <a:prstDash val="sysDot"/>
          </a:ln>
        </p:spPr>
      </p:sp>
      <p:sp>
        <p:nvSpPr>
          <p:cNvPr id="38" name="Shape 30"/>
          <p:cNvSpPr/>
          <p:nvPr/>
        </p:nvSpPr>
        <p:spPr>
          <a:xfrm>
            <a:off x="594360" y="4462272"/>
            <a:ext cx="11002975" cy="0"/>
          </a:xfrm>
          <a:prstGeom prst="line">
            <a:avLst/>
          </a:prstGeom>
          <a:noFill/>
          <a:ln w="6350">
            <a:solidFill>
              <a:srgbClr val="E5DCCB"/>
            </a:solidFill>
            <a:prstDash val="sysDot"/>
          </a:ln>
        </p:spPr>
      </p:sp>
      <p:sp>
        <p:nvSpPr>
          <p:cNvPr id="39" name="Shape 31"/>
          <p:cNvSpPr/>
          <p:nvPr/>
        </p:nvSpPr>
        <p:spPr>
          <a:xfrm>
            <a:off x="594360" y="6071616"/>
            <a:ext cx="11002975" cy="0"/>
          </a:xfrm>
          <a:prstGeom prst="line">
            <a:avLst/>
          </a:prstGeom>
          <a:noFill/>
          <a:ln w="12700">
            <a:solidFill>
              <a:srgbClr val="E5DCCB"/>
            </a:solidFill>
            <a:prstDash val="solid"/>
          </a:ln>
        </p:spPr>
      </p:sp>
      <p:sp>
        <p:nvSpPr>
          <p:cNvPr id="40" name="Shape 32"/>
          <p:cNvSpPr/>
          <p:nvPr/>
        </p:nvSpPr>
        <p:spPr>
          <a:xfrm>
            <a:off x="594360" y="5437208"/>
            <a:ext cx="1336722" cy="634408"/>
          </a:xfrm>
          <a:prstGeom prst="roundRect">
            <a:avLst>
              <a:gd name="adj" fmla="val 7207"/>
            </a:avLst>
          </a:prstGeom>
          <a:solidFill>
            <a:srgbClr val="6688BE"/>
          </a:solidFill>
          <a:ln w="12700">
            <a:solidFill>
              <a:srgbClr val="333333"/>
            </a:solidFill>
            <a:prstDash val="solid"/>
          </a:ln>
        </p:spPr>
      </p:sp>
      <p:sp>
        <p:nvSpPr>
          <p:cNvPr id="41" name="Text 33"/>
          <p:cNvSpPr/>
          <p:nvPr/>
        </p:nvSpPr>
        <p:spPr>
          <a:xfrm>
            <a:off x="548640" y="5162888"/>
            <a:ext cx="1428162" cy="237744"/>
          </a:xfrm>
          <a:prstGeom prst="rect">
            <a:avLst/>
          </a:prstGeom>
          <a:noFill/>
          <a:ln/>
        </p:spPr>
        <p:txBody>
          <a:bodyPr wrap="square" lIns="0" tIns="0" rIns="0" bIns="0" rtlCol="0" anchor="b"/>
          <a:lstStyle/>
          <a:p>
            <a:pPr algn="ctr" indent="0" marL="0">
              <a:buNone/>
            </a:pPr>
            <a:r>
              <a:rPr lang="en-US" sz="1050" b="1" dirty="0">
                <a:solidFill>
                  <a:srgbClr val="0C1A2B"/>
                </a:solidFill>
                <a:latin typeface="Nunito Sans" pitchFamily="34" charset="0"/>
                <a:ea typeface="Nunito Sans" pitchFamily="34" charset="-122"/>
                <a:cs typeface="Nunito Sans" pitchFamily="34" charset="-120"/>
              </a:rPr>
              <a:t>₹136</a:t>
            </a:r>
            <a:endParaRPr lang="en-US" sz="1050" dirty="0"/>
          </a:p>
        </p:txBody>
      </p:sp>
      <p:sp>
        <p:nvSpPr>
          <p:cNvPr id="42" name="Text 34"/>
          <p:cNvSpPr/>
          <p:nvPr/>
        </p:nvSpPr>
        <p:spPr>
          <a:xfrm>
            <a:off x="548640" y="6108192"/>
            <a:ext cx="1428162" cy="402336"/>
          </a:xfrm>
          <a:prstGeom prst="rect">
            <a:avLst/>
          </a:prstGeom>
          <a:noFill/>
          <a:ln/>
        </p:spPr>
        <p:txBody>
          <a:bodyPr wrap="square" lIns="0" tIns="0" rIns="0" bIns="0" rtlCol="0" anchor="t"/>
          <a:lstStyle/>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Vedaka</a:t>
            </a:r>
            <a:endParaRPr lang="en-US" sz="850" dirty="0"/>
          </a:p>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(private label)</a:t>
            </a:r>
            <a:endParaRPr lang="en-US" sz="850" dirty="0"/>
          </a:p>
        </p:txBody>
      </p:sp>
      <p:sp>
        <p:nvSpPr>
          <p:cNvPr id="43" name="Shape 35"/>
          <p:cNvSpPr/>
          <p:nvPr/>
        </p:nvSpPr>
        <p:spPr>
          <a:xfrm>
            <a:off x="2205402" y="5395225"/>
            <a:ext cx="1336722" cy="676391"/>
          </a:xfrm>
          <a:prstGeom prst="roundRect">
            <a:avLst>
              <a:gd name="adj" fmla="val 6759"/>
            </a:avLst>
          </a:prstGeom>
          <a:solidFill>
            <a:srgbClr val="6688BE"/>
          </a:solidFill>
          <a:ln w="12700">
            <a:solidFill>
              <a:srgbClr val="333333"/>
            </a:solidFill>
            <a:prstDash val="solid"/>
          </a:ln>
        </p:spPr>
      </p:sp>
      <p:sp>
        <p:nvSpPr>
          <p:cNvPr id="44" name="Text 36"/>
          <p:cNvSpPr/>
          <p:nvPr/>
        </p:nvSpPr>
        <p:spPr>
          <a:xfrm>
            <a:off x="2159682" y="5120905"/>
            <a:ext cx="1428162" cy="237744"/>
          </a:xfrm>
          <a:prstGeom prst="rect">
            <a:avLst/>
          </a:prstGeom>
          <a:noFill/>
          <a:ln/>
        </p:spPr>
        <p:txBody>
          <a:bodyPr wrap="square" lIns="0" tIns="0" rIns="0" bIns="0" rtlCol="0" anchor="b"/>
          <a:lstStyle/>
          <a:p>
            <a:pPr algn="ctr" indent="0" marL="0">
              <a:buNone/>
            </a:pPr>
            <a:r>
              <a:rPr lang="en-US" sz="1050" b="1" dirty="0">
                <a:solidFill>
                  <a:srgbClr val="0C1A2B"/>
                </a:solidFill>
                <a:latin typeface="Nunito Sans" pitchFamily="34" charset="0"/>
                <a:ea typeface="Nunito Sans" pitchFamily="34" charset="-122"/>
                <a:cs typeface="Nunito Sans" pitchFamily="34" charset="-120"/>
              </a:rPr>
              <a:t>₹145</a:t>
            </a:r>
            <a:endParaRPr lang="en-US" sz="1050" dirty="0"/>
          </a:p>
        </p:txBody>
      </p:sp>
      <p:sp>
        <p:nvSpPr>
          <p:cNvPr id="45" name="Text 37"/>
          <p:cNvSpPr/>
          <p:nvPr/>
        </p:nvSpPr>
        <p:spPr>
          <a:xfrm>
            <a:off x="2159682" y="6108192"/>
            <a:ext cx="1428162" cy="402336"/>
          </a:xfrm>
          <a:prstGeom prst="rect">
            <a:avLst/>
          </a:prstGeom>
          <a:noFill/>
          <a:ln/>
        </p:spPr>
        <p:txBody>
          <a:bodyPr wrap="square" lIns="0" tIns="0" rIns="0" bIns="0" rtlCol="0" anchor="t"/>
          <a:lstStyle/>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Fortune</a:t>
            </a:r>
            <a:endParaRPr lang="en-US" sz="850" dirty="0"/>
          </a:p>
        </p:txBody>
      </p:sp>
      <p:sp>
        <p:nvSpPr>
          <p:cNvPr id="46" name="Shape 38"/>
          <p:cNvSpPr/>
          <p:nvPr/>
        </p:nvSpPr>
        <p:spPr>
          <a:xfrm>
            <a:off x="3816444" y="5343913"/>
            <a:ext cx="1336722" cy="727703"/>
          </a:xfrm>
          <a:prstGeom prst="roundRect">
            <a:avLst>
              <a:gd name="adj" fmla="val 6283"/>
            </a:avLst>
          </a:prstGeom>
          <a:solidFill>
            <a:srgbClr val="3A5D97"/>
          </a:solidFill>
          <a:ln w="12700">
            <a:solidFill>
              <a:srgbClr val="333333"/>
            </a:solidFill>
            <a:prstDash val="solid"/>
          </a:ln>
        </p:spPr>
      </p:sp>
      <p:sp>
        <p:nvSpPr>
          <p:cNvPr id="47" name="Text 39"/>
          <p:cNvSpPr/>
          <p:nvPr/>
        </p:nvSpPr>
        <p:spPr>
          <a:xfrm>
            <a:off x="3770724" y="5069593"/>
            <a:ext cx="1428162" cy="237744"/>
          </a:xfrm>
          <a:prstGeom prst="rect">
            <a:avLst/>
          </a:prstGeom>
          <a:noFill/>
          <a:ln/>
        </p:spPr>
        <p:txBody>
          <a:bodyPr wrap="square" lIns="0" tIns="0" rIns="0" bIns="0" rtlCol="0" anchor="b"/>
          <a:lstStyle/>
          <a:p>
            <a:pPr algn="ctr" indent="0" marL="0">
              <a:buNone/>
            </a:pPr>
            <a:r>
              <a:rPr lang="en-US" sz="1050" b="1" dirty="0">
                <a:solidFill>
                  <a:srgbClr val="0C1A2B"/>
                </a:solidFill>
                <a:latin typeface="Nunito Sans" pitchFamily="34" charset="0"/>
                <a:ea typeface="Nunito Sans" pitchFamily="34" charset="-122"/>
                <a:cs typeface="Nunito Sans" pitchFamily="34" charset="-120"/>
              </a:rPr>
              <a:t>₹156</a:t>
            </a:r>
            <a:endParaRPr lang="en-US" sz="1050" dirty="0"/>
          </a:p>
        </p:txBody>
      </p:sp>
      <p:sp>
        <p:nvSpPr>
          <p:cNvPr id="48" name="Text 40"/>
          <p:cNvSpPr/>
          <p:nvPr/>
        </p:nvSpPr>
        <p:spPr>
          <a:xfrm>
            <a:off x="3770724" y="6108192"/>
            <a:ext cx="1428162" cy="402336"/>
          </a:xfrm>
          <a:prstGeom prst="rect">
            <a:avLst/>
          </a:prstGeom>
          <a:noFill/>
          <a:ln/>
        </p:spPr>
        <p:txBody>
          <a:bodyPr wrap="square" lIns="0" tIns="0" rIns="0" bIns="0" rtlCol="0" anchor="t"/>
          <a:lstStyle/>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Tata Sampann</a:t>
            </a:r>
            <a:endParaRPr lang="en-US" sz="850" dirty="0"/>
          </a:p>
        </p:txBody>
      </p:sp>
      <p:sp>
        <p:nvSpPr>
          <p:cNvPr id="49" name="Shape 41"/>
          <p:cNvSpPr/>
          <p:nvPr/>
        </p:nvSpPr>
        <p:spPr>
          <a:xfrm>
            <a:off x="5427487" y="5339248"/>
            <a:ext cx="1336722" cy="732368"/>
          </a:xfrm>
          <a:prstGeom prst="roundRect">
            <a:avLst>
              <a:gd name="adj" fmla="val 6243"/>
            </a:avLst>
          </a:prstGeom>
          <a:solidFill>
            <a:srgbClr val="C8922E"/>
          </a:solidFill>
          <a:ln w="12700">
            <a:solidFill>
              <a:srgbClr val="333333"/>
            </a:solidFill>
            <a:prstDash val="solid"/>
          </a:ln>
        </p:spPr>
      </p:sp>
      <p:sp>
        <p:nvSpPr>
          <p:cNvPr id="50" name="Text 42"/>
          <p:cNvSpPr/>
          <p:nvPr/>
        </p:nvSpPr>
        <p:spPr>
          <a:xfrm>
            <a:off x="5381767" y="5064928"/>
            <a:ext cx="1428162" cy="237744"/>
          </a:xfrm>
          <a:prstGeom prst="rect">
            <a:avLst/>
          </a:prstGeom>
          <a:noFill/>
          <a:ln/>
        </p:spPr>
        <p:txBody>
          <a:bodyPr wrap="square" lIns="0" tIns="0" rIns="0" bIns="0" rtlCol="0" anchor="b"/>
          <a:lstStyle/>
          <a:p>
            <a:pPr algn="ctr" indent="0" marL="0">
              <a:buNone/>
            </a:pPr>
            <a:r>
              <a:rPr lang="en-US" sz="1050" b="1" dirty="0">
                <a:solidFill>
                  <a:srgbClr val="0C1A2B"/>
                </a:solidFill>
                <a:latin typeface="Nunito Sans" pitchFamily="34" charset="0"/>
                <a:ea typeface="Nunito Sans" pitchFamily="34" charset="-122"/>
                <a:cs typeface="Nunito Sans" pitchFamily="34" charset="-120"/>
              </a:rPr>
              <a:t>₹157</a:t>
            </a:r>
            <a:endParaRPr lang="en-US" sz="1050" dirty="0"/>
          </a:p>
        </p:txBody>
      </p:sp>
      <p:sp>
        <p:nvSpPr>
          <p:cNvPr id="51" name="Text 43"/>
          <p:cNvSpPr/>
          <p:nvPr/>
        </p:nvSpPr>
        <p:spPr>
          <a:xfrm>
            <a:off x="5381767" y="6108192"/>
            <a:ext cx="1428162" cy="402336"/>
          </a:xfrm>
          <a:prstGeom prst="rect">
            <a:avLst/>
          </a:prstGeom>
          <a:noFill/>
          <a:ln/>
        </p:spPr>
        <p:txBody>
          <a:bodyPr wrap="square" lIns="0" tIns="0" rIns="0" bIns="0" rtlCol="0" anchor="t"/>
          <a:lstStyle/>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BB Royal</a:t>
            </a:r>
            <a:endParaRPr lang="en-US" sz="850" dirty="0"/>
          </a:p>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Organic</a:t>
            </a:r>
            <a:endParaRPr lang="en-US" sz="850" dirty="0"/>
          </a:p>
        </p:txBody>
      </p:sp>
      <p:sp>
        <p:nvSpPr>
          <p:cNvPr id="52" name="Shape 44"/>
          <p:cNvSpPr/>
          <p:nvPr/>
        </p:nvSpPr>
        <p:spPr>
          <a:xfrm>
            <a:off x="7038529" y="4882101"/>
            <a:ext cx="1336722" cy="1189515"/>
          </a:xfrm>
          <a:prstGeom prst="roundRect">
            <a:avLst>
              <a:gd name="adj" fmla="val 3844"/>
            </a:avLst>
          </a:prstGeom>
          <a:solidFill>
            <a:srgbClr val="177A46"/>
          </a:solidFill>
          <a:ln w="12700">
            <a:solidFill>
              <a:srgbClr val="333333"/>
            </a:solidFill>
            <a:prstDash val="solid"/>
          </a:ln>
        </p:spPr>
      </p:sp>
      <p:sp>
        <p:nvSpPr>
          <p:cNvPr id="53" name="Text 45"/>
          <p:cNvSpPr/>
          <p:nvPr/>
        </p:nvSpPr>
        <p:spPr>
          <a:xfrm>
            <a:off x="6992809" y="4607781"/>
            <a:ext cx="1428162" cy="237744"/>
          </a:xfrm>
          <a:prstGeom prst="rect">
            <a:avLst/>
          </a:prstGeom>
          <a:noFill/>
          <a:ln/>
        </p:spPr>
        <p:txBody>
          <a:bodyPr wrap="square" lIns="0" tIns="0" rIns="0" bIns="0" rtlCol="0" anchor="b"/>
          <a:lstStyle/>
          <a:p>
            <a:pPr algn="ctr" indent="0" marL="0">
              <a:buNone/>
            </a:pPr>
            <a:r>
              <a:rPr lang="en-US" sz="1050" b="1" dirty="0">
                <a:solidFill>
                  <a:srgbClr val="0C1A2B"/>
                </a:solidFill>
                <a:latin typeface="Nunito Sans" pitchFamily="34" charset="0"/>
                <a:ea typeface="Nunito Sans" pitchFamily="34" charset="-122"/>
                <a:cs typeface="Nunito Sans" pitchFamily="34" charset="-120"/>
              </a:rPr>
              <a:t>₹255</a:t>
            </a:r>
            <a:endParaRPr lang="en-US" sz="1050" dirty="0"/>
          </a:p>
        </p:txBody>
      </p:sp>
      <p:sp>
        <p:nvSpPr>
          <p:cNvPr id="54" name="Text 46"/>
          <p:cNvSpPr/>
          <p:nvPr/>
        </p:nvSpPr>
        <p:spPr>
          <a:xfrm>
            <a:off x="6992809" y="6108192"/>
            <a:ext cx="1428162" cy="402336"/>
          </a:xfrm>
          <a:prstGeom prst="rect">
            <a:avLst/>
          </a:prstGeom>
          <a:noFill/>
          <a:ln/>
        </p:spPr>
        <p:txBody>
          <a:bodyPr wrap="square" lIns="0" tIns="0" rIns="0" bIns="0" rtlCol="0" anchor="t"/>
          <a:lstStyle/>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Organic Tattva</a:t>
            </a:r>
            <a:endParaRPr lang="en-US" sz="850" dirty="0"/>
          </a:p>
        </p:txBody>
      </p:sp>
      <p:sp>
        <p:nvSpPr>
          <p:cNvPr id="55" name="Shape 47"/>
          <p:cNvSpPr/>
          <p:nvPr/>
        </p:nvSpPr>
        <p:spPr>
          <a:xfrm>
            <a:off x="8649571" y="4872771"/>
            <a:ext cx="1336722" cy="1198845"/>
          </a:xfrm>
          <a:prstGeom prst="roundRect">
            <a:avLst>
              <a:gd name="adj" fmla="val 3814"/>
            </a:avLst>
          </a:prstGeom>
          <a:solidFill>
            <a:srgbClr val="177A46"/>
          </a:solidFill>
          <a:ln w="12700">
            <a:solidFill>
              <a:srgbClr val="333333"/>
            </a:solidFill>
            <a:prstDash val="solid"/>
          </a:ln>
        </p:spPr>
      </p:sp>
      <p:sp>
        <p:nvSpPr>
          <p:cNvPr id="56" name="Text 48"/>
          <p:cNvSpPr/>
          <p:nvPr/>
        </p:nvSpPr>
        <p:spPr>
          <a:xfrm>
            <a:off x="8603851" y="4598451"/>
            <a:ext cx="1428162" cy="237744"/>
          </a:xfrm>
          <a:prstGeom prst="rect">
            <a:avLst/>
          </a:prstGeom>
          <a:noFill/>
          <a:ln/>
        </p:spPr>
        <p:txBody>
          <a:bodyPr wrap="square" lIns="0" tIns="0" rIns="0" bIns="0" rtlCol="0" anchor="b"/>
          <a:lstStyle/>
          <a:p>
            <a:pPr algn="ctr" indent="0" marL="0">
              <a:buNone/>
            </a:pPr>
            <a:r>
              <a:rPr lang="en-US" sz="1050" b="1" dirty="0">
                <a:solidFill>
                  <a:srgbClr val="0C1A2B"/>
                </a:solidFill>
                <a:latin typeface="Nunito Sans" pitchFamily="34" charset="0"/>
                <a:ea typeface="Nunito Sans" pitchFamily="34" charset="-122"/>
                <a:cs typeface="Nunito Sans" pitchFamily="34" charset="-120"/>
              </a:rPr>
              <a:t>₹257</a:t>
            </a:r>
            <a:endParaRPr lang="en-US" sz="1050" dirty="0"/>
          </a:p>
        </p:txBody>
      </p:sp>
      <p:sp>
        <p:nvSpPr>
          <p:cNvPr id="57" name="Text 49"/>
          <p:cNvSpPr/>
          <p:nvPr/>
        </p:nvSpPr>
        <p:spPr>
          <a:xfrm>
            <a:off x="8603851" y="6108192"/>
            <a:ext cx="1428162" cy="402336"/>
          </a:xfrm>
          <a:prstGeom prst="rect">
            <a:avLst/>
          </a:prstGeom>
          <a:noFill/>
          <a:ln/>
        </p:spPr>
        <p:txBody>
          <a:bodyPr wrap="square" lIns="0" tIns="0" rIns="0" bIns="0" rtlCol="0" anchor="t"/>
          <a:lstStyle/>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Tata Sampann</a:t>
            </a:r>
            <a:endParaRPr lang="en-US" sz="850" dirty="0"/>
          </a:p>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Organic</a:t>
            </a:r>
            <a:endParaRPr lang="en-US" sz="850" dirty="0"/>
          </a:p>
        </p:txBody>
      </p:sp>
      <p:sp>
        <p:nvSpPr>
          <p:cNvPr id="58" name="Shape 50"/>
          <p:cNvSpPr/>
          <p:nvPr/>
        </p:nvSpPr>
        <p:spPr>
          <a:xfrm>
            <a:off x="10260613" y="4644198"/>
            <a:ext cx="1336722" cy="1427418"/>
          </a:xfrm>
          <a:prstGeom prst="roundRect">
            <a:avLst>
              <a:gd name="adj" fmla="val 3420"/>
            </a:avLst>
          </a:prstGeom>
          <a:solidFill>
            <a:srgbClr val="177A46"/>
          </a:solidFill>
          <a:ln w="12700">
            <a:solidFill>
              <a:srgbClr val="333333"/>
            </a:solidFill>
            <a:prstDash val="solid"/>
          </a:ln>
        </p:spPr>
      </p:sp>
      <p:sp>
        <p:nvSpPr>
          <p:cNvPr id="59" name="Text 51"/>
          <p:cNvSpPr/>
          <p:nvPr/>
        </p:nvSpPr>
        <p:spPr>
          <a:xfrm>
            <a:off x="10214893" y="4369878"/>
            <a:ext cx="1428162" cy="237744"/>
          </a:xfrm>
          <a:prstGeom prst="rect">
            <a:avLst/>
          </a:prstGeom>
          <a:noFill/>
          <a:ln/>
        </p:spPr>
        <p:txBody>
          <a:bodyPr wrap="square" lIns="0" tIns="0" rIns="0" bIns="0" rtlCol="0" anchor="b"/>
          <a:lstStyle/>
          <a:p>
            <a:pPr algn="ctr" indent="0" marL="0">
              <a:buNone/>
            </a:pPr>
            <a:r>
              <a:rPr lang="en-US" sz="1050" b="1" dirty="0">
                <a:solidFill>
                  <a:srgbClr val="0C1A2B"/>
                </a:solidFill>
                <a:latin typeface="Nunito Sans" pitchFamily="34" charset="0"/>
                <a:ea typeface="Nunito Sans" pitchFamily="34" charset="-122"/>
                <a:cs typeface="Nunito Sans" pitchFamily="34" charset="-120"/>
              </a:rPr>
              <a:t>₹306</a:t>
            </a:r>
            <a:endParaRPr lang="en-US" sz="1050" dirty="0"/>
          </a:p>
        </p:txBody>
      </p:sp>
      <p:sp>
        <p:nvSpPr>
          <p:cNvPr id="60" name="Text 52"/>
          <p:cNvSpPr/>
          <p:nvPr/>
        </p:nvSpPr>
        <p:spPr>
          <a:xfrm>
            <a:off x="10214893" y="6108192"/>
            <a:ext cx="1428162" cy="402336"/>
          </a:xfrm>
          <a:prstGeom prst="rect">
            <a:avLst/>
          </a:prstGeom>
          <a:noFill/>
          <a:ln/>
        </p:spPr>
        <p:txBody>
          <a:bodyPr wrap="square" lIns="0" tIns="0" rIns="0" bIns="0" rtlCol="0" anchor="t"/>
          <a:lstStyle/>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24 Mantra</a:t>
            </a:r>
            <a:endParaRPr lang="en-US" sz="850" dirty="0"/>
          </a:p>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Organic</a:t>
            </a:r>
            <a:endParaRPr lang="en-US" sz="850" dirty="0"/>
          </a:p>
        </p:txBody>
      </p:sp>
      <p:sp>
        <p:nvSpPr>
          <p:cNvPr id="61" name="Shape 53"/>
          <p:cNvSpPr/>
          <p:nvPr/>
        </p:nvSpPr>
        <p:spPr>
          <a:xfrm>
            <a:off x="502920" y="6492240"/>
            <a:ext cx="11185855" cy="0"/>
          </a:xfrm>
          <a:prstGeom prst="line">
            <a:avLst/>
          </a:prstGeom>
          <a:noFill/>
          <a:ln w="9525">
            <a:solidFill>
              <a:srgbClr val="E5DCCB"/>
            </a:solidFill>
            <a:prstDash val="solid"/>
          </a:ln>
        </p:spPr>
      </p:sp>
      <p:sp>
        <p:nvSpPr>
          <p:cNvPr id="62" name="Text 54"/>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THE CATEGORY</a:t>
            </a:r>
            <a:endParaRPr lang="en-US" sz="800" dirty="0"/>
          </a:p>
        </p:txBody>
      </p:sp>
      <p:sp>
        <p:nvSpPr>
          <p:cNvPr id="63" name="Text 55"/>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03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2159813"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2159813"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THE PROOF BENCHMARK</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500" dirty="0">
                <a:solidFill>
                  <a:srgbClr val="0C1A2B"/>
                </a:solidFill>
                <a:latin typeface="Archivo Black" pitchFamily="34" charset="0"/>
                <a:ea typeface="Archivo Black" pitchFamily="34" charset="-122"/>
                <a:cs typeface="Archivo Black" pitchFamily="34" charset="-120"/>
              </a:rPr>
              <a:t>Proof &amp; Claims Benchmarking</a:t>
            </a:r>
            <a:endParaRPr lang="en-US" sz="2500" dirty="0"/>
          </a:p>
        </p:txBody>
      </p:sp>
      <p:sp>
        <p:nvSpPr>
          <p:cNvPr id="6" name="Text 3"/>
          <p:cNvSpPr/>
          <p:nvPr/>
        </p:nvSpPr>
        <p:spPr>
          <a:xfrm>
            <a:off x="502920" y="1444752"/>
            <a:ext cx="6400800" cy="219456"/>
          </a:xfrm>
          <a:prstGeom prst="rect">
            <a:avLst/>
          </a:prstGeom>
          <a:noFill/>
          <a:ln/>
        </p:spPr>
        <p:txBody>
          <a:bodyPr wrap="square" lIns="0" tIns="0" rIns="0" bIns="0" rtlCol="0" anchor="ctr"/>
          <a:lstStyle/>
          <a:p>
            <a:pPr indent="0" marL="0">
              <a:buNone/>
            </a:pPr>
            <a:r>
              <a:rPr lang="en-US" sz="900" b="1" spc="160" kern="0" dirty="0">
                <a:solidFill>
                  <a:srgbClr val="8B95A2"/>
                </a:solidFill>
                <a:latin typeface="Nunito Sans" pitchFamily="34" charset="0"/>
                <a:ea typeface="Nunito Sans" pitchFamily="34" charset="-122"/>
                <a:cs typeface="Nunito Sans" pitchFamily="34" charset="-120"/>
              </a:rPr>
              <a:t>WHO CAN ACTUALLY SHOW THEIR WORK</a:t>
            </a:r>
            <a:endParaRPr lang="en-US" sz="900" dirty="0"/>
          </a:p>
        </p:txBody>
      </p:sp>
      <p:sp>
        <p:nvSpPr>
          <p:cNvPr id="7" name="Shape 4"/>
          <p:cNvSpPr/>
          <p:nvPr/>
        </p:nvSpPr>
        <p:spPr>
          <a:xfrm>
            <a:off x="502920" y="1719072"/>
            <a:ext cx="2061606" cy="1700784"/>
          </a:xfrm>
          <a:prstGeom prst="roundRect">
            <a:avLst>
              <a:gd name="adj" fmla="val 5376"/>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8" name="Text 5"/>
          <p:cNvSpPr/>
          <p:nvPr/>
        </p:nvSpPr>
        <p:spPr>
          <a:xfrm>
            <a:off x="685800" y="1847088"/>
            <a:ext cx="1695846" cy="274320"/>
          </a:xfrm>
          <a:prstGeom prst="rect">
            <a:avLst/>
          </a:prstGeom>
          <a:noFill/>
          <a:ln/>
        </p:spPr>
        <p:txBody>
          <a:bodyPr wrap="square" lIns="0" tIns="0" rIns="0" bIns="0" rtlCol="0" anchor="t"/>
          <a:lstStyle/>
          <a:p>
            <a:pPr indent="0" marL="0">
              <a:buNone/>
            </a:pPr>
            <a:r>
              <a:rPr lang="en-US" sz="1050" b="1" dirty="0">
                <a:solidFill>
                  <a:srgbClr val="0C1A2B"/>
                </a:solidFill>
                <a:latin typeface="Nunito Sans" pitchFamily="34" charset="0"/>
                <a:ea typeface="Nunito Sans" pitchFamily="34" charset="-122"/>
                <a:cs typeface="Nunito Sans" pitchFamily="34" charset="-120"/>
              </a:rPr>
              <a:t>Organic Tattva</a:t>
            </a:r>
            <a:endParaRPr lang="en-US" sz="1050" dirty="0"/>
          </a:p>
        </p:txBody>
      </p:sp>
      <p:sp>
        <p:nvSpPr>
          <p:cNvPr id="9" name="Shape 6"/>
          <p:cNvSpPr/>
          <p:nvPr/>
        </p:nvSpPr>
        <p:spPr>
          <a:xfrm>
            <a:off x="685800" y="2139696"/>
            <a:ext cx="841248" cy="219456"/>
          </a:xfrm>
          <a:prstGeom prst="roundRect">
            <a:avLst>
              <a:gd name="adj" fmla="val 50000"/>
            </a:avLst>
          </a:prstGeom>
          <a:solidFill>
            <a:srgbClr val="E4F2EA"/>
          </a:solidFill>
          <a:ln w="6350">
            <a:solidFill>
              <a:srgbClr val="E4F2EA"/>
            </a:solidFill>
            <a:prstDash val="solid"/>
          </a:ln>
        </p:spPr>
      </p:sp>
      <p:sp>
        <p:nvSpPr>
          <p:cNvPr id="10" name="Text 7"/>
          <p:cNvSpPr/>
          <p:nvPr/>
        </p:nvSpPr>
        <p:spPr>
          <a:xfrm>
            <a:off x="685800" y="2139696"/>
            <a:ext cx="841248" cy="219456"/>
          </a:xfrm>
          <a:prstGeom prst="rect">
            <a:avLst/>
          </a:prstGeom>
          <a:noFill/>
          <a:ln/>
        </p:spPr>
        <p:txBody>
          <a:bodyPr wrap="square" lIns="0" tIns="0" rIns="0" bIns="0" rtlCol="0" anchor="ctr"/>
          <a:lstStyle/>
          <a:p>
            <a:pPr algn="ctr" indent="0" marL="0">
              <a:buNone/>
            </a:pPr>
            <a:r>
              <a:rPr lang="en-US" sz="750" b="1" spc="80" kern="0" dirty="0">
                <a:solidFill>
                  <a:srgbClr val="177A46"/>
                </a:solidFill>
                <a:latin typeface="Nunito Sans" pitchFamily="34" charset="0"/>
                <a:ea typeface="Nunito Sans" pitchFamily="34" charset="-122"/>
                <a:cs typeface="Nunito Sans" pitchFamily="34" charset="-120"/>
              </a:rPr>
              <a:t>QR: YES</a:t>
            </a:r>
            <a:endParaRPr lang="en-US" sz="750" dirty="0"/>
          </a:p>
        </p:txBody>
      </p:sp>
      <p:sp>
        <p:nvSpPr>
          <p:cNvPr id="11" name="Text 8"/>
          <p:cNvSpPr/>
          <p:nvPr/>
        </p:nvSpPr>
        <p:spPr>
          <a:xfrm>
            <a:off x="685800" y="2432304"/>
            <a:ext cx="1695846" cy="914400"/>
          </a:xfrm>
          <a:prstGeom prst="rect">
            <a:avLst/>
          </a:prstGeom>
          <a:noFill/>
          <a:ln/>
        </p:spPr>
        <p:txBody>
          <a:bodyPr wrap="square" lIns="0" tIns="0" rIns="0" bIns="0" rtlCol="0" anchor="t"/>
          <a:lstStyle/>
          <a:p>
            <a:pPr indent="0" marL="0">
              <a:lnSpc>
                <a:spcPct val="112000"/>
              </a:lnSpc>
              <a:buNone/>
            </a:pPr>
            <a:r>
              <a:rPr lang="en-US" sz="850" dirty="0">
                <a:solidFill>
                  <a:srgbClr val="54606F"/>
                </a:solidFill>
                <a:latin typeface="Nunito Sans" pitchFamily="34" charset="0"/>
                <a:ea typeface="Nunito Sans" pitchFamily="34" charset="-122"/>
                <a:cs typeface="Nunito Sans" pitchFamily="34" charset="-120"/>
              </a:rPr>
              <a:t>250-parameter farm-level residue test, QR on every pack to the batch report. The category benchmark.</a:t>
            </a:r>
            <a:endParaRPr lang="en-US" sz="850" dirty="0"/>
          </a:p>
        </p:txBody>
      </p:sp>
      <p:sp>
        <p:nvSpPr>
          <p:cNvPr id="12" name="Shape 9"/>
          <p:cNvSpPr/>
          <p:nvPr/>
        </p:nvSpPr>
        <p:spPr>
          <a:xfrm>
            <a:off x="2783982" y="1719072"/>
            <a:ext cx="2061606" cy="1700784"/>
          </a:xfrm>
          <a:prstGeom prst="roundRect">
            <a:avLst>
              <a:gd name="adj" fmla="val 5376"/>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3" name="Text 10"/>
          <p:cNvSpPr/>
          <p:nvPr/>
        </p:nvSpPr>
        <p:spPr>
          <a:xfrm>
            <a:off x="2966862" y="1847088"/>
            <a:ext cx="1695846" cy="274320"/>
          </a:xfrm>
          <a:prstGeom prst="rect">
            <a:avLst/>
          </a:prstGeom>
          <a:noFill/>
          <a:ln/>
        </p:spPr>
        <p:txBody>
          <a:bodyPr wrap="square" lIns="0" tIns="0" rIns="0" bIns="0" rtlCol="0" anchor="t"/>
          <a:lstStyle/>
          <a:p>
            <a:pPr indent="0" marL="0">
              <a:buNone/>
            </a:pPr>
            <a:r>
              <a:rPr lang="en-US" sz="1050" b="1" dirty="0">
                <a:solidFill>
                  <a:srgbClr val="0C1A2B"/>
                </a:solidFill>
                <a:latin typeface="Nunito Sans" pitchFamily="34" charset="0"/>
                <a:ea typeface="Nunito Sans" pitchFamily="34" charset="-122"/>
                <a:cs typeface="Nunito Sans" pitchFamily="34" charset="-120"/>
              </a:rPr>
              <a:t>24 Mantra  (ITC)</a:t>
            </a:r>
            <a:endParaRPr lang="en-US" sz="1050" dirty="0"/>
          </a:p>
        </p:txBody>
      </p:sp>
      <p:sp>
        <p:nvSpPr>
          <p:cNvPr id="14" name="Shape 11"/>
          <p:cNvSpPr/>
          <p:nvPr/>
        </p:nvSpPr>
        <p:spPr>
          <a:xfrm>
            <a:off x="2966862" y="2139696"/>
            <a:ext cx="841248" cy="219456"/>
          </a:xfrm>
          <a:prstGeom prst="roundRect">
            <a:avLst>
              <a:gd name="adj" fmla="val 50000"/>
            </a:avLst>
          </a:prstGeom>
          <a:solidFill>
            <a:srgbClr val="EDE8DF"/>
          </a:solidFill>
          <a:ln w="6350">
            <a:solidFill>
              <a:srgbClr val="EDE8DF"/>
            </a:solidFill>
            <a:prstDash val="solid"/>
          </a:ln>
        </p:spPr>
      </p:sp>
      <p:sp>
        <p:nvSpPr>
          <p:cNvPr id="15" name="Text 12"/>
          <p:cNvSpPr/>
          <p:nvPr/>
        </p:nvSpPr>
        <p:spPr>
          <a:xfrm>
            <a:off x="2966862" y="2139696"/>
            <a:ext cx="841248" cy="219456"/>
          </a:xfrm>
          <a:prstGeom prst="rect">
            <a:avLst/>
          </a:prstGeom>
          <a:noFill/>
          <a:ln/>
        </p:spPr>
        <p:txBody>
          <a:bodyPr wrap="square" lIns="0" tIns="0" rIns="0" bIns="0" rtlCol="0" anchor="ctr"/>
          <a:lstStyle/>
          <a:p>
            <a:pPr algn="ctr" indent="0" marL="0">
              <a:buNone/>
            </a:pPr>
            <a:r>
              <a:rPr lang="en-US" sz="750" b="1" spc="80" kern="0" dirty="0">
                <a:solidFill>
                  <a:srgbClr val="8B95A2"/>
                </a:solidFill>
                <a:latin typeface="Nunito Sans" pitchFamily="34" charset="0"/>
                <a:ea typeface="Nunito Sans" pitchFamily="34" charset="-122"/>
                <a:cs typeface="Nunito Sans" pitchFamily="34" charset="-120"/>
              </a:rPr>
              <a:t>QR: NO</a:t>
            </a:r>
            <a:endParaRPr lang="en-US" sz="750" dirty="0"/>
          </a:p>
        </p:txBody>
      </p:sp>
      <p:sp>
        <p:nvSpPr>
          <p:cNvPr id="16" name="Text 13"/>
          <p:cNvSpPr/>
          <p:nvPr/>
        </p:nvSpPr>
        <p:spPr>
          <a:xfrm>
            <a:off x="2966862" y="2432304"/>
            <a:ext cx="1695846" cy="914400"/>
          </a:xfrm>
          <a:prstGeom prst="rect">
            <a:avLst/>
          </a:prstGeom>
          <a:noFill/>
          <a:ln/>
        </p:spPr>
        <p:txBody>
          <a:bodyPr wrap="square" lIns="0" tIns="0" rIns="0" bIns="0" rtlCol="0" anchor="t"/>
          <a:lstStyle/>
          <a:p>
            <a:pPr indent="0" marL="0">
              <a:lnSpc>
                <a:spcPct val="112000"/>
              </a:lnSpc>
              <a:buNone/>
            </a:pPr>
            <a:r>
              <a:rPr lang="en-US" sz="850" dirty="0">
                <a:solidFill>
                  <a:srgbClr val="54606F"/>
                </a:solidFill>
                <a:latin typeface="Nunito Sans" pitchFamily="34" charset="0"/>
                <a:ea typeface="Nunito Sans" pitchFamily="34" charset="-122"/>
                <a:cs typeface="Nunito Sans" pitchFamily="34" charset="-120"/>
              </a:rPr>
              <a:t>EU + USDA + NPOP certification, 1.4 lakh acres, 27,500 farmers. Logos are the proof — no consumer-facing test report.</a:t>
            </a:r>
            <a:endParaRPr lang="en-US" sz="850" dirty="0"/>
          </a:p>
        </p:txBody>
      </p:sp>
      <p:sp>
        <p:nvSpPr>
          <p:cNvPr id="17" name="Shape 14"/>
          <p:cNvSpPr/>
          <p:nvPr/>
        </p:nvSpPr>
        <p:spPr>
          <a:xfrm>
            <a:off x="5065044" y="1719072"/>
            <a:ext cx="2061606" cy="1700784"/>
          </a:xfrm>
          <a:prstGeom prst="roundRect">
            <a:avLst>
              <a:gd name="adj" fmla="val 5376"/>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8" name="Text 15"/>
          <p:cNvSpPr/>
          <p:nvPr/>
        </p:nvSpPr>
        <p:spPr>
          <a:xfrm>
            <a:off x="5247924" y="1847088"/>
            <a:ext cx="1695846" cy="274320"/>
          </a:xfrm>
          <a:prstGeom prst="rect">
            <a:avLst/>
          </a:prstGeom>
          <a:noFill/>
          <a:ln/>
        </p:spPr>
        <p:txBody>
          <a:bodyPr wrap="square" lIns="0" tIns="0" rIns="0" bIns="0" rtlCol="0" anchor="t"/>
          <a:lstStyle/>
          <a:p>
            <a:pPr indent="0" marL="0">
              <a:buNone/>
            </a:pPr>
            <a:r>
              <a:rPr lang="en-US" sz="1050" b="1" dirty="0">
                <a:solidFill>
                  <a:srgbClr val="0C1A2B"/>
                </a:solidFill>
                <a:latin typeface="Nunito Sans" pitchFamily="34" charset="0"/>
                <a:ea typeface="Nunito Sans" pitchFamily="34" charset="-122"/>
                <a:cs typeface="Nunito Sans" pitchFamily="34" charset="-120"/>
              </a:rPr>
              <a:t>Tata Sampann</a:t>
            </a:r>
            <a:endParaRPr lang="en-US" sz="1050" dirty="0"/>
          </a:p>
        </p:txBody>
      </p:sp>
      <p:sp>
        <p:nvSpPr>
          <p:cNvPr id="19" name="Shape 16"/>
          <p:cNvSpPr/>
          <p:nvPr/>
        </p:nvSpPr>
        <p:spPr>
          <a:xfrm>
            <a:off x="5247924" y="2139696"/>
            <a:ext cx="841248" cy="219456"/>
          </a:xfrm>
          <a:prstGeom prst="roundRect">
            <a:avLst>
              <a:gd name="adj" fmla="val 50000"/>
            </a:avLst>
          </a:prstGeom>
          <a:solidFill>
            <a:srgbClr val="EDE8DF"/>
          </a:solidFill>
          <a:ln w="6350">
            <a:solidFill>
              <a:srgbClr val="EDE8DF"/>
            </a:solidFill>
            <a:prstDash val="solid"/>
          </a:ln>
        </p:spPr>
      </p:sp>
      <p:sp>
        <p:nvSpPr>
          <p:cNvPr id="20" name="Text 17"/>
          <p:cNvSpPr/>
          <p:nvPr/>
        </p:nvSpPr>
        <p:spPr>
          <a:xfrm>
            <a:off x="5247924" y="2139696"/>
            <a:ext cx="841248" cy="219456"/>
          </a:xfrm>
          <a:prstGeom prst="rect">
            <a:avLst/>
          </a:prstGeom>
          <a:noFill/>
          <a:ln/>
        </p:spPr>
        <p:txBody>
          <a:bodyPr wrap="square" lIns="0" tIns="0" rIns="0" bIns="0" rtlCol="0" anchor="ctr"/>
          <a:lstStyle/>
          <a:p>
            <a:pPr algn="ctr" indent="0" marL="0">
              <a:buNone/>
            </a:pPr>
            <a:r>
              <a:rPr lang="en-US" sz="750" b="1" spc="80" kern="0" dirty="0">
                <a:solidFill>
                  <a:srgbClr val="8B95A2"/>
                </a:solidFill>
                <a:latin typeface="Nunito Sans" pitchFamily="34" charset="0"/>
                <a:ea typeface="Nunito Sans" pitchFamily="34" charset="-122"/>
                <a:cs typeface="Nunito Sans" pitchFamily="34" charset="-120"/>
              </a:rPr>
              <a:t>QR: NO</a:t>
            </a:r>
            <a:endParaRPr lang="en-US" sz="750" dirty="0"/>
          </a:p>
        </p:txBody>
      </p:sp>
      <p:sp>
        <p:nvSpPr>
          <p:cNvPr id="21" name="Text 18"/>
          <p:cNvSpPr/>
          <p:nvPr/>
        </p:nvSpPr>
        <p:spPr>
          <a:xfrm>
            <a:off x="5247924" y="2432304"/>
            <a:ext cx="1695846" cy="914400"/>
          </a:xfrm>
          <a:prstGeom prst="rect">
            <a:avLst/>
          </a:prstGeom>
          <a:noFill/>
          <a:ln/>
        </p:spPr>
        <p:txBody>
          <a:bodyPr wrap="square" lIns="0" tIns="0" rIns="0" bIns="0" rtlCol="0" anchor="t"/>
          <a:lstStyle/>
          <a:p>
            <a:pPr indent="0" marL="0">
              <a:lnSpc>
                <a:spcPct val="112000"/>
              </a:lnSpc>
              <a:buNone/>
            </a:pPr>
            <a:r>
              <a:rPr lang="en-US" sz="850" dirty="0">
                <a:solidFill>
                  <a:srgbClr val="54606F"/>
                </a:solidFill>
                <a:latin typeface="Nunito Sans" pitchFamily="34" charset="0"/>
                <a:ea typeface="Nunito Sans" pitchFamily="34" charset="-122"/>
                <a:cs typeface="Nunito Sans" pitchFamily="34" charset="-120"/>
              </a:rPr>
              <a:t>Brand trust plus an "unpolished" visual cue and a celebrity anchor. No public batch-level residue disclosure.</a:t>
            </a:r>
            <a:endParaRPr lang="en-US" sz="850" dirty="0"/>
          </a:p>
        </p:txBody>
      </p:sp>
      <p:sp>
        <p:nvSpPr>
          <p:cNvPr id="22" name="Shape 19"/>
          <p:cNvSpPr/>
          <p:nvPr/>
        </p:nvSpPr>
        <p:spPr>
          <a:xfrm>
            <a:off x="7346107" y="1719072"/>
            <a:ext cx="2061606" cy="1700784"/>
          </a:xfrm>
          <a:prstGeom prst="roundRect">
            <a:avLst>
              <a:gd name="adj" fmla="val 5376"/>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23" name="Text 20"/>
          <p:cNvSpPr/>
          <p:nvPr/>
        </p:nvSpPr>
        <p:spPr>
          <a:xfrm>
            <a:off x="7528987" y="1847088"/>
            <a:ext cx="1695846" cy="274320"/>
          </a:xfrm>
          <a:prstGeom prst="rect">
            <a:avLst/>
          </a:prstGeom>
          <a:noFill/>
          <a:ln/>
        </p:spPr>
        <p:txBody>
          <a:bodyPr wrap="square" lIns="0" tIns="0" rIns="0" bIns="0" rtlCol="0" anchor="t"/>
          <a:lstStyle/>
          <a:p>
            <a:pPr indent="0" marL="0">
              <a:buNone/>
            </a:pPr>
            <a:r>
              <a:rPr lang="en-US" sz="1050" b="1" dirty="0">
                <a:solidFill>
                  <a:srgbClr val="0C1A2B"/>
                </a:solidFill>
                <a:latin typeface="Nunito Sans" pitchFamily="34" charset="0"/>
                <a:ea typeface="Nunito Sans" pitchFamily="34" charset="-122"/>
                <a:cs typeface="Nunito Sans" pitchFamily="34" charset="-120"/>
              </a:rPr>
              <a:t>Organic India  (Tata)</a:t>
            </a:r>
            <a:endParaRPr lang="en-US" sz="1050" dirty="0"/>
          </a:p>
        </p:txBody>
      </p:sp>
      <p:sp>
        <p:nvSpPr>
          <p:cNvPr id="24" name="Shape 21"/>
          <p:cNvSpPr/>
          <p:nvPr/>
        </p:nvSpPr>
        <p:spPr>
          <a:xfrm>
            <a:off x="7528987" y="2139696"/>
            <a:ext cx="841248" cy="219456"/>
          </a:xfrm>
          <a:prstGeom prst="roundRect">
            <a:avLst>
              <a:gd name="adj" fmla="val 50000"/>
            </a:avLst>
          </a:prstGeom>
          <a:solidFill>
            <a:srgbClr val="EDE8DF"/>
          </a:solidFill>
          <a:ln w="6350">
            <a:solidFill>
              <a:srgbClr val="EDE8DF"/>
            </a:solidFill>
            <a:prstDash val="solid"/>
          </a:ln>
        </p:spPr>
      </p:sp>
      <p:sp>
        <p:nvSpPr>
          <p:cNvPr id="25" name="Text 22"/>
          <p:cNvSpPr/>
          <p:nvPr/>
        </p:nvSpPr>
        <p:spPr>
          <a:xfrm>
            <a:off x="7528987" y="2139696"/>
            <a:ext cx="841248" cy="219456"/>
          </a:xfrm>
          <a:prstGeom prst="rect">
            <a:avLst/>
          </a:prstGeom>
          <a:noFill/>
          <a:ln/>
        </p:spPr>
        <p:txBody>
          <a:bodyPr wrap="square" lIns="0" tIns="0" rIns="0" bIns="0" rtlCol="0" anchor="ctr"/>
          <a:lstStyle/>
          <a:p>
            <a:pPr algn="ctr" indent="0" marL="0">
              <a:buNone/>
            </a:pPr>
            <a:r>
              <a:rPr lang="en-US" sz="750" b="1" spc="80" kern="0" dirty="0">
                <a:solidFill>
                  <a:srgbClr val="8B95A2"/>
                </a:solidFill>
                <a:latin typeface="Nunito Sans" pitchFamily="34" charset="0"/>
                <a:ea typeface="Nunito Sans" pitchFamily="34" charset="-122"/>
                <a:cs typeface="Nunito Sans" pitchFamily="34" charset="-120"/>
              </a:rPr>
              <a:t>QR: NO</a:t>
            </a:r>
            <a:endParaRPr lang="en-US" sz="750" dirty="0"/>
          </a:p>
        </p:txBody>
      </p:sp>
      <p:sp>
        <p:nvSpPr>
          <p:cNvPr id="26" name="Text 23"/>
          <p:cNvSpPr/>
          <p:nvPr/>
        </p:nvSpPr>
        <p:spPr>
          <a:xfrm>
            <a:off x="7528987" y="2432304"/>
            <a:ext cx="1695846" cy="914400"/>
          </a:xfrm>
          <a:prstGeom prst="rect">
            <a:avLst/>
          </a:prstGeom>
          <a:noFill/>
          <a:ln/>
        </p:spPr>
        <p:txBody>
          <a:bodyPr wrap="square" lIns="0" tIns="0" rIns="0" bIns="0" rtlCol="0" anchor="t"/>
          <a:lstStyle/>
          <a:p>
            <a:pPr indent="0" marL="0">
              <a:lnSpc>
                <a:spcPct val="112000"/>
              </a:lnSpc>
              <a:buNone/>
            </a:pPr>
            <a:r>
              <a:rPr lang="en-US" sz="850" dirty="0">
                <a:solidFill>
                  <a:srgbClr val="54606F"/>
                </a:solidFill>
                <a:latin typeface="Nunito Sans" pitchFamily="34" charset="0"/>
                <a:ea typeface="Nunito Sans" pitchFamily="34" charset="-122"/>
                <a:cs typeface="Nunito Sans" pitchFamily="34" charset="-120"/>
              </a:rPr>
              <a:t>Certification-heavy — USDA, EU, NPOP, Kosher — across 35+ export markets. Logos, not data.</a:t>
            </a:r>
            <a:endParaRPr lang="en-US" sz="850" dirty="0"/>
          </a:p>
        </p:txBody>
      </p:sp>
      <p:sp>
        <p:nvSpPr>
          <p:cNvPr id="27" name="Shape 24"/>
          <p:cNvSpPr/>
          <p:nvPr/>
        </p:nvSpPr>
        <p:spPr>
          <a:xfrm>
            <a:off x="9627169" y="1719072"/>
            <a:ext cx="2061606" cy="1700784"/>
          </a:xfrm>
          <a:prstGeom prst="roundRect">
            <a:avLst>
              <a:gd name="adj" fmla="val 5376"/>
            </a:avLst>
          </a:prstGeom>
          <a:solidFill>
            <a:srgbClr val="EAF0F8"/>
          </a:solidFill>
          <a:ln w="19050">
            <a:solidFill>
              <a:srgbClr val="3A5D97"/>
            </a:solidFill>
            <a:prstDash val="solid"/>
          </a:ln>
          <a:effectLst>
            <a:outerShdw sx="100000" sy="100000" kx="0" ky="0" algn="bl" rotWithShape="0" blurRad="228600" dist="25400" dir="5400000">
              <a:srgbClr val="0C1A2B">
                <a:alpha val="7000"/>
              </a:srgbClr>
            </a:outerShdw>
          </a:effectLst>
        </p:spPr>
      </p:sp>
      <p:sp>
        <p:nvSpPr>
          <p:cNvPr id="28" name="Text 25"/>
          <p:cNvSpPr/>
          <p:nvPr/>
        </p:nvSpPr>
        <p:spPr>
          <a:xfrm>
            <a:off x="9810049" y="1847088"/>
            <a:ext cx="1695846" cy="274320"/>
          </a:xfrm>
          <a:prstGeom prst="rect">
            <a:avLst/>
          </a:prstGeom>
          <a:noFill/>
          <a:ln/>
        </p:spPr>
        <p:txBody>
          <a:bodyPr wrap="square" lIns="0" tIns="0" rIns="0" bIns="0" rtlCol="0" anchor="t"/>
          <a:lstStyle/>
          <a:p>
            <a:pPr indent="0" marL="0">
              <a:buNone/>
            </a:pPr>
            <a:r>
              <a:rPr lang="en-US" sz="1050" b="1" dirty="0">
                <a:solidFill>
                  <a:srgbClr val="0C1A2B"/>
                </a:solidFill>
                <a:latin typeface="Nunito Sans" pitchFamily="34" charset="0"/>
                <a:ea typeface="Nunito Sans" pitchFamily="34" charset="-122"/>
                <a:cs typeface="Nunito Sans" pitchFamily="34" charset="-120"/>
              </a:rPr>
              <a:t>DeHaat Honest Farms</a:t>
            </a:r>
            <a:endParaRPr lang="en-US" sz="1050" dirty="0"/>
          </a:p>
        </p:txBody>
      </p:sp>
      <p:sp>
        <p:nvSpPr>
          <p:cNvPr id="29" name="Shape 26"/>
          <p:cNvSpPr/>
          <p:nvPr/>
        </p:nvSpPr>
        <p:spPr>
          <a:xfrm>
            <a:off x="9810049" y="2139696"/>
            <a:ext cx="841248" cy="219456"/>
          </a:xfrm>
          <a:prstGeom prst="roundRect">
            <a:avLst>
              <a:gd name="adj" fmla="val 50000"/>
            </a:avLst>
          </a:prstGeom>
          <a:solidFill>
            <a:srgbClr val="FBE9E3"/>
          </a:solidFill>
          <a:ln w="6350">
            <a:solidFill>
              <a:srgbClr val="FBE9E3"/>
            </a:solidFill>
            <a:prstDash val="solid"/>
          </a:ln>
        </p:spPr>
      </p:sp>
      <p:sp>
        <p:nvSpPr>
          <p:cNvPr id="30" name="Text 27"/>
          <p:cNvSpPr/>
          <p:nvPr/>
        </p:nvSpPr>
        <p:spPr>
          <a:xfrm>
            <a:off x="9810049" y="2139696"/>
            <a:ext cx="841248" cy="219456"/>
          </a:xfrm>
          <a:prstGeom prst="rect">
            <a:avLst/>
          </a:prstGeom>
          <a:noFill/>
          <a:ln/>
        </p:spPr>
        <p:txBody>
          <a:bodyPr wrap="square" lIns="0" tIns="0" rIns="0" bIns="0" rtlCol="0" anchor="ctr"/>
          <a:lstStyle/>
          <a:p>
            <a:pPr algn="ctr" indent="0" marL="0">
              <a:buNone/>
            </a:pPr>
            <a:r>
              <a:rPr lang="en-US" sz="750" b="1" spc="80" kern="0" dirty="0">
                <a:solidFill>
                  <a:srgbClr val="9E3A24"/>
                </a:solidFill>
                <a:latin typeface="Nunito Sans" pitchFamily="34" charset="0"/>
                <a:ea typeface="Nunito Sans" pitchFamily="34" charset="-122"/>
                <a:cs typeface="Nunito Sans" pitchFamily="34" charset="-120"/>
              </a:rPr>
              <a:t>QR: GAP</a:t>
            </a:r>
            <a:endParaRPr lang="en-US" sz="750" dirty="0"/>
          </a:p>
        </p:txBody>
      </p:sp>
      <p:sp>
        <p:nvSpPr>
          <p:cNvPr id="31" name="Text 28"/>
          <p:cNvSpPr/>
          <p:nvPr/>
        </p:nvSpPr>
        <p:spPr>
          <a:xfrm>
            <a:off x="9810049" y="2432304"/>
            <a:ext cx="1695846" cy="914400"/>
          </a:xfrm>
          <a:prstGeom prst="rect">
            <a:avLst/>
          </a:prstGeom>
          <a:noFill/>
          <a:ln/>
        </p:spPr>
        <p:txBody>
          <a:bodyPr wrap="square" lIns="0" tIns="0" rIns="0" bIns="0" rtlCol="0" anchor="t"/>
          <a:lstStyle/>
          <a:p>
            <a:pPr indent="0" marL="0">
              <a:lnSpc>
                <a:spcPct val="112000"/>
              </a:lnSpc>
              <a:buNone/>
            </a:pPr>
            <a:r>
              <a:rPr lang="en-US" sz="850" dirty="0">
                <a:solidFill>
                  <a:srgbClr val="9E3A24"/>
                </a:solidFill>
                <a:latin typeface="Nunito Sans" pitchFamily="34" charset="0"/>
                <a:ea typeface="Nunito Sans" pitchFamily="34" charset="-122"/>
                <a:cs typeface="Nunito Sans" pitchFamily="34" charset="-120"/>
              </a:rPr>
              <a:t>230+ pesticide checks, batch-level testing, failing lots rejected. All of it invisible to the shopper.</a:t>
            </a:r>
            <a:endParaRPr lang="en-US" sz="850" dirty="0"/>
          </a:p>
        </p:txBody>
      </p:sp>
      <p:sp>
        <p:nvSpPr>
          <p:cNvPr id="32" name="Shape 29"/>
          <p:cNvSpPr/>
          <p:nvPr/>
        </p:nvSpPr>
        <p:spPr>
          <a:xfrm>
            <a:off x="502920" y="3657600"/>
            <a:ext cx="6766560" cy="0"/>
          </a:xfrm>
          <a:prstGeom prst="line">
            <a:avLst/>
          </a:prstGeom>
          <a:noFill/>
          <a:ln w="12700">
            <a:solidFill>
              <a:srgbClr val="3A5D97"/>
            </a:solidFill>
            <a:prstDash val="solid"/>
          </a:ln>
        </p:spPr>
      </p:sp>
      <p:sp>
        <p:nvSpPr>
          <p:cNvPr id="33" name="Text 30"/>
          <p:cNvSpPr/>
          <p:nvPr/>
        </p:nvSpPr>
        <p:spPr>
          <a:xfrm>
            <a:off x="502920" y="3703320"/>
            <a:ext cx="6766560"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IMITATION RISK: MONTHS TO COPY</a:t>
            </a:r>
            <a:endParaRPr lang="en-US" sz="900" dirty="0"/>
          </a:p>
        </p:txBody>
      </p:sp>
      <p:sp>
        <p:nvSpPr>
          <p:cNvPr id="34" name="Text 31"/>
          <p:cNvSpPr/>
          <p:nvPr/>
        </p:nvSpPr>
        <p:spPr>
          <a:xfrm>
            <a:off x="502920" y="3950208"/>
            <a:ext cx="502920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Pesticide-Free label claim</a:t>
            </a:r>
            <a:endParaRPr lang="en-US" sz="950" dirty="0"/>
          </a:p>
        </p:txBody>
      </p:sp>
      <p:sp>
        <p:nvSpPr>
          <p:cNvPr id="35" name="Text 32"/>
          <p:cNvSpPr/>
          <p:nvPr/>
        </p:nvSpPr>
        <p:spPr>
          <a:xfrm>
            <a:off x="5532120" y="3950208"/>
            <a:ext cx="1737360" cy="201168"/>
          </a:xfrm>
          <a:prstGeom prst="rect">
            <a:avLst/>
          </a:prstGeom>
          <a:noFill/>
          <a:ln/>
        </p:spPr>
        <p:txBody>
          <a:bodyPr wrap="square" lIns="0" tIns="0" rIns="0" bIns="0" rtlCol="0" anchor="ctr"/>
          <a:lstStyle/>
          <a:p>
            <a:pPr algn="r" indent="0" marL="0">
              <a:buNone/>
            </a:pPr>
            <a:r>
              <a:rPr lang="en-US" sz="1000" b="1" dirty="0">
                <a:solidFill>
                  <a:srgbClr val="9E3A24"/>
                </a:solidFill>
                <a:latin typeface="Nunito Sans" pitchFamily="34" charset="0"/>
                <a:ea typeface="Nunito Sans" pitchFamily="34" charset="-122"/>
                <a:cs typeface="Nunito Sans" pitchFamily="34" charset="-120"/>
              </a:rPr>
              <a:t>already copied</a:t>
            </a:r>
            <a:endParaRPr lang="en-US" sz="1000" dirty="0"/>
          </a:p>
        </p:txBody>
      </p:sp>
      <p:sp>
        <p:nvSpPr>
          <p:cNvPr id="36" name="Shape 33"/>
          <p:cNvSpPr/>
          <p:nvPr/>
        </p:nvSpPr>
        <p:spPr>
          <a:xfrm>
            <a:off x="502920" y="4169664"/>
            <a:ext cx="6766560" cy="100584"/>
          </a:xfrm>
          <a:prstGeom prst="roundRect">
            <a:avLst>
              <a:gd name="adj" fmla="val 50000"/>
            </a:avLst>
          </a:prstGeom>
          <a:solidFill>
            <a:srgbClr val="EDE4D4"/>
          </a:solidFill>
          <a:ln w="12700">
            <a:solidFill>
              <a:srgbClr val="333333"/>
            </a:solidFill>
            <a:prstDash val="solid"/>
          </a:ln>
        </p:spPr>
      </p:sp>
      <p:sp>
        <p:nvSpPr>
          <p:cNvPr id="37" name="Shape 34"/>
          <p:cNvSpPr/>
          <p:nvPr/>
        </p:nvSpPr>
        <p:spPr>
          <a:xfrm>
            <a:off x="502920" y="4169664"/>
            <a:ext cx="73152" cy="100584"/>
          </a:xfrm>
          <a:prstGeom prst="roundRect">
            <a:avLst>
              <a:gd name="adj" fmla="val 68750"/>
            </a:avLst>
          </a:prstGeom>
          <a:solidFill>
            <a:srgbClr val="9E3A24"/>
          </a:solidFill>
          <a:ln w="12700">
            <a:solidFill>
              <a:srgbClr val="333333"/>
            </a:solidFill>
            <a:prstDash val="solid"/>
          </a:ln>
        </p:spPr>
      </p:sp>
      <p:sp>
        <p:nvSpPr>
          <p:cNvPr id="38" name="Text 35"/>
          <p:cNvSpPr/>
          <p:nvPr/>
        </p:nvSpPr>
        <p:spPr>
          <a:xfrm>
            <a:off x="502920" y="4242816"/>
            <a:ext cx="502920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200+ SKU breadth</a:t>
            </a:r>
            <a:endParaRPr lang="en-US" sz="950" dirty="0"/>
          </a:p>
        </p:txBody>
      </p:sp>
      <p:sp>
        <p:nvSpPr>
          <p:cNvPr id="39" name="Text 36"/>
          <p:cNvSpPr/>
          <p:nvPr/>
        </p:nvSpPr>
        <p:spPr>
          <a:xfrm>
            <a:off x="5532120" y="4242816"/>
            <a:ext cx="1737360" cy="201168"/>
          </a:xfrm>
          <a:prstGeom prst="rect">
            <a:avLst/>
          </a:prstGeom>
          <a:noFill/>
          <a:ln/>
        </p:spPr>
        <p:txBody>
          <a:bodyPr wrap="square" lIns="0" tIns="0" rIns="0" bIns="0" rtlCol="0" anchor="ctr"/>
          <a:lstStyle/>
          <a:p>
            <a:pPr algn="r" indent="0" marL="0">
              <a:buNone/>
            </a:pPr>
            <a:r>
              <a:rPr lang="en-US" sz="1000" b="1" dirty="0">
                <a:solidFill>
                  <a:srgbClr val="C4553B"/>
                </a:solidFill>
                <a:latin typeface="Nunito Sans" pitchFamily="34" charset="0"/>
                <a:ea typeface="Nunito Sans" pitchFamily="34" charset="-122"/>
                <a:cs typeface="Nunito Sans" pitchFamily="34" charset="-120"/>
              </a:rPr>
              <a:t>3–6 months</a:t>
            </a:r>
            <a:endParaRPr lang="en-US" sz="1000" dirty="0"/>
          </a:p>
        </p:txBody>
      </p:sp>
      <p:sp>
        <p:nvSpPr>
          <p:cNvPr id="40" name="Shape 37"/>
          <p:cNvSpPr/>
          <p:nvPr/>
        </p:nvSpPr>
        <p:spPr>
          <a:xfrm>
            <a:off x="502920" y="4462272"/>
            <a:ext cx="6766560" cy="100584"/>
          </a:xfrm>
          <a:prstGeom prst="roundRect">
            <a:avLst>
              <a:gd name="adj" fmla="val 50000"/>
            </a:avLst>
          </a:prstGeom>
          <a:solidFill>
            <a:srgbClr val="EDE4D4"/>
          </a:solidFill>
          <a:ln w="12700">
            <a:solidFill>
              <a:srgbClr val="333333"/>
            </a:solidFill>
            <a:prstDash val="solid"/>
          </a:ln>
        </p:spPr>
      </p:sp>
      <p:sp>
        <p:nvSpPr>
          <p:cNvPr id="41" name="Shape 38"/>
          <p:cNvSpPr/>
          <p:nvPr/>
        </p:nvSpPr>
        <p:spPr>
          <a:xfrm>
            <a:off x="502920" y="4462272"/>
            <a:ext cx="434993" cy="100584"/>
          </a:xfrm>
          <a:prstGeom prst="roundRect">
            <a:avLst>
              <a:gd name="adj" fmla="val 50000"/>
            </a:avLst>
          </a:prstGeom>
          <a:solidFill>
            <a:srgbClr val="C4553B"/>
          </a:solidFill>
          <a:ln w="12700">
            <a:solidFill>
              <a:srgbClr val="333333"/>
            </a:solidFill>
            <a:prstDash val="solid"/>
          </a:ln>
        </p:spPr>
      </p:sp>
      <p:sp>
        <p:nvSpPr>
          <p:cNvPr id="42" name="Text 39"/>
          <p:cNvSpPr/>
          <p:nvPr/>
        </p:nvSpPr>
        <p:spPr>
          <a:xfrm>
            <a:off x="502920" y="4535424"/>
            <a:ext cx="502920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Quick-commerce presence</a:t>
            </a:r>
            <a:endParaRPr lang="en-US" sz="950" dirty="0"/>
          </a:p>
        </p:txBody>
      </p:sp>
      <p:sp>
        <p:nvSpPr>
          <p:cNvPr id="43" name="Text 40"/>
          <p:cNvSpPr/>
          <p:nvPr/>
        </p:nvSpPr>
        <p:spPr>
          <a:xfrm>
            <a:off x="5532120" y="4535424"/>
            <a:ext cx="1737360" cy="201168"/>
          </a:xfrm>
          <a:prstGeom prst="rect">
            <a:avLst/>
          </a:prstGeom>
          <a:noFill/>
          <a:ln/>
        </p:spPr>
        <p:txBody>
          <a:bodyPr wrap="square" lIns="0" tIns="0" rIns="0" bIns="0" rtlCol="0" anchor="ctr"/>
          <a:lstStyle/>
          <a:p>
            <a:pPr algn="r" indent="0" marL="0">
              <a:buNone/>
            </a:pPr>
            <a:r>
              <a:rPr lang="en-US" sz="1000" b="1" dirty="0">
                <a:solidFill>
                  <a:srgbClr val="C8922E"/>
                </a:solidFill>
                <a:latin typeface="Nunito Sans" pitchFamily="34" charset="0"/>
                <a:ea typeface="Nunito Sans" pitchFamily="34" charset="-122"/>
                <a:cs typeface="Nunito Sans" pitchFamily="34" charset="-120"/>
              </a:rPr>
              <a:t>6–12 months</a:t>
            </a:r>
            <a:endParaRPr lang="en-US" sz="1000" dirty="0"/>
          </a:p>
        </p:txBody>
      </p:sp>
      <p:sp>
        <p:nvSpPr>
          <p:cNvPr id="44" name="Shape 41"/>
          <p:cNvSpPr/>
          <p:nvPr/>
        </p:nvSpPr>
        <p:spPr>
          <a:xfrm>
            <a:off x="502920" y="4754880"/>
            <a:ext cx="6766560" cy="100584"/>
          </a:xfrm>
          <a:prstGeom prst="roundRect">
            <a:avLst>
              <a:gd name="adj" fmla="val 50000"/>
            </a:avLst>
          </a:prstGeom>
          <a:solidFill>
            <a:srgbClr val="EDE4D4"/>
          </a:solidFill>
          <a:ln w="12700">
            <a:solidFill>
              <a:srgbClr val="333333"/>
            </a:solidFill>
            <a:prstDash val="solid"/>
          </a:ln>
        </p:spPr>
      </p:sp>
      <p:sp>
        <p:nvSpPr>
          <p:cNvPr id="45" name="Shape 42"/>
          <p:cNvSpPr/>
          <p:nvPr/>
        </p:nvSpPr>
        <p:spPr>
          <a:xfrm>
            <a:off x="502920" y="4754880"/>
            <a:ext cx="869986" cy="100584"/>
          </a:xfrm>
          <a:prstGeom prst="roundRect">
            <a:avLst>
              <a:gd name="adj" fmla="val 50000"/>
            </a:avLst>
          </a:prstGeom>
          <a:solidFill>
            <a:srgbClr val="C8922E"/>
          </a:solidFill>
          <a:ln w="12700">
            <a:solidFill>
              <a:srgbClr val="333333"/>
            </a:solidFill>
            <a:prstDash val="solid"/>
          </a:ln>
        </p:spPr>
      </p:sp>
      <p:sp>
        <p:nvSpPr>
          <p:cNvPr id="46" name="Text 43"/>
          <p:cNvSpPr/>
          <p:nvPr/>
        </p:nvSpPr>
        <p:spPr>
          <a:xfrm>
            <a:off x="502920" y="4828032"/>
            <a:ext cx="502920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230+ quality checkpoints</a:t>
            </a:r>
            <a:endParaRPr lang="en-US" sz="950" dirty="0"/>
          </a:p>
        </p:txBody>
      </p:sp>
      <p:sp>
        <p:nvSpPr>
          <p:cNvPr id="47" name="Text 44"/>
          <p:cNvSpPr/>
          <p:nvPr/>
        </p:nvSpPr>
        <p:spPr>
          <a:xfrm>
            <a:off x="5532120" y="4828032"/>
            <a:ext cx="1737360" cy="201168"/>
          </a:xfrm>
          <a:prstGeom prst="rect">
            <a:avLst/>
          </a:prstGeom>
          <a:noFill/>
          <a:ln/>
        </p:spPr>
        <p:txBody>
          <a:bodyPr wrap="square" lIns="0" tIns="0" rIns="0" bIns="0" rtlCol="0" anchor="ctr"/>
          <a:lstStyle/>
          <a:p>
            <a:pPr algn="r" indent="0" marL="0">
              <a:buNone/>
            </a:pPr>
            <a:r>
              <a:rPr lang="en-US" sz="1000" b="1" dirty="0">
                <a:solidFill>
                  <a:srgbClr val="C8922E"/>
                </a:solidFill>
                <a:latin typeface="Nunito Sans" pitchFamily="34" charset="0"/>
                <a:ea typeface="Nunito Sans" pitchFamily="34" charset="-122"/>
                <a:cs typeface="Nunito Sans" pitchFamily="34" charset="-120"/>
              </a:rPr>
              <a:t>12–18 months</a:t>
            </a:r>
            <a:endParaRPr lang="en-US" sz="1000" dirty="0"/>
          </a:p>
        </p:txBody>
      </p:sp>
      <p:sp>
        <p:nvSpPr>
          <p:cNvPr id="48" name="Shape 45"/>
          <p:cNvSpPr/>
          <p:nvPr/>
        </p:nvSpPr>
        <p:spPr>
          <a:xfrm>
            <a:off x="502920" y="5047488"/>
            <a:ext cx="6766560" cy="100584"/>
          </a:xfrm>
          <a:prstGeom prst="roundRect">
            <a:avLst>
              <a:gd name="adj" fmla="val 50000"/>
            </a:avLst>
          </a:prstGeom>
          <a:solidFill>
            <a:srgbClr val="EDE4D4"/>
          </a:solidFill>
          <a:ln w="12700">
            <a:solidFill>
              <a:srgbClr val="333333"/>
            </a:solidFill>
            <a:prstDash val="solid"/>
          </a:ln>
        </p:spPr>
      </p:sp>
      <p:sp>
        <p:nvSpPr>
          <p:cNvPr id="49" name="Shape 46"/>
          <p:cNvSpPr/>
          <p:nvPr/>
        </p:nvSpPr>
        <p:spPr>
          <a:xfrm>
            <a:off x="502920" y="5047488"/>
            <a:ext cx="1449977" cy="100584"/>
          </a:xfrm>
          <a:prstGeom prst="roundRect">
            <a:avLst>
              <a:gd name="adj" fmla="val 50000"/>
            </a:avLst>
          </a:prstGeom>
          <a:solidFill>
            <a:srgbClr val="C8922E"/>
          </a:solidFill>
          <a:ln w="12700">
            <a:solidFill>
              <a:srgbClr val="333333"/>
            </a:solidFill>
            <a:prstDash val="solid"/>
          </a:ln>
        </p:spPr>
      </p:sp>
      <p:sp>
        <p:nvSpPr>
          <p:cNvPr id="50" name="Text 47"/>
          <p:cNvSpPr/>
          <p:nvPr/>
        </p:nvSpPr>
        <p:spPr>
          <a:xfrm>
            <a:off x="502920" y="5120640"/>
            <a:ext cx="502920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QR batch traceability</a:t>
            </a:r>
            <a:endParaRPr lang="en-US" sz="950" dirty="0"/>
          </a:p>
        </p:txBody>
      </p:sp>
      <p:sp>
        <p:nvSpPr>
          <p:cNvPr id="51" name="Text 48"/>
          <p:cNvSpPr/>
          <p:nvPr/>
        </p:nvSpPr>
        <p:spPr>
          <a:xfrm>
            <a:off x="5532120" y="5120640"/>
            <a:ext cx="1737360" cy="201168"/>
          </a:xfrm>
          <a:prstGeom prst="rect">
            <a:avLst/>
          </a:prstGeom>
          <a:noFill/>
          <a:ln/>
        </p:spPr>
        <p:txBody>
          <a:bodyPr wrap="square" lIns="0" tIns="0" rIns="0" bIns="0" rtlCol="0" anchor="ctr"/>
          <a:lstStyle/>
          <a:p>
            <a:pPr algn="r" indent="0" marL="0">
              <a:buNone/>
            </a:pPr>
            <a:r>
              <a:rPr lang="en-US" sz="1000" b="1" dirty="0">
                <a:solidFill>
                  <a:srgbClr val="6688BE"/>
                </a:solidFill>
                <a:latin typeface="Nunito Sans" pitchFamily="34" charset="0"/>
                <a:ea typeface="Nunito Sans" pitchFamily="34" charset="-122"/>
                <a:cs typeface="Nunito Sans" pitchFamily="34" charset="-120"/>
              </a:rPr>
              <a:t>12–18 months</a:t>
            </a:r>
            <a:endParaRPr lang="en-US" sz="1000" dirty="0"/>
          </a:p>
        </p:txBody>
      </p:sp>
      <p:sp>
        <p:nvSpPr>
          <p:cNvPr id="52" name="Shape 49"/>
          <p:cNvSpPr/>
          <p:nvPr/>
        </p:nvSpPr>
        <p:spPr>
          <a:xfrm>
            <a:off x="502920" y="5340096"/>
            <a:ext cx="6766560" cy="100584"/>
          </a:xfrm>
          <a:prstGeom prst="roundRect">
            <a:avLst>
              <a:gd name="adj" fmla="val 50000"/>
            </a:avLst>
          </a:prstGeom>
          <a:solidFill>
            <a:srgbClr val="EDE4D4"/>
          </a:solidFill>
          <a:ln w="12700">
            <a:solidFill>
              <a:srgbClr val="333333"/>
            </a:solidFill>
            <a:prstDash val="solid"/>
          </a:ln>
        </p:spPr>
      </p:sp>
      <p:sp>
        <p:nvSpPr>
          <p:cNvPr id="53" name="Shape 50"/>
          <p:cNvSpPr/>
          <p:nvPr/>
        </p:nvSpPr>
        <p:spPr>
          <a:xfrm>
            <a:off x="502920" y="5340096"/>
            <a:ext cx="1449977" cy="100584"/>
          </a:xfrm>
          <a:prstGeom prst="roundRect">
            <a:avLst>
              <a:gd name="adj" fmla="val 50000"/>
            </a:avLst>
          </a:prstGeom>
          <a:solidFill>
            <a:srgbClr val="6688BE"/>
          </a:solidFill>
          <a:ln w="12700">
            <a:solidFill>
              <a:srgbClr val="333333"/>
            </a:solidFill>
            <a:prstDash val="solid"/>
          </a:ln>
        </p:spPr>
      </p:sp>
      <p:sp>
        <p:nvSpPr>
          <p:cNvPr id="54" name="Text 51"/>
          <p:cNvSpPr/>
          <p:nvPr/>
        </p:nvSpPr>
        <p:spPr>
          <a:xfrm>
            <a:off x="502920" y="5413248"/>
            <a:ext cx="502920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Farm-level residue testing</a:t>
            </a:r>
            <a:endParaRPr lang="en-US" sz="950" dirty="0"/>
          </a:p>
        </p:txBody>
      </p:sp>
      <p:sp>
        <p:nvSpPr>
          <p:cNvPr id="55" name="Text 52"/>
          <p:cNvSpPr/>
          <p:nvPr/>
        </p:nvSpPr>
        <p:spPr>
          <a:xfrm>
            <a:off x="5532120" y="5413248"/>
            <a:ext cx="1737360" cy="201168"/>
          </a:xfrm>
          <a:prstGeom prst="rect">
            <a:avLst/>
          </a:prstGeom>
          <a:noFill/>
          <a:ln/>
        </p:spPr>
        <p:txBody>
          <a:bodyPr wrap="square" lIns="0" tIns="0" rIns="0" bIns="0" rtlCol="0" anchor="ctr"/>
          <a:lstStyle/>
          <a:p>
            <a:pPr algn="r" indent="0" marL="0">
              <a:buNone/>
            </a:pPr>
            <a:r>
              <a:rPr lang="en-US" sz="1000" b="1" dirty="0">
                <a:solidFill>
                  <a:srgbClr val="3A5D97"/>
                </a:solidFill>
                <a:latin typeface="Nunito Sans" pitchFamily="34" charset="0"/>
                <a:ea typeface="Nunito Sans" pitchFamily="34" charset="-122"/>
                <a:cs typeface="Nunito Sans" pitchFamily="34" charset="-120"/>
              </a:rPr>
              <a:t>18–24 months</a:t>
            </a:r>
            <a:endParaRPr lang="en-US" sz="1000" dirty="0"/>
          </a:p>
        </p:txBody>
      </p:sp>
      <p:sp>
        <p:nvSpPr>
          <p:cNvPr id="56" name="Shape 53"/>
          <p:cNvSpPr/>
          <p:nvPr/>
        </p:nvSpPr>
        <p:spPr>
          <a:xfrm>
            <a:off x="502920" y="5632704"/>
            <a:ext cx="6766560" cy="100584"/>
          </a:xfrm>
          <a:prstGeom prst="roundRect">
            <a:avLst>
              <a:gd name="adj" fmla="val 50000"/>
            </a:avLst>
          </a:prstGeom>
          <a:solidFill>
            <a:srgbClr val="EDE4D4"/>
          </a:solidFill>
          <a:ln w="12700">
            <a:solidFill>
              <a:srgbClr val="333333"/>
            </a:solidFill>
            <a:prstDash val="solid"/>
          </a:ln>
        </p:spPr>
      </p:sp>
      <p:sp>
        <p:nvSpPr>
          <p:cNvPr id="57" name="Shape 54"/>
          <p:cNvSpPr/>
          <p:nvPr/>
        </p:nvSpPr>
        <p:spPr>
          <a:xfrm>
            <a:off x="502920" y="5632704"/>
            <a:ext cx="2029968" cy="100584"/>
          </a:xfrm>
          <a:prstGeom prst="roundRect">
            <a:avLst>
              <a:gd name="adj" fmla="val 50000"/>
            </a:avLst>
          </a:prstGeom>
          <a:solidFill>
            <a:srgbClr val="3A5D97"/>
          </a:solidFill>
          <a:ln w="12700">
            <a:solidFill>
              <a:srgbClr val="333333"/>
            </a:solidFill>
            <a:prstDash val="solid"/>
          </a:ln>
        </p:spPr>
      </p:sp>
      <p:sp>
        <p:nvSpPr>
          <p:cNvPr id="58" name="Text 55"/>
          <p:cNvSpPr/>
          <p:nvPr/>
        </p:nvSpPr>
        <p:spPr>
          <a:xfrm>
            <a:off x="502920" y="5705856"/>
            <a:ext cx="502920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Curated 5,000-farmer cohort</a:t>
            </a:r>
            <a:endParaRPr lang="en-US" sz="950" dirty="0"/>
          </a:p>
        </p:txBody>
      </p:sp>
      <p:sp>
        <p:nvSpPr>
          <p:cNvPr id="59" name="Text 56"/>
          <p:cNvSpPr/>
          <p:nvPr/>
        </p:nvSpPr>
        <p:spPr>
          <a:xfrm>
            <a:off x="5532120" y="5705856"/>
            <a:ext cx="1737360" cy="201168"/>
          </a:xfrm>
          <a:prstGeom prst="rect">
            <a:avLst/>
          </a:prstGeom>
          <a:noFill/>
          <a:ln/>
        </p:spPr>
        <p:txBody>
          <a:bodyPr wrap="square" lIns="0" tIns="0" rIns="0" bIns="0" rtlCol="0" anchor="ctr"/>
          <a:lstStyle/>
          <a:p>
            <a:pPr algn="r" indent="0" marL="0">
              <a:buNone/>
            </a:pPr>
            <a:r>
              <a:rPr lang="en-US" sz="1000" b="1" dirty="0">
                <a:solidFill>
                  <a:srgbClr val="2FA362"/>
                </a:solidFill>
                <a:latin typeface="Nunito Sans" pitchFamily="34" charset="0"/>
                <a:ea typeface="Nunito Sans" pitchFamily="34" charset="-122"/>
                <a:cs typeface="Nunito Sans" pitchFamily="34" charset="-120"/>
              </a:rPr>
              <a:t>24–36 months</a:t>
            </a:r>
            <a:endParaRPr lang="en-US" sz="1000" dirty="0"/>
          </a:p>
        </p:txBody>
      </p:sp>
      <p:sp>
        <p:nvSpPr>
          <p:cNvPr id="60" name="Shape 57"/>
          <p:cNvSpPr/>
          <p:nvPr/>
        </p:nvSpPr>
        <p:spPr>
          <a:xfrm>
            <a:off x="502920" y="5925312"/>
            <a:ext cx="6766560" cy="100584"/>
          </a:xfrm>
          <a:prstGeom prst="roundRect">
            <a:avLst>
              <a:gd name="adj" fmla="val 50000"/>
            </a:avLst>
          </a:prstGeom>
          <a:solidFill>
            <a:srgbClr val="EDE4D4"/>
          </a:solidFill>
          <a:ln w="12700">
            <a:solidFill>
              <a:srgbClr val="333333"/>
            </a:solidFill>
            <a:prstDash val="solid"/>
          </a:ln>
        </p:spPr>
      </p:sp>
      <p:sp>
        <p:nvSpPr>
          <p:cNvPr id="61" name="Shape 58"/>
          <p:cNvSpPr/>
          <p:nvPr/>
        </p:nvSpPr>
        <p:spPr>
          <a:xfrm>
            <a:off x="502920" y="5925312"/>
            <a:ext cx="2899954" cy="100584"/>
          </a:xfrm>
          <a:prstGeom prst="roundRect">
            <a:avLst>
              <a:gd name="adj" fmla="val 50000"/>
            </a:avLst>
          </a:prstGeom>
          <a:solidFill>
            <a:srgbClr val="2FA362"/>
          </a:solidFill>
          <a:ln w="12700">
            <a:solidFill>
              <a:srgbClr val="333333"/>
            </a:solidFill>
            <a:prstDash val="solid"/>
          </a:ln>
        </p:spPr>
      </p:sp>
      <p:sp>
        <p:nvSpPr>
          <p:cNvPr id="62" name="Text 59"/>
          <p:cNvSpPr/>
          <p:nvPr/>
        </p:nvSpPr>
        <p:spPr>
          <a:xfrm>
            <a:off x="502920" y="5998464"/>
            <a:ext cx="502920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Farmer margin model</a:t>
            </a:r>
            <a:endParaRPr lang="en-US" sz="950" dirty="0"/>
          </a:p>
        </p:txBody>
      </p:sp>
      <p:sp>
        <p:nvSpPr>
          <p:cNvPr id="63" name="Text 60"/>
          <p:cNvSpPr/>
          <p:nvPr/>
        </p:nvSpPr>
        <p:spPr>
          <a:xfrm>
            <a:off x="5532120" y="5998464"/>
            <a:ext cx="1737360" cy="201168"/>
          </a:xfrm>
          <a:prstGeom prst="rect">
            <a:avLst/>
          </a:prstGeom>
          <a:noFill/>
          <a:ln/>
        </p:spPr>
        <p:txBody>
          <a:bodyPr wrap="square" lIns="0" tIns="0" rIns="0" bIns="0" rtlCol="0" anchor="ctr"/>
          <a:lstStyle/>
          <a:p>
            <a:pPr algn="r" indent="0" marL="0">
              <a:buNone/>
            </a:pPr>
            <a:r>
              <a:rPr lang="en-US" sz="1000" b="1" dirty="0">
                <a:solidFill>
                  <a:srgbClr val="177A46"/>
                </a:solidFill>
                <a:latin typeface="Nunito Sans" pitchFamily="34" charset="0"/>
                <a:ea typeface="Nunito Sans" pitchFamily="34" charset="-122"/>
                <a:cs typeface="Nunito Sans" pitchFamily="34" charset="-120"/>
              </a:rPr>
              <a:t>3–5 years</a:t>
            </a:r>
            <a:endParaRPr lang="en-US" sz="1000" dirty="0"/>
          </a:p>
        </p:txBody>
      </p:sp>
      <p:sp>
        <p:nvSpPr>
          <p:cNvPr id="64" name="Shape 61"/>
          <p:cNvSpPr/>
          <p:nvPr/>
        </p:nvSpPr>
        <p:spPr>
          <a:xfrm>
            <a:off x="502920" y="6217920"/>
            <a:ext cx="6766560" cy="100584"/>
          </a:xfrm>
          <a:prstGeom prst="roundRect">
            <a:avLst>
              <a:gd name="adj" fmla="val 50000"/>
            </a:avLst>
          </a:prstGeom>
          <a:solidFill>
            <a:srgbClr val="EDE4D4"/>
          </a:solidFill>
          <a:ln w="12700">
            <a:solidFill>
              <a:srgbClr val="333333"/>
            </a:solidFill>
            <a:prstDash val="solid"/>
          </a:ln>
        </p:spPr>
      </p:sp>
      <p:sp>
        <p:nvSpPr>
          <p:cNvPr id="65" name="Shape 62"/>
          <p:cNvSpPr/>
          <p:nvPr/>
        </p:nvSpPr>
        <p:spPr>
          <a:xfrm>
            <a:off x="502920" y="6217920"/>
            <a:ext cx="4639927" cy="100584"/>
          </a:xfrm>
          <a:prstGeom prst="roundRect">
            <a:avLst>
              <a:gd name="adj" fmla="val 50000"/>
            </a:avLst>
          </a:prstGeom>
          <a:solidFill>
            <a:srgbClr val="177A46"/>
          </a:solidFill>
          <a:ln w="12700">
            <a:solidFill>
              <a:srgbClr val="333333"/>
            </a:solidFill>
            <a:prstDash val="solid"/>
          </a:ln>
        </p:spPr>
      </p:sp>
      <p:sp>
        <p:nvSpPr>
          <p:cNvPr id="66" name="Text 63"/>
          <p:cNvSpPr/>
          <p:nvPr/>
        </p:nvSpPr>
        <p:spPr>
          <a:xfrm>
            <a:off x="502920" y="6291072"/>
            <a:ext cx="502920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DeHaat agritech input control</a:t>
            </a:r>
            <a:endParaRPr lang="en-US" sz="950" dirty="0"/>
          </a:p>
        </p:txBody>
      </p:sp>
      <p:sp>
        <p:nvSpPr>
          <p:cNvPr id="67" name="Text 64"/>
          <p:cNvSpPr/>
          <p:nvPr/>
        </p:nvSpPr>
        <p:spPr>
          <a:xfrm>
            <a:off x="5532120" y="6291072"/>
            <a:ext cx="1737360" cy="201168"/>
          </a:xfrm>
          <a:prstGeom prst="rect">
            <a:avLst/>
          </a:prstGeom>
          <a:noFill/>
          <a:ln/>
        </p:spPr>
        <p:txBody>
          <a:bodyPr wrap="square" lIns="0" tIns="0" rIns="0" bIns="0" rtlCol="0" anchor="ctr"/>
          <a:lstStyle/>
          <a:p>
            <a:pPr algn="r" indent="0" marL="0">
              <a:buNone/>
            </a:pPr>
            <a:r>
              <a:rPr lang="en-US" sz="1000" b="1" dirty="0">
                <a:solidFill>
                  <a:srgbClr val="177A46"/>
                </a:solidFill>
                <a:latin typeface="Nunito Sans" pitchFamily="34" charset="0"/>
                <a:ea typeface="Nunito Sans" pitchFamily="34" charset="-122"/>
                <a:cs typeface="Nunito Sans" pitchFamily="34" charset="-120"/>
              </a:rPr>
              <a:t>5+ years</a:t>
            </a:r>
            <a:endParaRPr lang="en-US" sz="1000" dirty="0"/>
          </a:p>
        </p:txBody>
      </p:sp>
      <p:sp>
        <p:nvSpPr>
          <p:cNvPr id="68" name="Shape 65"/>
          <p:cNvSpPr/>
          <p:nvPr/>
        </p:nvSpPr>
        <p:spPr>
          <a:xfrm>
            <a:off x="502920" y="6510528"/>
            <a:ext cx="6766560" cy="100584"/>
          </a:xfrm>
          <a:prstGeom prst="roundRect">
            <a:avLst>
              <a:gd name="adj" fmla="val 50000"/>
            </a:avLst>
          </a:prstGeom>
          <a:solidFill>
            <a:srgbClr val="EDE4D4"/>
          </a:solidFill>
          <a:ln w="12700">
            <a:solidFill>
              <a:srgbClr val="333333"/>
            </a:solidFill>
            <a:prstDash val="solid"/>
          </a:ln>
        </p:spPr>
      </p:sp>
      <p:sp>
        <p:nvSpPr>
          <p:cNvPr id="69" name="Shape 66"/>
          <p:cNvSpPr/>
          <p:nvPr/>
        </p:nvSpPr>
        <p:spPr>
          <a:xfrm>
            <a:off x="502920" y="6510528"/>
            <a:ext cx="6379899" cy="100584"/>
          </a:xfrm>
          <a:prstGeom prst="roundRect">
            <a:avLst>
              <a:gd name="adj" fmla="val 50000"/>
            </a:avLst>
          </a:prstGeom>
          <a:solidFill>
            <a:srgbClr val="177A46"/>
          </a:solidFill>
          <a:ln w="12700">
            <a:solidFill>
              <a:srgbClr val="333333"/>
            </a:solidFill>
            <a:prstDash val="solid"/>
          </a:ln>
        </p:spPr>
      </p:sp>
      <p:sp>
        <p:nvSpPr>
          <p:cNvPr id="70" name="Shape 67"/>
          <p:cNvSpPr/>
          <p:nvPr/>
        </p:nvSpPr>
        <p:spPr>
          <a:xfrm>
            <a:off x="7589520" y="3657600"/>
            <a:ext cx="4099255" cy="0"/>
          </a:xfrm>
          <a:prstGeom prst="line">
            <a:avLst/>
          </a:prstGeom>
          <a:noFill/>
          <a:ln w="12700">
            <a:solidFill>
              <a:srgbClr val="3A5D97"/>
            </a:solidFill>
            <a:prstDash val="solid"/>
          </a:ln>
        </p:spPr>
      </p:sp>
      <p:sp>
        <p:nvSpPr>
          <p:cNvPr id="71" name="Text 68"/>
          <p:cNvSpPr/>
          <p:nvPr/>
        </p:nvSpPr>
        <p:spPr>
          <a:xfrm>
            <a:off x="7589520" y="3703320"/>
            <a:ext cx="4099255"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MESSAGING CONSISTENCY, SCORED*</a:t>
            </a:r>
            <a:endParaRPr lang="en-US" sz="900" dirty="0"/>
          </a:p>
        </p:txBody>
      </p:sp>
      <p:sp>
        <p:nvSpPr>
          <p:cNvPr id="72" name="Text 69"/>
          <p:cNvSpPr/>
          <p:nvPr/>
        </p:nvSpPr>
        <p:spPr>
          <a:xfrm>
            <a:off x="7589520" y="3950208"/>
            <a:ext cx="3001975" cy="274320"/>
          </a:xfrm>
          <a:prstGeom prst="rect">
            <a:avLst/>
          </a:prstGeom>
          <a:noFill/>
          <a:ln/>
        </p:spPr>
        <p:txBody>
          <a:bodyPr wrap="square" lIns="0" tIns="0" rIns="0" bIns="0" rtlCol="0" anchor="ctr"/>
          <a:lstStyle/>
          <a:p>
            <a:pPr indent="0" marL="0">
              <a:buNone/>
            </a:pPr>
            <a:r>
              <a:rPr lang="en-US" sz="1000" dirty="0">
                <a:solidFill>
                  <a:srgbClr val="54606F"/>
                </a:solidFill>
                <a:latin typeface="Nunito Sans" pitchFamily="34" charset="0"/>
                <a:ea typeface="Nunito Sans" pitchFamily="34" charset="-122"/>
                <a:cs typeface="Nunito Sans" pitchFamily="34" charset="-120"/>
              </a:rPr>
              <a:t>Tata Sampann</a:t>
            </a:r>
            <a:endParaRPr lang="en-US" sz="1000" dirty="0"/>
          </a:p>
        </p:txBody>
      </p:sp>
      <p:sp>
        <p:nvSpPr>
          <p:cNvPr id="73" name="Text 70"/>
          <p:cNvSpPr/>
          <p:nvPr/>
        </p:nvSpPr>
        <p:spPr>
          <a:xfrm>
            <a:off x="10591495" y="3950208"/>
            <a:ext cx="1097280" cy="274320"/>
          </a:xfrm>
          <a:prstGeom prst="rect">
            <a:avLst/>
          </a:prstGeom>
          <a:noFill/>
          <a:ln/>
        </p:spPr>
        <p:txBody>
          <a:bodyPr wrap="square" lIns="0" tIns="0" rIns="0" bIns="0" rtlCol="0" anchor="ctr"/>
          <a:lstStyle/>
          <a:p>
            <a:pPr algn="r" indent="0" marL="0">
              <a:buNone/>
            </a:pPr>
            <a:r>
              <a:rPr lang="en-US" sz="1200" dirty="0">
                <a:solidFill>
                  <a:srgbClr val="0C1A2B"/>
                </a:solidFill>
                <a:latin typeface="Archivo Black" pitchFamily="34" charset="0"/>
                <a:ea typeface="Archivo Black" pitchFamily="34" charset="-122"/>
                <a:cs typeface="Archivo Black" pitchFamily="34" charset="-120"/>
              </a:rPr>
              <a:t>9/10</a:t>
            </a:r>
            <a:endParaRPr lang="en-US" sz="1200" dirty="0"/>
          </a:p>
        </p:txBody>
      </p:sp>
      <p:sp>
        <p:nvSpPr>
          <p:cNvPr id="74" name="Shape 71"/>
          <p:cNvSpPr/>
          <p:nvPr/>
        </p:nvSpPr>
        <p:spPr>
          <a:xfrm>
            <a:off x="7589520" y="4261104"/>
            <a:ext cx="4099255" cy="0"/>
          </a:xfrm>
          <a:prstGeom prst="line">
            <a:avLst/>
          </a:prstGeom>
          <a:noFill/>
          <a:ln w="6350">
            <a:solidFill>
              <a:srgbClr val="E5DCCB"/>
            </a:solidFill>
            <a:prstDash val="dash"/>
          </a:ln>
        </p:spPr>
      </p:sp>
      <p:sp>
        <p:nvSpPr>
          <p:cNvPr id="75" name="Text 72"/>
          <p:cNvSpPr/>
          <p:nvPr/>
        </p:nvSpPr>
        <p:spPr>
          <a:xfrm>
            <a:off x="7589520" y="4334256"/>
            <a:ext cx="3001975" cy="274320"/>
          </a:xfrm>
          <a:prstGeom prst="rect">
            <a:avLst/>
          </a:prstGeom>
          <a:noFill/>
          <a:ln/>
        </p:spPr>
        <p:txBody>
          <a:bodyPr wrap="square" lIns="0" tIns="0" rIns="0" bIns="0" rtlCol="0" anchor="ctr"/>
          <a:lstStyle/>
          <a:p>
            <a:pPr indent="0" marL="0">
              <a:buNone/>
            </a:pPr>
            <a:r>
              <a:rPr lang="en-US" sz="1000" dirty="0">
                <a:solidFill>
                  <a:srgbClr val="54606F"/>
                </a:solidFill>
                <a:latin typeface="Nunito Sans" pitchFamily="34" charset="0"/>
                <a:ea typeface="Nunito Sans" pitchFamily="34" charset="-122"/>
                <a:cs typeface="Nunito Sans" pitchFamily="34" charset="-120"/>
              </a:rPr>
              <a:t>Organic Tattva</a:t>
            </a:r>
            <a:endParaRPr lang="en-US" sz="1000" dirty="0"/>
          </a:p>
        </p:txBody>
      </p:sp>
      <p:sp>
        <p:nvSpPr>
          <p:cNvPr id="76" name="Text 73"/>
          <p:cNvSpPr/>
          <p:nvPr/>
        </p:nvSpPr>
        <p:spPr>
          <a:xfrm>
            <a:off x="10591495" y="4334256"/>
            <a:ext cx="1097280" cy="274320"/>
          </a:xfrm>
          <a:prstGeom prst="rect">
            <a:avLst/>
          </a:prstGeom>
          <a:noFill/>
          <a:ln/>
        </p:spPr>
        <p:txBody>
          <a:bodyPr wrap="square" lIns="0" tIns="0" rIns="0" bIns="0" rtlCol="0" anchor="ctr"/>
          <a:lstStyle/>
          <a:p>
            <a:pPr algn="r" indent="0" marL="0">
              <a:buNone/>
            </a:pPr>
            <a:r>
              <a:rPr lang="en-US" sz="1200" dirty="0">
                <a:solidFill>
                  <a:srgbClr val="0C1A2B"/>
                </a:solidFill>
                <a:latin typeface="Archivo Black" pitchFamily="34" charset="0"/>
                <a:ea typeface="Archivo Black" pitchFamily="34" charset="-122"/>
                <a:cs typeface="Archivo Black" pitchFamily="34" charset="-120"/>
              </a:rPr>
              <a:t>8/10</a:t>
            </a:r>
            <a:endParaRPr lang="en-US" sz="1200" dirty="0"/>
          </a:p>
        </p:txBody>
      </p:sp>
      <p:sp>
        <p:nvSpPr>
          <p:cNvPr id="77" name="Shape 74"/>
          <p:cNvSpPr/>
          <p:nvPr/>
        </p:nvSpPr>
        <p:spPr>
          <a:xfrm>
            <a:off x="7589520" y="4645152"/>
            <a:ext cx="4099255" cy="0"/>
          </a:xfrm>
          <a:prstGeom prst="line">
            <a:avLst/>
          </a:prstGeom>
          <a:noFill/>
          <a:ln w="6350">
            <a:solidFill>
              <a:srgbClr val="E5DCCB"/>
            </a:solidFill>
            <a:prstDash val="dash"/>
          </a:ln>
        </p:spPr>
      </p:sp>
      <p:sp>
        <p:nvSpPr>
          <p:cNvPr id="78" name="Text 75"/>
          <p:cNvSpPr/>
          <p:nvPr/>
        </p:nvSpPr>
        <p:spPr>
          <a:xfrm>
            <a:off x="7589520" y="4718304"/>
            <a:ext cx="3001975" cy="274320"/>
          </a:xfrm>
          <a:prstGeom prst="rect">
            <a:avLst/>
          </a:prstGeom>
          <a:noFill/>
          <a:ln/>
        </p:spPr>
        <p:txBody>
          <a:bodyPr wrap="square" lIns="0" tIns="0" rIns="0" bIns="0" rtlCol="0" anchor="ctr"/>
          <a:lstStyle/>
          <a:p>
            <a:pPr indent="0" marL="0">
              <a:buNone/>
            </a:pPr>
            <a:r>
              <a:rPr lang="en-US" sz="1000" dirty="0">
                <a:solidFill>
                  <a:srgbClr val="54606F"/>
                </a:solidFill>
                <a:latin typeface="Nunito Sans" pitchFamily="34" charset="0"/>
                <a:ea typeface="Nunito Sans" pitchFamily="34" charset="-122"/>
                <a:cs typeface="Nunito Sans" pitchFamily="34" charset="-120"/>
              </a:rPr>
              <a:t>Organic India</a:t>
            </a:r>
            <a:endParaRPr lang="en-US" sz="1000" dirty="0"/>
          </a:p>
        </p:txBody>
      </p:sp>
      <p:sp>
        <p:nvSpPr>
          <p:cNvPr id="79" name="Text 76"/>
          <p:cNvSpPr/>
          <p:nvPr/>
        </p:nvSpPr>
        <p:spPr>
          <a:xfrm>
            <a:off x="10591495" y="4718304"/>
            <a:ext cx="1097280" cy="274320"/>
          </a:xfrm>
          <a:prstGeom prst="rect">
            <a:avLst/>
          </a:prstGeom>
          <a:noFill/>
          <a:ln/>
        </p:spPr>
        <p:txBody>
          <a:bodyPr wrap="square" lIns="0" tIns="0" rIns="0" bIns="0" rtlCol="0" anchor="ctr"/>
          <a:lstStyle/>
          <a:p>
            <a:pPr algn="r" indent="0" marL="0">
              <a:buNone/>
            </a:pPr>
            <a:r>
              <a:rPr lang="en-US" sz="1200" dirty="0">
                <a:solidFill>
                  <a:srgbClr val="0C1A2B"/>
                </a:solidFill>
                <a:latin typeface="Archivo Black" pitchFamily="34" charset="0"/>
                <a:ea typeface="Archivo Black" pitchFamily="34" charset="-122"/>
                <a:cs typeface="Archivo Black" pitchFamily="34" charset="-120"/>
              </a:rPr>
              <a:t>7/10</a:t>
            </a:r>
            <a:endParaRPr lang="en-US" sz="1200" dirty="0"/>
          </a:p>
        </p:txBody>
      </p:sp>
      <p:sp>
        <p:nvSpPr>
          <p:cNvPr id="80" name="Shape 77"/>
          <p:cNvSpPr/>
          <p:nvPr/>
        </p:nvSpPr>
        <p:spPr>
          <a:xfrm>
            <a:off x="7589520" y="5029200"/>
            <a:ext cx="4099255" cy="0"/>
          </a:xfrm>
          <a:prstGeom prst="line">
            <a:avLst/>
          </a:prstGeom>
          <a:noFill/>
          <a:ln w="6350">
            <a:solidFill>
              <a:srgbClr val="E5DCCB"/>
            </a:solidFill>
            <a:prstDash val="dash"/>
          </a:ln>
        </p:spPr>
      </p:sp>
      <p:sp>
        <p:nvSpPr>
          <p:cNvPr id="81" name="Text 78"/>
          <p:cNvSpPr/>
          <p:nvPr/>
        </p:nvSpPr>
        <p:spPr>
          <a:xfrm>
            <a:off x="7589520" y="5102352"/>
            <a:ext cx="3001975" cy="274320"/>
          </a:xfrm>
          <a:prstGeom prst="rect">
            <a:avLst/>
          </a:prstGeom>
          <a:noFill/>
          <a:ln/>
        </p:spPr>
        <p:txBody>
          <a:bodyPr wrap="square" lIns="0" tIns="0" rIns="0" bIns="0" rtlCol="0" anchor="ctr"/>
          <a:lstStyle/>
          <a:p>
            <a:pPr indent="0" marL="0">
              <a:buNone/>
            </a:pPr>
            <a:r>
              <a:rPr lang="en-US" sz="1000" dirty="0">
                <a:solidFill>
                  <a:srgbClr val="54606F"/>
                </a:solidFill>
                <a:latin typeface="Nunito Sans" pitchFamily="34" charset="0"/>
                <a:ea typeface="Nunito Sans" pitchFamily="34" charset="-122"/>
                <a:cs typeface="Nunito Sans" pitchFamily="34" charset="-120"/>
              </a:rPr>
              <a:t>24 Mantra</a:t>
            </a:r>
            <a:endParaRPr lang="en-US" sz="1000" dirty="0"/>
          </a:p>
        </p:txBody>
      </p:sp>
      <p:sp>
        <p:nvSpPr>
          <p:cNvPr id="82" name="Text 79"/>
          <p:cNvSpPr/>
          <p:nvPr/>
        </p:nvSpPr>
        <p:spPr>
          <a:xfrm>
            <a:off x="10591495" y="5102352"/>
            <a:ext cx="1097280" cy="274320"/>
          </a:xfrm>
          <a:prstGeom prst="rect">
            <a:avLst/>
          </a:prstGeom>
          <a:noFill/>
          <a:ln/>
        </p:spPr>
        <p:txBody>
          <a:bodyPr wrap="square" lIns="0" tIns="0" rIns="0" bIns="0" rtlCol="0" anchor="ctr"/>
          <a:lstStyle/>
          <a:p>
            <a:pPr algn="r" indent="0" marL="0">
              <a:buNone/>
            </a:pPr>
            <a:r>
              <a:rPr lang="en-US" sz="1200" dirty="0">
                <a:solidFill>
                  <a:srgbClr val="0C1A2B"/>
                </a:solidFill>
                <a:latin typeface="Archivo Black" pitchFamily="34" charset="0"/>
                <a:ea typeface="Archivo Black" pitchFamily="34" charset="-122"/>
                <a:cs typeface="Archivo Black" pitchFamily="34" charset="-120"/>
              </a:rPr>
              <a:t>6/10</a:t>
            </a:r>
            <a:endParaRPr lang="en-US" sz="1200" dirty="0"/>
          </a:p>
        </p:txBody>
      </p:sp>
      <p:sp>
        <p:nvSpPr>
          <p:cNvPr id="83" name="Shape 80"/>
          <p:cNvSpPr/>
          <p:nvPr/>
        </p:nvSpPr>
        <p:spPr>
          <a:xfrm>
            <a:off x="7589520" y="5413248"/>
            <a:ext cx="4099255" cy="0"/>
          </a:xfrm>
          <a:prstGeom prst="line">
            <a:avLst/>
          </a:prstGeom>
          <a:noFill/>
          <a:ln w="6350">
            <a:solidFill>
              <a:srgbClr val="E5DCCB"/>
            </a:solidFill>
            <a:prstDash val="dash"/>
          </a:ln>
        </p:spPr>
      </p:sp>
      <p:sp>
        <p:nvSpPr>
          <p:cNvPr id="84" name="Shape 81"/>
          <p:cNvSpPr/>
          <p:nvPr/>
        </p:nvSpPr>
        <p:spPr>
          <a:xfrm>
            <a:off x="7589520" y="5650992"/>
            <a:ext cx="4099255" cy="1005840"/>
          </a:xfrm>
          <a:prstGeom prst="roundRect">
            <a:avLst>
              <a:gd name="adj" fmla="val 9091"/>
            </a:avLst>
          </a:prstGeom>
          <a:solidFill>
            <a:srgbClr val="FBE9E3"/>
          </a:solidFill>
          <a:ln w="6350">
            <a:solidFill>
              <a:srgbClr val="FBE9E3"/>
            </a:solidFill>
            <a:prstDash val="solid"/>
          </a:ln>
        </p:spPr>
      </p:sp>
      <p:sp>
        <p:nvSpPr>
          <p:cNvPr id="85" name="Text 82"/>
          <p:cNvSpPr/>
          <p:nvPr/>
        </p:nvSpPr>
        <p:spPr>
          <a:xfrm>
            <a:off x="7790688" y="5769864"/>
            <a:ext cx="3696919" cy="795528"/>
          </a:xfrm>
          <a:prstGeom prst="rect">
            <a:avLst/>
          </a:prstGeom>
          <a:noFill/>
          <a:ln/>
        </p:spPr>
        <p:txBody>
          <a:bodyPr wrap="square" lIns="0" tIns="0" rIns="0" bIns="0" rtlCol="0" anchor="t"/>
          <a:lstStyle/>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24 Mantra 6/10 — expected to reach 9/10 within 12 to 18 months of ITC integration.</a:t>
            </a:r>
            <a:endParaRPr lang="en-US" sz="900" dirty="0"/>
          </a:p>
        </p:txBody>
      </p:sp>
      <p:sp>
        <p:nvSpPr>
          <p:cNvPr id="86" name="Shape 83"/>
          <p:cNvSpPr/>
          <p:nvPr/>
        </p:nvSpPr>
        <p:spPr>
          <a:xfrm>
            <a:off x="502920" y="6492240"/>
            <a:ext cx="11185855" cy="0"/>
          </a:xfrm>
          <a:prstGeom prst="line">
            <a:avLst/>
          </a:prstGeom>
          <a:noFill/>
          <a:ln w="9525">
            <a:solidFill>
              <a:srgbClr val="E5DCCB"/>
            </a:solidFill>
            <a:prstDash val="solid"/>
          </a:ln>
        </p:spPr>
      </p:sp>
      <p:sp>
        <p:nvSpPr>
          <p:cNvPr id="87" name="Text 84"/>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THE CATEGORY</a:t>
            </a:r>
            <a:endParaRPr lang="en-US" sz="800" dirty="0"/>
          </a:p>
        </p:txBody>
      </p:sp>
      <p:sp>
        <p:nvSpPr>
          <p:cNvPr id="88" name="Text 85"/>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04</a:t>
            </a:r>
            <a:endParaRPr lang="en-US" sz="1100" dirty="0"/>
          </a:p>
        </p:txBody>
      </p:sp>
      <p:sp>
        <p:nvSpPr>
          <p:cNvPr id="89" name="Text 86"/>
          <p:cNvSpPr/>
          <p:nvPr/>
        </p:nvSpPr>
        <p:spPr>
          <a:xfrm>
            <a:off x="6400800" y="6528816"/>
            <a:ext cx="3657600" cy="237744"/>
          </a:xfrm>
          <a:prstGeom prst="rect">
            <a:avLst/>
          </a:prstGeom>
          <a:noFill/>
          <a:ln/>
        </p:spPr>
        <p:txBody>
          <a:bodyPr wrap="square" lIns="0" tIns="0" rIns="0" bIns="0" rtlCol="0" anchor="ctr"/>
          <a:lstStyle/>
          <a:p>
            <a:pPr algn="r" indent="0" marL="0">
              <a:buNone/>
            </a:pPr>
            <a:r>
              <a:rPr lang="en-US" sz="750" dirty="0">
                <a:solidFill>
                  <a:srgbClr val="8B95A2"/>
                </a:solidFill>
                <a:latin typeface="Nunito Sans" pitchFamily="34" charset="0"/>
                <a:ea typeface="Nunito Sans" pitchFamily="34" charset="-122"/>
                <a:cs typeface="Nunito Sans" pitchFamily="34" charset="-120"/>
              </a:rPr>
              <a:t>Source: *Technopak Report 2022-23</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2249424"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2249424"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UNTAPPED OPPORTUNITY</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500" dirty="0">
                <a:solidFill>
                  <a:srgbClr val="0C1A2B"/>
                </a:solidFill>
                <a:latin typeface="Archivo Black" pitchFamily="34" charset="0"/>
                <a:ea typeface="Archivo Black" pitchFamily="34" charset="-122"/>
                <a:cs typeface="Archivo Black" pitchFamily="34" charset="-120"/>
              </a:rPr>
              <a:t>DeHaat Honest Farms: A Pesticide-free, System-led Challenger.</a:t>
            </a:r>
            <a:endParaRPr lang="en-US" sz="2500" dirty="0"/>
          </a:p>
        </p:txBody>
      </p:sp>
      <p:sp>
        <p:nvSpPr>
          <p:cNvPr id="6" name="Text 3"/>
          <p:cNvSpPr/>
          <p:nvPr/>
        </p:nvSpPr>
        <p:spPr>
          <a:xfrm>
            <a:off x="502920" y="1444752"/>
            <a:ext cx="7315200" cy="219456"/>
          </a:xfrm>
          <a:prstGeom prst="rect">
            <a:avLst/>
          </a:prstGeom>
          <a:noFill/>
          <a:ln/>
        </p:spPr>
        <p:txBody>
          <a:bodyPr wrap="square" lIns="0" tIns="0" rIns="0" bIns="0" rtlCol="0" anchor="ctr"/>
          <a:lstStyle/>
          <a:p>
            <a:pPr indent="0" marL="0">
              <a:buNone/>
            </a:pPr>
            <a:r>
              <a:rPr lang="en-US" sz="900" b="1" spc="160" kern="0" dirty="0">
                <a:solidFill>
                  <a:srgbClr val="8B95A2"/>
                </a:solidFill>
                <a:latin typeface="Nunito Sans" pitchFamily="34" charset="0"/>
                <a:ea typeface="Nunito Sans" pitchFamily="34" charset="-122"/>
                <a:cs typeface="Nunito Sans" pitchFamily="34" charset="-120"/>
              </a:rPr>
              <a:t>UNTAPPED OPPORTUNITY FOR DEHAAT HONEST FARMS.</a:t>
            </a:r>
            <a:endParaRPr lang="en-US" sz="900" dirty="0"/>
          </a:p>
        </p:txBody>
      </p:sp>
      <p:sp>
        <p:nvSpPr>
          <p:cNvPr id="7" name="Shape 4"/>
          <p:cNvSpPr/>
          <p:nvPr/>
        </p:nvSpPr>
        <p:spPr>
          <a:xfrm>
            <a:off x="502920" y="1737360"/>
            <a:ext cx="6858000" cy="1060704"/>
          </a:xfrm>
          <a:prstGeom prst="roundRect">
            <a:avLst>
              <a:gd name="adj" fmla="val 8621"/>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8" name="Shape 5"/>
          <p:cNvSpPr/>
          <p:nvPr/>
        </p:nvSpPr>
        <p:spPr>
          <a:xfrm>
            <a:off x="704088" y="1938528"/>
            <a:ext cx="402336" cy="402336"/>
          </a:xfrm>
          <a:prstGeom prst="roundRect">
            <a:avLst>
              <a:gd name="adj" fmla="val 18182"/>
            </a:avLst>
          </a:prstGeom>
          <a:solidFill>
            <a:srgbClr val="177A46"/>
          </a:solidFill>
          <a:ln w="6350">
            <a:solidFill>
              <a:srgbClr val="177A46"/>
            </a:solidFill>
            <a:prstDash val="solid"/>
          </a:ln>
        </p:spPr>
      </p:sp>
      <p:sp>
        <p:nvSpPr>
          <p:cNvPr id="9" name="Text 6"/>
          <p:cNvSpPr/>
          <p:nvPr/>
        </p:nvSpPr>
        <p:spPr>
          <a:xfrm>
            <a:off x="704088" y="1938528"/>
            <a:ext cx="402336" cy="402336"/>
          </a:xfrm>
          <a:prstGeom prst="rect">
            <a:avLst/>
          </a:prstGeom>
          <a:noFill/>
          <a:ln/>
        </p:spPr>
        <p:txBody>
          <a:bodyPr wrap="square" lIns="0" tIns="0" rIns="0" bIns="0" rtlCol="0" anchor="ctr"/>
          <a:lstStyle/>
          <a:p>
            <a:pPr algn="ctr" indent="0" marL="0">
              <a:buNone/>
            </a:pPr>
            <a:r>
              <a:rPr lang="en-US" sz="900" dirty="0">
                <a:solidFill>
                  <a:srgbClr val="FFFFFF"/>
                </a:solidFill>
                <a:latin typeface="Archivo Black" pitchFamily="34" charset="0"/>
                <a:ea typeface="Archivo Black" pitchFamily="34" charset="-122"/>
                <a:cs typeface="Archivo Black" pitchFamily="34" charset="-120"/>
              </a:rPr>
              <a:t>01</a:t>
            </a:r>
            <a:endParaRPr lang="en-US" sz="900" dirty="0"/>
          </a:p>
        </p:txBody>
      </p:sp>
      <p:sp>
        <p:nvSpPr>
          <p:cNvPr id="10" name="Text 7"/>
          <p:cNvSpPr/>
          <p:nvPr/>
        </p:nvSpPr>
        <p:spPr>
          <a:xfrm>
            <a:off x="1234440" y="1883664"/>
            <a:ext cx="5943600" cy="274320"/>
          </a:xfrm>
          <a:prstGeom prst="rect">
            <a:avLst/>
          </a:prstGeom>
          <a:noFill/>
          <a:ln/>
        </p:spPr>
        <p:txBody>
          <a:bodyPr wrap="square" lIns="0" tIns="0" rIns="0" bIns="0" rtlCol="0" anchor="t"/>
          <a:lstStyle/>
          <a:p>
            <a:pPr indent="0" marL="0">
              <a:buNone/>
            </a:pPr>
            <a:r>
              <a:rPr lang="en-US" sz="1150" b="1" dirty="0">
                <a:solidFill>
                  <a:srgbClr val="0C1A2B"/>
                </a:solidFill>
                <a:latin typeface="Nunito Sans" pitchFamily="34" charset="0"/>
                <a:ea typeface="Nunito Sans" pitchFamily="34" charset="-122"/>
                <a:cs typeface="Nunito Sans" pitchFamily="34" charset="-120"/>
              </a:rPr>
              <a:t>AgriTech-embedded input control</a:t>
            </a:r>
            <a:endParaRPr lang="en-US" sz="1150" dirty="0"/>
          </a:p>
        </p:txBody>
      </p:sp>
      <p:sp>
        <p:nvSpPr>
          <p:cNvPr id="11" name="Text 8"/>
          <p:cNvSpPr/>
          <p:nvPr/>
        </p:nvSpPr>
        <p:spPr>
          <a:xfrm>
            <a:off x="1234440" y="2157984"/>
            <a:ext cx="5943600" cy="329184"/>
          </a:xfrm>
          <a:prstGeom prst="rect">
            <a:avLst/>
          </a:prstGeom>
          <a:noFill/>
          <a:ln/>
        </p:spPr>
        <p:txBody>
          <a:bodyPr wrap="square" lIns="0" tIns="0" rIns="0" bIns="0" rtlCol="0" anchor="t"/>
          <a:lstStyle/>
          <a:p>
            <a:pPr indent="0" marL="0">
              <a:lnSpc>
                <a:spcPct val="106000"/>
              </a:lnSpc>
              <a:buNone/>
            </a:pPr>
            <a:r>
              <a:rPr lang="en-US" sz="950" dirty="0">
                <a:solidFill>
                  <a:srgbClr val="54606F"/>
                </a:solidFill>
                <a:latin typeface="Nunito Sans" pitchFamily="34" charset="0"/>
                <a:ea typeface="Nunito Sans" pitchFamily="34" charset="-122"/>
                <a:cs typeface="Nunito Sans" pitchFamily="34" charset="-120"/>
              </a:rPr>
              <a:t>We prevent pesticide use at source, rather than testing for it afterward</a:t>
            </a:r>
            <a:endParaRPr lang="en-US" sz="950" dirty="0"/>
          </a:p>
        </p:txBody>
      </p:sp>
      <p:sp>
        <p:nvSpPr>
          <p:cNvPr id="12" name="Text 9"/>
          <p:cNvSpPr/>
          <p:nvPr/>
        </p:nvSpPr>
        <p:spPr>
          <a:xfrm>
            <a:off x="1234440" y="2505456"/>
            <a:ext cx="5943600" cy="219456"/>
          </a:xfrm>
          <a:prstGeom prst="rect">
            <a:avLst/>
          </a:prstGeom>
          <a:noFill/>
          <a:ln/>
        </p:spPr>
        <p:txBody>
          <a:bodyPr wrap="square" lIns="0" tIns="0" rIns="0" bIns="0" rtlCol="0" anchor="t"/>
          <a:lstStyle/>
          <a:p>
            <a:pPr indent="0" marL="0">
              <a:buNone/>
            </a:pPr>
            <a:r>
              <a:rPr lang="en-US" sz="800" b="1" spc="80" kern="0" dirty="0">
                <a:solidFill>
                  <a:srgbClr val="9E3A24"/>
                </a:solidFill>
                <a:latin typeface="Nunito Sans" pitchFamily="34" charset="0"/>
                <a:ea typeface="Nunito Sans" pitchFamily="34" charset="-122"/>
                <a:cs typeface="Nunito Sans" pitchFamily="34" charset="-120"/>
              </a:rPr>
              <a:t>CURRENT UTILIZATION IN BRAND COMMUNICATION: NEAR ZERO</a:t>
            </a:r>
            <a:endParaRPr lang="en-US" sz="800" dirty="0"/>
          </a:p>
        </p:txBody>
      </p:sp>
      <p:sp>
        <p:nvSpPr>
          <p:cNvPr id="13" name="Shape 10"/>
          <p:cNvSpPr/>
          <p:nvPr/>
        </p:nvSpPr>
        <p:spPr>
          <a:xfrm>
            <a:off x="502920" y="2926080"/>
            <a:ext cx="6858000" cy="1060704"/>
          </a:xfrm>
          <a:prstGeom prst="roundRect">
            <a:avLst>
              <a:gd name="adj" fmla="val 8621"/>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4" name="Shape 11"/>
          <p:cNvSpPr/>
          <p:nvPr/>
        </p:nvSpPr>
        <p:spPr>
          <a:xfrm>
            <a:off x="704088" y="3127248"/>
            <a:ext cx="402336" cy="402336"/>
          </a:xfrm>
          <a:prstGeom prst="roundRect">
            <a:avLst>
              <a:gd name="adj" fmla="val 18182"/>
            </a:avLst>
          </a:prstGeom>
          <a:solidFill>
            <a:srgbClr val="177A46"/>
          </a:solidFill>
          <a:ln w="6350">
            <a:solidFill>
              <a:srgbClr val="177A46"/>
            </a:solidFill>
            <a:prstDash val="solid"/>
          </a:ln>
        </p:spPr>
      </p:sp>
      <p:sp>
        <p:nvSpPr>
          <p:cNvPr id="15" name="Text 12"/>
          <p:cNvSpPr/>
          <p:nvPr/>
        </p:nvSpPr>
        <p:spPr>
          <a:xfrm>
            <a:off x="704088" y="3127248"/>
            <a:ext cx="402336" cy="402336"/>
          </a:xfrm>
          <a:prstGeom prst="rect">
            <a:avLst/>
          </a:prstGeom>
          <a:noFill/>
          <a:ln/>
        </p:spPr>
        <p:txBody>
          <a:bodyPr wrap="square" lIns="0" tIns="0" rIns="0" bIns="0" rtlCol="0" anchor="ctr"/>
          <a:lstStyle/>
          <a:p>
            <a:pPr algn="ctr" indent="0" marL="0">
              <a:buNone/>
            </a:pPr>
            <a:r>
              <a:rPr lang="en-US" sz="900" dirty="0">
                <a:solidFill>
                  <a:srgbClr val="FFFFFF"/>
                </a:solidFill>
                <a:latin typeface="Archivo Black" pitchFamily="34" charset="0"/>
                <a:ea typeface="Archivo Black" pitchFamily="34" charset="-122"/>
                <a:cs typeface="Archivo Black" pitchFamily="34" charset="-120"/>
              </a:rPr>
              <a:t>02</a:t>
            </a:r>
            <a:endParaRPr lang="en-US" sz="900" dirty="0"/>
          </a:p>
        </p:txBody>
      </p:sp>
      <p:sp>
        <p:nvSpPr>
          <p:cNvPr id="16" name="Text 13"/>
          <p:cNvSpPr/>
          <p:nvPr/>
        </p:nvSpPr>
        <p:spPr>
          <a:xfrm>
            <a:off x="1234440" y="3072384"/>
            <a:ext cx="5943600" cy="274320"/>
          </a:xfrm>
          <a:prstGeom prst="rect">
            <a:avLst/>
          </a:prstGeom>
          <a:noFill/>
          <a:ln/>
        </p:spPr>
        <p:txBody>
          <a:bodyPr wrap="square" lIns="0" tIns="0" rIns="0" bIns="0" rtlCol="0" anchor="t"/>
          <a:lstStyle/>
          <a:p>
            <a:pPr indent="0" marL="0">
              <a:buNone/>
            </a:pPr>
            <a:r>
              <a:rPr lang="en-US" sz="1150" b="1" dirty="0">
                <a:solidFill>
                  <a:srgbClr val="0C1A2B"/>
                </a:solidFill>
                <a:latin typeface="Nunito Sans" pitchFamily="34" charset="0"/>
                <a:ea typeface="Nunito Sans" pitchFamily="34" charset="-122"/>
                <a:cs typeface="Nunito Sans" pitchFamily="34" charset="-120"/>
              </a:rPr>
              <a:t>Continuous quality intelligence across 2M farms</a:t>
            </a:r>
            <a:endParaRPr lang="en-US" sz="1150" dirty="0"/>
          </a:p>
        </p:txBody>
      </p:sp>
      <p:sp>
        <p:nvSpPr>
          <p:cNvPr id="17" name="Text 14"/>
          <p:cNvSpPr/>
          <p:nvPr/>
        </p:nvSpPr>
        <p:spPr>
          <a:xfrm>
            <a:off x="1234440" y="3346704"/>
            <a:ext cx="5943600" cy="329184"/>
          </a:xfrm>
          <a:prstGeom prst="rect">
            <a:avLst/>
          </a:prstGeom>
          <a:noFill/>
          <a:ln/>
        </p:spPr>
        <p:txBody>
          <a:bodyPr wrap="square" lIns="0" tIns="0" rIns="0" bIns="0" rtlCol="0" anchor="t"/>
          <a:lstStyle/>
          <a:p>
            <a:pPr indent="0" marL="0">
              <a:lnSpc>
                <a:spcPct val="106000"/>
              </a:lnSpc>
              <a:buNone/>
            </a:pPr>
            <a:r>
              <a:rPr lang="en-US" sz="950" dirty="0">
                <a:solidFill>
                  <a:srgbClr val="54606F"/>
                </a:solidFill>
                <a:latin typeface="Nunito Sans" pitchFamily="34" charset="0"/>
                <a:ea typeface="Nunito Sans" pitchFamily="34" charset="-122"/>
                <a:cs typeface="Nunito Sans" pitchFamily="34" charset="-120"/>
              </a:rPr>
              <a:t>Quality trajectory is known before harvest, not after rejection</a:t>
            </a:r>
            <a:endParaRPr lang="en-US" sz="950" dirty="0"/>
          </a:p>
        </p:txBody>
      </p:sp>
      <p:sp>
        <p:nvSpPr>
          <p:cNvPr id="18" name="Text 15"/>
          <p:cNvSpPr/>
          <p:nvPr/>
        </p:nvSpPr>
        <p:spPr>
          <a:xfrm>
            <a:off x="1234440" y="3694176"/>
            <a:ext cx="5943600" cy="219456"/>
          </a:xfrm>
          <a:prstGeom prst="rect">
            <a:avLst/>
          </a:prstGeom>
          <a:noFill/>
          <a:ln/>
        </p:spPr>
        <p:txBody>
          <a:bodyPr wrap="square" lIns="0" tIns="0" rIns="0" bIns="0" rtlCol="0" anchor="t"/>
          <a:lstStyle/>
          <a:p>
            <a:pPr indent="0" marL="0">
              <a:buNone/>
            </a:pPr>
            <a:r>
              <a:rPr lang="en-US" sz="800" b="1" spc="80" kern="0" dirty="0">
                <a:solidFill>
                  <a:srgbClr val="9E3A24"/>
                </a:solidFill>
                <a:latin typeface="Nunito Sans" pitchFamily="34" charset="0"/>
                <a:ea typeface="Nunito Sans" pitchFamily="34" charset="-122"/>
                <a:cs typeface="Nunito Sans" pitchFamily="34" charset="-120"/>
              </a:rPr>
              <a:t>CURRENT UTILIZATION IN BRAND COMMUNICATION: ZERO</a:t>
            </a:r>
            <a:endParaRPr lang="en-US" sz="800" dirty="0"/>
          </a:p>
        </p:txBody>
      </p:sp>
      <p:sp>
        <p:nvSpPr>
          <p:cNvPr id="19" name="Shape 16"/>
          <p:cNvSpPr/>
          <p:nvPr/>
        </p:nvSpPr>
        <p:spPr>
          <a:xfrm>
            <a:off x="502920" y="4114800"/>
            <a:ext cx="6858000" cy="1060704"/>
          </a:xfrm>
          <a:prstGeom prst="roundRect">
            <a:avLst>
              <a:gd name="adj" fmla="val 8621"/>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20" name="Shape 17"/>
          <p:cNvSpPr/>
          <p:nvPr/>
        </p:nvSpPr>
        <p:spPr>
          <a:xfrm>
            <a:off x="704088" y="4315968"/>
            <a:ext cx="402336" cy="402336"/>
          </a:xfrm>
          <a:prstGeom prst="roundRect">
            <a:avLst>
              <a:gd name="adj" fmla="val 18182"/>
            </a:avLst>
          </a:prstGeom>
          <a:solidFill>
            <a:srgbClr val="177A46"/>
          </a:solidFill>
          <a:ln w="6350">
            <a:solidFill>
              <a:srgbClr val="177A46"/>
            </a:solidFill>
            <a:prstDash val="solid"/>
          </a:ln>
        </p:spPr>
      </p:sp>
      <p:sp>
        <p:nvSpPr>
          <p:cNvPr id="21" name="Text 18"/>
          <p:cNvSpPr/>
          <p:nvPr/>
        </p:nvSpPr>
        <p:spPr>
          <a:xfrm>
            <a:off x="704088" y="4315968"/>
            <a:ext cx="402336" cy="402336"/>
          </a:xfrm>
          <a:prstGeom prst="rect">
            <a:avLst/>
          </a:prstGeom>
          <a:noFill/>
          <a:ln/>
        </p:spPr>
        <p:txBody>
          <a:bodyPr wrap="square" lIns="0" tIns="0" rIns="0" bIns="0" rtlCol="0" anchor="ctr"/>
          <a:lstStyle/>
          <a:p>
            <a:pPr algn="ctr" indent="0" marL="0">
              <a:buNone/>
            </a:pPr>
            <a:r>
              <a:rPr lang="en-US" sz="900" dirty="0">
                <a:solidFill>
                  <a:srgbClr val="FFFFFF"/>
                </a:solidFill>
                <a:latin typeface="Archivo Black" pitchFamily="34" charset="0"/>
                <a:ea typeface="Archivo Black" pitchFamily="34" charset="-122"/>
                <a:cs typeface="Archivo Black" pitchFamily="34" charset="-120"/>
              </a:rPr>
              <a:t>03</a:t>
            </a:r>
            <a:endParaRPr lang="en-US" sz="900" dirty="0"/>
          </a:p>
        </p:txBody>
      </p:sp>
      <p:sp>
        <p:nvSpPr>
          <p:cNvPr id="22" name="Text 19"/>
          <p:cNvSpPr/>
          <p:nvPr/>
        </p:nvSpPr>
        <p:spPr>
          <a:xfrm>
            <a:off x="1234440" y="4261104"/>
            <a:ext cx="5943600" cy="274320"/>
          </a:xfrm>
          <a:prstGeom prst="rect">
            <a:avLst/>
          </a:prstGeom>
          <a:noFill/>
          <a:ln/>
        </p:spPr>
        <p:txBody>
          <a:bodyPr wrap="square" lIns="0" tIns="0" rIns="0" bIns="0" rtlCol="0" anchor="t"/>
          <a:lstStyle/>
          <a:p>
            <a:pPr indent="0" marL="0">
              <a:buNone/>
            </a:pPr>
            <a:r>
              <a:rPr lang="en-US" sz="1150" b="1" dirty="0">
                <a:solidFill>
                  <a:srgbClr val="0C1A2B"/>
                </a:solidFill>
                <a:latin typeface="Nunito Sans" pitchFamily="34" charset="0"/>
                <a:ea typeface="Nunito Sans" pitchFamily="34" charset="-122"/>
                <a:cs typeface="Nunito Sans" pitchFamily="34" charset="-120"/>
              </a:rPr>
              <a:t>Farmer economic ecosystem</a:t>
            </a:r>
            <a:endParaRPr lang="en-US" sz="1150" dirty="0"/>
          </a:p>
        </p:txBody>
      </p:sp>
      <p:sp>
        <p:nvSpPr>
          <p:cNvPr id="23" name="Text 20"/>
          <p:cNvSpPr/>
          <p:nvPr/>
        </p:nvSpPr>
        <p:spPr>
          <a:xfrm>
            <a:off x="1234440" y="4535424"/>
            <a:ext cx="5943600" cy="329184"/>
          </a:xfrm>
          <a:prstGeom prst="rect">
            <a:avLst/>
          </a:prstGeom>
          <a:noFill/>
          <a:ln/>
        </p:spPr>
        <p:txBody>
          <a:bodyPr wrap="square" lIns="0" tIns="0" rIns="0" bIns="0" rtlCol="0" anchor="t"/>
          <a:lstStyle/>
          <a:p>
            <a:pPr indent="0" marL="0">
              <a:lnSpc>
                <a:spcPct val="106000"/>
              </a:lnSpc>
              <a:buNone/>
            </a:pPr>
            <a:r>
              <a:rPr lang="en-US" sz="950" dirty="0">
                <a:solidFill>
                  <a:srgbClr val="54606F"/>
                </a:solidFill>
                <a:latin typeface="Nunito Sans" pitchFamily="34" charset="0"/>
                <a:ea typeface="Nunito Sans" pitchFamily="34" charset="-122"/>
                <a:cs typeface="Nunito Sans" pitchFamily="34" charset="-120"/>
              </a:rPr>
              <a:t>Supply exclusivity earned through 30 to 50% better farmer returns</a:t>
            </a:r>
            <a:endParaRPr lang="en-US" sz="950" dirty="0"/>
          </a:p>
        </p:txBody>
      </p:sp>
      <p:sp>
        <p:nvSpPr>
          <p:cNvPr id="24" name="Text 21"/>
          <p:cNvSpPr/>
          <p:nvPr/>
        </p:nvSpPr>
        <p:spPr>
          <a:xfrm>
            <a:off x="1234440" y="4882896"/>
            <a:ext cx="5943600" cy="219456"/>
          </a:xfrm>
          <a:prstGeom prst="rect">
            <a:avLst/>
          </a:prstGeom>
          <a:noFill/>
          <a:ln/>
        </p:spPr>
        <p:txBody>
          <a:bodyPr wrap="square" lIns="0" tIns="0" rIns="0" bIns="0" rtlCol="0" anchor="t"/>
          <a:lstStyle/>
          <a:p>
            <a:pPr indent="0" marL="0">
              <a:buNone/>
            </a:pPr>
            <a:r>
              <a:rPr lang="en-US" sz="800" b="1" spc="80" kern="0" dirty="0">
                <a:solidFill>
                  <a:srgbClr val="9E3A24"/>
                </a:solidFill>
                <a:latin typeface="Nunito Sans" pitchFamily="34" charset="0"/>
                <a:ea typeface="Nunito Sans" pitchFamily="34" charset="-122"/>
                <a:cs typeface="Nunito Sans" pitchFamily="34" charset="-120"/>
              </a:rPr>
              <a:t>CURRENT UTILIZATION IN BRAND COMMUNICATION: MINIMAL</a:t>
            </a:r>
            <a:endParaRPr lang="en-US" sz="800" dirty="0"/>
          </a:p>
        </p:txBody>
      </p:sp>
      <p:sp>
        <p:nvSpPr>
          <p:cNvPr id="25" name="Shape 22"/>
          <p:cNvSpPr/>
          <p:nvPr/>
        </p:nvSpPr>
        <p:spPr>
          <a:xfrm>
            <a:off x="502920" y="5303520"/>
            <a:ext cx="6858000" cy="804672"/>
          </a:xfrm>
          <a:prstGeom prst="roundRect">
            <a:avLst>
              <a:gd name="adj" fmla="val 11364"/>
            </a:avLst>
          </a:prstGeom>
          <a:solidFill>
            <a:srgbClr val="EAF0F8"/>
          </a:solidFill>
          <a:ln w="6350">
            <a:solidFill>
              <a:srgbClr val="EAF0F8"/>
            </a:solidFill>
            <a:prstDash val="solid"/>
          </a:ln>
        </p:spPr>
      </p:sp>
      <p:sp>
        <p:nvSpPr>
          <p:cNvPr id="26" name="Text 23"/>
          <p:cNvSpPr/>
          <p:nvPr/>
        </p:nvSpPr>
        <p:spPr>
          <a:xfrm>
            <a:off x="704088" y="5422392"/>
            <a:ext cx="6455664" cy="594360"/>
          </a:xfrm>
          <a:prstGeom prst="rect">
            <a:avLst/>
          </a:prstGeom>
          <a:noFill/>
          <a:ln/>
        </p:spPr>
        <p:txBody>
          <a:bodyPr wrap="square" lIns="0" tIns="0" rIns="0" bIns="0" rtlCol="0" anchor="t"/>
          <a:lstStyle/>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Proof comes from controlling procurement and processing, not from holding a certificate. No brand occupies it today, and DHF's own Shelf Price is inconsistent across platforms.</a:t>
            </a:r>
            <a:endParaRPr lang="en-US" sz="900" dirty="0"/>
          </a:p>
        </p:txBody>
      </p:sp>
      <p:pic>
        <p:nvPicPr>
          <p:cNvPr id="27" name="Image 1" descr="/home/user/hopper-tessarakt/site/assets/pack-toordal.jpg">    </p:cNvPr>
          <p:cNvPicPr>
            <a:picLocks noChangeAspect="1"/>
          </p:cNvPicPr>
          <p:nvPr/>
        </p:nvPicPr>
        <p:blipFill>
          <a:blip r:embed="rId2"/>
          <a:srcRect l="0" r="0" t="0" b="0"/>
          <a:stretch/>
        </p:blipFill>
        <p:spPr>
          <a:xfrm>
            <a:off x="8701888" y="1737360"/>
            <a:ext cx="1920240" cy="2286000"/>
          </a:xfrm>
          <a:prstGeom prst="rect">
            <a:avLst/>
          </a:prstGeom>
        </p:spPr>
      </p:pic>
      <p:sp>
        <p:nvSpPr>
          <p:cNvPr id="28" name="Shape 24"/>
          <p:cNvSpPr/>
          <p:nvPr/>
        </p:nvSpPr>
        <p:spPr>
          <a:xfrm>
            <a:off x="7635240" y="4160520"/>
            <a:ext cx="4053535" cy="1947672"/>
          </a:xfrm>
          <a:prstGeom prst="roundRect">
            <a:avLst>
              <a:gd name="adj" fmla="val 4695"/>
            </a:avLst>
          </a:prstGeom>
          <a:solidFill>
            <a:srgbClr val="FAF0DA"/>
          </a:solidFill>
          <a:ln w="6350">
            <a:solidFill>
              <a:srgbClr val="FAF0DA"/>
            </a:solidFill>
            <a:prstDash val="solid"/>
          </a:ln>
        </p:spPr>
      </p:sp>
      <p:sp>
        <p:nvSpPr>
          <p:cNvPr id="29" name="Text 25"/>
          <p:cNvSpPr/>
          <p:nvPr/>
        </p:nvSpPr>
        <p:spPr>
          <a:xfrm>
            <a:off x="7836408" y="4279392"/>
            <a:ext cx="3651199" cy="402336"/>
          </a:xfrm>
          <a:prstGeom prst="rect">
            <a:avLst/>
          </a:prstGeom>
          <a:noFill/>
          <a:ln/>
        </p:spPr>
        <p:txBody>
          <a:bodyPr wrap="square" lIns="0" tIns="0" rIns="0" bIns="0" rtlCol="0" anchor="t"/>
          <a:lstStyle/>
          <a:p>
            <a:pPr indent="0" marL="0">
              <a:lnSpc>
                <a:spcPct val="102000"/>
              </a:lnSpc>
              <a:buNone/>
            </a:pPr>
            <a:r>
              <a:rPr lang="en-US" sz="1050" b="1" dirty="0">
                <a:solidFill>
                  <a:srgbClr val="9E7220"/>
                </a:solidFill>
                <a:latin typeface="Nunito Sans" pitchFamily="34" charset="0"/>
                <a:ea typeface="Nunito Sans" pitchFamily="34" charset="-122"/>
                <a:cs typeface="Nunito Sans" pitchFamily="34" charset="-120"/>
              </a:rPr>
              <a:t>Priced as Accessible - Premium @ ₹150 – ₹250 / kg (Tur Daal for instance)</a:t>
            </a:r>
            <a:endParaRPr lang="en-US" sz="1050" dirty="0"/>
          </a:p>
        </p:txBody>
      </p:sp>
      <p:sp>
        <p:nvSpPr>
          <p:cNvPr id="30" name="Text 26"/>
          <p:cNvSpPr/>
          <p:nvPr/>
        </p:nvSpPr>
        <p:spPr>
          <a:xfrm>
            <a:off x="7836408" y="4709160"/>
            <a:ext cx="3651199" cy="1307592"/>
          </a:xfrm>
          <a:prstGeom prst="rect">
            <a:avLst/>
          </a:prstGeom>
          <a:noFill/>
          <a:ln/>
        </p:spPr>
        <p:txBody>
          <a:bodyPr wrap="square" lIns="0" tIns="0" rIns="0" bIns="0" rtlCol="0" anchor="t"/>
          <a:lstStyle/>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Value and mainstream brands sit at ₹136/- to 157/-; certified organic sits at ₹255/- to 306/-.</a:t>
            </a:r>
            <a:endParaRPr lang="en-US" sz="900" dirty="0"/>
          </a:p>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The corridor between them is empty of trust codes and is already being squeezed from below by BB Royal Organic at ₹157/-.</a:t>
            </a:r>
            <a:endParaRPr lang="en-US" sz="900" dirty="0"/>
          </a:p>
        </p:txBody>
      </p:sp>
      <p:sp>
        <p:nvSpPr>
          <p:cNvPr id="31" name="Shape 27"/>
          <p:cNvSpPr/>
          <p:nvPr/>
        </p:nvSpPr>
        <p:spPr>
          <a:xfrm>
            <a:off x="502920" y="6492240"/>
            <a:ext cx="11185855" cy="0"/>
          </a:xfrm>
          <a:prstGeom prst="line">
            <a:avLst/>
          </a:prstGeom>
          <a:noFill/>
          <a:ln w="9525">
            <a:solidFill>
              <a:srgbClr val="E5DCCB"/>
            </a:solidFill>
            <a:prstDash val="solid"/>
          </a:ln>
        </p:spPr>
      </p:sp>
      <p:sp>
        <p:nvSpPr>
          <p:cNvPr id="32" name="Text 28"/>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THE CATEGORY</a:t>
            </a:r>
            <a:endParaRPr lang="en-US" sz="800" dirty="0"/>
          </a:p>
        </p:txBody>
      </p:sp>
      <p:sp>
        <p:nvSpPr>
          <p:cNvPr id="33" name="Text 29"/>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05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6281928"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6281928"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QUALITATIVE RESEARCH BY THE TEAM · 31 RESPONDENTS ACROSS 6 CITIES</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500" dirty="0">
                <a:solidFill>
                  <a:srgbClr val="0C1A2B"/>
                </a:solidFill>
                <a:latin typeface="Archivo Black" pitchFamily="34" charset="0"/>
                <a:ea typeface="Archivo Black" pitchFamily="34" charset="-122"/>
                <a:cs typeface="Archivo Black" pitchFamily="34" charset="-120"/>
              </a:rPr>
              <a:t>Scope for education on the Pesticide-Free Category</a:t>
            </a:r>
            <a:endParaRPr lang="en-US" sz="2500" dirty="0"/>
          </a:p>
        </p:txBody>
      </p:sp>
      <p:sp>
        <p:nvSpPr>
          <p:cNvPr id="6" name="Shape 3"/>
          <p:cNvSpPr/>
          <p:nvPr/>
        </p:nvSpPr>
        <p:spPr>
          <a:xfrm>
            <a:off x="502920" y="1463040"/>
            <a:ext cx="3545738" cy="0"/>
          </a:xfrm>
          <a:prstGeom prst="line">
            <a:avLst/>
          </a:prstGeom>
          <a:noFill/>
          <a:ln w="25400">
            <a:solidFill>
              <a:srgbClr val="9E3A24"/>
            </a:solidFill>
            <a:prstDash val="solid"/>
          </a:ln>
        </p:spPr>
      </p:sp>
      <p:sp>
        <p:nvSpPr>
          <p:cNvPr id="7" name="Text 4"/>
          <p:cNvSpPr/>
          <p:nvPr/>
        </p:nvSpPr>
        <p:spPr>
          <a:xfrm>
            <a:off x="502920" y="1609344"/>
            <a:ext cx="3545738" cy="430276"/>
          </a:xfrm>
          <a:prstGeom prst="rect">
            <a:avLst/>
          </a:prstGeom>
          <a:noFill/>
          <a:ln/>
        </p:spPr>
        <p:txBody>
          <a:bodyPr wrap="square" lIns="0" tIns="0" rIns="0" bIns="0" rtlCol="0" anchor="t"/>
          <a:lstStyle/>
          <a:p>
            <a:pPr indent="0" marL="0">
              <a:buNone/>
            </a:pPr>
            <a:r>
              <a:rPr lang="en-US" sz="2500" dirty="0">
                <a:solidFill>
                  <a:srgbClr val="9E3A24"/>
                </a:solidFill>
                <a:latin typeface="Archivo Black" pitchFamily="34" charset="0"/>
                <a:ea typeface="Archivo Black" pitchFamily="34" charset="-122"/>
                <a:cs typeface="Archivo Black" pitchFamily="34" charset="-120"/>
              </a:rPr>
              <a:t>70%</a:t>
            </a:r>
            <a:endParaRPr lang="en-US" sz="2500" dirty="0"/>
          </a:p>
        </p:txBody>
      </p:sp>
      <p:sp>
        <p:nvSpPr>
          <p:cNvPr id="8" name="Text 5"/>
          <p:cNvSpPr/>
          <p:nvPr/>
        </p:nvSpPr>
        <p:spPr>
          <a:xfrm>
            <a:off x="502920" y="2076196"/>
            <a:ext cx="3408578" cy="337820"/>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of in-market shoppers could not distinguish "organic" from "pesticide-free"</a:t>
            </a:r>
            <a:endParaRPr lang="en-US" sz="850" dirty="0"/>
          </a:p>
        </p:txBody>
      </p:sp>
      <p:sp>
        <p:nvSpPr>
          <p:cNvPr id="9" name="Shape 6"/>
          <p:cNvSpPr/>
          <p:nvPr/>
        </p:nvSpPr>
        <p:spPr>
          <a:xfrm>
            <a:off x="4322978" y="1463040"/>
            <a:ext cx="3545738" cy="0"/>
          </a:xfrm>
          <a:prstGeom prst="line">
            <a:avLst/>
          </a:prstGeom>
          <a:noFill/>
          <a:ln w="25400">
            <a:solidFill>
              <a:srgbClr val="177A46"/>
            </a:solidFill>
            <a:prstDash val="solid"/>
          </a:ln>
        </p:spPr>
      </p:sp>
      <p:sp>
        <p:nvSpPr>
          <p:cNvPr id="10" name="Text 7"/>
          <p:cNvSpPr/>
          <p:nvPr/>
        </p:nvSpPr>
        <p:spPr>
          <a:xfrm>
            <a:off x="4322978" y="1609344"/>
            <a:ext cx="3545738" cy="430276"/>
          </a:xfrm>
          <a:prstGeom prst="rect">
            <a:avLst/>
          </a:prstGeom>
          <a:noFill/>
          <a:ln/>
        </p:spPr>
        <p:txBody>
          <a:bodyPr wrap="square" lIns="0" tIns="0" rIns="0" bIns="0" rtlCol="0" anchor="t"/>
          <a:lstStyle/>
          <a:p>
            <a:pPr indent="0" marL="0">
              <a:buNone/>
            </a:pPr>
            <a:r>
              <a:rPr lang="en-US" sz="2500" dirty="0">
                <a:solidFill>
                  <a:srgbClr val="177A46"/>
                </a:solidFill>
                <a:latin typeface="Archivo Black" pitchFamily="34" charset="0"/>
                <a:ea typeface="Archivo Black" pitchFamily="34" charset="-122"/>
                <a:cs typeface="Archivo Black" pitchFamily="34" charset="-120"/>
              </a:rPr>
              <a:t>100%</a:t>
            </a:r>
            <a:endParaRPr lang="en-US" sz="2500" dirty="0"/>
          </a:p>
        </p:txBody>
      </p:sp>
      <p:sp>
        <p:nvSpPr>
          <p:cNvPr id="11" name="Text 8"/>
          <p:cNvSpPr/>
          <p:nvPr/>
        </p:nvSpPr>
        <p:spPr>
          <a:xfrm>
            <a:off x="4322978" y="2076196"/>
            <a:ext cx="3408578" cy="337820"/>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cited health of self &amp; family as their primary food purchase driver</a:t>
            </a:r>
            <a:endParaRPr lang="en-US" sz="850" dirty="0"/>
          </a:p>
        </p:txBody>
      </p:sp>
      <p:sp>
        <p:nvSpPr>
          <p:cNvPr id="12" name="Shape 9"/>
          <p:cNvSpPr/>
          <p:nvPr/>
        </p:nvSpPr>
        <p:spPr>
          <a:xfrm>
            <a:off x="8143037" y="1463040"/>
            <a:ext cx="3545738" cy="0"/>
          </a:xfrm>
          <a:prstGeom prst="line">
            <a:avLst/>
          </a:prstGeom>
          <a:noFill/>
          <a:ln w="25400">
            <a:solidFill>
              <a:srgbClr val="3A5D97"/>
            </a:solidFill>
            <a:prstDash val="solid"/>
          </a:ln>
        </p:spPr>
      </p:sp>
      <p:sp>
        <p:nvSpPr>
          <p:cNvPr id="13" name="Text 10"/>
          <p:cNvSpPr/>
          <p:nvPr/>
        </p:nvSpPr>
        <p:spPr>
          <a:xfrm>
            <a:off x="8143037" y="1609344"/>
            <a:ext cx="3545738" cy="430276"/>
          </a:xfrm>
          <a:prstGeom prst="rect">
            <a:avLst/>
          </a:prstGeom>
          <a:noFill/>
          <a:ln/>
        </p:spPr>
        <p:txBody>
          <a:bodyPr wrap="square" lIns="0" tIns="0" rIns="0" bIns="0" rtlCol="0" anchor="t"/>
          <a:lstStyle/>
          <a:p>
            <a:pPr indent="0" marL="0">
              <a:buNone/>
            </a:pPr>
            <a:r>
              <a:rPr lang="en-US" sz="2500" dirty="0">
                <a:solidFill>
                  <a:srgbClr val="3A5D97"/>
                </a:solidFill>
                <a:latin typeface="Archivo Black" pitchFamily="34" charset="0"/>
                <a:ea typeface="Archivo Black" pitchFamily="34" charset="-122"/>
                <a:cs typeface="Archivo Black" pitchFamily="34" charset="-120"/>
              </a:rPr>
              <a:t>0%</a:t>
            </a:r>
            <a:endParaRPr lang="en-US" sz="2500" dirty="0"/>
          </a:p>
        </p:txBody>
      </p:sp>
      <p:sp>
        <p:nvSpPr>
          <p:cNvPr id="14" name="Text 11"/>
          <p:cNvSpPr/>
          <p:nvPr/>
        </p:nvSpPr>
        <p:spPr>
          <a:xfrm>
            <a:off x="8143037" y="2076196"/>
            <a:ext cx="3408578" cy="337820"/>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connected the word "pure" to pesticide residue — a language gap, not an interest gap</a:t>
            </a:r>
            <a:endParaRPr lang="en-US" sz="850" dirty="0"/>
          </a:p>
        </p:txBody>
      </p:sp>
      <p:sp>
        <p:nvSpPr>
          <p:cNvPr id="15" name="Shape 12"/>
          <p:cNvSpPr/>
          <p:nvPr/>
        </p:nvSpPr>
        <p:spPr>
          <a:xfrm>
            <a:off x="502920" y="2633472"/>
            <a:ext cx="5760720" cy="0"/>
          </a:xfrm>
          <a:prstGeom prst="line">
            <a:avLst/>
          </a:prstGeom>
          <a:noFill/>
          <a:ln w="12700">
            <a:solidFill>
              <a:srgbClr val="3A5D97"/>
            </a:solidFill>
            <a:prstDash val="solid"/>
          </a:ln>
        </p:spPr>
      </p:sp>
      <p:sp>
        <p:nvSpPr>
          <p:cNvPr id="16" name="Text 13"/>
          <p:cNvSpPr/>
          <p:nvPr/>
        </p:nvSpPr>
        <p:spPr>
          <a:xfrm>
            <a:off x="502920" y="2679192"/>
            <a:ext cx="5760720"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FOUR TENSIONS BENEATH THE CATEGORY</a:t>
            </a:r>
            <a:endParaRPr lang="en-US" sz="900" dirty="0"/>
          </a:p>
        </p:txBody>
      </p:sp>
      <p:sp>
        <p:nvSpPr>
          <p:cNvPr id="17" name="Shape 14"/>
          <p:cNvSpPr/>
          <p:nvPr/>
        </p:nvSpPr>
        <p:spPr>
          <a:xfrm>
            <a:off x="502920" y="2926080"/>
            <a:ext cx="5760720" cy="731520"/>
          </a:xfrm>
          <a:prstGeom prst="roundRect">
            <a:avLst>
              <a:gd name="adj" fmla="val 6250"/>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8" name="Shape 15"/>
          <p:cNvSpPr/>
          <p:nvPr/>
        </p:nvSpPr>
        <p:spPr>
          <a:xfrm>
            <a:off x="502920" y="2926080"/>
            <a:ext cx="41148" cy="731520"/>
          </a:xfrm>
          <a:prstGeom prst="rect">
            <a:avLst/>
          </a:prstGeom>
          <a:solidFill>
            <a:srgbClr val="3A5D97"/>
          </a:solidFill>
          <a:ln w="5080">
            <a:solidFill>
              <a:srgbClr val="3A5D97"/>
            </a:solidFill>
            <a:prstDash val="solid"/>
          </a:ln>
        </p:spPr>
      </p:sp>
      <p:sp>
        <p:nvSpPr>
          <p:cNvPr id="19" name="Text 16"/>
          <p:cNvSpPr/>
          <p:nvPr/>
        </p:nvSpPr>
        <p:spPr>
          <a:xfrm>
            <a:off x="685800" y="2999232"/>
            <a:ext cx="5486400" cy="219456"/>
          </a:xfrm>
          <a:prstGeom prst="rect">
            <a:avLst/>
          </a:prstGeom>
          <a:noFill/>
          <a:ln/>
        </p:spPr>
        <p:txBody>
          <a:bodyPr wrap="square" lIns="0" tIns="0" rIns="0" bIns="0" rtlCol="0" anchor="t"/>
          <a:lstStyle/>
          <a:p>
            <a:pPr indent="0" marL="0">
              <a:buNone/>
            </a:pPr>
            <a:r>
              <a:rPr lang="en-US" sz="1000" b="1" dirty="0">
                <a:solidFill>
                  <a:srgbClr val="0C1A2B"/>
                </a:solidFill>
                <a:latin typeface="Nunito Sans" pitchFamily="34" charset="0"/>
                <a:ea typeface="Nunito Sans" pitchFamily="34" charset="-122"/>
                <a:cs typeface="Nunito Sans" pitchFamily="34" charset="-120"/>
              </a:rPr>
              <a:t>01   Conceptual fog, not an information gap</a:t>
            </a:r>
            <a:endParaRPr lang="en-US" sz="1000" dirty="0"/>
          </a:p>
        </p:txBody>
      </p:sp>
      <p:sp>
        <p:nvSpPr>
          <p:cNvPr id="20" name="Text 17"/>
          <p:cNvSpPr/>
          <p:nvPr/>
        </p:nvSpPr>
        <p:spPr>
          <a:xfrm>
            <a:off x="685800" y="3218688"/>
            <a:ext cx="5486400" cy="402336"/>
          </a:xfrm>
          <a:prstGeom prst="rect">
            <a:avLst/>
          </a:prstGeom>
          <a:noFill/>
          <a:ln/>
        </p:spPr>
        <p:txBody>
          <a:bodyPr wrap="square" lIns="0" tIns="0" rIns="0" bIns="0" rtlCol="0" anchor="t"/>
          <a:lstStyle/>
          <a:p>
            <a:pPr indent="0" marL="0">
              <a:lnSpc>
                <a:spcPct val="106000"/>
              </a:lnSpc>
              <a:buNone/>
            </a:pPr>
            <a:r>
              <a:rPr lang="en-US" sz="850" dirty="0">
                <a:solidFill>
                  <a:srgbClr val="54606F"/>
                </a:solidFill>
                <a:latin typeface="Nunito Sans" pitchFamily="34" charset="0"/>
                <a:ea typeface="Nunito Sans" pitchFamily="34" charset="-122"/>
                <a:cs typeface="Nunito Sans" pitchFamily="34" charset="-120"/>
              </a:rPr>
              <a:t>Consumers do not merely lack information — they hold incorrect information that feels correct</a:t>
            </a:r>
            <a:endParaRPr lang="en-US" sz="850" dirty="0"/>
          </a:p>
        </p:txBody>
      </p:sp>
      <p:sp>
        <p:nvSpPr>
          <p:cNvPr id="21" name="Shape 18"/>
          <p:cNvSpPr/>
          <p:nvPr/>
        </p:nvSpPr>
        <p:spPr>
          <a:xfrm>
            <a:off x="502920" y="3749040"/>
            <a:ext cx="5760720" cy="731520"/>
          </a:xfrm>
          <a:prstGeom prst="roundRect">
            <a:avLst>
              <a:gd name="adj" fmla="val 6250"/>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22" name="Shape 19"/>
          <p:cNvSpPr/>
          <p:nvPr/>
        </p:nvSpPr>
        <p:spPr>
          <a:xfrm>
            <a:off x="502920" y="3749040"/>
            <a:ext cx="41148" cy="731520"/>
          </a:xfrm>
          <a:prstGeom prst="rect">
            <a:avLst/>
          </a:prstGeom>
          <a:solidFill>
            <a:srgbClr val="3A5D97"/>
          </a:solidFill>
          <a:ln w="5080">
            <a:solidFill>
              <a:srgbClr val="3A5D97"/>
            </a:solidFill>
            <a:prstDash val="solid"/>
          </a:ln>
        </p:spPr>
      </p:sp>
      <p:sp>
        <p:nvSpPr>
          <p:cNvPr id="23" name="Text 20"/>
          <p:cNvSpPr/>
          <p:nvPr/>
        </p:nvSpPr>
        <p:spPr>
          <a:xfrm>
            <a:off x="685800" y="3822192"/>
            <a:ext cx="5486400" cy="219456"/>
          </a:xfrm>
          <a:prstGeom prst="rect">
            <a:avLst/>
          </a:prstGeom>
          <a:noFill/>
          <a:ln/>
        </p:spPr>
        <p:txBody>
          <a:bodyPr wrap="square" lIns="0" tIns="0" rIns="0" bIns="0" rtlCol="0" anchor="t"/>
          <a:lstStyle/>
          <a:p>
            <a:pPr indent="0" marL="0">
              <a:buNone/>
            </a:pPr>
            <a:r>
              <a:rPr lang="en-US" sz="1000" b="1" dirty="0">
                <a:solidFill>
                  <a:srgbClr val="0C1A2B"/>
                </a:solidFill>
                <a:latin typeface="Nunito Sans" pitchFamily="34" charset="0"/>
                <a:ea typeface="Nunito Sans" pitchFamily="34" charset="-122"/>
                <a:cs typeface="Nunito Sans" pitchFamily="34" charset="-120"/>
              </a:rPr>
              <a:t>02   Adulteration fatalism</a:t>
            </a:r>
            <a:endParaRPr lang="en-US" sz="1000" dirty="0"/>
          </a:p>
        </p:txBody>
      </p:sp>
      <p:sp>
        <p:nvSpPr>
          <p:cNvPr id="24" name="Text 21"/>
          <p:cNvSpPr/>
          <p:nvPr/>
        </p:nvSpPr>
        <p:spPr>
          <a:xfrm>
            <a:off x="685800" y="4041648"/>
            <a:ext cx="5486400" cy="402336"/>
          </a:xfrm>
          <a:prstGeom prst="rect">
            <a:avLst/>
          </a:prstGeom>
          <a:noFill/>
          <a:ln/>
        </p:spPr>
        <p:txBody>
          <a:bodyPr wrap="square" lIns="0" tIns="0" rIns="0" bIns="0" rtlCol="0" anchor="t"/>
          <a:lstStyle/>
          <a:p>
            <a:pPr indent="0" marL="0">
              <a:lnSpc>
                <a:spcPct val="106000"/>
              </a:lnSpc>
              <a:buNone/>
            </a:pPr>
            <a:r>
              <a:rPr lang="en-US" sz="850" dirty="0">
                <a:solidFill>
                  <a:srgbClr val="54606F"/>
                </a:solidFill>
                <a:latin typeface="Nunito Sans" pitchFamily="34" charset="0"/>
                <a:ea typeface="Nunito Sans" pitchFamily="34" charset="-122"/>
                <a:cs typeface="Nunito Sans" pitchFamily="34" charset="-120"/>
              </a:rPr>
              <a:t>73% agree some adulteration is unavoidable. The risk is known and quietly accepted – example highest in chilli</a:t>
            </a:r>
            <a:endParaRPr lang="en-US" sz="850" dirty="0"/>
          </a:p>
        </p:txBody>
      </p:sp>
      <p:sp>
        <p:nvSpPr>
          <p:cNvPr id="25" name="Shape 22"/>
          <p:cNvSpPr/>
          <p:nvPr/>
        </p:nvSpPr>
        <p:spPr>
          <a:xfrm>
            <a:off x="502920" y="4572000"/>
            <a:ext cx="5760720" cy="731520"/>
          </a:xfrm>
          <a:prstGeom prst="roundRect">
            <a:avLst>
              <a:gd name="adj" fmla="val 6250"/>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26" name="Shape 23"/>
          <p:cNvSpPr/>
          <p:nvPr/>
        </p:nvSpPr>
        <p:spPr>
          <a:xfrm>
            <a:off x="502920" y="4572000"/>
            <a:ext cx="41148" cy="731520"/>
          </a:xfrm>
          <a:prstGeom prst="rect">
            <a:avLst/>
          </a:prstGeom>
          <a:solidFill>
            <a:srgbClr val="3A5D97"/>
          </a:solidFill>
          <a:ln w="5080">
            <a:solidFill>
              <a:srgbClr val="3A5D97"/>
            </a:solidFill>
            <a:prstDash val="solid"/>
          </a:ln>
        </p:spPr>
      </p:sp>
      <p:sp>
        <p:nvSpPr>
          <p:cNvPr id="27" name="Text 24"/>
          <p:cNvSpPr/>
          <p:nvPr/>
        </p:nvSpPr>
        <p:spPr>
          <a:xfrm>
            <a:off x="685800" y="4645152"/>
            <a:ext cx="5486400" cy="219456"/>
          </a:xfrm>
          <a:prstGeom prst="rect">
            <a:avLst/>
          </a:prstGeom>
          <a:noFill/>
          <a:ln/>
        </p:spPr>
        <p:txBody>
          <a:bodyPr wrap="square" lIns="0" tIns="0" rIns="0" bIns="0" rtlCol="0" anchor="t"/>
          <a:lstStyle/>
          <a:p>
            <a:pPr indent="0" marL="0">
              <a:buNone/>
            </a:pPr>
            <a:r>
              <a:rPr lang="en-US" sz="1000" b="1" dirty="0">
                <a:solidFill>
                  <a:srgbClr val="0C1A2B"/>
                </a:solidFill>
                <a:latin typeface="Nunito Sans" pitchFamily="34" charset="0"/>
                <a:ea typeface="Nunito Sans" pitchFamily="34" charset="-122"/>
                <a:cs typeface="Nunito Sans" pitchFamily="34" charset="-120"/>
              </a:rPr>
              <a:t>03   Bodily proof beats label proof</a:t>
            </a:r>
            <a:endParaRPr lang="en-US" sz="1000" dirty="0"/>
          </a:p>
        </p:txBody>
      </p:sp>
      <p:sp>
        <p:nvSpPr>
          <p:cNvPr id="28" name="Text 25"/>
          <p:cNvSpPr/>
          <p:nvPr/>
        </p:nvSpPr>
        <p:spPr>
          <a:xfrm>
            <a:off x="685800" y="4864608"/>
            <a:ext cx="5486400" cy="402336"/>
          </a:xfrm>
          <a:prstGeom prst="rect">
            <a:avLst/>
          </a:prstGeom>
          <a:noFill/>
          <a:ln/>
        </p:spPr>
        <p:txBody>
          <a:bodyPr wrap="square" lIns="0" tIns="0" rIns="0" bIns="0" rtlCol="0" anchor="t"/>
          <a:lstStyle/>
          <a:p>
            <a:pPr indent="0" marL="0">
              <a:lnSpc>
                <a:spcPct val="106000"/>
              </a:lnSpc>
              <a:buNone/>
            </a:pPr>
            <a:r>
              <a:rPr lang="en-US" sz="850" dirty="0">
                <a:solidFill>
                  <a:srgbClr val="54606F"/>
                </a:solidFill>
                <a:latin typeface="Nunito Sans" pitchFamily="34" charset="0"/>
                <a:ea typeface="Nunito Sans" pitchFamily="34" charset="-122"/>
                <a:cs typeface="Nunito Sans" pitchFamily="34" charset="-120"/>
              </a:rPr>
              <a:t>Confidence comes from energy, weight, blood work of self and family members</a:t>
            </a:r>
            <a:endParaRPr lang="en-US" sz="850" dirty="0"/>
          </a:p>
        </p:txBody>
      </p:sp>
      <p:sp>
        <p:nvSpPr>
          <p:cNvPr id="29" name="Shape 26"/>
          <p:cNvSpPr/>
          <p:nvPr/>
        </p:nvSpPr>
        <p:spPr>
          <a:xfrm>
            <a:off x="502920" y="5394960"/>
            <a:ext cx="5760720" cy="731520"/>
          </a:xfrm>
          <a:prstGeom prst="roundRect">
            <a:avLst>
              <a:gd name="adj" fmla="val 6250"/>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30" name="Shape 27"/>
          <p:cNvSpPr/>
          <p:nvPr/>
        </p:nvSpPr>
        <p:spPr>
          <a:xfrm>
            <a:off x="502920" y="5394960"/>
            <a:ext cx="41148" cy="731520"/>
          </a:xfrm>
          <a:prstGeom prst="rect">
            <a:avLst/>
          </a:prstGeom>
          <a:solidFill>
            <a:srgbClr val="3A5D97"/>
          </a:solidFill>
          <a:ln w="5080">
            <a:solidFill>
              <a:srgbClr val="3A5D97"/>
            </a:solidFill>
            <a:prstDash val="solid"/>
          </a:ln>
        </p:spPr>
      </p:sp>
      <p:sp>
        <p:nvSpPr>
          <p:cNvPr id="31" name="Text 28"/>
          <p:cNvSpPr/>
          <p:nvPr/>
        </p:nvSpPr>
        <p:spPr>
          <a:xfrm>
            <a:off x="685800" y="5468112"/>
            <a:ext cx="5486400" cy="219456"/>
          </a:xfrm>
          <a:prstGeom prst="rect">
            <a:avLst/>
          </a:prstGeom>
          <a:noFill/>
          <a:ln/>
        </p:spPr>
        <p:txBody>
          <a:bodyPr wrap="square" lIns="0" tIns="0" rIns="0" bIns="0" rtlCol="0" anchor="t"/>
          <a:lstStyle/>
          <a:p>
            <a:pPr indent="0" marL="0">
              <a:buNone/>
            </a:pPr>
            <a:r>
              <a:rPr lang="en-US" sz="1000" b="1" dirty="0">
                <a:solidFill>
                  <a:srgbClr val="0C1A2B"/>
                </a:solidFill>
                <a:latin typeface="Nunito Sans" pitchFamily="34" charset="0"/>
                <a:ea typeface="Nunito Sans" pitchFamily="34" charset="-122"/>
                <a:cs typeface="Nunito Sans" pitchFamily="34" charset="-120"/>
              </a:rPr>
              <a:t>04   Assumed safety in Makhana</a:t>
            </a:r>
            <a:endParaRPr lang="en-US" sz="1000" dirty="0"/>
          </a:p>
        </p:txBody>
      </p:sp>
      <p:sp>
        <p:nvSpPr>
          <p:cNvPr id="32" name="Text 29"/>
          <p:cNvSpPr/>
          <p:nvPr/>
        </p:nvSpPr>
        <p:spPr>
          <a:xfrm>
            <a:off x="685800" y="5687568"/>
            <a:ext cx="5486400" cy="402336"/>
          </a:xfrm>
          <a:prstGeom prst="rect">
            <a:avLst/>
          </a:prstGeom>
          <a:noFill/>
          <a:ln/>
        </p:spPr>
        <p:txBody>
          <a:bodyPr wrap="square" lIns="0" tIns="0" rIns="0" bIns="0" rtlCol="0" anchor="t"/>
          <a:lstStyle/>
          <a:p>
            <a:pPr indent="0" marL="0">
              <a:lnSpc>
                <a:spcPct val="106000"/>
              </a:lnSpc>
              <a:buNone/>
            </a:pPr>
            <a:r>
              <a:rPr lang="en-US" sz="850" dirty="0">
                <a:solidFill>
                  <a:srgbClr val="54606F"/>
                </a:solidFill>
                <a:latin typeface="Nunito Sans" pitchFamily="34" charset="0"/>
                <a:ea typeface="Nunito Sans" pitchFamily="34" charset="-122"/>
                <a:cs typeface="Nunito Sans" pitchFamily="34" charset="-120"/>
              </a:rPr>
              <a:t>Believed to be "grown from lotus stems" and "processed like popcorn". Neither is accurate, and it is the only category with no residue conversation</a:t>
            </a:r>
            <a:endParaRPr lang="en-US" sz="850" dirty="0"/>
          </a:p>
        </p:txBody>
      </p:sp>
      <p:sp>
        <p:nvSpPr>
          <p:cNvPr id="33" name="Shape 30"/>
          <p:cNvSpPr/>
          <p:nvPr/>
        </p:nvSpPr>
        <p:spPr>
          <a:xfrm>
            <a:off x="6537960" y="2633472"/>
            <a:ext cx="5150815" cy="0"/>
          </a:xfrm>
          <a:prstGeom prst="line">
            <a:avLst/>
          </a:prstGeom>
          <a:noFill/>
          <a:ln w="12700">
            <a:solidFill>
              <a:srgbClr val="3A5D97"/>
            </a:solidFill>
            <a:prstDash val="solid"/>
          </a:ln>
        </p:spPr>
      </p:sp>
      <p:sp>
        <p:nvSpPr>
          <p:cNvPr id="34" name="Text 31"/>
          <p:cNvSpPr/>
          <p:nvPr/>
        </p:nvSpPr>
        <p:spPr>
          <a:xfrm>
            <a:off x="6537960" y="2679192"/>
            <a:ext cx="5150815"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IN THEIR OWN WORDS</a:t>
            </a:r>
            <a:endParaRPr lang="en-US" sz="900" dirty="0"/>
          </a:p>
        </p:txBody>
      </p:sp>
      <p:sp>
        <p:nvSpPr>
          <p:cNvPr id="35" name="Shape 32"/>
          <p:cNvSpPr/>
          <p:nvPr/>
        </p:nvSpPr>
        <p:spPr>
          <a:xfrm>
            <a:off x="6537960" y="2926080"/>
            <a:ext cx="5150815" cy="731520"/>
          </a:xfrm>
          <a:prstGeom prst="roundRect">
            <a:avLst>
              <a:gd name="adj" fmla="val 6250"/>
            </a:avLst>
          </a:prstGeom>
          <a:solidFill>
            <a:srgbClr val="F3ECE0"/>
          </a:solidFill>
          <a:ln w="6350">
            <a:solidFill>
              <a:srgbClr val="F3ECE0"/>
            </a:solidFill>
            <a:prstDash val="solid"/>
          </a:ln>
          <a:effectLst>
            <a:outerShdw sx="100000" sy="100000" kx="0" ky="0" algn="bl" rotWithShape="0" blurRad="228600" dist="25400" dir="5400000">
              <a:srgbClr val="0C1A2B">
                <a:alpha val="7000"/>
              </a:srgbClr>
            </a:outerShdw>
          </a:effectLst>
        </p:spPr>
      </p:sp>
      <p:sp>
        <p:nvSpPr>
          <p:cNvPr id="36" name="Text 33"/>
          <p:cNvSpPr/>
          <p:nvPr/>
        </p:nvSpPr>
        <p:spPr>
          <a:xfrm>
            <a:off x="6720840" y="2990088"/>
            <a:ext cx="4785055" cy="438912"/>
          </a:xfrm>
          <a:prstGeom prst="rect">
            <a:avLst/>
          </a:prstGeom>
          <a:noFill/>
          <a:ln/>
        </p:spPr>
        <p:txBody>
          <a:bodyPr wrap="square" lIns="0" tIns="0" rIns="0" bIns="0" rtlCol="0" anchor="t"/>
          <a:lstStyle/>
          <a:p>
            <a:pPr indent="0" marL="0">
              <a:lnSpc>
                <a:spcPct val="104000"/>
              </a:lnSpc>
              <a:buNone/>
            </a:pPr>
            <a:r>
              <a:rPr lang="en-US" sz="900" i="1" dirty="0">
                <a:solidFill>
                  <a:srgbClr val="0C1A2B"/>
                </a:solidFill>
                <a:latin typeface="Nunito Sans" pitchFamily="34" charset="0"/>
                <a:ea typeface="Nunito Sans" pitchFamily="34" charset="-122"/>
                <a:cs typeface="Nunito Sans" pitchFamily="34" charset="-120"/>
              </a:rPr>
              <a:t>“Pesticides are sometimes put in soil, not on fruits. This makes them pesticide-free.”</a:t>
            </a:r>
            <a:endParaRPr lang="en-US" sz="900" dirty="0"/>
          </a:p>
        </p:txBody>
      </p:sp>
      <p:sp>
        <p:nvSpPr>
          <p:cNvPr id="37" name="Text 34"/>
          <p:cNvSpPr/>
          <p:nvPr/>
        </p:nvSpPr>
        <p:spPr>
          <a:xfrm>
            <a:off x="6720840" y="3438144"/>
            <a:ext cx="4785055" cy="182880"/>
          </a:xfrm>
          <a:prstGeom prst="rect">
            <a:avLst/>
          </a:prstGeom>
          <a:noFill/>
          <a:ln/>
        </p:spPr>
        <p:txBody>
          <a:bodyPr wrap="square" lIns="0" tIns="0" rIns="0" bIns="0" rtlCol="0" anchor="t"/>
          <a:lstStyle/>
          <a:p>
            <a:pPr indent="0" marL="0">
              <a:buNone/>
            </a:pPr>
            <a:r>
              <a:rPr lang="en-US" sz="750" dirty="0">
                <a:solidFill>
                  <a:srgbClr val="8B95A2"/>
                </a:solidFill>
                <a:latin typeface="Nunito Sans" pitchFamily="34" charset="0"/>
                <a:ea typeface="Nunito Sans" pitchFamily="34" charset="-122"/>
                <a:cs typeface="Nunito Sans" pitchFamily="34" charset="-120"/>
              </a:rPr>
              <a:t>In-market intercept, Bengaluru</a:t>
            </a:r>
            <a:endParaRPr lang="en-US" sz="750" dirty="0"/>
          </a:p>
        </p:txBody>
      </p:sp>
      <p:sp>
        <p:nvSpPr>
          <p:cNvPr id="38" name="Shape 35"/>
          <p:cNvSpPr/>
          <p:nvPr/>
        </p:nvSpPr>
        <p:spPr>
          <a:xfrm>
            <a:off x="6537960" y="3749040"/>
            <a:ext cx="5150815" cy="731520"/>
          </a:xfrm>
          <a:prstGeom prst="roundRect">
            <a:avLst>
              <a:gd name="adj" fmla="val 6250"/>
            </a:avLst>
          </a:prstGeom>
          <a:solidFill>
            <a:srgbClr val="F3ECE0"/>
          </a:solidFill>
          <a:ln w="6350">
            <a:solidFill>
              <a:srgbClr val="F3ECE0"/>
            </a:solidFill>
            <a:prstDash val="solid"/>
          </a:ln>
          <a:effectLst>
            <a:outerShdw sx="100000" sy="100000" kx="0" ky="0" algn="bl" rotWithShape="0" blurRad="228600" dist="25400" dir="5400000">
              <a:srgbClr val="0C1A2B">
                <a:alpha val="7000"/>
              </a:srgbClr>
            </a:outerShdw>
          </a:effectLst>
        </p:spPr>
      </p:sp>
      <p:sp>
        <p:nvSpPr>
          <p:cNvPr id="39" name="Text 36"/>
          <p:cNvSpPr/>
          <p:nvPr/>
        </p:nvSpPr>
        <p:spPr>
          <a:xfrm>
            <a:off x="6720840" y="3813048"/>
            <a:ext cx="4785055" cy="438912"/>
          </a:xfrm>
          <a:prstGeom prst="rect">
            <a:avLst/>
          </a:prstGeom>
          <a:noFill/>
          <a:ln/>
        </p:spPr>
        <p:txBody>
          <a:bodyPr wrap="square" lIns="0" tIns="0" rIns="0" bIns="0" rtlCol="0" anchor="t"/>
          <a:lstStyle/>
          <a:p>
            <a:pPr indent="0" marL="0">
              <a:lnSpc>
                <a:spcPct val="104000"/>
              </a:lnSpc>
              <a:buNone/>
            </a:pPr>
            <a:r>
              <a:rPr lang="en-US" sz="900" i="1" dirty="0">
                <a:solidFill>
                  <a:srgbClr val="0C1A2B"/>
                </a:solidFill>
                <a:latin typeface="Nunito Sans" pitchFamily="34" charset="0"/>
                <a:ea typeface="Nunito Sans" pitchFamily="34" charset="-122"/>
                <a:cs typeface="Nunito Sans" pitchFamily="34" charset="-120"/>
              </a:rPr>
              <a:t>“There is no such thing as Pesticide-Free. We have done enough research.”</a:t>
            </a:r>
            <a:endParaRPr lang="en-US" sz="900" dirty="0"/>
          </a:p>
        </p:txBody>
      </p:sp>
      <p:sp>
        <p:nvSpPr>
          <p:cNvPr id="40" name="Text 37"/>
          <p:cNvSpPr/>
          <p:nvPr/>
        </p:nvSpPr>
        <p:spPr>
          <a:xfrm>
            <a:off x="6720840" y="4261104"/>
            <a:ext cx="4785055" cy="182880"/>
          </a:xfrm>
          <a:prstGeom prst="rect">
            <a:avLst/>
          </a:prstGeom>
          <a:noFill/>
          <a:ln/>
        </p:spPr>
        <p:txBody>
          <a:bodyPr wrap="square" lIns="0" tIns="0" rIns="0" bIns="0" rtlCol="0" anchor="t"/>
          <a:lstStyle/>
          <a:p>
            <a:pPr indent="0" marL="0">
              <a:buNone/>
            </a:pPr>
            <a:r>
              <a:rPr lang="en-US" sz="750" dirty="0">
                <a:solidFill>
                  <a:srgbClr val="8B95A2"/>
                </a:solidFill>
                <a:latin typeface="Nunito Sans" pitchFamily="34" charset="0"/>
                <a:ea typeface="Nunito Sans" pitchFamily="34" charset="-122"/>
                <a:cs typeface="Nunito Sans" pitchFamily="34" charset="-120"/>
              </a:rPr>
              <a:t>In-market intercept, Bengaluru</a:t>
            </a:r>
            <a:endParaRPr lang="en-US" sz="750" dirty="0"/>
          </a:p>
        </p:txBody>
      </p:sp>
      <p:sp>
        <p:nvSpPr>
          <p:cNvPr id="41" name="Shape 38"/>
          <p:cNvSpPr/>
          <p:nvPr/>
        </p:nvSpPr>
        <p:spPr>
          <a:xfrm>
            <a:off x="6537960" y="4572000"/>
            <a:ext cx="5150815" cy="731520"/>
          </a:xfrm>
          <a:prstGeom prst="roundRect">
            <a:avLst>
              <a:gd name="adj" fmla="val 6250"/>
            </a:avLst>
          </a:prstGeom>
          <a:solidFill>
            <a:srgbClr val="F3ECE0"/>
          </a:solidFill>
          <a:ln w="6350">
            <a:solidFill>
              <a:srgbClr val="F3ECE0"/>
            </a:solidFill>
            <a:prstDash val="solid"/>
          </a:ln>
          <a:effectLst>
            <a:outerShdw sx="100000" sy="100000" kx="0" ky="0" algn="bl" rotWithShape="0" blurRad="228600" dist="25400" dir="5400000">
              <a:srgbClr val="0C1A2B">
                <a:alpha val="7000"/>
              </a:srgbClr>
            </a:outerShdw>
          </a:effectLst>
        </p:spPr>
      </p:sp>
      <p:sp>
        <p:nvSpPr>
          <p:cNvPr id="42" name="Text 39"/>
          <p:cNvSpPr/>
          <p:nvPr/>
        </p:nvSpPr>
        <p:spPr>
          <a:xfrm>
            <a:off x="6720840" y="4636008"/>
            <a:ext cx="4785055" cy="438912"/>
          </a:xfrm>
          <a:prstGeom prst="rect">
            <a:avLst/>
          </a:prstGeom>
          <a:noFill/>
          <a:ln/>
        </p:spPr>
        <p:txBody>
          <a:bodyPr wrap="square" lIns="0" tIns="0" rIns="0" bIns="0" rtlCol="0" anchor="t"/>
          <a:lstStyle/>
          <a:p>
            <a:pPr indent="0" marL="0">
              <a:lnSpc>
                <a:spcPct val="104000"/>
              </a:lnSpc>
              <a:buNone/>
            </a:pPr>
            <a:r>
              <a:rPr lang="en-US" sz="900" i="1" dirty="0">
                <a:solidFill>
                  <a:srgbClr val="0C1A2B"/>
                </a:solidFill>
                <a:latin typeface="Nunito Sans" pitchFamily="34" charset="0"/>
                <a:ea typeface="Nunito Sans" pitchFamily="34" charset="-122"/>
                <a:cs typeface="Nunito Sans" pitchFamily="34" charset="-120"/>
              </a:rPr>
              <a:t>“Pesticide-free means no use of pesticides at any stage of the lifecycle of the produce.”</a:t>
            </a:r>
            <a:endParaRPr lang="en-US" sz="900" dirty="0"/>
          </a:p>
        </p:txBody>
      </p:sp>
      <p:sp>
        <p:nvSpPr>
          <p:cNvPr id="43" name="Text 40"/>
          <p:cNvSpPr/>
          <p:nvPr/>
        </p:nvSpPr>
        <p:spPr>
          <a:xfrm>
            <a:off x="6720840" y="5084064"/>
            <a:ext cx="4785055" cy="182880"/>
          </a:xfrm>
          <a:prstGeom prst="rect">
            <a:avLst/>
          </a:prstGeom>
          <a:noFill/>
          <a:ln/>
        </p:spPr>
        <p:txBody>
          <a:bodyPr wrap="square" lIns="0" tIns="0" rIns="0" bIns="0" rtlCol="0" anchor="t"/>
          <a:lstStyle/>
          <a:p>
            <a:pPr indent="0" marL="0">
              <a:buNone/>
            </a:pPr>
            <a:r>
              <a:rPr lang="en-US" sz="750" dirty="0">
                <a:solidFill>
                  <a:srgbClr val="8B95A2"/>
                </a:solidFill>
                <a:latin typeface="Nunito Sans" pitchFamily="34" charset="0"/>
                <a:ea typeface="Nunito Sans" pitchFamily="34" charset="-122"/>
                <a:cs typeface="Nunito Sans" pitchFamily="34" charset="-120"/>
              </a:rPr>
              <a:t>Organic farmer, Hyderabad — the most accurate definition in the sample</a:t>
            </a:r>
            <a:endParaRPr lang="en-US" sz="750" dirty="0"/>
          </a:p>
        </p:txBody>
      </p:sp>
      <p:sp>
        <p:nvSpPr>
          <p:cNvPr id="44" name="Shape 41"/>
          <p:cNvSpPr/>
          <p:nvPr/>
        </p:nvSpPr>
        <p:spPr>
          <a:xfrm>
            <a:off x="6537960" y="5394960"/>
            <a:ext cx="5150815" cy="731520"/>
          </a:xfrm>
          <a:prstGeom prst="roundRect">
            <a:avLst>
              <a:gd name="adj" fmla="val 6250"/>
            </a:avLst>
          </a:prstGeom>
          <a:solidFill>
            <a:srgbClr val="F3ECE0"/>
          </a:solidFill>
          <a:ln w="6350">
            <a:solidFill>
              <a:srgbClr val="F3ECE0"/>
            </a:solidFill>
            <a:prstDash val="solid"/>
          </a:ln>
          <a:effectLst>
            <a:outerShdw sx="100000" sy="100000" kx="0" ky="0" algn="bl" rotWithShape="0" blurRad="228600" dist="25400" dir="5400000">
              <a:srgbClr val="0C1A2B">
                <a:alpha val="7000"/>
              </a:srgbClr>
            </a:outerShdw>
          </a:effectLst>
        </p:spPr>
      </p:sp>
      <p:sp>
        <p:nvSpPr>
          <p:cNvPr id="45" name="Text 42"/>
          <p:cNvSpPr/>
          <p:nvPr/>
        </p:nvSpPr>
        <p:spPr>
          <a:xfrm>
            <a:off x="6720840" y="5458968"/>
            <a:ext cx="4785055" cy="438912"/>
          </a:xfrm>
          <a:prstGeom prst="rect">
            <a:avLst/>
          </a:prstGeom>
          <a:noFill/>
          <a:ln/>
        </p:spPr>
        <p:txBody>
          <a:bodyPr wrap="square" lIns="0" tIns="0" rIns="0" bIns="0" rtlCol="0" anchor="t"/>
          <a:lstStyle/>
          <a:p>
            <a:pPr indent="0" marL="0">
              <a:lnSpc>
                <a:spcPct val="104000"/>
              </a:lnSpc>
              <a:buNone/>
            </a:pPr>
            <a:r>
              <a:rPr lang="en-US" sz="900" i="1" dirty="0">
                <a:solidFill>
                  <a:srgbClr val="0C1A2B"/>
                </a:solidFill>
                <a:latin typeface="Nunito Sans" pitchFamily="34" charset="0"/>
                <a:ea typeface="Nunito Sans" pitchFamily="34" charset="-122"/>
                <a:cs typeface="Nunito Sans" pitchFamily="34" charset="-120"/>
              </a:rPr>
              <a:t>“Testing information plays a very important role. Knowing the source and certifications matters most in rice and dal — they are staples.”</a:t>
            </a:r>
            <a:endParaRPr lang="en-US" sz="900" dirty="0"/>
          </a:p>
        </p:txBody>
      </p:sp>
      <p:sp>
        <p:nvSpPr>
          <p:cNvPr id="46" name="Text 43"/>
          <p:cNvSpPr/>
          <p:nvPr/>
        </p:nvSpPr>
        <p:spPr>
          <a:xfrm>
            <a:off x="6720840" y="5907024"/>
            <a:ext cx="4785055" cy="182880"/>
          </a:xfrm>
          <a:prstGeom prst="rect">
            <a:avLst/>
          </a:prstGeom>
          <a:noFill/>
          <a:ln/>
        </p:spPr>
        <p:txBody>
          <a:bodyPr wrap="square" lIns="0" tIns="0" rIns="0" bIns="0" rtlCol="0" anchor="t"/>
          <a:lstStyle/>
          <a:p>
            <a:pPr indent="0" marL="0">
              <a:buNone/>
            </a:pPr>
            <a:r>
              <a:rPr lang="en-US" sz="750" dirty="0">
                <a:solidFill>
                  <a:srgbClr val="8B95A2"/>
                </a:solidFill>
                <a:latin typeface="Nunito Sans" pitchFamily="34" charset="0"/>
                <a:ea typeface="Nunito Sans" pitchFamily="34" charset="-122"/>
                <a:cs typeface="Nunito Sans" pitchFamily="34" charset="-120"/>
              </a:rPr>
              <a:t>Benifer Lewis, 45, Mumbai</a:t>
            </a:r>
            <a:endParaRPr lang="en-US" sz="750" dirty="0"/>
          </a:p>
        </p:txBody>
      </p:sp>
      <p:sp>
        <p:nvSpPr>
          <p:cNvPr id="47" name="Shape 44"/>
          <p:cNvSpPr/>
          <p:nvPr/>
        </p:nvSpPr>
        <p:spPr>
          <a:xfrm>
            <a:off x="502920" y="6492240"/>
            <a:ext cx="11185855" cy="0"/>
          </a:xfrm>
          <a:prstGeom prst="line">
            <a:avLst/>
          </a:prstGeom>
          <a:noFill/>
          <a:ln w="9525">
            <a:solidFill>
              <a:srgbClr val="E5DCCB"/>
            </a:solidFill>
            <a:prstDash val="solid"/>
          </a:ln>
        </p:spPr>
      </p:sp>
      <p:sp>
        <p:nvSpPr>
          <p:cNvPr id="48" name="Text 45"/>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THE CONSUMER</a:t>
            </a:r>
            <a:endParaRPr lang="en-US" sz="800" dirty="0"/>
          </a:p>
        </p:txBody>
      </p:sp>
      <p:sp>
        <p:nvSpPr>
          <p:cNvPr id="49" name="Text 46"/>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06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5385816"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5385816"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QUANTITATIVE RESEARCH BY 1LATTICE – COMMISSIONED BY DHF</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500" dirty="0">
                <a:solidFill>
                  <a:srgbClr val="0C1A2B"/>
                </a:solidFill>
                <a:latin typeface="Archivo Black" pitchFamily="34" charset="0"/>
                <a:ea typeface="Archivo Black" pitchFamily="34" charset="-122"/>
                <a:cs typeface="Archivo Black" pitchFamily="34" charset="-120"/>
              </a:rPr>
              <a:t>How the survey was built, and who answered it</a:t>
            </a:r>
            <a:endParaRPr lang="en-US" sz="2500" dirty="0"/>
          </a:p>
        </p:txBody>
      </p:sp>
      <p:sp>
        <p:nvSpPr>
          <p:cNvPr id="6" name="Shape 3"/>
          <p:cNvSpPr/>
          <p:nvPr/>
        </p:nvSpPr>
        <p:spPr>
          <a:xfrm>
            <a:off x="502920" y="1463040"/>
            <a:ext cx="5577840" cy="0"/>
          </a:xfrm>
          <a:prstGeom prst="line">
            <a:avLst/>
          </a:prstGeom>
          <a:noFill/>
          <a:ln w="12700">
            <a:solidFill>
              <a:srgbClr val="3A5D97"/>
            </a:solidFill>
            <a:prstDash val="solid"/>
          </a:ln>
        </p:spPr>
      </p:sp>
      <p:sp>
        <p:nvSpPr>
          <p:cNvPr id="7" name="Text 4"/>
          <p:cNvSpPr/>
          <p:nvPr/>
        </p:nvSpPr>
        <p:spPr>
          <a:xfrm>
            <a:off x="502920" y="1508760"/>
            <a:ext cx="5577840"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RESEARCH METHODOLOGY</a:t>
            </a:r>
            <a:endParaRPr lang="en-US" sz="900" dirty="0"/>
          </a:p>
        </p:txBody>
      </p:sp>
      <p:sp>
        <p:nvSpPr>
          <p:cNvPr id="8" name="Shape 5"/>
          <p:cNvSpPr/>
          <p:nvPr/>
        </p:nvSpPr>
        <p:spPr>
          <a:xfrm>
            <a:off x="502920" y="1755648"/>
            <a:ext cx="2679192" cy="914400"/>
          </a:xfrm>
          <a:prstGeom prst="roundRect">
            <a:avLst>
              <a:gd name="adj" fmla="val 10000"/>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9" name="Text 6"/>
          <p:cNvSpPr/>
          <p:nvPr/>
        </p:nvSpPr>
        <p:spPr>
          <a:xfrm>
            <a:off x="667512" y="1847088"/>
            <a:ext cx="2350008" cy="274320"/>
          </a:xfrm>
          <a:prstGeom prst="rect">
            <a:avLst/>
          </a:prstGeom>
          <a:noFill/>
          <a:ln/>
        </p:spPr>
        <p:txBody>
          <a:bodyPr wrap="square" lIns="0" tIns="0" rIns="0" bIns="0" rtlCol="0" anchor="t"/>
          <a:lstStyle/>
          <a:p>
            <a:pPr indent="0" marL="0">
              <a:buNone/>
            </a:pPr>
            <a:r>
              <a:rPr lang="en-US" sz="1200" dirty="0">
                <a:solidFill>
                  <a:srgbClr val="3A5D97"/>
                </a:solidFill>
                <a:latin typeface="Archivo Black" pitchFamily="34" charset="0"/>
                <a:ea typeface="Archivo Black" pitchFamily="34" charset="-122"/>
                <a:cs typeface="Archivo Black" pitchFamily="34" charset="-120"/>
              </a:rPr>
              <a:t>~18 min</a:t>
            </a:r>
            <a:endParaRPr lang="en-US" sz="1200" dirty="0"/>
          </a:p>
        </p:txBody>
      </p:sp>
      <p:sp>
        <p:nvSpPr>
          <p:cNvPr id="10" name="Text 7"/>
          <p:cNvSpPr/>
          <p:nvPr/>
        </p:nvSpPr>
        <p:spPr>
          <a:xfrm>
            <a:off x="667512" y="2139696"/>
            <a:ext cx="2350008" cy="457200"/>
          </a:xfrm>
          <a:prstGeom prst="rect">
            <a:avLst/>
          </a:prstGeom>
          <a:noFill/>
          <a:ln/>
        </p:spPr>
        <p:txBody>
          <a:bodyPr wrap="square" lIns="0" tIns="0" rIns="0" bIns="0" rtlCol="0" anchor="t"/>
          <a:lstStyle/>
          <a:p>
            <a:pPr indent="0" marL="0">
              <a:lnSpc>
                <a:spcPct val="108000"/>
              </a:lnSpc>
              <a:buNone/>
            </a:pPr>
            <a:r>
              <a:rPr lang="en-US" sz="800" dirty="0">
                <a:solidFill>
                  <a:srgbClr val="54606F"/>
                </a:solidFill>
                <a:latin typeface="Nunito Sans" pitchFamily="34" charset="0"/>
                <a:ea typeface="Nunito Sans" pitchFamily="34" charset="-122"/>
                <a:cs typeface="Nunito Sans" pitchFamily="34" charset="-120"/>
              </a:rPr>
              <a:t>50 questions across 10 topics and 4 food categories</a:t>
            </a:r>
            <a:endParaRPr lang="en-US" sz="800" dirty="0"/>
          </a:p>
        </p:txBody>
      </p:sp>
      <p:sp>
        <p:nvSpPr>
          <p:cNvPr id="11" name="Shape 8"/>
          <p:cNvSpPr/>
          <p:nvPr/>
        </p:nvSpPr>
        <p:spPr>
          <a:xfrm>
            <a:off x="3401568" y="1755648"/>
            <a:ext cx="2679192" cy="914400"/>
          </a:xfrm>
          <a:prstGeom prst="roundRect">
            <a:avLst>
              <a:gd name="adj" fmla="val 10000"/>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2" name="Text 9"/>
          <p:cNvSpPr/>
          <p:nvPr/>
        </p:nvSpPr>
        <p:spPr>
          <a:xfrm>
            <a:off x="3566160" y="1847088"/>
            <a:ext cx="2350008" cy="274320"/>
          </a:xfrm>
          <a:prstGeom prst="rect">
            <a:avLst/>
          </a:prstGeom>
          <a:noFill/>
          <a:ln/>
        </p:spPr>
        <p:txBody>
          <a:bodyPr wrap="square" lIns="0" tIns="0" rIns="0" bIns="0" rtlCol="0" anchor="t"/>
          <a:lstStyle/>
          <a:p>
            <a:pPr indent="0" marL="0">
              <a:buNone/>
            </a:pPr>
            <a:r>
              <a:rPr lang="en-US" sz="1200" dirty="0">
                <a:solidFill>
                  <a:srgbClr val="3A5D97"/>
                </a:solidFill>
                <a:latin typeface="Archivo Black" pitchFamily="34" charset="0"/>
                <a:ea typeface="Archivo Black" pitchFamily="34" charset="-122"/>
                <a:cs typeface="Archivo Black" pitchFamily="34" charset="-120"/>
              </a:rPr>
              <a:t>4 screens</a:t>
            </a:r>
            <a:endParaRPr lang="en-US" sz="1200" dirty="0"/>
          </a:p>
        </p:txBody>
      </p:sp>
      <p:sp>
        <p:nvSpPr>
          <p:cNvPr id="13" name="Text 10"/>
          <p:cNvSpPr/>
          <p:nvPr/>
        </p:nvSpPr>
        <p:spPr>
          <a:xfrm>
            <a:off x="3566160" y="2139696"/>
            <a:ext cx="2350008" cy="457200"/>
          </a:xfrm>
          <a:prstGeom prst="rect">
            <a:avLst/>
          </a:prstGeom>
          <a:noFill/>
          <a:ln/>
        </p:spPr>
        <p:txBody>
          <a:bodyPr wrap="square" lIns="0" tIns="0" rIns="0" bIns="0" rtlCol="0" anchor="t"/>
          <a:lstStyle/>
          <a:p>
            <a:pPr indent="0" marL="0">
              <a:lnSpc>
                <a:spcPct val="108000"/>
              </a:lnSpc>
              <a:buNone/>
            </a:pPr>
            <a:r>
              <a:rPr lang="en-US" sz="800" dirty="0">
                <a:solidFill>
                  <a:srgbClr val="54606F"/>
                </a:solidFill>
                <a:latin typeface="Nunito Sans" pitchFamily="34" charset="0"/>
                <a:ea typeface="Nunito Sans" pitchFamily="34" charset="-122"/>
                <a:cs typeface="Nunito Sans" pitchFamily="34" charset="-120"/>
              </a:rPr>
              <a:t>Decision-maker role, purchase frequency, ≥2 of 4 categories, income — SEC D/E and sub-monthly buyers terminated</a:t>
            </a:r>
            <a:endParaRPr lang="en-US" sz="800" dirty="0"/>
          </a:p>
        </p:txBody>
      </p:sp>
      <p:sp>
        <p:nvSpPr>
          <p:cNvPr id="14" name="Shape 11"/>
          <p:cNvSpPr/>
          <p:nvPr/>
        </p:nvSpPr>
        <p:spPr>
          <a:xfrm>
            <a:off x="502920" y="2779776"/>
            <a:ext cx="2679192" cy="914400"/>
          </a:xfrm>
          <a:prstGeom prst="roundRect">
            <a:avLst>
              <a:gd name="adj" fmla="val 10000"/>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5" name="Text 12"/>
          <p:cNvSpPr/>
          <p:nvPr/>
        </p:nvSpPr>
        <p:spPr>
          <a:xfrm>
            <a:off x="667512" y="2871216"/>
            <a:ext cx="2350008" cy="274320"/>
          </a:xfrm>
          <a:prstGeom prst="rect">
            <a:avLst/>
          </a:prstGeom>
          <a:noFill/>
          <a:ln/>
        </p:spPr>
        <p:txBody>
          <a:bodyPr wrap="square" lIns="0" tIns="0" rIns="0" bIns="0" rtlCol="0" anchor="t"/>
          <a:lstStyle/>
          <a:p>
            <a:pPr indent="0" marL="0">
              <a:buNone/>
            </a:pPr>
            <a:r>
              <a:rPr lang="en-US" sz="1200" dirty="0">
                <a:solidFill>
                  <a:srgbClr val="3A5D97"/>
                </a:solidFill>
                <a:latin typeface="Archivo Black" pitchFamily="34" charset="0"/>
                <a:ea typeface="Archivo Black" pitchFamily="34" charset="-122"/>
                <a:cs typeface="Archivo Black" pitchFamily="34" charset="-120"/>
              </a:rPr>
              <a:t>15-item battery</a:t>
            </a:r>
            <a:endParaRPr lang="en-US" sz="1200" dirty="0"/>
          </a:p>
        </p:txBody>
      </p:sp>
      <p:sp>
        <p:nvSpPr>
          <p:cNvPr id="16" name="Text 13"/>
          <p:cNvSpPr/>
          <p:nvPr/>
        </p:nvSpPr>
        <p:spPr>
          <a:xfrm>
            <a:off x="667512" y="3163824"/>
            <a:ext cx="2350008" cy="457200"/>
          </a:xfrm>
          <a:prstGeom prst="rect">
            <a:avLst/>
          </a:prstGeom>
          <a:noFill/>
          <a:ln/>
        </p:spPr>
        <p:txBody>
          <a:bodyPr wrap="square" lIns="0" tIns="0" rIns="0" bIns="0" rtlCol="0" anchor="t"/>
          <a:lstStyle/>
          <a:p>
            <a:pPr indent="0" marL="0">
              <a:lnSpc>
                <a:spcPct val="108000"/>
              </a:lnSpc>
              <a:buNone/>
            </a:pPr>
            <a:r>
              <a:rPr lang="en-US" sz="800" dirty="0">
                <a:solidFill>
                  <a:srgbClr val="54606F"/>
                </a:solidFill>
                <a:latin typeface="Nunito Sans" pitchFamily="34" charset="0"/>
                <a:ea typeface="Nunito Sans" pitchFamily="34" charset="-122"/>
                <a:cs typeface="Nunito Sans" pitchFamily="34" charset="-120"/>
              </a:rPr>
              <a:t>Five-point Likert attitude statements, written for post-survey factor extraction</a:t>
            </a:r>
            <a:endParaRPr lang="en-US" sz="800" dirty="0"/>
          </a:p>
        </p:txBody>
      </p:sp>
      <p:sp>
        <p:nvSpPr>
          <p:cNvPr id="17" name="Shape 14"/>
          <p:cNvSpPr/>
          <p:nvPr/>
        </p:nvSpPr>
        <p:spPr>
          <a:xfrm>
            <a:off x="3401568" y="2779776"/>
            <a:ext cx="2679192" cy="914400"/>
          </a:xfrm>
          <a:prstGeom prst="roundRect">
            <a:avLst>
              <a:gd name="adj" fmla="val 10000"/>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8" name="Text 15"/>
          <p:cNvSpPr/>
          <p:nvPr/>
        </p:nvSpPr>
        <p:spPr>
          <a:xfrm>
            <a:off x="3566160" y="2871216"/>
            <a:ext cx="2350008" cy="274320"/>
          </a:xfrm>
          <a:prstGeom prst="rect">
            <a:avLst/>
          </a:prstGeom>
          <a:noFill/>
          <a:ln/>
        </p:spPr>
        <p:txBody>
          <a:bodyPr wrap="square" lIns="0" tIns="0" rIns="0" bIns="0" rtlCol="0" anchor="t"/>
          <a:lstStyle/>
          <a:p>
            <a:pPr indent="0" marL="0">
              <a:buNone/>
            </a:pPr>
            <a:r>
              <a:rPr lang="en-US" sz="1200" dirty="0">
                <a:solidFill>
                  <a:srgbClr val="3A5D97"/>
                </a:solidFill>
                <a:latin typeface="Archivo Black" pitchFamily="34" charset="0"/>
                <a:ea typeface="Archivo Black" pitchFamily="34" charset="-122"/>
                <a:cs typeface="Archivo Black" pitchFamily="34" charset="-120"/>
              </a:rPr>
              <a:t>2 trust grids</a:t>
            </a:r>
            <a:endParaRPr lang="en-US" sz="1200" dirty="0"/>
          </a:p>
        </p:txBody>
      </p:sp>
      <p:sp>
        <p:nvSpPr>
          <p:cNvPr id="19" name="Text 16"/>
          <p:cNvSpPr/>
          <p:nvPr/>
        </p:nvSpPr>
        <p:spPr>
          <a:xfrm>
            <a:off x="3566160" y="3163824"/>
            <a:ext cx="2350008" cy="457200"/>
          </a:xfrm>
          <a:prstGeom prst="rect">
            <a:avLst/>
          </a:prstGeom>
          <a:noFill/>
          <a:ln/>
        </p:spPr>
        <p:txBody>
          <a:bodyPr wrap="square" lIns="0" tIns="0" rIns="0" bIns="0" rtlCol="0" anchor="t"/>
          <a:lstStyle/>
          <a:p>
            <a:pPr indent="0" marL="0">
              <a:lnSpc>
                <a:spcPct val="108000"/>
              </a:lnSpc>
              <a:buNone/>
            </a:pPr>
            <a:r>
              <a:rPr lang="en-US" sz="800" dirty="0">
                <a:solidFill>
                  <a:srgbClr val="54606F"/>
                </a:solidFill>
                <a:latin typeface="Nunito Sans" pitchFamily="34" charset="0"/>
                <a:ea typeface="Nunito Sans" pitchFamily="34" charset="-122"/>
                <a:cs typeface="Nunito Sans" pitchFamily="34" charset="-120"/>
              </a:rPr>
              <a:t>Six claims tested twice — once bare, once with an independent certificate attached</a:t>
            </a:r>
            <a:endParaRPr lang="en-US" sz="800" dirty="0"/>
          </a:p>
        </p:txBody>
      </p:sp>
      <p:sp>
        <p:nvSpPr>
          <p:cNvPr id="20" name="Shape 17"/>
          <p:cNvSpPr/>
          <p:nvPr/>
        </p:nvSpPr>
        <p:spPr>
          <a:xfrm>
            <a:off x="502920" y="3877056"/>
            <a:ext cx="5577840" cy="1700784"/>
          </a:xfrm>
          <a:prstGeom prst="roundRect">
            <a:avLst>
              <a:gd name="adj" fmla="val 5376"/>
            </a:avLst>
          </a:prstGeom>
          <a:solidFill>
            <a:srgbClr val="F3ECE0"/>
          </a:solidFill>
          <a:ln w="15875">
            <a:solidFill>
              <a:srgbClr val="EDE4D4"/>
            </a:solidFill>
            <a:prstDash val="solid"/>
          </a:ln>
          <a:effectLst>
            <a:outerShdw sx="100000" sy="100000" kx="0" ky="0" algn="bl" rotWithShape="0" blurRad="228600" dist="25400" dir="5400000">
              <a:srgbClr val="0C1A2B">
                <a:alpha val="7000"/>
              </a:srgbClr>
            </a:outerShdw>
          </a:effectLst>
        </p:spPr>
      </p:sp>
      <p:sp>
        <p:nvSpPr>
          <p:cNvPr id="21" name="Text 18"/>
          <p:cNvSpPr/>
          <p:nvPr/>
        </p:nvSpPr>
        <p:spPr>
          <a:xfrm>
            <a:off x="685800" y="3968496"/>
            <a:ext cx="3657600" cy="219456"/>
          </a:xfrm>
          <a:prstGeom prst="rect">
            <a:avLst/>
          </a:prstGeom>
          <a:noFill/>
          <a:ln/>
        </p:spPr>
        <p:txBody>
          <a:bodyPr wrap="square" lIns="0" tIns="0" rIns="0" bIns="0" rtlCol="0" anchor="ctr"/>
          <a:lstStyle/>
          <a:p>
            <a:pPr indent="0" marL="0">
              <a:buNone/>
            </a:pPr>
            <a:r>
              <a:rPr lang="en-US" sz="950" b="1" spc="180" kern="0" dirty="0">
                <a:solidFill>
                  <a:srgbClr val="3A5D97"/>
                </a:solidFill>
                <a:latin typeface="Nunito Sans" pitchFamily="34" charset="0"/>
                <a:ea typeface="Nunito Sans" pitchFamily="34" charset="-122"/>
                <a:cs typeface="Nunito Sans" pitchFamily="34" charset="-120"/>
              </a:rPr>
              <a:t>FIELDWORK &amp; GOVERNANCE</a:t>
            </a:r>
            <a:endParaRPr lang="en-US" sz="950" dirty="0"/>
          </a:p>
        </p:txBody>
      </p:sp>
      <p:sp>
        <p:nvSpPr>
          <p:cNvPr id="22" name="Text 19"/>
          <p:cNvSpPr/>
          <p:nvPr/>
        </p:nvSpPr>
        <p:spPr>
          <a:xfrm>
            <a:off x="685800" y="4206240"/>
            <a:ext cx="5212080" cy="1280160"/>
          </a:xfrm>
          <a:prstGeom prst="rect">
            <a:avLst/>
          </a:prstGeom>
          <a:noFill/>
          <a:ln/>
        </p:spPr>
        <p:txBody>
          <a:bodyPr wrap="square" lIns="0" tIns="0" rIns="0" bIns="0" rtlCol="0" anchor="t"/>
          <a:lstStyle/>
          <a:p>
            <a:pPr marL="342900" indent="-342900">
              <a:lnSpc>
                <a:spcPct val="110000"/>
              </a:lnSpc>
              <a:spcAft>
                <a:spcPts val="200"/>
              </a:spcAft>
              <a:buSzPct val="100000"/>
              <a:buChar char="•"/>
            </a:pPr>
            <a:r>
              <a:rPr lang="en-US" sz="850" dirty="0">
                <a:solidFill>
                  <a:srgbClr val="54606F"/>
                </a:solidFill>
                <a:latin typeface="Nunito Sans" pitchFamily="34" charset="0"/>
                <a:ea typeface="Nunito Sans" pitchFamily="34" charset="-122"/>
                <a:cs typeface="Nunito Sans" pitchFamily="34" charset="-120"/>
              </a:rPr>
              <a:t>Online panel, fielded by 1Lattice, 28–29 May 2026. n=305 after quality screening. Report dated 12 June 2026.</a:t>
            </a:r>
            <a:endParaRPr lang="en-US" sz="850" dirty="0"/>
          </a:p>
          <a:p>
            <a:pPr marL="342900" indent="-342900">
              <a:lnSpc>
                <a:spcPct val="110000"/>
              </a:lnSpc>
              <a:spcAft>
                <a:spcPts val="200"/>
              </a:spcAft>
              <a:buSzPct val="100000"/>
              <a:buChar char="•"/>
            </a:pPr>
            <a:r>
              <a:rPr lang="en-US" sz="850" dirty="0">
                <a:solidFill>
                  <a:srgbClr val="54606F"/>
                </a:solidFill>
                <a:latin typeface="Nunito Sans" pitchFamily="34" charset="0"/>
                <a:ea typeface="Nunito Sans" pitchFamily="34" charset="-122"/>
                <a:cs typeface="Nunito Sans" pitchFamily="34" charset="-120"/>
              </a:rPr>
              <a:t>Five metros: Delhi NCR 31% · Bengaluru 21% · Mumbai 17% · Ahmedabad 15% · Pune 15%.</a:t>
            </a:r>
            <a:endParaRPr lang="en-US" sz="850" dirty="0"/>
          </a:p>
          <a:p>
            <a:pPr marL="342900" indent="-342900">
              <a:lnSpc>
                <a:spcPct val="110000"/>
              </a:lnSpc>
              <a:spcAft>
                <a:spcPts val="200"/>
              </a:spcAft>
              <a:buSzPct val="100000"/>
              <a:buChar char="•"/>
            </a:pPr>
            <a:r>
              <a:rPr lang="en-US" sz="850" dirty="0">
                <a:solidFill>
                  <a:srgbClr val="54606F"/>
                </a:solidFill>
                <a:latin typeface="Nunito Sans" pitchFamily="34" charset="0"/>
                <a:ea typeface="Nunito Sans" pitchFamily="34" charset="-122"/>
                <a:cs typeface="Nunito Sans" pitchFamily="34" charset="-120"/>
              </a:rPr>
              <a:t>Category bases: rice n=253 · tur dal n=241 · red chilli n=164 · makhana n=58.</a:t>
            </a:r>
            <a:endParaRPr lang="en-US" sz="850" dirty="0"/>
          </a:p>
          <a:p>
            <a:pPr marL="342900" indent="-342900">
              <a:lnSpc>
                <a:spcPct val="110000"/>
              </a:lnSpc>
              <a:spcAft>
                <a:spcPts val="200"/>
              </a:spcAft>
              <a:buSzPct val="100000"/>
              <a:buChar char="•"/>
            </a:pPr>
            <a:r>
              <a:rPr lang="en-US" sz="850" dirty="0">
                <a:solidFill>
                  <a:srgbClr val="54606F"/>
                </a:solidFill>
                <a:latin typeface="Nunito Sans" pitchFamily="34" charset="0"/>
                <a:ea typeface="Nunito Sans" pitchFamily="34" charset="-122"/>
                <a:cs typeface="Nunito Sans" pitchFamily="34" charset="-120"/>
              </a:rPr>
              <a:t>Makhana is reported as directional only. Every segment claim in this deck rests on the full n=305 base, not on a category sub-base.</a:t>
            </a:r>
            <a:endParaRPr lang="en-US" sz="850" dirty="0"/>
          </a:p>
        </p:txBody>
      </p:sp>
      <p:sp>
        <p:nvSpPr>
          <p:cNvPr id="23" name="Shape 20"/>
          <p:cNvSpPr/>
          <p:nvPr/>
        </p:nvSpPr>
        <p:spPr>
          <a:xfrm>
            <a:off x="6355080" y="1463040"/>
            <a:ext cx="5333695" cy="0"/>
          </a:xfrm>
          <a:prstGeom prst="line">
            <a:avLst/>
          </a:prstGeom>
          <a:noFill/>
          <a:ln w="12700">
            <a:solidFill>
              <a:srgbClr val="3A5D97"/>
            </a:solidFill>
            <a:prstDash val="solid"/>
          </a:ln>
        </p:spPr>
      </p:sp>
      <p:sp>
        <p:nvSpPr>
          <p:cNvPr id="24" name="Text 21"/>
          <p:cNvSpPr/>
          <p:nvPr/>
        </p:nvSpPr>
        <p:spPr>
          <a:xfrm>
            <a:off x="6355080" y="1508760"/>
            <a:ext cx="5333695"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CONSUMER PROFILES</a:t>
            </a:r>
            <a:endParaRPr lang="en-US" sz="900" dirty="0"/>
          </a:p>
        </p:txBody>
      </p:sp>
      <p:sp>
        <p:nvSpPr>
          <p:cNvPr id="25" name="Text 22"/>
          <p:cNvSpPr/>
          <p:nvPr/>
        </p:nvSpPr>
        <p:spPr>
          <a:xfrm>
            <a:off x="6355080" y="1755648"/>
            <a:ext cx="1196264" cy="347472"/>
          </a:xfrm>
          <a:prstGeom prst="rect">
            <a:avLst/>
          </a:prstGeom>
          <a:noFill/>
          <a:ln/>
        </p:spPr>
        <p:txBody>
          <a:bodyPr wrap="square" lIns="0" tIns="0" rIns="0" bIns="0" rtlCol="0" anchor="t"/>
          <a:lstStyle/>
          <a:p>
            <a:pPr indent="0" marL="0">
              <a:buNone/>
            </a:pPr>
            <a:r>
              <a:rPr lang="en-US" sz="1800" dirty="0">
                <a:solidFill>
                  <a:srgbClr val="177A46"/>
                </a:solidFill>
                <a:latin typeface="Archivo Black" pitchFamily="34" charset="0"/>
                <a:ea typeface="Archivo Black" pitchFamily="34" charset="-122"/>
                <a:cs typeface="Archivo Black" pitchFamily="34" charset="-120"/>
              </a:rPr>
              <a:t>78%</a:t>
            </a:r>
            <a:endParaRPr lang="en-US" sz="1800" dirty="0"/>
          </a:p>
        </p:txBody>
      </p:sp>
      <p:sp>
        <p:nvSpPr>
          <p:cNvPr id="26" name="Text 23"/>
          <p:cNvSpPr/>
          <p:nvPr/>
        </p:nvSpPr>
        <p:spPr>
          <a:xfrm>
            <a:off x="6355080" y="2139696"/>
            <a:ext cx="1196264" cy="603504"/>
          </a:xfrm>
          <a:prstGeom prst="rect">
            <a:avLst/>
          </a:prstGeom>
          <a:noFill/>
          <a:ln/>
        </p:spPr>
        <p:txBody>
          <a:bodyPr wrap="square" lIns="0" tIns="0" rIns="0" bIns="0" rtlCol="0" anchor="t"/>
          <a:lstStyle/>
          <a:p>
            <a:pPr indent="0" marL="0">
              <a:lnSpc>
                <a:spcPct val="108000"/>
              </a:lnSpc>
              <a:buNone/>
            </a:pPr>
            <a:r>
              <a:rPr lang="en-US" sz="800" dirty="0">
                <a:solidFill>
                  <a:srgbClr val="54606F"/>
                </a:solidFill>
                <a:latin typeface="Nunito Sans" pitchFamily="34" charset="0"/>
                <a:ea typeface="Nunito Sans" pitchFamily="34" charset="-122"/>
                <a:cs typeface="Nunito Sans" pitchFamily="34" charset="-120"/>
              </a:rPr>
              <a:t>have a child under 12 and / or an elderly member at home</a:t>
            </a:r>
            <a:endParaRPr lang="en-US" sz="800" dirty="0"/>
          </a:p>
        </p:txBody>
      </p:sp>
      <p:sp>
        <p:nvSpPr>
          <p:cNvPr id="27" name="Text 24"/>
          <p:cNvSpPr/>
          <p:nvPr/>
        </p:nvSpPr>
        <p:spPr>
          <a:xfrm>
            <a:off x="7734224" y="1755648"/>
            <a:ext cx="1196264" cy="347472"/>
          </a:xfrm>
          <a:prstGeom prst="rect">
            <a:avLst/>
          </a:prstGeom>
          <a:noFill/>
          <a:ln/>
        </p:spPr>
        <p:txBody>
          <a:bodyPr wrap="square" lIns="0" tIns="0" rIns="0" bIns="0" rtlCol="0" anchor="t"/>
          <a:lstStyle/>
          <a:p>
            <a:pPr indent="0" marL="0">
              <a:buNone/>
            </a:pPr>
            <a:r>
              <a:rPr lang="en-US" sz="1800" dirty="0">
                <a:solidFill>
                  <a:srgbClr val="177A46"/>
                </a:solidFill>
                <a:latin typeface="Archivo Black" pitchFamily="34" charset="0"/>
                <a:ea typeface="Archivo Black" pitchFamily="34" charset="-122"/>
                <a:cs typeface="Archivo Black" pitchFamily="34" charset="-120"/>
              </a:rPr>
              <a:t>82%</a:t>
            </a:r>
            <a:endParaRPr lang="en-US" sz="1800" dirty="0"/>
          </a:p>
        </p:txBody>
      </p:sp>
      <p:sp>
        <p:nvSpPr>
          <p:cNvPr id="28" name="Text 25"/>
          <p:cNvSpPr/>
          <p:nvPr/>
        </p:nvSpPr>
        <p:spPr>
          <a:xfrm>
            <a:off x="7734224" y="2139696"/>
            <a:ext cx="1196264" cy="603504"/>
          </a:xfrm>
          <a:prstGeom prst="rect">
            <a:avLst/>
          </a:prstGeom>
          <a:noFill/>
          <a:ln/>
        </p:spPr>
        <p:txBody>
          <a:bodyPr wrap="square" lIns="0" tIns="0" rIns="0" bIns="0" rtlCol="0" anchor="t"/>
          <a:lstStyle/>
          <a:p>
            <a:pPr indent="0" marL="0">
              <a:lnSpc>
                <a:spcPct val="108000"/>
              </a:lnSpc>
              <a:buNone/>
            </a:pPr>
            <a:r>
              <a:rPr lang="en-US" sz="800" dirty="0">
                <a:solidFill>
                  <a:srgbClr val="54606F"/>
                </a:solidFill>
                <a:latin typeface="Nunito Sans" pitchFamily="34" charset="0"/>
                <a:ea typeface="Nunito Sans" pitchFamily="34" charset="-122"/>
                <a:cs typeface="Nunito Sans" pitchFamily="34" charset="-120"/>
              </a:rPr>
              <a:t>do the household grocery shopping entirely themselves</a:t>
            </a:r>
            <a:endParaRPr lang="en-US" sz="800" dirty="0"/>
          </a:p>
        </p:txBody>
      </p:sp>
      <p:sp>
        <p:nvSpPr>
          <p:cNvPr id="29" name="Text 26"/>
          <p:cNvSpPr/>
          <p:nvPr/>
        </p:nvSpPr>
        <p:spPr>
          <a:xfrm>
            <a:off x="9113368" y="1755648"/>
            <a:ext cx="1196264" cy="347472"/>
          </a:xfrm>
          <a:prstGeom prst="rect">
            <a:avLst/>
          </a:prstGeom>
          <a:noFill/>
          <a:ln/>
        </p:spPr>
        <p:txBody>
          <a:bodyPr wrap="square" lIns="0" tIns="0" rIns="0" bIns="0" rtlCol="0" anchor="t"/>
          <a:lstStyle/>
          <a:p>
            <a:pPr indent="0" marL="0">
              <a:buNone/>
            </a:pPr>
            <a:r>
              <a:rPr lang="en-US" sz="1800" dirty="0">
                <a:solidFill>
                  <a:srgbClr val="177A46"/>
                </a:solidFill>
                <a:latin typeface="Archivo Black" pitchFamily="34" charset="0"/>
                <a:ea typeface="Archivo Black" pitchFamily="34" charset="-122"/>
                <a:cs typeface="Archivo Black" pitchFamily="34" charset="-120"/>
              </a:rPr>
              <a:t>63%</a:t>
            </a:r>
            <a:endParaRPr lang="en-US" sz="1800" dirty="0"/>
          </a:p>
        </p:txBody>
      </p:sp>
      <p:sp>
        <p:nvSpPr>
          <p:cNvPr id="30" name="Text 27"/>
          <p:cNvSpPr/>
          <p:nvPr/>
        </p:nvSpPr>
        <p:spPr>
          <a:xfrm>
            <a:off x="9113368" y="2139696"/>
            <a:ext cx="1196264" cy="603504"/>
          </a:xfrm>
          <a:prstGeom prst="rect">
            <a:avLst/>
          </a:prstGeom>
          <a:noFill/>
          <a:ln/>
        </p:spPr>
        <p:txBody>
          <a:bodyPr wrap="square" lIns="0" tIns="0" rIns="0" bIns="0" rtlCol="0" anchor="t"/>
          <a:lstStyle/>
          <a:p>
            <a:pPr indent="0" marL="0">
              <a:lnSpc>
                <a:spcPct val="108000"/>
              </a:lnSpc>
              <a:buNone/>
            </a:pPr>
            <a:r>
              <a:rPr lang="en-US" sz="800" dirty="0">
                <a:solidFill>
                  <a:srgbClr val="54606F"/>
                </a:solidFill>
                <a:latin typeface="Nunito Sans" pitchFamily="34" charset="0"/>
                <a:ea typeface="Nunito Sans" pitchFamily="34" charset="-122"/>
                <a:cs typeface="Nunito Sans" pitchFamily="34" charset="-120"/>
              </a:rPr>
              <a:t>earn ₹1–2.5 Lakh per month</a:t>
            </a:r>
            <a:endParaRPr lang="en-US" sz="800" dirty="0"/>
          </a:p>
        </p:txBody>
      </p:sp>
      <p:sp>
        <p:nvSpPr>
          <p:cNvPr id="31" name="Text 28"/>
          <p:cNvSpPr/>
          <p:nvPr/>
        </p:nvSpPr>
        <p:spPr>
          <a:xfrm>
            <a:off x="10492511" y="1755648"/>
            <a:ext cx="1196264" cy="347472"/>
          </a:xfrm>
          <a:prstGeom prst="rect">
            <a:avLst/>
          </a:prstGeom>
          <a:noFill/>
          <a:ln/>
        </p:spPr>
        <p:txBody>
          <a:bodyPr wrap="square" lIns="0" tIns="0" rIns="0" bIns="0" rtlCol="0" anchor="t"/>
          <a:lstStyle/>
          <a:p>
            <a:pPr indent="0" marL="0">
              <a:buNone/>
            </a:pPr>
            <a:r>
              <a:rPr lang="en-US" sz="1800" dirty="0">
                <a:solidFill>
                  <a:srgbClr val="177A46"/>
                </a:solidFill>
                <a:latin typeface="Archivo Black" pitchFamily="34" charset="0"/>
                <a:ea typeface="Archivo Black" pitchFamily="34" charset="-122"/>
                <a:cs typeface="Archivo Black" pitchFamily="34" charset="-120"/>
              </a:rPr>
              <a:t>58%</a:t>
            </a:r>
            <a:endParaRPr lang="en-US" sz="1800" dirty="0"/>
          </a:p>
        </p:txBody>
      </p:sp>
      <p:sp>
        <p:nvSpPr>
          <p:cNvPr id="32" name="Text 29"/>
          <p:cNvSpPr/>
          <p:nvPr/>
        </p:nvSpPr>
        <p:spPr>
          <a:xfrm>
            <a:off x="10492511" y="2139696"/>
            <a:ext cx="1196264" cy="603504"/>
          </a:xfrm>
          <a:prstGeom prst="rect">
            <a:avLst/>
          </a:prstGeom>
          <a:noFill/>
          <a:ln/>
        </p:spPr>
        <p:txBody>
          <a:bodyPr wrap="square" lIns="0" tIns="0" rIns="0" bIns="0" rtlCol="0" anchor="t"/>
          <a:lstStyle/>
          <a:p>
            <a:pPr indent="0" marL="0">
              <a:lnSpc>
                <a:spcPct val="108000"/>
              </a:lnSpc>
              <a:buNone/>
            </a:pPr>
            <a:r>
              <a:rPr lang="en-US" sz="800" dirty="0">
                <a:solidFill>
                  <a:srgbClr val="54606F"/>
                </a:solidFill>
                <a:latin typeface="Nunito Sans" pitchFamily="34" charset="0"/>
                <a:ea typeface="Nunito Sans" pitchFamily="34" charset="-122"/>
                <a:cs typeface="Nunito Sans" pitchFamily="34" charset="-120"/>
              </a:rPr>
              <a:t>shop for groceries three or more times a week</a:t>
            </a:r>
            <a:endParaRPr lang="en-US" sz="800" dirty="0"/>
          </a:p>
        </p:txBody>
      </p:sp>
      <p:sp>
        <p:nvSpPr>
          <p:cNvPr id="33" name="Shape 30"/>
          <p:cNvSpPr/>
          <p:nvPr/>
        </p:nvSpPr>
        <p:spPr>
          <a:xfrm>
            <a:off x="6355080" y="2852928"/>
            <a:ext cx="5333695" cy="0"/>
          </a:xfrm>
          <a:prstGeom prst="line">
            <a:avLst/>
          </a:prstGeom>
          <a:noFill/>
          <a:ln w="12700">
            <a:solidFill>
              <a:srgbClr val="3A5D97"/>
            </a:solidFill>
            <a:prstDash val="solid"/>
          </a:ln>
        </p:spPr>
      </p:sp>
      <p:sp>
        <p:nvSpPr>
          <p:cNvPr id="34" name="Text 31"/>
          <p:cNvSpPr/>
          <p:nvPr/>
        </p:nvSpPr>
        <p:spPr>
          <a:xfrm>
            <a:off x="6355080" y="2898648"/>
            <a:ext cx="5333695"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WHERE THEY SHOP  (% USING, MULTI-SELECT)</a:t>
            </a:r>
            <a:endParaRPr lang="en-US" sz="900" dirty="0"/>
          </a:p>
        </p:txBody>
      </p:sp>
      <p:sp>
        <p:nvSpPr>
          <p:cNvPr id="35" name="Text 32"/>
          <p:cNvSpPr/>
          <p:nvPr/>
        </p:nvSpPr>
        <p:spPr>
          <a:xfrm>
            <a:off x="6355080" y="3145536"/>
            <a:ext cx="3596335"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Blinkit</a:t>
            </a:r>
            <a:endParaRPr lang="en-US" sz="950" dirty="0"/>
          </a:p>
        </p:txBody>
      </p:sp>
      <p:sp>
        <p:nvSpPr>
          <p:cNvPr id="36" name="Text 33"/>
          <p:cNvSpPr/>
          <p:nvPr/>
        </p:nvSpPr>
        <p:spPr>
          <a:xfrm>
            <a:off x="9951415" y="3145536"/>
            <a:ext cx="1737360" cy="201168"/>
          </a:xfrm>
          <a:prstGeom prst="rect">
            <a:avLst/>
          </a:prstGeom>
          <a:noFill/>
          <a:ln/>
        </p:spPr>
        <p:txBody>
          <a:bodyPr wrap="square" lIns="0" tIns="0" rIns="0" bIns="0" rtlCol="0" anchor="ctr"/>
          <a:lstStyle/>
          <a:p>
            <a:pPr algn="r" indent="0" marL="0">
              <a:buNone/>
            </a:pPr>
            <a:r>
              <a:rPr lang="en-US" sz="1000" b="1" dirty="0">
                <a:solidFill>
                  <a:srgbClr val="3A5D97"/>
                </a:solidFill>
                <a:latin typeface="Nunito Sans" pitchFamily="34" charset="0"/>
                <a:ea typeface="Nunito Sans" pitchFamily="34" charset="-122"/>
                <a:cs typeface="Nunito Sans" pitchFamily="34" charset="-120"/>
              </a:rPr>
              <a:t>53%</a:t>
            </a:r>
            <a:endParaRPr lang="en-US" sz="1000" dirty="0"/>
          </a:p>
        </p:txBody>
      </p:sp>
      <p:sp>
        <p:nvSpPr>
          <p:cNvPr id="37" name="Shape 34"/>
          <p:cNvSpPr/>
          <p:nvPr/>
        </p:nvSpPr>
        <p:spPr>
          <a:xfrm>
            <a:off x="6355080" y="3364992"/>
            <a:ext cx="5333695" cy="100584"/>
          </a:xfrm>
          <a:prstGeom prst="roundRect">
            <a:avLst>
              <a:gd name="adj" fmla="val 50000"/>
            </a:avLst>
          </a:prstGeom>
          <a:solidFill>
            <a:srgbClr val="EDE4D4"/>
          </a:solidFill>
          <a:ln w="12700">
            <a:solidFill>
              <a:srgbClr val="333333"/>
            </a:solidFill>
            <a:prstDash val="solid"/>
          </a:ln>
        </p:spPr>
      </p:sp>
      <p:sp>
        <p:nvSpPr>
          <p:cNvPr id="38" name="Shape 35"/>
          <p:cNvSpPr/>
          <p:nvPr/>
        </p:nvSpPr>
        <p:spPr>
          <a:xfrm>
            <a:off x="6355080" y="3364992"/>
            <a:ext cx="4711431" cy="100584"/>
          </a:xfrm>
          <a:prstGeom prst="roundRect">
            <a:avLst>
              <a:gd name="adj" fmla="val 50000"/>
            </a:avLst>
          </a:prstGeom>
          <a:solidFill>
            <a:srgbClr val="3A5D97"/>
          </a:solidFill>
          <a:ln w="12700">
            <a:solidFill>
              <a:srgbClr val="333333"/>
            </a:solidFill>
            <a:prstDash val="solid"/>
          </a:ln>
        </p:spPr>
      </p:sp>
      <p:sp>
        <p:nvSpPr>
          <p:cNvPr id="39" name="Text 36"/>
          <p:cNvSpPr/>
          <p:nvPr/>
        </p:nvSpPr>
        <p:spPr>
          <a:xfrm>
            <a:off x="6355080" y="3447288"/>
            <a:ext cx="3596335"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Swiggy Instamart</a:t>
            </a:r>
            <a:endParaRPr lang="en-US" sz="950" dirty="0"/>
          </a:p>
        </p:txBody>
      </p:sp>
      <p:sp>
        <p:nvSpPr>
          <p:cNvPr id="40" name="Text 37"/>
          <p:cNvSpPr/>
          <p:nvPr/>
        </p:nvSpPr>
        <p:spPr>
          <a:xfrm>
            <a:off x="9951415" y="3447288"/>
            <a:ext cx="1737360" cy="201168"/>
          </a:xfrm>
          <a:prstGeom prst="rect">
            <a:avLst/>
          </a:prstGeom>
          <a:noFill/>
          <a:ln/>
        </p:spPr>
        <p:txBody>
          <a:bodyPr wrap="square" lIns="0" tIns="0" rIns="0" bIns="0" rtlCol="0" anchor="ctr"/>
          <a:lstStyle/>
          <a:p>
            <a:pPr algn="r" indent="0" marL="0">
              <a:buNone/>
            </a:pPr>
            <a:r>
              <a:rPr lang="en-US" sz="1000" b="1" dirty="0">
                <a:solidFill>
                  <a:srgbClr val="3A5D97"/>
                </a:solidFill>
                <a:latin typeface="Nunito Sans" pitchFamily="34" charset="0"/>
                <a:ea typeface="Nunito Sans" pitchFamily="34" charset="-122"/>
                <a:cs typeface="Nunito Sans" pitchFamily="34" charset="-120"/>
              </a:rPr>
              <a:t>43%</a:t>
            </a:r>
            <a:endParaRPr lang="en-US" sz="1000" dirty="0"/>
          </a:p>
        </p:txBody>
      </p:sp>
      <p:sp>
        <p:nvSpPr>
          <p:cNvPr id="41" name="Shape 38"/>
          <p:cNvSpPr/>
          <p:nvPr/>
        </p:nvSpPr>
        <p:spPr>
          <a:xfrm>
            <a:off x="6355080" y="3666744"/>
            <a:ext cx="5333695" cy="100584"/>
          </a:xfrm>
          <a:prstGeom prst="roundRect">
            <a:avLst>
              <a:gd name="adj" fmla="val 50000"/>
            </a:avLst>
          </a:prstGeom>
          <a:solidFill>
            <a:srgbClr val="EDE4D4"/>
          </a:solidFill>
          <a:ln w="12700">
            <a:solidFill>
              <a:srgbClr val="333333"/>
            </a:solidFill>
            <a:prstDash val="solid"/>
          </a:ln>
        </p:spPr>
      </p:sp>
      <p:sp>
        <p:nvSpPr>
          <p:cNvPr id="42" name="Shape 39"/>
          <p:cNvSpPr/>
          <p:nvPr/>
        </p:nvSpPr>
        <p:spPr>
          <a:xfrm>
            <a:off x="6355080" y="3666744"/>
            <a:ext cx="3822482" cy="100584"/>
          </a:xfrm>
          <a:prstGeom prst="roundRect">
            <a:avLst>
              <a:gd name="adj" fmla="val 50000"/>
            </a:avLst>
          </a:prstGeom>
          <a:solidFill>
            <a:srgbClr val="3A5D97"/>
          </a:solidFill>
          <a:ln w="12700">
            <a:solidFill>
              <a:srgbClr val="333333"/>
            </a:solidFill>
            <a:prstDash val="solid"/>
          </a:ln>
        </p:spPr>
      </p:sp>
      <p:sp>
        <p:nvSpPr>
          <p:cNvPr id="43" name="Text 40"/>
          <p:cNvSpPr/>
          <p:nvPr/>
        </p:nvSpPr>
        <p:spPr>
          <a:xfrm>
            <a:off x="6355080" y="3749040"/>
            <a:ext cx="3596335"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Kirana</a:t>
            </a:r>
            <a:endParaRPr lang="en-US" sz="950" dirty="0"/>
          </a:p>
        </p:txBody>
      </p:sp>
      <p:sp>
        <p:nvSpPr>
          <p:cNvPr id="44" name="Text 41"/>
          <p:cNvSpPr/>
          <p:nvPr/>
        </p:nvSpPr>
        <p:spPr>
          <a:xfrm>
            <a:off x="9951415" y="3749040"/>
            <a:ext cx="1737360" cy="201168"/>
          </a:xfrm>
          <a:prstGeom prst="rect">
            <a:avLst/>
          </a:prstGeom>
          <a:noFill/>
          <a:ln/>
        </p:spPr>
        <p:txBody>
          <a:bodyPr wrap="square" lIns="0" tIns="0" rIns="0" bIns="0" rtlCol="0" anchor="ctr"/>
          <a:lstStyle/>
          <a:p>
            <a:pPr algn="r" indent="0" marL="0">
              <a:buNone/>
            </a:pPr>
            <a:r>
              <a:rPr lang="en-US" sz="1000" b="1" dirty="0">
                <a:solidFill>
                  <a:srgbClr val="6688BE"/>
                </a:solidFill>
                <a:latin typeface="Nunito Sans" pitchFamily="34" charset="0"/>
                <a:ea typeface="Nunito Sans" pitchFamily="34" charset="-122"/>
                <a:cs typeface="Nunito Sans" pitchFamily="34" charset="-120"/>
              </a:rPr>
              <a:t>41%</a:t>
            </a:r>
            <a:endParaRPr lang="en-US" sz="1000" dirty="0"/>
          </a:p>
        </p:txBody>
      </p:sp>
      <p:sp>
        <p:nvSpPr>
          <p:cNvPr id="45" name="Shape 42"/>
          <p:cNvSpPr/>
          <p:nvPr/>
        </p:nvSpPr>
        <p:spPr>
          <a:xfrm>
            <a:off x="6355080" y="3968496"/>
            <a:ext cx="5333695" cy="100584"/>
          </a:xfrm>
          <a:prstGeom prst="roundRect">
            <a:avLst>
              <a:gd name="adj" fmla="val 50000"/>
            </a:avLst>
          </a:prstGeom>
          <a:solidFill>
            <a:srgbClr val="EDE4D4"/>
          </a:solidFill>
          <a:ln w="12700">
            <a:solidFill>
              <a:srgbClr val="333333"/>
            </a:solidFill>
            <a:prstDash val="solid"/>
          </a:ln>
        </p:spPr>
      </p:sp>
      <p:sp>
        <p:nvSpPr>
          <p:cNvPr id="46" name="Shape 43"/>
          <p:cNvSpPr/>
          <p:nvPr/>
        </p:nvSpPr>
        <p:spPr>
          <a:xfrm>
            <a:off x="6355080" y="3968496"/>
            <a:ext cx="3644692" cy="100584"/>
          </a:xfrm>
          <a:prstGeom prst="roundRect">
            <a:avLst>
              <a:gd name="adj" fmla="val 50000"/>
            </a:avLst>
          </a:prstGeom>
          <a:solidFill>
            <a:srgbClr val="6688BE"/>
          </a:solidFill>
          <a:ln w="12700">
            <a:solidFill>
              <a:srgbClr val="333333"/>
            </a:solidFill>
            <a:prstDash val="solid"/>
          </a:ln>
        </p:spPr>
      </p:sp>
      <p:sp>
        <p:nvSpPr>
          <p:cNvPr id="47" name="Text 44"/>
          <p:cNvSpPr/>
          <p:nvPr/>
        </p:nvSpPr>
        <p:spPr>
          <a:xfrm>
            <a:off x="6355080" y="4050792"/>
            <a:ext cx="3596335"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BigBasket</a:t>
            </a:r>
            <a:endParaRPr lang="en-US" sz="950" dirty="0"/>
          </a:p>
        </p:txBody>
      </p:sp>
      <p:sp>
        <p:nvSpPr>
          <p:cNvPr id="48" name="Text 45"/>
          <p:cNvSpPr/>
          <p:nvPr/>
        </p:nvSpPr>
        <p:spPr>
          <a:xfrm>
            <a:off x="9951415" y="4050792"/>
            <a:ext cx="1737360" cy="201168"/>
          </a:xfrm>
          <a:prstGeom prst="rect">
            <a:avLst/>
          </a:prstGeom>
          <a:noFill/>
          <a:ln/>
        </p:spPr>
        <p:txBody>
          <a:bodyPr wrap="square" lIns="0" tIns="0" rIns="0" bIns="0" rtlCol="0" anchor="ctr"/>
          <a:lstStyle/>
          <a:p>
            <a:pPr algn="r" indent="0" marL="0">
              <a:buNone/>
            </a:pPr>
            <a:r>
              <a:rPr lang="en-US" sz="1000" b="1" dirty="0">
                <a:solidFill>
                  <a:srgbClr val="6688BE"/>
                </a:solidFill>
                <a:latin typeface="Nunito Sans" pitchFamily="34" charset="0"/>
                <a:ea typeface="Nunito Sans" pitchFamily="34" charset="-122"/>
                <a:cs typeface="Nunito Sans" pitchFamily="34" charset="-120"/>
              </a:rPr>
              <a:t>34%</a:t>
            </a:r>
            <a:endParaRPr lang="en-US" sz="1000" dirty="0"/>
          </a:p>
        </p:txBody>
      </p:sp>
      <p:sp>
        <p:nvSpPr>
          <p:cNvPr id="49" name="Shape 46"/>
          <p:cNvSpPr/>
          <p:nvPr/>
        </p:nvSpPr>
        <p:spPr>
          <a:xfrm>
            <a:off x="6355080" y="4270248"/>
            <a:ext cx="5333695" cy="100584"/>
          </a:xfrm>
          <a:prstGeom prst="roundRect">
            <a:avLst>
              <a:gd name="adj" fmla="val 50000"/>
            </a:avLst>
          </a:prstGeom>
          <a:solidFill>
            <a:srgbClr val="EDE4D4"/>
          </a:solidFill>
          <a:ln w="12700">
            <a:solidFill>
              <a:srgbClr val="333333"/>
            </a:solidFill>
            <a:prstDash val="solid"/>
          </a:ln>
        </p:spPr>
      </p:sp>
      <p:sp>
        <p:nvSpPr>
          <p:cNvPr id="50" name="Shape 47"/>
          <p:cNvSpPr/>
          <p:nvPr/>
        </p:nvSpPr>
        <p:spPr>
          <a:xfrm>
            <a:off x="6355080" y="4270248"/>
            <a:ext cx="3022427" cy="100584"/>
          </a:xfrm>
          <a:prstGeom prst="roundRect">
            <a:avLst>
              <a:gd name="adj" fmla="val 50000"/>
            </a:avLst>
          </a:prstGeom>
          <a:solidFill>
            <a:srgbClr val="6688BE"/>
          </a:solidFill>
          <a:ln w="12700">
            <a:solidFill>
              <a:srgbClr val="333333"/>
            </a:solidFill>
            <a:prstDash val="solid"/>
          </a:ln>
        </p:spPr>
      </p:sp>
      <p:sp>
        <p:nvSpPr>
          <p:cNvPr id="51" name="Text 48"/>
          <p:cNvSpPr/>
          <p:nvPr/>
        </p:nvSpPr>
        <p:spPr>
          <a:xfrm>
            <a:off x="6355080" y="4352544"/>
            <a:ext cx="3596335"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Amazon / JioMart</a:t>
            </a:r>
            <a:endParaRPr lang="en-US" sz="950" dirty="0"/>
          </a:p>
        </p:txBody>
      </p:sp>
      <p:sp>
        <p:nvSpPr>
          <p:cNvPr id="52" name="Text 49"/>
          <p:cNvSpPr/>
          <p:nvPr/>
        </p:nvSpPr>
        <p:spPr>
          <a:xfrm>
            <a:off x="9951415" y="4352544"/>
            <a:ext cx="1737360" cy="201168"/>
          </a:xfrm>
          <a:prstGeom prst="rect">
            <a:avLst/>
          </a:prstGeom>
          <a:noFill/>
          <a:ln/>
        </p:spPr>
        <p:txBody>
          <a:bodyPr wrap="square" lIns="0" tIns="0" rIns="0" bIns="0" rtlCol="0" anchor="ctr"/>
          <a:lstStyle/>
          <a:p>
            <a:pPr algn="r" indent="0" marL="0">
              <a:buNone/>
            </a:pPr>
            <a:r>
              <a:rPr lang="en-US" sz="1000" b="1" dirty="0">
                <a:solidFill>
                  <a:srgbClr val="6688BE"/>
                </a:solidFill>
                <a:latin typeface="Nunito Sans" pitchFamily="34" charset="0"/>
                <a:ea typeface="Nunito Sans" pitchFamily="34" charset="-122"/>
                <a:cs typeface="Nunito Sans" pitchFamily="34" charset="-120"/>
              </a:rPr>
              <a:t>30%</a:t>
            </a:r>
            <a:endParaRPr lang="en-US" sz="1000" dirty="0"/>
          </a:p>
        </p:txBody>
      </p:sp>
      <p:sp>
        <p:nvSpPr>
          <p:cNvPr id="53" name="Shape 50"/>
          <p:cNvSpPr/>
          <p:nvPr/>
        </p:nvSpPr>
        <p:spPr>
          <a:xfrm>
            <a:off x="6355080" y="4572000"/>
            <a:ext cx="5333695" cy="100584"/>
          </a:xfrm>
          <a:prstGeom prst="roundRect">
            <a:avLst>
              <a:gd name="adj" fmla="val 50000"/>
            </a:avLst>
          </a:prstGeom>
          <a:solidFill>
            <a:srgbClr val="EDE4D4"/>
          </a:solidFill>
          <a:ln w="12700">
            <a:solidFill>
              <a:srgbClr val="333333"/>
            </a:solidFill>
            <a:prstDash val="solid"/>
          </a:ln>
        </p:spPr>
      </p:sp>
      <p:sp>
        <p:nvSpPr>
          <p:cNvPr id="54" name="Shape 51"/>
          <p:cNvSpPr/>
          <p:nvPr/>
        </p:nvSpPr>
        <p:spPr>
          <a:xfrm>
            <a:off x="6355080" y="4572000"/>
            <a:ext cx="2666848" cy="100584"/>
          </a:xfrm>
          <a:prstGeom prst="roundRect">
            <a:avLst>
              <a:gd name="adj" fmla="val 50000"/>
            </a:avLst>
          </a:prstGeom>
          <a:solidFill>
            <a:srgbClr val="6688BE"/>
          </a:solidFill>
          <a:ln w="12700">
            <a:solidFill>
              <a:srgbClr val="333333"/>
            </a:solidFill>
            <a:prstDash val="solid"/>
          </a:ln>
        </p:spPr>
      </p:sp>
      <p:sp>
        <p:nvSpPr>
          <p:cNvPr id="55" name="Text 52"/>
          <p:cNvSpPr/>
          <p:nvPr/>
        </p:nvSpPr>
        <p:spPr>
          <a:xfrm>
            <a:off x="6355080" y="4654296"/>
            <a:ext cx="3596335"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Zepto</a:t>
            </a:r>
            <a:endParaRPr lang="en-US" sz="950" dirty="0"/>
          </a:p>
        </p:txBody>
      </p:sp>
      <p:sp>
        <p:nvSpPr>
          <p:cNvPr id="56" name="Text 53"/>
          <p:cNvSpPr/>
          <p:nvPr/>
        </p:nvSpPr>
        <p:spPr>
          <a:xfrm>
            <a:off x="9951415" y="4654296"/>
            <a:ext cx="1737360" cy="201168"/>
          </a:xfrm>
          <a:prstGeom prst="rect">
            <a:avLst/>
          </a:prstGeom>
          <a:noFill/>
          <a:ln/>
        </p:spPr>
        <p:txBody>
          <a:bodyPr wrap="square" lIns="0" tIns="0" rIns="0" bIns="0" rtlCol="0" anchor="ctr"/>
          <a:lstStyle/>
          <a:p>
            <a:pPr algn="r" indent="0" marL="0">
              <a:buNone/>
            </a:pPr>
            <a:r>
              <a:rPr lang="en-US" sz="1000" b="1" dirty="0">
                <a:solidFill>
                  <a:srgbClr val="3A5D97"/>
                </a:solidFill>
                <a:latin typeface="Nunito Sans" pitchFamily="34" charset="0"/>
                <a:ea typeface="Nunito Sans" pitchFamily="34" charset="-122"/>
                <a:cs typeface="Nunito Sans" pitchFamily="34" charset="-120"/>
              </a:rPr>
              <a:t>29%</a:t>
            </a:r>
            <a:endParaRPr lang="en-US" sz="1000" dirty="0"/>
          </a:p>
        </p:txBody>
      </p:sp>
      <p:sp>
        <p:nvSpPr>
          <p:cNvPr id="57" name="Shape 54"/>
          <p:cNvSpPr/>
          <p:nvPr/>
        </p:nvSpPr>
        <p:spPr>
          <a:xfrm>
            <a:off x="6355080" y="4873752"/>
            <a:ext cx="5333695" cy="100584"/>
          </a:xfrm>
          <a:prstGeom prst="roundRect">
            <a:avLst>
              <a:gd name="adj" fmla="val 50000"/>
            </a:avLst>
          </a:prstGeom>
          <a:solidFill>
            <a:srgbClr val="EDE4D4"/>
          </a:solidFill>
          <a:ln w="12700">
            <a:solidFill>
              <a:srgbClr val="333333"/>
            </a:solidFill>
            <a:prstDash val="solid"/>
          </a:ln>
        </p:spPr>
      </p:sp>
      <p:sp>
        <p:nvSpPr>
          <p:cNvPr id="58" name="Shape 55"/>
          <p:cNvSpPr/>
          <p:nvPr/>
        </p:nvSpPr>
        <p:spPr>
          <a:xfrm>
            <a:off x="6355080" y="4873752"/>
            <a:ext cx="2577953" cy="100584"/>
          </a:xfrm>
          <a:prstGeom prst="roundRect">
            <a:avLst>
              <a:gd name="adj" fmla="val 50000"/>
            </a:avLst>
          </a:prstGeom>
          <a:solidFill>
            <a:srgbClr val="3A5D97"/>
          </a:solidFill>
          <a:ln w="12700">
            <a:solidFill>
              <a:srgbClr val="333333"/>
            </a:solidFill>
            <a:prstDash val="solid"/>
          </a:ln>
        </p:spPr>
      </p:sp>
      <p:sp>
        <p:nvSpPr>
          <p:cNvPr id="59" name="Text 56"/>
          <p:cNvSpPr/>
          <p:nvPr/>
        </p:nvSpPr>
        <p:spPr>
          <a:xfrm>
            <a:off x="6355080" y="4956048"/>
            <a:ext cx="3596335"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Supermarkets</a:t>
            </a:r>
            <a:endParaRPr lang="en-US" sz="950" dirty="0"/>
          </a:p>
        </p:txBody>
      </p:sp>
      <p:sp>
        <p:nvSpPr>
          <p:cNvPr id="60" name="Text 57"/>
          <p:cNvSpPr/>
          <p:nvPr/>
        </p:nvSpPr>
        <p:spPr>
          <a:xfrm>
            <a:off x="9951415" y="4956048"/>
            <a:ext cx="1737360" cy="201168"/>
          </a:xfrm>
          <a:prstGeom prst="rect">
            <a:avLst/>
          </a:prstGeom>
          <a:noFill/>
          <a:ln/>
        </p:spPr>
        <p:txBody>
          <a:bodyPr wrap="square" lIns="0" tIns="0" rIns="0" bIns="0" rtlCol="0" anchor="ctr"/>
          <a:lstStyle/>
          <a:p>
            <a:pPr algn="r" indent="0" marL="0">
              <a:buNone/>
            </a:pPr>
            <a:r>
              <a:rPr lang="en-US" sz="1000" b="1" dirty="0">
                <a:solidFill>
                  <a:srgbClr val="B5AD9C"/>
                </a:solidFill>
                <a:latin typeface="Nunito Sans" pitchFamily="34" charset="0"/>
                <a:ea typeface="Nunito Sans" pitchFamily="34" charset="-122"/>
                <a:cs typeface="Nunito Sans" pitchFamily="34" charset="-120"/>
              </a:rPr>
              <a:t>10%</a:t>
            </a:r>
            <a:endParaRPr lang="en-US" sz="1000" dirty="0"/>
          </a:p>
        </p:txBody>
      </p:sp>
      <p:sp>
        <p:nvSpPr>
          <p:cNvPr id="61" name="Shape 58"/>
          <p:cNvSpPr/>
          <p:nvPr/>
        </p:nvSpPr>
        <p:spPr>
          <a:xfrm>
            <a:off x="6355080" y="5175504"/>
            <a:ext cx="5333695" cy="100584"/>
          </a:xfrm>
          <a:prstGeom prst="roundRect">
            <a:avLst>
              <a:gd name="adj" fmla="val 50000"/>
            </a:avLst>
          </a:prstGeom>
          <a:solidFill>
            <a:srgbClr val="EDE4D4"/>
          </a:solidFill>
          <a:ln w="12700">
            <a:solidFill>
              <a:srgbClr val="333333"/>
            </a:solidFill>
            <a:prstDash val="solid"/>
          </a:ln>
        </p:spPr>
      </p:sp>
      <p:sp>
        <p:nvSpPr>
          <p:cNvPr id="62" name="Shape 59"/>
          <p:cNvSpPr/>
          <p:nvPr/>
        </p:nvSpPr>
        <p:spPr>
          <a:xfrm>
            <a:off x="6355080" y="5175504"/>
            <a:ext cx="888949" cy="100584"/>
          </a:xfrm>
          <a:prstGeom prst="roundRect">
            <a:avLst>
              <a:gd name="adj" fmla="val 50000"/>
            </a:avLst>
          </a:prstGeom>
          <a:solidFill>
            <a:srgbClr val="B5AD9C"/>
          </a:solidFill>
          <a:ln w="12700">
            <a:solidFill>
              <a:srgbClr val="333333"/>
            </a:solidFill>
            <a:prstDash val="solid"/>
          </a:ln>
        </p:spPr>
      </p:sp>
      <p:sp>
        <p:nvSpPr>
          <p:cNvPr id="63" name="Shape 60"/>
          <p:cNvSpPr/>
          <p:nvPr/>
        </p:nvSpPr>
        <p:spPr>
          <a:xfrm>
            <a:off x="6355080" y="5358384"/>
            <a:ext cx="5333695" cy="713232"/>
          </a:xfrm>
          <a:prstGeom prst="roundRect">
            <a:avLst>
              <a:gd name="adj" fmla="val 12821"/>
            </a:avLst>
          </a:prstGeom>
          <a:solidFill>
            <a:srgbClr val="EAF0F8"/>
          </a:solidFill>
          <a:ln w="6350">
            <a:solidFill>
              <a:srgbClr val="EAF0F8"/>
            </a:solidFill>
            <a:prstDash val="solid"/>
          </a:ln>
        </p:spPr>
      </p:sp>
      <p:sp>
        <p:nvSpPr>
          <p:cNvPr id="64" name="Text 61"/>
          <p:cNvSpPr/>
          <p:nvPr/>
        </p:nvSpPr>
        <p:spPr>
          <a:xfrm>
            <a:off x="6556248" y="5477256"/>
            <a:ext cx="4931359" cy="502920"/>
          </a:xfrm>
          <a:prstGeom prst="rect">
            <a:avLst/>
          </a:prstGeom>
          <a:noFill/>
          <a:ln/>
        </p:spPr>
        <p:txBody>
          <a:bodyPr wrap="square" lIns="0" tIns="0" rIns="0" bIns="0" rtlCol="0" anchor="t"/>
          <a:lstStyle/>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A quick-commerce-first, metro sample: The exact cohort DHF already sells to, and the cohort that will decide whether the category forms and how it will shape.</a:t>
            </a:r>
            <a:endParaRPr lang="en-US" sz="900" dirty="0"/>
          </a:p>
        </p:txBody>
      </p:sp>
      <p:sp>
        <p:nvSpPr>
          <p:cNvPr id="65" name="Shape 62"/>
          <p:cNvSpPr/>
          <p:nvPr/>
        </p:nvSpPr>
        <p:spPr>
          <a:xfrm>
            <a:off x="502920" y="6492240"/>
            <a:ext cx="11185855" cy="0"/>
          </a:xfrm>
          <a:prstGeom prst="line">
            <a:avLst/>
          </a:prstGeom>
          <a:noFill/>
          <a:ln w="9525">
            <a:solidFill>
              <a:srgbClr val="E5DCCB"/>
            </a:solidFill>
            <a:prstDash val="solid"/>
          </a:ln>
        </p:spPr>
      </p:sp>
      <p:sp>
        <p:nvSpPr>
          <p:cNvPr id="66" name="Text 63"/>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THE CONSUMER</a:t>
            </a:r>
            <a:endParaRPr lang="en-US" sz="800" dirty="0"/>
          </a:p>
        </p:txBody>
      </p:sp>
      <p:sp>
        <p:nvSpPr>
          <p:cNvPr id="67" name="Text 64"/>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07</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2518258"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2518258"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THE ANALYTICAL PIPELINE</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500" dirty="0">
                <a:solidFill>
                  <a:srgbClr val="0C1A2B"/>
                </a:solidFill>
                <a:latin typeface="Archivo Black" pitchFamily="34" charset="0"/>
                <a:ea typeface="Archivo Black" pitchFamily="34" charset="-122"/>
                <a:cs typeface="Archivo Black" pitchFamily="34" charset="-120"/>
              </a:rPr>
              <a:t>Factor Analysis and K – Means on 15 Attitude Statements</a:t>
            </a:r>
            <a:endParaRPr lang="en-US" sz="2500" dirty="0"/>
          </a:p>
        </p:txBody>
      </p:sp>
      <p:sp>
        <p:nvSpPr>
          <p:cNvPr id="6" name="Shape 3"/>
          <p:cNvSpPr/>
          <p:nvPr/>
        </p:nvSpPr>
        <p:spPr>
          <a:xfrm>
            <a:off x="502920" y="1463040"/>
            <a:ext cx="2061606" cy="1188720"/>
          </a:xfrm>
          <a:prstGeom prst="roundRect">
            <a:avLst>
              <a:gd name="adj" fmla="val 7692"/>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7" name="Shape 4"/>
          <p:cNvSpPr/>
          <p:nvPr/>
        </p:nvSpPr>
        <p:spPr>
          <a:xfrm>
            <a:off x="685800" y="1609344"/>
            <a:ext cx="292608" cy="292608"/>
          </a:xfrm>
          <a:prstGeom prst="ellipse">
            <a:avLst/>
          </a:prstGeom>
          <a:solidFill>
            <a:srgbClr val="EAF0F8"/>
          </a:solidFill>
          <a:ln w="5080">
            <a:solidFill>
              <a:srgbClr val="EAF0F8"/>
            </a:solidFill>
            <a:prstDash val="solid"/>
          </a:ln>
        </p:spPr>
      </p:sp>
      <p:sp>
        <p:nvSpPr>
          <p:cNvPr id="8" name="Text 5"/>
          <p:cNvSpPr/>
          <p:nvPr/>
        </p:nvSpPr>
        <p:spPr>
          <a:xfrm>
            <a:off x="685800" y="1609344"/>
            <a:ext cx="292608" cy="292608"/>
          </a:xfrm>
          <a:prstGeom prst="rect">
            <a:avLst/>
          </a:prstGeom>
          <a:noFill/>
          <a:ln/>
        </p:spPr>
        <p:txBody>
          <a:bodyPr wrap="square" lIns="0" tIns="0" rIns="0" bIns="0" rtlCol="0" anchor="ctr"/>
          <a:lstStyle/>
          <a:p>
            <a:pPr algn="ctr" indent="0" marL="0">
              <a:buNone/>
            </a:pPr>
            <a:r>
              <a:rPr lang="en-US" sz="900" dirty="0">
                <a:solidFill>
                  <a:srgbClr val="3A5D97"/>
                </a:solidFill>
                <a:latin typeface="Archivo Black" pitchFamily="34" charset="0"/>
                <a:ea typeface="Archivo Black" pitchFamily="34" charset="-122"/>
                <a:cs typeface="Archivo Black" pitchFamily="34" charset="-120"/>
              </a:rPr>
              <a:t>1</a:t>
            </a:r>
            <a:endParaRPr lang="en-US" sz="900" dirty="0"/>
          </a:p>
        </p:txBody>
      </p:sp>
      <p:sp>
        <p:nvSpPr>
          <p:cNvPr id="9" name="Text 6"/>
          <p:cNvSpPr/>
          <p:nvPr/>
        </p:nvSpPr>
        <p:spPr>
          <a:xfrm>
            <a:off x="685800" y="1956816"/>
            <a:ext cx="1695846" cy="347472"/>
          </a:xfrm>
          <a:prstGeom prst="rect">
            <a:avLst/>
          </a:prstGeom>
          <a:noFill/>
          <a:ln/>
        </p:spPr>
        <p:txBody>
          <a:bodyPr wrap="square" lIns="0" tIns="0" rIns="0" bIns="0" rtlCol="0" anchor="t"/>
          <a:lstStyle/>
          <a:p>
            <a:pPr indent="0" marL="0">
              <a:lnSpc>
                <a:spcPct val="102000"/>
              </a:lnSpc>
              <a:buNone/>
            </a:pPr>
            <a:r>
              <a:rPr lang="en-US" sz="950" b="1" dirty="0">
                <a:solidFill>
                  <a:srgbClr val="0C1A2B"/>
                </a:solidFill>
                <a:latin typeface="Nunito Sans" pitchFamily="34" charset="0"/>
                <a:ea typeface="Nunito Sans" pitchFamily="34" charset="-122"/>
                <a:cs typeface="Nunito Sans" pitchFamily="34" charset="-120"/>
              </a:rPr>
              <a:t>305 × 15 matrix</a:t>
            </a:r>
            <a:endParaRPr lang="en-US" sz="950" dirty="0"/>
          </a:p>
        </p:txBody>
      </p:sp>
      <p:sp>
        <p:nvSpPr>
          <p:cNvPr id="10" name="Text 7"/>
          <p:cNvSpPr/>
          <p:nvPr/>
        </p:nvSpPr>
        <p:spPr>
          <a:xfrm>
            <a:off x="685800" y="2322576"/>
            <a:ext cx="1695846" cy="292608"/>
          </a:xfrm>
          <a:prstGeom prst="rect">
            <a:avLst/>
          </a:prstGeom>
          <a:noFill/>
          <a:ln/>
        </p:spPr>
        <p:txBody>
          <a:bodyPr wrap="square" lIns="0" tIns="0" rIns="0" bIns="0" rtlCol="0" anchor="t"/>
          <a:lstStyle/>
          <a:p>
            <a:pPr indent="0" marL="0">
              <a:lnSpc>
                <a:spcPct val="104000"/>
              </a:lnSpc>
              <a:buNone/>
            </a:pPr>
            <a:r>
              <a:rPr lang="en-US" sz="750" dirty="0">
                <a:solidFill>
                  <a:srgbClr val="54606F"/>
                </a:solidFill>
                <a:latin typeface="Nunito Sans" pitchFamily="34" charset="0"/>
                <a:ea typeface="Nunito Sans" pitchFamily="34" charset="-122"/>
                <a:cs typeface="Nunito Sans" pitchFamily="34" charset="-120"/>
              </a:rPr>
              <a:t>Every respondent scored on 15 five-point attitude statements</a:t>
            </a:r>
            <a:endParaRPr lang="en-US" sz="750" dirty="0"/>
          </a:p>
        </p:txBody>
      </p:sp>
      <p:sp>
        <p:nvSpPr>
          <p:cNvPr id="11" name="Shape 8"/>
          <p:cNvSpPr/>
          <p:nvPr/>
        </p:nvSpPr>
        <p:spPr>
          <a:xfrm>
            <a:off x="2783982" y="1463040"/>
            <a:ext cx="2061606" cy="1188720"/>
          </a:xfrm>
          <a:prstGeom prst="roundRect">
            <a:avLst>
              <a:gd name="adj" fmla="val 7692"/>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2" name="Shape 9"/>
          <p:cNvSpPr/>
          <p:nvPr/>
        </p:nvSpPr>
        <p:spPr>
          <a:xfrm>
            <a:off x="2966862" y="1609344"/>
            <a:ext cx="292608" cy="292608"/>
          </a:xfrm>
          <a:prstGeom prst="ellipse">
            <a:avLst/>
          </a:prstGeom>
          <a:solidFill>
            <a:srgbClr val="EAF0F8"/>
          </a:solidFill>
          <a:ln w="5080">
            <a:solidFill>
              <a:srgbClr val="EAF0F8"/>
            </a:solidFill>
            <a:prstDash val="solid"/>
          </a:ln>
        </p:spPr>
      </p:sp>
      <p:sp>
        <p:nvSpPr>
          <p:cNvPr id="13" name="Text 10"/>
          <p:cNvSpPr/>
          <p:nvPr/>
        </p:nvSpPr>
        <p:spPr>
          <a:xfrm>
            <a:off x="2966862" y="1609344"/>
            <a:ext cx="292608" cy="292608"/>
          </a:xfrm>
          <a:prstGeom prst="rect">
            <a:avLst/>
          </a:prstGeom>
          <a:noFill/>
          <a:ln/>
        </p:spPr>
        <p:txBody>
          <a:bodyPr wrap="square" lIns="0" tIns="0" rIns="0" bIns="0" rtlCol="0" anchor="ctr"/>
          <a:lstStyle/>
          <a:p>
            <a:pPr algn="ctr" indent="0" marL="0">
              <a:buNone/>
            </a:pPr>
            <a:r>
              <a:rPr lang="en-US" sz="900" dirty="0">
                <a:solidFill>
                  <a:srgbClr val="3A5D97"/>
                </a:solidFill>
                <a:latin typeface="Archivo Black" pitchFamily="34" charset="0"/>
                <a:ea typeface="Archivo Black" pitchFamily="34" charset="-122"/>
                <a:cs typeface="Archivo Black" pitchFamily="34" charset="-120"/>
              </a:rPr>
              <a:t>2</a:t>
            </a:r>
            <a:endParaRPr lang="en-US" sz="900" dirty="0"/>
          </a:p>
        </p:txBody>
      </p:sp>
      <p:sp>
        <p:nvSpPr>
          <p:cNvPr id="14" name="Text 11"/>
          <p:cNvSpPr/>
          <p:nvPr/>
        </p:nvSpPr>
        <p:spPr>
          <a:xfrm>
            <a:off x="2966862" y="1956816"/>
            <a:ext cx="1695846" cy="347472"/>
          </a:xfrm>
          <a:prstGeom prst="rect">
            <a:avLst/>
          </a:prstGeom>
          <a:noFill/>
          <a:ln/>
        </p:spPr>
        <p:txBody>
          <a:bodyPr wrap="square" lIns="0" tIns="0" rIns="0" bIns="0" rtlCol="0" anchor="t"/>
          <a:lstStyle/>
          <a:p>
            <a:pPr indent="0" marL="0">
              <a:lnSpc>
                <a:spcPct val="102000"/>
              </a:lnSpc>
              <a:buNone/>
            </a:pPr>
            <a:r>
              <a:rPr lang="en-US" sz="950" b="1" dirty="0">
                <a:solidFill>
                  <a:srgbClr val="0C1A2B"/>
                </a:solidFill>
                <a:latin typeface="Nunito Sans" pitchFamily="34" charset="0"/>
                <a:ea typeface="Nunito Sans" pitchFamily="34" charset="-122"/>
                <a:cs typeface="Nunito Sans" pitchFamily="34" charset="-120"/>
              </a:rPr>
              <a:t>Exploratory factor analysis</a:t>
            </a:r>
            <a:endParaRPr lang="en-US" sz="950" dirty="0"/>
          </a:p>
        </p:txBody>
      </p:sp>
      <p:sp>
        <p:nvSpPr>
          <p:cNvPr id="15" name="Text 12"/>
          <p:cNvSpPr/>
          <p:nvPr/>
        </p:nvSpPr>
        <p:spPr>
          <a:xfrm>
            <a:off x="2966862" y="2322576"/>
            <a:ext cx="1695846" cy="292608"/>
          </a:xfrm>
          <a:prstGeom prst="rect">
            <a:avLst/>
          </a:prstGeom>
          <a:noFill/>
          <a:ln/>
        </p:spPr>
        <p:txBody>
          <a:bodyPr wrap="square" lIns="0" tIns="0" rIns="0" bIns="0" rtlCol="0" anchor="t"/>
          <a:lstStyle/>
          <a:p>
            <a:pPr indent="0" marL="0">
              <a:lnSpc>
                <a:spcPct val="104000"/>
              </a:lnSpc>
              <a:buNone/>
            </a:pPr>
            <a:r>
              <a:rPr lang="en-US" sz="750" dirty="0">
                <a:solidFill>
                  <a:srgbClr val="54606F"/>
                </a:solidFill>
                <a:latin typeface="Nunito Sans" pitchFamily="34" charset="0"/>
                <a:ea typeface="Nunito Sans" pitchFamily="34" charset="-122"/>
                <a:cs typeface="Nunito Sans" pitchFamily="34" charset="-120"/>
              </a:rPr>
              <a:t>Principal-axis factoring with Varimax rotation</a:t>
            </a:r>
            <a:endParaRPr lang="en-US" sz="750" dirty="0"/>
          </a:p>
        </p:txBody>
      </p:sp>
      <p:sp>
        <p:nvSpPr>
          <p:cNvPr id="16" name="Shape 13"/>
          <p:cNvSpPr/>
          <p:nvPr/>
        </p:nvSpPr>
        <p:spPr>
          <a:xfrm>
            <a:off x="5065044" y="1463040"/>
            <a:ext cx="2061606" cy="1188720"/>
          </a:xfrm>
          <a:prstGeom prst="roundRect">
            <a:avLst>
              <a:gd name="adj" fmla="val 7692"/>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7" name="Shape 14"/>
          <p:cNvSpPr/>
          <p:nvPr/>
        </p:nvSpPr>
        <p:spPr>
          <a:xfrm>
            <a:off x="5247924" y="1609344"/>
            <a:ext cx="292608" cy="292608"/>
          </a:xfrm>
          <a:prstGeom prst="ellipse">
            <a:avLst/>
          </a:prstGeom>
          <a:solidFill>
            <a:srgbClr val="EAF0F8"/>
          </a:solidFill>
          <a:ln w="5080">
            <a:solidFill>
              <a:srgbClr val="EAF0F8"/>
            </a:solidFill>
            <a:prstDash val="solid"/>
          </a:ln>
        </p:spPr>
      </p:sp>
      <p:sp>
        <p:nvSpPr>
          <p:cNvPr id="18" name="Text 15"/>
          <p:cNvSpPr/>
          <p:nvPr/>
        </p:nvSpPr>
        <p:spPr>
          <a:xfrm>
            <a:off x="5247924" y="1609344"/>
            <a:ext cx="292608" cy="292608"/>
          </a:xfrm>
          <a:prstGeom prst="rect">
            <a:avLst/>
          </a:prstGeom>
          <a:noFill/>
          <a:ln/>
        </p:spPr>
        <p:txBody>
          <a:bodyPr wrap="square" lIns="0" tIns="0" rIns="0" bIns="0" rtlCol="0" anchor="ctr"/>
          <a:lstStyle/>
          <a:p>
            <a:pPr algn="ctr" indent="0" marL="0">
              <a:buNone/>
            </a:pPr>
            <a:r>
              <a:rPr lang="en-US" sz="900" dirty="0">
                <a:solidFill>
                  <a:srgbClr val="3A5D97"/>
                </a:solidFill>
                <a:latin typeface="Archivo Black" pitchFamily="34" charset="0"/>
                <a:ea typeface="Archivo Black" pitchFamily="34" charset="-122"/>
                <a:cs typeface="Archivo Black" pitchFamily="34" charset="-120"/>
              </a:rPr>
              <a:t>3</a:t>
            </a:r>
            <a:endParaRPr lang="en-US" sz="900" dirty="0"/>
          </a:p>
        </p:txBody>
      </p:sp>
      <p:sp>
        <p:nvSpPr>
          <p:cNvPr id="19" name="Text 16"/>
          <p:cNvSpPr/>
          <p:nvPr/>
        </p:nvSpPr>
        <p:spPr>
          <a:xfrm>
            <a:off x="5247924" y="1956816"/>
            <a:ext cx="1695846" cy="347472"/>
          </a:xfrm>
          <a:prstGeom prst="rect">
            <a:avLst/>
          </a:prstGeom>
          <a:noFill/>
          <a:ln/>
        </p:spPr>
        <p:txBody>
          <a:bodyPr wrap="square" lIns="0" tIns="0" rIns="0" bIns="0" rtlCol="0" anchor="t"/>
          <a:lstStyle/>
          <a:p>
            <a:pPr indent="0" marL="0">
              <a:lnSpc>
                <a:spcPct val="102000"/>
              </a:lnSpc>
              <a:buNone/>
            </a:pPr>
            <a:r>
              <a:rPr lang="en-US" sz="950" b="1" dirty="0">
                <a:solidFill>
                  <a:srgbClr val="0C1A2B"/>
                </a:solidFill>
                <a:latin typeface="Nunito Sans" pitchFamily="34" charset="0"/>
                <a:ea typeface="Nunito Sans" pitchFamily="34" charset="-122"/>
                <a:cs typeface="Nunito Sans" pitchFamily="34" charset="-120"/>
              </a:rPr>
              <a:t>3 latent factors retained</a:t>
            </a:r>
            <a:endParaRPr lang="en-US" sz="950" dirty="0"/>
          </a:p>
        </p:txBody>
      </p:sp>
      <p:sp>
        <p:nvSpPr>
          <p:cNvPr id="20" name="Text 17"/>
          <p:cNvSpPr/>
          <p:nvPr/>
        </p:nvSpPr>
        <p:spPr>
          <a:xfrm>
            <a:off x="5247924" y="2322576"/>
            <a:ext cx="1695846" cy="292608"/>
          </a:xfrm>
          <a:prstGeom prst="rect">
            <a:avLst/>
          </a:prstGeom>
          <a:noFill/>
          <a:ln/>
        </p:spPr>
        <p:txBody>
          <a:bodyPr wrap="square" lIns="0" tIns="0" rIns="0" bIns="0" rtlCol="0" anchor="t"/>
          <a:lstStyle/>
          <a:p>
            <a:pPr indent="0" marL="0">
              <a:lnSpc>
                <a:spcPct val="104000"/>
              </a:lnSpc>
              <a:buNone/>
            </a:pPr>
            <a:r>
              <a:rPr lang="en-US" sz="750" dirty="0">
                <a:solidFill>
                  <a:srgbClr val="54606F"/>
                </a:solidFill>
                <a:latin typeface="Nunito Sans" pitchFamily="34" charset="0"/>
                <a:ea typeface="Nunito Sans" pitchFamily="34" charset="-122"/>
                <a:cs typeface="Nunito Sans" pitchFamily="34" charset="-120"/>
              </a:rPr>
              <a:t>Eigenvalues 5.55 · 1.50 · 1.03 — cumulative variance 42.6%</a:t>
            </a:r>
            <a:endParaRPr lang="en-US" sz="750" dirty="0"/>
          </a:p>
        </p:txBody>
      </p:sp>
      <p:sp>
        <p:nvSpPr>
          <p:cNvPr id="21" name="Shape 18"/>
          <p:cNvSpPr/>
          <p:nvPr/>
        </p:nvSpPr>
        <p:spPr>
          <a:xfrm>
            <a:off x="7346107" y="1463040"/>
            <a:ext cx="2061606" cy="1188720"/>
          </a:xfrm>
          <a:prstGeom prst="roundRect">
            <a:avLst>
              <a:gd name="adj" fmla="val 7692"/>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22" name="Shape 19"/>
          <p:cNvSpPr/>
          <p:nvPr/>
        </p:nvSpPr>
        <p:spPr>
          <a:xfrm>
            <a:off x="7528987" y="1609344"/>
            <a:ext cx="292608" cy="292608"/>
          </a:xfrm>
          <a:prstGeom prst="ellipse">
            <a:avLst/>
          </a:prstGeom>
          <a:solidFill>
            <a:srgbClr val="EAF0F8"/>
          </a:solidFill>
          <a:ln w="5080">
            <a:solidFill>
              <a:srgbClr val="EAF0F8"/>
            </a:solidFill>
            <a:prstDash val="solid"/>
          </a:ln>
        </p:spPr>
      </p:sp>
      <p:sp>
        <p:nvSpPr>
          <p:cNvPr id="23" name="Text 20"/>
          <p:cNvSpPr/>
          <p:nvPr/>
        </p:nvSpPr>
        <p:spPr>
          <a:xfrm>
            <a:off x="7528987" y="1609344"/>
            <a:ext cx="292608" cy="292608"/>
          </a:xfrm>
          <a:prstGeom prst="rect">
            <a:avLst/>
          </a:prstGeom>
          <a:noFill/>
          <a:ln/>
        </p:spPr>
        <p:txBody>
          <a:bodyPr wrap="square" lIns="0" tIns="0" rIns="0" bIns="0" rtlCol="0" anchor="ctr"/>
          <a:lstStyle/>
          <a:p>
            <a:pPr algn="ctr" indent="0" marL="0">
              <a:buNone/>
            </a:pPr>
            <a:r>
              <a:rPr lang="en-US" sz="900" dirty="0">
                <a:solidFill>
                  <a:srgbClr val="3A5D97"/>
                </a:solidFill>
                <a:latin typeface="Archivo Black" pitchFamily="34" charset="0"/>
                <a:ea typeface="Archivo Black" pitchFamily="34" charset="-122"/>
                <a:cs typeface="Archivo Black" pitchFamily="34" charset="-120"/>
              </a:rPr>
              <a:t>4</a:t>
            </a:r>
            <a:endParaRPr lang="en-US" sz="900" dirty="0"/>
          </a:p>
        </p:txBody>
      </p:sp>
      <p:sp>
        <p:nvSpPr>
          <p:cNvPr id="24" name="Text 21"/>
          <p:cNvSpPr/>
          <p:nvPr/>
        </p:nvSpPr>
        <p:spPr>
          <a:xfrm>
            <a:off x="7528987" y="1956816"/>
            <a:ext cx="1695846" cy="347472"/>
          </a:xfrm>
          <a:prstGeom prst="rect">
            <a:avLst/>
          </a:prstGeom>
          <a:noFill/>
          <a:ln/>
        </p:spPr>
        <p:txBody>
          <a:bodyPr wrap="square" lIns="0" tIns="0" rIns="0" bIns="0" rtlCol="0" anchor="t"/>
          <a:lstStyle/>
          <a:p>
            <a:pPr indent="0" marL="0">
              <a:lnSpc>
                <a:spcPct val="102000"/>
              </a:lnSpc>
              <a:buNone/>
            </a:pPr>
            <a:r>
              <a:rPr lang="en-US" sz="950" b="1" dirty="0">
                <a:solidFill>
                  <a:srgbClr val="0C1A2B"/>
                </a:solidFill>
                <a:latin typeface="Nunito Sans" pitchFamily="34" charset="0"/>
                <a:ea typeface="Nunito Sans" pitchFamily="34" charset="-122"/>
                <a:cs typeface="Nunito Sans" pitchFamily="34" charset="-120"/>
              </a:rPr>
              <a:t>K-means clustering (k=4)</a:t>
            </a:r>
            <a:endParaRPr lang="en-US" sz="950" dirty="0"/>
          </a:p>
        </p:txBody>
      </p:sp>
      <p:sp>
        <p:nvSpPr>
          <p:cNvPr id="25" name="Text 22"/>
          <p:cNvSpPr/>
          <p:nvPr/>
        </p:nvSpPr>
        <p:spPr>
          <a:xfrm>
            <a:off x="7528987" y="2322576"/>
            <a:ext cx="1695846" cy="292608"/>
          </a:xfrm>
          <a:prstGeom prst="rect">
            <a:avLst/>
          </a:prstGeom>
          <a:noFill/>
          <a:ln/>
        </p:spPr>
        <p:txBody>
          <a:bodyPr wrap="square" lIns="0" tIns="0" rIns="0" bIns="0" rtlCol="0" anchor="t"/>
          <a:lstStyle/>
          <a:p>
            <a:pPr indent="0" marL="0">
              <a:lnSpc>
                <a:spcPct val="104000"/>
              </a:lnSpc>
              <a:buNone/>
            </a:pPr>
            <a:r>
              <a:rPr lang="en-US" sz="750" dirty="0">
                <a:solidFill>
                  <a:srgbClr val="54606F"/>
                </a:solidFill>
                <a:latin typeface="Nunito Sans" pitchFamily="34" charset="0"/>
                <a:ea typeface="Nunito Sans" pitchFamily="34" charset="-122"/>
                <a:cs typeface="Nunito Sans" pitchFamily="34" charset="-120"/>
              </a:rPr>
              <a:t>Run on standardised factor scores, n_init = 20</a:t>
            </a:r>
            <a:endParaRPr lang="en-US" sz="750" dirty="0"/>
          </a:p>
        </p:txBody>
      </p:sp>
      <p:sp>
        <p:nvSpPr>
          <p:cNvPr id="26" name="Shape 23"/>
          <p:cNvSpPr/>
          <p:nvPr/>
        </p:nvSpPr>
        <p:spPr>
          <a:xfrm>
            <a:off x="9627169" y="1463040"/>
            <a:ext cx="2061606" cy="1188720"/>
          </a:xfrm>
          <a:prstGeom prst="roundRect">
            <a:avLst>
              <a:gd name="adj" fmla="val 7692"/>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27" name="Shape 24"/>
          <p:cNvSpPr/>
          <p:nvPr/>
        </p:nvSpPr>
        <p:spPr>
          <a:xfrm>
            <a:off x="9810049" y="1609344"/>
            <a:ext cx="292608" cy="292608"/>
          </a:xfrm>
          <a:prstGeom prst="ellipse">
            <a:avLst/>
          </a:prstGeom>
          <a:solidFill>
            <a:srgbClr val="EAF0F8"/>
          </a:solidFill>
          <a:ln w="5080">
            <a:solidFill>
              <a:srgbClr val="EAF0F8"/>
            </a:solidFill>
            <a:prstDash val="solid"/>
          </a:ln>
        </p:spPr>
      </p:sp>
      <p:sp>
        <p:nvSpPr>
          <p:cNvPr id="28" name="Text 25"/>
          <p:cNvSpPr/>
          <p:nvPr/>
        </p:nvSpPr>
        <p:spPr>
          <a:xfrm>
            <a:off x="9810049" y="1609344"/>
            <a:ext cx="292608" cy="292608"/>
          </a:xfrm>
          <a:prstGeom prst="rect">
            <a:avLst/>
          </a:prstGeom>
          <a:noFill/>
          <a:ln/>
        </p:spPr>
        <p:txBody>
          <a:bodyPr wrap="square" lIns="0" tIns="0" rIns="0" bIns="0" rtlCol="0" anchor="ctr"/>
          <a:lstStyle/>
          <a:p>
            <a:pPr algn="ctr" indent="0" marL="0">
              <a:buNone/>
            </a:pPr>
            <a:r>
              <a:rPr lang="en-US" sz="900" dirty="0">
                <a:solidFill>
                  <a:srgbClr val="3A5D97"/>
                </a:solidFill>
                <a:latin typeface="Archivo Black" pitchFamily="34" charset="0"/>
                <a:ea typeface="Archivo Black" pitchFamily="34" charset="-122"/>
                <a:cs typeface="Archivo Black" pitchFamily="34" charset="-120"/>
              </a:rPr>
              <a:t>5</a:t>
            </a:r>
            <a:endParaRPr lang="en-US" sz="900" dirty="0"/>
          </a:p>
        </p:txBody>
      </p:sp>
      <p:sp>
        <p:nvSpPr>
          <p:cNvPr id="29" name="Text 26"/>
          <p:cNvSpPr/>
          <p:nvPr/>
        </p:nvSpPr>
        <p:spPr>
          <a:xfrm>
            <a:off x="9810049" y="1956816"/>
            <a:ext cx="1695846" cy="347472"/>
          </a:xfrm>
          <a:prstGeom prst="rect">
            <a:avLst/>
          </a:prstGeom>
          <a:noFill/>
          <a:ln/>
        </p:spPr>
        <p:txBody>
          <a:bodyPr wrap="square" lIns="0" tIns="0" rIns="0" bIns="0" rtlCol="0" anchor="t"/>
          <a:lstStyle/>
          <a:p>
            <a:pPr indent="0" marL="0">
              <a:lnSpc>
                <a:spcPct val="102000"/>
              </a:lnSpc>
              <a:buNone/>
            </a:pPr>
            <a:r>
              <a:rPr lang="en-US" sz="950" b="1" dirty="0">
                <a:solidFill>
                  <a:srgbClr val="0C1A2B"/>
                </a:solidFill>
                <a:latin typeface="Nunito Sans" pitchFamily="34" charset="0"/>
                <a:ea typeface="Nunito Sans" pitchFamily="34" charset="-122"/>
                <a:cs typeface="Nunito Sans" pitchFamily="34" charset="-120"/>
              </a:rPr>
              <a:t>4 archetypes</a:t>
            </a:r>
            <a:endParaRPr lang="en-US" sz="950" dirty="0"/>
          </a:p>
        </p:txBody>
      </p:sp>
      <p:sp>
        <p:nvSpPr>
          <p:cNvPr id="30" name="Text 27"/>
          <p:cNvSpPr/>
          <p:nvPr/>
        </p:nvSpPr>
        <p:spPr>
          <a:xfrm>
            <a:off x="9810049" y="2322576"/>
            <a:ext cx="1695846" cy="292608"/>
          </a:xfrm>
          <a:prstGeom prst="rect">
            <a:avLst/>
          </a:prstGeom>
          <a:noFill/>
          <a:ln/>
        </p:spPr>
        <p:txBody>
          <a:bodyPr wrap="square" lIns="0" tIns="0" rIns="0" bIns="0" rtlCol="0" anchor="t"/>
          <a:lstStyle/>
          <a:p>
            <a:pPr indent="0" marL="0">
              <a:lnSpc>
                <a:spcPct val="104000"/>
              </a:lnSpc>
              <a:buNone/>
            </a:pPr>
            <a:r>
              <a:rPr lang="en-US" sz="750" dirty="0">
                <a:solidFill>
                  <a:srgbClr val="54606F"/>
                </a:solidFill>
                <a:latin typeface="Nunito Sans" pitchFamily="34" charset="0"/>
                <a:ea typeface="Nunito Sans" pitchFamily="34" charset="-122"/>
                <a:cs typeface="Nunito Sans" pitchFamily="34" charset="-120"/>
              </a:rPr>
              <a:t>Named, sized, and profiled on trigger, barrier and channel</a:t>
            </a:r>
            <a:endParaRPr lang="en-US" sz="750" dirty="0"/>
          </a:p>
        </p:txBody>
      </p:sp>
      <p:sp>
        <p:nvSpPr>
          <p:cNvPr id="31" name="Shape 28"/>
          <p:cNvSpPr/>
          <p:nvPr/>
        </p:nvSpPr>
        <p:spPr>
          <a:xfrm>
            <a:off x="502920" y="2816352"/>
            <a:ext cx="11185855" cy="658368"/>
          </a:xfrm>
          <a:prstGeom prst="roundRect">
            <a:avLst>
              <a:gd name="adj" fmla="val 13889"/>
            </a:avLst>
          </a:prstGeom>
          <a:solidFill>
            <a:srgbClr val="0C1A2B"/>
          </a:solidFill>
          <a:ln w="15875">
            <a:solidFill>
              <a:srgbClr val="0C1A2B"/>
            </a:solidFill>
            <a:prstDash val="solid"/>
          </a:ln>
          <a:effectLst>
            <a:outerShdw sx="100000" sy="100000" kx="0" ky="0" algn="bl" rotWithShape="0" blurRad="228600" dist="25400" dir="5400000">
              <a:srgbClr val="0C1A2B">
                <a:alpha val="7000"/>
              </a:srgbClr>
            </a:outerShdw>
          </a:effectLst>
        </p:spPr>
      </p:sp>
      <p:sp>
        <p:nvSpPr>
          <p:cNvPr id="32" name="Text 29"/>
          <p:cNvSpPr/>
          <p:nvPr/>
        </p:nvSpPr>
        <p:spPr>
          <a:xfrm>
            <a:off x="731520" y="2816352"/>
            <a:ext cx="4023360" cy="658368"/>
          </a:xfrm>
          <a:prstGeom prst="rect">
            <a:avLst/>
          </a:prstGeom>
          <a:noFill/>
          <a:ln/>
        </p:spPr>
        <p:txBody>
          <a:bodyPr wrap="square" lIns="0" tIns="0" rIns="0" bIns="0" rtlCol="0" anchor="ctr"/>
          <a:lstStyle/>
          <a:p>
            <a:pPr indent="0" marL="0">
              <a:buNone/>
            </a:pPr>
            <a:r>
              <a:rPr lang="en-US" sz="900" b="1" spc="120" kern="0" dirty="0">
                <a:solidFill>
                  <a:srgbClr val="5FC28C"/>
                </a:solidFill>
                <a:latin typeface="Nunito Sans" pitchFamily="34" charset="0"/>
                <a:ea typeface="Nunito Sans" pitchFamily="34" charset="-122"/>
                <a:cs typeface="Nunito Sans" pitchFamily="34" charset="-120"/>
              </a:rPr>
              <a:t>ADEQUACY — BOTH TESTS PASSED BEFORE EXTRACTION</a:t>
            </a:r>
            <a:endParaRPr lang="en-US" sz="900" dirty="0"/>
          </a:p>
        </p:txBody>
      </p:sp>
      <p:sp>
        <p:nvSpPr>
          <p:cNvPr id="33" name="Text 30"/>
          <p:cNvSpPr/>
          <p:nvPr/>
        </p:nvSpPr>
        <p:spPr>
          <a:xfrm>
            <a:off x="5120640" y="2889504"/>
            <a:ext cx="1051560" cy="237744"/>
          </a:xfrm>
          <a:prstGeom prst="rect">
            <a:avLst/>
          </a:prstGeom>
          <a:noFill/>
          <a:ln/>
        </p:spPr>
        <p:txBody>
          <a:bodyPr wrap="square" lIns="0" tIns="0" rIns="0" bIns="0" rtlCol="0" anchor="ctr"/>
          <a:lstStyle/>
          <a:p>
            <a:pPr indent="0" marL="0">
              <a:buNone/>
            </a:pPr>
            <a:r>
              <a:rPr lang="en-US" sz="750" b="1" spc="100" kern="0" dirty="0">
                <a:solidFill>
                  <a:srgbClr val="A9B6C7"/>
                </a:solidFill>
                <a:latin typeface="Nunito Sans" pitchFamily="34" charset="0"/>
                <a:ea typeface="Nunito Sans" pitchFamily="34" charset="-122"/>
                <a:cs typeface="Nunito Sans" pitchFamily="34" charset="-120"/>
              </a:rPr>
              <a:t>KMO</a:t>
            </a:r>
            <a:endParaRPr lang="en-US" sz="750" dirty="0"/>
          </a:p>
        </p:txBody>
      </p:sp>
      <p:sp>
        <p:nvSpPr>
          <p:cNvPr id="34" name="Text 31"/>
          <p:cNvSpPr/>
          <p:nvPr/>
        </p:nvSpPr>
        <p:spPr>
          <a:xfrm>
            <a:off x="5120640" y="3108960"/>
            <a:ext cx="1051560" cy="292608"/>
          </a:xfrm>
          <a:prstGeom prst="rect">
            <a:avLst/>
          </a:prstGeom>
          <a:noFill/>
          <a:ln/>
        </p:spPr>
        <p:txBody>
          <a:bodyPr wrap="square" lIns="0" tIns="0" rIns="0" bIns="0" rtlCol="0" anchor="ctr"/>
          <a:lstStyle/>
          <a:p>
            <a:pPr indent="0" marL="0">
              <a:buNone/>
            </a:pPr>
            <a:r>
              <a:rPr lang="en-US" sz="1200" dirty="0">
                <a:solidFill>
                  <a:srgbClr val="FFFFFF"/>
                </a:solidFill>
                <a:latin typeface="Archivo Black" pitchFamily="34" charset="0"/>
                <a:ea typeface="Archivo Black" pitchFamily="34" charset="-122"/>
                <a:cs typeface="Archivo Black" pitchFamily="34" charset="-120"/>
              </a:rPr>
              <a:t>0.886</a:t>
            </a:r>
            <a:endParaRPr lang="en-US" sz="1200" dirty="0"/>
          </a:p>
        </p:txBody>
      </p:sp>
      <p:sp>
        <p:nvSpPr>
          <p:cNvPr id="35" name="Text 32"/>
          <p:cNvSpPr/>
          <p:nvPr/>
        </p:nvSpPr>
        <p:spPr>
          <a:xfrm>
            <a:off x="6217920" y="3108960"/>
            <a:ext cx="1097280" cy="292608"/>
          </a:xfrm>
          <a:prstGeom prst="rect">
            <a:avLst/>
          </a:prstGeom>
          <a:noFill/>
          <a:ln/>
        </p:spPr>
        <p:txBody>
          <a:bodyPr wrap="square" lIns="0" tIns="0" rIns="0" bIns="0" rtlCol="0" anchor="ctr"/>
          <a:lstStyle/>
          <a:p>
            <a:pPr indent="0" marL="0">
              <a:buNone/>
            </a:pPr>
            <a:r>
              <a:rPr lang="en-US" sz="750" i="1" dirty="0">
                <a:solidFill>
                  <a:srgbClr val="A9B6C7"/>
                </a:solidFill>
                <a:latin typeface="Nunito Sans" pitchFamily="34" charset="0"/>
                <a:ea typeface="Nunito Sans" pitchFamily="34" charset="-122"/>
                <a:cs typeface="Nunito Sans" pitchFamily="34" charset="-120"/>
              </a:rPr>
              <a:t>"meritorious"</a:t>
            </a:r>
            <a:endParaRPr lang="en-US" sz="750" dirty="0"/>
          </a:p>
        </p:txBody>
      </p:sp>
      <p:sp>
        <p:nvSpPr>
          <p:cNvPr id="36" name="Text 33"/>
          <p:cNvSpPr/>
          <p:nvPr/>
        </p:nvSpPr>
        <p:spPr>
          <a:xfrm>
            <a:off x="7360920" y="2889504"/>
            <a:ext cx="1051560" cy="237744"/>
          </a:xfrm>
          <a:prstGeom prst="rect">
            <a:avLst/>
          </a:prstGeom>
          <a:noFill/>
          <a:ln/>
        </p:spPr>
        <p:txBody>
          <a:bodyPr wrap="square" lIns="0" tIns="0" rIns="0" bIns="0" rtlCol="0" anchor="ctr"/>
          <a:lstStyle/>
          <a:p>
            <a:pPr indent="0" marL="0">
              <a:buNone/>
            </a:pPr>
            <a:r>
              <a:rPr lang="en-US" sz="750" b="1" spc="100" kern="0" dirty="0">
                <a:solidFill>
                  <a:srgbClr val="A9B6C7"/>
                </a:solidFill>
                <a:latin typeface="Nunito Sans" pitchFamily="34" charset="0"/>
                <a:ea typeface="Nunito Sans" pitchFamily="34" charset="-122"/>
                <a:cs typeface="Nunito Sans" pitchFamily="34" charset="-120"/>
              </a:rPr>
              <a:t>BARTLETT</a:t>
            </a:r>
            <a:endParaRPr lang="en-US" sz="750" dirty="0"/>
          </a:p>
        </p:txBody>
      </p:sp>
      <p:sp>
        <p:nvSpPr>
          <p:cNvPr id="37" name="Text 34"/>
          <p:cNvSpPr/>
          <p:nvPr/>
        </p:nvSpPr>
        <p:spPr>
          <a:xfrm>
            <a:off x="7360920" y="3108960"/>
            <a:ext cx="1051560" cy="292608"/>
          </a:xfrm>
          <a:prstGeom prst="rect">
            <a:avLst/>
          </a:prstGeom>
          <a:noFill/>
          <a:ln/>
        </p:spPr>
        <p:txBody>
          <a:bodyPr wrap="square" lIns="0" tIns="0" rIns="0" bIns="0" rtlCol="0" anchor="ctr"/>
          <a:lstStyle/>
          <a:p>
            <a:pPr indent="0" marL="0">
              <a:buNone/>
            </a:pPr>
            <a:r>
              <a:rPr lang="en-US" sz="1200" dirty="0">
                <a:solidFill>
                  <a:srgbClr val="FFFFFF"/>
                </a:solidFill>
                <a:latin typeface="Archivo Black" pitchFamily="34" charset="0"/>
                <a:ea typeface="Archivo Black" pitchFamily="34" charset="-122"/>
                <a:cs typeface="Archivo Black" pitchFamily="34" charset="-120"/>
              </a:rPr>
              <a:t>p &lt; 0.001</a:t>
            </a:r>
            <a:endParaRPr lang="en-US" sz="1200" dirty="0"/>
          </a:p>
        </p:txBody>
      </p:sp>
      <p:sp>
        <p:nvSpPr>
          <p:cNvPr id="38" name="Text 35"/>
          <p:cNvSpPr/>
          <p:nvPr/>
        </p:nvSpPr>
        <p:spPr>
          <a:xfrm>
            <a:off x="8458200" y="3108960"/>
            <a:ext cx="1097280" cy="292608"/>
          </a:xfrm>
          <a:prstGeom prst="rect">
            <a:avLst/>
          </a:prstGeom>
          <a:noFill/>
          <a:ln/>
        </p:spPr>
        <p:txBody>
          <a:bodyPr wrap="square" lIns="0" tIns="0" rIns="0" bIns="0" rtlCol="0" anchor="ctr"/>
          <a:lstStyle/>
          <a:p>
            <a:pPr indent="0" marL="0">
              <a:buNone/>
            </a:pPr>
            <a:r>
              <a:rPr lang="en-US" sz="750" i="1" dirty="0">
                <a:solidFill>
                  <a:srgbClr val="A9B6C7"/>
                </a:solidFill>
                <a:latin typeface="Nunito Sans" pitchFamily="34" charset="0"/>
                <a:ea typeface="Nunito Sans" pitchFamily="34" charset="-122"/>
                <a:cs typeface="Nunito Sans" pitchFamily="34" charset="-120"/>
              </a:rPr>
              <a:t>sphericity rejected</a:t>
            </a:r>
            <a:endParaRPr lang="en-US" sz="750" dirty="0"/>
          </a:p>
        </p:txBody>
      </p:sp>
      <p:sp>
        <p:nvSpPr>
          <p:cNvPr id="39" name="Text 36"/>
          <p:cNvSpPr/>
          <p:nvPr/>
        </p:nvSpPr>
        <p:spPr>
          <a:xfrm>
            <a:off x="9601200" y="2889504"/>
            <a:ext cx="1051560" cy="237744"/>
          </a:xfrm>
          <a:prstGeom prst="rect">
            <a:avLst/>
          </a:prstGeom>
          <a:noFill/>
          <a:ln/>
        </p:spPr>
        <p:txBody>
          <a:bodyPr wrap="square" lIns="0" tIns="0" rIns="0" bIns="0" rtlCol="0" anchor="ctr"/>
          <a:lstStyle/>
          <a:p>
            <a:pPr indent="0" marL="0">
              <a:buNone/>
            </a:pPr>
            <a:r>
              <a:rPr lang="en-US" sz="750" b="1" spc="100" kern="0" dirty="0">
                <a:solidFill>
                  <a:srgbClr val="A9B6C7"/>
                </a:solidFill>
                <a:latin typeface="Nunito Sans" pitchFamily="34" charset="0"/>
                <a:ea typeface="Nunito Sans" pitchFamily="34" charset="-122"/>
                <a:cs typeface="Nunito Sans" pitchFamily="34" charset="-120"/>
              </a:rPr>
              <a:t>SILHOUETTE</a:t>
            </a:r>
            <a:endParaRPr lang="en-US" sz="750" dirty="0"/>
          </a:p>
        </p:txBody>
      </p:sp>
      <p:sp>
        <p:nvSpPr>
          <p:cNvPr id="40" name="Text 37"/>
          <p:cNvSpPr/>
          <p:nvPr/>
        </p:nvSpPr>
        <p:spPr>
          <a:xfrm>
            <a:off x="9601200" y="3108960"/>
            <a:ext cx="1051560" cy="292608"/>
          </a:xfrm>
          <a:prstGeom prst="rect">
            <a:avLst/>
          </a:prstGeom>
          <a:noFill/>
          <a:ln/>
        </p:spPr>
        <p:txBody>
          <a:bodyPr wrap="square" lIns="0" tIns="0" rIns="0" bIns="0" rtlCol="0" anchor="ctr"/>
          <a:lstStyle/>
          <a:p>
            <a:pPr indent="0" marL="0">
              <a:buNone/>
            </a:pPr>
            <a:r>
              <a:rPr lang="en-US" sz="1200" dirty="0">
                <a:solidFill>
                  <a:srgbClr val="FFFFFF"/>
                </a:solidFill>
                <a:latin typeface="Archivo Black" pitchFamily="34" charset="0"/>
                <a:ea typeface="Archivo Black" pitchFamily="34" charset="-122"/>
                <a:cs typeface="Archivo Black" pitchFamily="34" charset="-120"/>
              </a:rPr>
              <a:t>0.347</a:t>
            </a:r>
            <a:endParaRPr lang="en-US" sz="1200" dirty="0"/>
          </a:p>
        </p:txBody>
      </p:sp>
      <p:sp>
        <p:nvSpPr>
          <p:cNvPr id="41" name="Text 38"/>
          <p:cNvSpPr/>
          <p:nvPr/>
        </p:nvSpPr>
        <p:spPr>
          <a:xfrm>
            <a:off x="10698480" y="3108960"/>
            <a:ext cx="1097280" cy="292608"/>
          </a:xfrm>
          <a:prstGeom prst="rect">
            <a:avLst/>
          </a:prstGeom>
          <a:noFill/>
          <a:ln/>
        </p:spPr>
        <p:txBody>
          <a:bodyPr wrap="square" lIns="0" tIns="0" rIns="0" bIns="0" rtlCol="0" anchor="ctr"/>
          <a:lstStyle/>
          <a:p>
            <a:pPr indent="0" marL="0">
              <a:buNone/>
            </a:pPr>
            <a:r>
              <a:rPr lang="en-US" sz="750" i="1" dirty="0">
                <a:solidFill>
                  <a:srgbClr val="A9B6C7"/>
                </a:solidFill>
                <a:latin typeface="Nunito Sans" pitchFamily="34" charset="0"/>
                <a:ea typeface="Nunito Sans" pitchFamily="34" charset="-122"/>
                <a:cs typeface="Nunito Sans" pitchFamily="34" charset="-120"/>
              </a:rPr>
              <a:t>highest at k=4</a:t>
            </a:r>
            <a:endParaRPr lang="en-US" sz="750" dirty="0"/>
          </a:p>
        </p:txBody>
      </p:sp>
      <p:sp>
        <p:nvSpPr>
          <p:cNvPr id="42" name="Shape 39"/>
          <p:cNvSpPr/>
          <p:nvPr/>
        </p:nvSpPr>
        <p:spPr>
          <a:xfrm>
            <a:off x="502920" y="3675888"/>
            <a:ext cx="11185855" cy="0"/>
          </a:xfrm>
          <a:prstGeom prst="line">
            <a:avLst/>
          </a:prstGeom>
          <a:noFill/>
          <a:ln w="12700">
            <a:solidFill>
              <a:srgbClr val="3A5D97"/>
            </a:solidFill>
            <a:prstDash val="solid"/>
          </a:ln>
        </p:spPr>
      </p:sp>
      <p:sp>
        <p:nvSpPr>
          <p:cNvPr id="43" name="Text 40"/>
          <p:cNvSpPr/>
          <p:nvPr/>
        </p:nvSpPr>
        <p:spPr>
          <a:xfrm>
            <a:off x="502920" y="3721608"/>
            <a:ext cx="11185855"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THE THREE FACTORS — AND THEIR DEFINING STATEMENTS</a:t>
            </a:r>
            <a:endParaRPr lang="en-US" sz="900" dirty="0"/>
          </a:p>
        </p:txBody>
      </p:sp>
      <p:sp>
        <p:nvSpPr>
          <p:cNvPr id="44" name="Shape 41"/>
          <p:cNvSpPr/>
          <p:nvPr/>
        </p:nvSpPr>
        <p:spPr>
          <a:xfrm>
            <a:off x="502920" y="3968496"/>
            <a:ext cx="3545738" cy="2011680"/>
          </a:xfrm>
          <a:prstGeom prst="roundRect">
            <a:avLst>
              <a:gd name="adj" fmla="val 4545"/>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45" name="Shape 42"/>
          <p:cNvSpPr/>
          <p:nvPr/>
        </p:nvSpPr>
        <p:spPr>
          <a:xfrm>
            <a:off x="502920" y="3968496"/>
            <a:ext cx="3545738" cy="45720"/>
          </a:xfrm>
          <a:prstGeom prst="rect">
            <a:avLst/>
          </a:prstGeom>
          <a:solidFill>
            <a:srgbClr val="3A5D97"/>
          </a:solidFill>
          <a:ln w="5080">
            <a:solidFill>
              <a:srgbClr val="3A5D97"/>
            </a:solidFill>
            <a:prstDash val="solid"/>
          </a:ln>
        </p:spPr>
      </p:sp>
      <p:sp>
        <p:nvSpPr>
          <p:cNvPr id="46" name="Text 43"/>
          <p:cNvSpPr/>
          <p:nvPr/>
        </p:nvSpPr>
        <p:spPr>
          <a:xfrm>
            <a:off x="685800" y="4096512"/>
            <a:ext cx="3179978" cy="219456"/>
          </a:xfrm>
          <a:prstGeom prst="rect">
            <a:avLst/>
          </a:prstGeom>
          <a:noFill/>
          <a:ln/>
        </p:spPr>
        <p:txBody>
          <a:bodyPr wrap="square" lIns="0" tIns="0" rIns="0" bIns="0" rtlCol="0" anchor="t"/>
          <a:lstStyle/>
          <a:p>
            <a:pPr indent="0" marL="0">
              <a:buNone/>
            </a:pPr>
            <a:r>
              <a:rPr lang="en-US" sz="950" b="1" spc="40" kern="0" dirty="0">
                <a:solidFill>
                  <a:srgbClr val="0C1A2B"/>
                </a:solidFill>
                <a:latin typeface="Nunito Sans" pitchFamily="34" charset="0"/>
                <a:ea typeface="Nunito Sans" pitchFamily="34" charset="-122"/>
                <a:cs typeface="Nunito Sans" pitchFamily="34" charset="-120"/>
              </a:rPr>
              <a:t>F1 — SOCIAL &amp; EXPERIENTIAL TRUST</a:t>
            </a:r>
            <a:endParaRPr lang="en-US" sz="950" dirty="0"/>
          </a:p>
        </p:txBody>
      </p:sp>
      <p:sp>
        <p:nvSpPr>
          <p:cNvPr id="47" name="Text 44"/>
          <p:cNvSpPr/>
          <p:nvPr/>
        </p:nvSpPr>
        <p:spPr>
          <a:xfrm>
            <a:off x="685800" y="4315968"/>
            <a:ext cx="3179978" cy="365760"/>
          </a:xfrm>
          <a:prstGeom prst="rect">
            <a:avLst/>
          </a:prstGeom>
          <a:noFill/>
          <a:ln/>
        </p:spPr>
        <p:txBody>
          <a:bodyPr wrap="square" lIns="0" tIns="0" rIns="0" bIns="0" rtlCol="0" anchor="t"/>
          <a:lstStyle/>
          <a:p>
            <a:pPr indent="0" marL="0">
              <a:lnSpc>
                <a:spcPct val="106000"/>
              </a:lnSpc>
              <a:buNone/>
            </a:pPr>
            <a:r>
              <a:rPr lang="en-US" sz="800" i="1" dirty="0">
                <a:solidFill>
                  <a:srgbClr val="54606F"/>
                </a:solidFill>
                <a:latin typeface="Nunito Sans" pitchFamily="34" charset="0"/>
                <a:ea typeface="Nunito Sans" pitchFamily="34" charset="-122"/>
                <a:cs typeface="Nunito Sans" pitchFamily="34" charset="-120"/>
              </a:rPr>
              <a:t>Trust is earned through people and events, not systems and symbols.</a:t>
            </a:r>
            <a:endParaRPr lang="en-US" sz="800" dirty="0"/>
          </a:p>
        </p:txBody>
      </p:sp>
      <p:sp>
        <p:nvSpPr>
          <p:cNvPr id="48" name="Text 45"/>
          <p:cNvSpPr/>
          <p:nvPr/>
        </p:nvSpPr>
        <p:spPr>
          <a:xfrm>
            <a:off x="685800" y="4700016"/>
            <a:ext cx="2722778" cy="182880"/>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Stopped buying after a news story</a:t>
            </a:r>
            <a:endParaRPr lang="en-US" sz="850" dirty="0"/>
          </a:p>
        </p:txBody>
      </p:sp>
      <p:sp>
        <p:nvSpPr>
          <p:cNvPr id="49" name="Text 46"/>
          <p:cNvSpPr/>
          <p:nvPr/>
        </p:nvSpPr>
        <p:spPr>
          <a:xfrm>
            <a:off x="3408578" y="4700016"/>
            <a:ext cx="457200" cy="182880"/>
          </a:xfrm>
          <a:prstGeom prst="rect">
            <a:avLst/>
          </a:prstGeom>
          <a:noFill/>
          <a:ln/>
        </p:spPr>
        <p:txBody>
          <a:bodyPr wrap="square" lIns="0" tIns="0" rIns="0" bIns="0" rtlCol="0" anchor="ctr"/>
          <a:lstStyle/>
          <a:p>
            <a:pPr algn="r" indent="0" marL="0">
              <a:buNone/>
            </a:pPr>
            <a:r>
              <a:rPr lang="en-US" sz="850" b="1" dirty="0">
                <a:solidFill>
                  <a:srgbClr val="0C1A2B"/>
                </a:solidFill>
                <a:latin typeface="Nunito Sans" pitchFamily="34" charset="0"/>
                <a:ea typeface="Nunito Sans" pitchFamily="34" charset="-122"/>
                <a:cs typeface="Nunito Sans" pitchFamily="34" charset="-120"/>
              </a:rPr>
              <a:t>0.68</a:t>
            </a:r>
            <a:endParaRPr lang="en-US" sz="850" dirty="0"/>
          </a:p>
        </p:txBody>
      </p:sp>
      <p:sp>
        <p:nvSpPr>
          <p:cNvPr id="50" name="Shape 47"/>
          <p:cNvSpPr/>
          <p:nvPr/>
        </p:nvSpPr>
        <p:spPr>
          <a:xfrm>
            <a:off x="685800" y="4892040"/>
            <a:ext cx="3179978" cy="45720"/>
          </a:xfrm>
          <a:prstGeom prst="roundRect">
            <a:avLst>
              <a:gd name="adj" fmla="val 50000"/>
            </a:avLst>
          </a:prstGeom>
          <a:solidFill>
            <a:srgbClr val="EDE4D4"/>
          </a:solidFill>
          <a:ln w="5080">
            <a:solidFill>
              <a:srgbClr val="EDE4D4"/>
            </a:solidFill>
            <a:prstDash val="solid"/>
          </a:ln>
        </p:spPr>
      </p:sp>
      <p:sp>
        <p:nvSpPr>
          <p:cNvPr id="51" name="Shape 48"/>
          <p:cNvSpPr/>
          <p:nvPr/>
        </p:nvSpPr>
        <p:spPr>
          <a:xfrm>
            <a:off x="685800" y="4892040"/>
            <a:ext cx="2162385" cy="45720"/>
          </a:xfrm>
          <a:prstGeom prst="roundRect">
            <a:avLst>
              <a:gd name="adj" fmla="val 50000"/>
            </a:avLst>
          </a:prstGeom>
          <a:solidFill>
            <a:srgbClr val="3A5D97"/>
          </a:solidFill>
          <a:ln w="5080">
            <a:solidFill>
              <a:srgbClr val="3A5D97"/>
            </a:solidFill>
            <a:prstDash val="solid"/>
          </a:ln>
        </p:spPr>
      </p:sp>
      <p:sp>
        <p:nvSpPr>
          <p:cNvPr id="52" name="Text 49"/>
          <p:cNvSpPr/>
          <p:nvPr/>
        </p:nvSpPr>
        <p:spPr>
          <a:xfrm>
            <a:off x="685800" y="5001768"/>
            <a:ext cx="2722778" cy="182880"/>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A doctor beats any pack logo</a:t>
            </a:r>
            <a:endParaRPr lang="en-US" sz="850" dirty="0"/>
          </a:p>
        </p:txBody>
      </p:sp>
      <p:sp>
        <p:nvSpPr>
          <p:cNvPr id="53" name="Text 50"/>
          <p:cNvSpPr/>
          <p:nvPr/>
        </p:nvSpPr>
        <p:spPr>
          <a:xfrm>
            <a:off x="3408578" y="5001768"/>
            <a:ext cx="457200" cy="182880"/>
          </a:xfrm>
          <a:prstGeom prst="rect">
            <a:avLst/>
          </a:prstGeom>
          <a:noFill/>
          <a:ln/>
        </p:spPr>
        <p:txBody>
          <a:bodyPr wrap="square" lIns="0" tIns="0" rIns="0" bIns="0" rtlCol="0" anchor="ctr"/>
          <a:lstStyle/>
          <a:p>
            <a:pPr algn="r" indent="0" marL="0">
              <a:buNone/>
            </a:pPr>
            <a:r>
              <a:rPr lang="en-US" sz="850" b="1" dirty="0">
                <a:solidFill>
                  <a:srgbClr val="0C1A2B"/>
                </a:solidFill>
                <a:latin typeface="Nunito Sans" pitchFamily="34" charset="0"/>
                <a:ea typeface="Nunito Sans" pitchFamily="34" charset="-122"/>
                <a:cs typeface="Nunito Sans" pitchFamily="34" charset="-120"/>
              </a:rPr>
              <a:t>0.62</a:t>
            </a:r>
            <a:endParaRPr lang="en-US" sz="850" dirty="0"/>
          </a:p>
        </p:txBody>
      </p:sp>
      <p:sp>
        <p:nvSpPr>
          <p:cNvPr id="54" name="Shape 51"/>
          <p:cNvSpPr/>
          <p:nvPr/>
        </p:nvSpPr>
        <p:spPr>
          <a:xfrm>
            <a:off x="685800" y="5193792"/>
            <a:ext cx="3179978" cy="45720"/>
          </a:xfrm>
          <a:prstGeom prst="roundRect">
            <a:avLst>
              <a:gd name="adj" fmla="val 50000"/>
            </a:avLst>
          </a:prstGeom>
          <a:solidFill>
            <a:srgbClr val="EDE4D4"/>
          </a:solidFill>
          <a:ln w="5080">
            <a:solidFill>
              <a:srgbClr val="EDE4D4"/>
            </a:solidFill>
            <a:prstDash val="solid"/>
          </a:ln>
        </p:spPr>
      </p:sp>
      <p:sp>
        <p:nvSpPr>
          <p:cNvPr id="55" name="Shape 52"/>
          <p:cNvSpPr/>
          <p:nvPr/>
        </p:nvSpPr>
        <p:spPr>
          <a:xfrm>
            <a:off x="685800" y="5193792"/>
            <a:ext cx="1971587" cy="45720"/>
          </a:xfrm>
          <a:prstGeom prst="roundRect">
            <a:avLst>
              <a:gd name="adj" fmla="val 50000"/>
            </a:avLst>
          </a:prstGeom>
          <a:solidFill>
            <a:srgbClr val="3A5D97"/>
          </a:solidFill>
          <a:ln w="5080">
            <a:solidFill>
              <a:srgbClr val="3A5D97"/>
            </a:solidFill>
            <a:prstDash val="solid"/>
          </a:ln>
        </p:spPr>
      </p:sp>
      <p:sp>
        <p:nvSpPr>
          <p:cNvPr id="56" name="Text 53"/>
          <p:cNvSpPr/>
          <p:nvPr/>
        </p:nvSpPr>
        <p:spPr>
          <a:xfrm>
            <a:off x="685800" y="5303520"/>
            <a:ext cx="2722778" cy="182880"/>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I trust a farmer I know by name</a:t>
            </a:r>
            <a:endParaRPr lang="en-US" sz="850" dirty="0"/>
          </a:p>
        </p:txBody>
      </p:sp>
      <p:sp>
        <p:nvSpPr>
          <p:cNvPr id="57" name="Text 54"/>
          <p:cNvSpPr/>
          <p:nvPr/>
        </p:nvSpPr>
        <p:spPr>
          <a:xfrm>
            <a:off x="3408578" y="5303520"/>
            <a:ext cx="457200" cy="182880"/>
          </a:xfrm>
          <a:prstGeom prst="rect">
            <a:avLst/>
          </a:prstGeom>
          <a:noFill/>
          <a:ln/>
        </p:spPr>
        <p:txBody>
          <a:bodyPr wrap="square" lIns="0" tIns="0" rIns="0" bIns="0" rtlCol="0" anchor="ctr"/>
          <a:lstStyle/>
          <a:p>
            <a:pPr algn="r" indent="0" marL="0">
              <a:buNone/>
            </a:pPr>
            <a:r>
              <a:rPr lang="en-US" sz="850" b="1" dirty="0">
                <a:solidFill>
                  <a:srgbClr val="0C1A2B"/>
                </a:solidFill>
                <a:latin typeface="Nunito Sans" pitchFamily="34" charset="0"/>
                <a:ea typeface="Nunito Sans" pitchFamily="34" charset="-122"/>
                <a:cs typeface="Nunito Sans" pitchFamily="34" charset="-120"/>
              </a:rPr>
              <a:t>0.59</a:t>
            </a:r>
            <a:endParaRPr lang="en-US" sz="850" dirty="0"/>
          </a:p>
        </p:txBody>
      </p:sp>
      <p:sp>
        <p:nvSpPr>
          <p:cNvPr id="58" name="Shape 55"/>
          <p:cNvSpPr/>
          <p:nvPr/>
        </p:nvSpPr>
        <p:spPr>
          <a:xfrm>
            <a:off x="685800" y="5495544"/>
            <a:ext cx="3179978" cy="45720"/>
          </a:xfrm>
          <a:prstGeom prst="roundRect">
            <a:avLst>
              <a:gd name="adj" fmla="val 50000"/>
            </a:avLst>
          </a:prstGeom>
          <a:solidFill>
            <a:srgbClr val="EDE4D4"/>
          </a:solidFill>
          <a:ln w="5080">
            <a:solidFill>
              <a:srgbClr val="EDE4D4"/>
            </a:solidFill>
            <a:prstDash val="solid"/>
          </a:ln>
        </p:spPr>
      </p:sp>
      <p:sp>
        <p:nvSpPr>
          <p:cNvPr id="59" name="Shape 56"/>
          <p:cNvSpPr/>
          <p:nvPr/>
        </p:nvSpPr>
        <p:spPr>
          <a:xfrm>
            <a:off x="685800" y="5495544"/>
            <a:ext cx="1876187" cy="45720"/>
          </a:xfrm>
          <a:prstGeom prst="roundRect">
            <a:avLst>
              <a:gd name="adj" fmla="val 50000"/>
            </a:avLst>
          </a:prstGeom>
          <a:solidFill>
            <a:srgbClr val="3A5D97"/>
          </a:solidFill>
          <a:ln w="5080">
            <a:solidFill>
              <a:srgbClr val="3A5D97"/>
            </a:solidFill>
            <a:prstDash val="solid"/>
          </a:ln>
        </p:spPr>
      </p:sp>
      <p:sp>
        <p:nvSpPr>
          <p:cNvPr id="60" name="Text 57"/>
          <p:cNvSpPr/>
          <p:nvPr/>
        </p:nvSpPr>
        <p:spPr>
          <a:xfrm>
            <a:off x="685800" y="5605272"/>
            <a:ext cx="2722778" cy="182880"/>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I prefer smaller brands</a:t>
            </a:r>
            <a:endParaRPr lang="en-US" sz="850" dirty="0"/>
          </a:p>
        </p:txBody>
      </p:sp>
      <p:sp>
        <p:nvSpPr>
          <p:cNvPr id="61" name="Text 58"/>
          <p:cNvSpPr/>
          <p:nvPr/>
        </p:nvSpPr>
        <p:spPr>
          <a:xfrm>
            <a:off x="3408578" y="5605272"/>
            <a:ext cx="457200" cy="182880"/>
          </a:xfrm>
          <a:prstGeom prst="rect">
            <a:avLst/>
          </a:prstGeom>
          <a:noFill/>
          <a:ln/>
        </p:spPr>
        <p:txBody>
          <a:bodyPr wrap="square" lIns="0" tIns="0" rIns="0" bIns="0" rtlCol="0" anchor="ctr"/>
          <a:lstStyle/>
          <a:p>
            <a:pPr algn="r" indent="0" marL="0">
              <a:buNone/>
            </a:pPr>
            <a:r>
              <a:rPr lang="en-US" sz="850" b="1" dirty="0">
                <a:solidFill>
                  <a:srgbClr val="0C1A2B"/>
                </a:solidFill>
                <a:latin typeface="Nunito Sans" pitchFamily="34" charset="0"/>
                <a:ea typeface="Nunito Sans" pitchFamily="34" charset="-122"/>
                <a:cs typeface="Nunito Sans" pitchFamily="34" charset="-120"/>
              </a:rPr>
              <a:t>0.53</a:t>
            </a:r>
            <a:endParaRPr lang="en-US" sz="850" dirty="0"/>
          </a:p>
        </p:txBody>
      </p:sp>
      <p:sp>
        <p:nvSpPr>
          <p:cNvPr id="62" name="Shape 59"/>
          <p:cNvSpPr/>
          <p:nvPr/>
        </p:nvSpPr>
        <p:spPr>
          <a:xfrm>
            <a:off x="685800" y="5797296"/>
            <a:ext cx="3179978" cy="45720"/>
          </a:xfrm>
          <a:prstGeom prst="roundRect">
            <a:avLst>
              <a:gd name="adj" fmla="val 50000"/>
            </a:avLst>
          </a:prstGeom>
          <a:solidFill>
            <a:srgbClr val="EDE4D4"/>
          </a:solidFill>
          <a:ln w="5080">
            <a:solidFill>
              <a:srgbClr val="EDE4D4"/>
            </a:solidFill>
            <a:prstDash val="solid"/>
          </a:ln>
        </p:spPr>
      </p:sp>
      <p:sp>
        <p:nvSpPr>
          <p:cNvPr id="63" name="Shape 60"/>
          <p:cNvSpPr/>
          <p:nvPr/>
        </p:nvSpPr>
        <p:spPr>
          <a:xfrm>
            <a:off x="685800" y="5797296"/>
            <a:ext cx="1685389" cy="45720"/>
          </a:xfrm>
          <a:prstGeom prst="roundRect">
            <a:avLst>
              <a:gd name="adj" fmla="val 50000"/>
            </a:avLst>
          </a:prstGeom>
          <a:solidFill>
            <a:srgbClr val="3A5D97"/>
          </a:solidFill>
          <a:ln w="5080">
            <a:solidFill>
              <a:srgbClr val="3A5D97"/>
            </a:solidFill>
            <a:prstDash val="solid"/>
          </a:ln>
        </p:spPr>
      </p:sp>
      <p:sp>
        <p:nvSpPr>
          <p:cNvPr id="64" name="Shape 61"/>
          <p:cNvSpPr/>
          <p:nvPr/>
        </p:nvSpPr>
        <p:spPr>
          <a:xfrm>
            <a:off x="4322978" y="3968496"/>
            <a:ext cx="3545738" cy="2011680"/>
          </a:xfrm>
          <a:prstGeom prst="roundRect">
            <a:avLst>
              <a:gd name="adj" fmla="val 4545"/>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65" name="Shape 62"/>
          <p:cNvSpPr/>
          <p:nvPr/>
        </p:nvSpPr>
        <p:spPr>
          <a:xfrm>
            <a:off x="4322978" y="3968496"/>
            <a:ext cx="3545738" cy="45720"/>
          </a:xfrm>
          <a:prstGeom prst="rect">
            <a:avLst/>
          </a:prstGeom>
          <a:solidFill>
            <a:srgbClr val="9E3A24"/>
          </a:solidFill>
          <a:ln w="5080">
            <a:solidFill>
              <a:srgbClr val="9E3A24"/>
            </a:solidFill>
            <a:prstDash val="solid"/>
          </a:ln>
        </p:spPr>
      </p:sp>
      <p:sp>
        <p:nvSpPr>
          <p:cNvPr id="66" name="Text 63"/>
          <p:cNvSpPr/>
          <p:nvPr/>
        </p:nvSpPr>
        <p:spPr>
          <a:xfrm>
            <a:off x="4505858" y="4096512"/>
            <a:ext cx="3179978" cy="219456"/>
          </a:xfrm>
          <a:prstGeom prst="rect">
            <a:avLst/>
          </a:prstGeom>
          <a:noFill/>
          <a:ln/>
        </p:spPr>
        <p:txBody>
          <a:bodyPr wrap="square" lIns="0" tIns="0" rIns="0" bIns="0" rtlCol="0" anchor="t"/>
          <a:lstStyle/>
          <a:p>
            <a:pPr indent="0" marL="0">
              <a:buNone/>
            </a:pPr>
            <a:r>
              <a:rPr lang="en-US" sz="950" b="1" spc="40" kern="0" dirty="0">
                <a:solidFill>
                  <a:srgbClr val="0C1A2B"/>
                </a:solidFill>
                <a:latin typeface="Nunito Sans" pitchFamily="34" charset="0"/>
                <a:ea typeface="Nunito Sans" pitchFamily="34" charset="-122"/>
                <a:cs typeface="Nunito Sans" pitchFamily="34" charset="-120"/>
              </a:rPr>
              <a:t>F2 — SYSTEM DISTRUST &amp; PREMIUM INTENT</a:t>
            </a:r>
            <a:endParaRPr lang="en-US" sz="950" dirty="0"/>
          </a:p>
        </p:txBody>
      </p:sp>
      <p:sp>
        <p:nvSpPr>
          <p:cNvPr id="67" name="Text 64"/>
          <p:cNvSpPr/>
          <p:nvPr/>
        </p:nvSpPr>
        <p:spPr>
          <a:xfrm>
            <a:off x="4505858" y="4315968"/>
            <a:ext cx="3179978" cy="365760"/>
          </a:xfrm>
          <a:prstGeom prst="rect">
            <a:avLst/>
          </a:prstGeom>
          <a:noFill/>
          <a:ln/>
        </p:spPr>
        <p:txBody>
          <a:bodyPr wrap="square" lIns="0" tIns="0" rIns="0" bIns="0" rtlCol="0" anchor="t"/>
          <a:lstStyle/>
          <a:p>
            <a:pPr indent="0" marL="0">
              <a:lnSpc>
                <a:spcPct val="106000"/>
              </a:lnSpc>
              <a:buNone/>
            </a:pPr>
            <a:r>
              <a:rPr lang="en-US" sz="800" i="1" dirty="0">
                <a:solidFill>
                  <a:srgbClr val="54606F"/>
                </a:solidFill>
                <a:latin typeface="Nunito Sans" pitchFamily="34" charset="0"/>
                <a:ea typeface="Nunito Sans" pitchFamily="34" charset="-122"/>
                <a:cs typeface="Nunito Sans" pitchFamily="34" charset="-120"/>
              </a:rPr>
              <a:t>The system is corrupt, and I will pay to exit it. This is the financial engine of premium food brands.</a:t>
            </a:r>
            <a:endParaRPr lang="en-US" sz="800" dirty="0"/>
          </a:p>
        </p:txBody>
      </p:sp>
      <p:sp>
        <p:nvSpPr>
          <p:cNvPr id="68" name="Text 65"/>
          <p:cNvSpPr/>
          <p:nvPr/>
        </p:nvSpPr>
        <p:spPr>
          <a:xfrm>
            <a:off x="4505858" y="4700016"/>
            <a:ext cx="2722778" cy="182880"/>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Factories cannot be genuinely clean</a:t>
            </a:r>
            <a:endParaRPr lang="en-US" sz="850" dirty="0"/>
          </a:p>
        </p:txBody>
      </p:sp>
      <p:sp>
        <p:nvSpPr>
          <p:cNvPr id="69" name="Text 66"/>
          <p:cNvSpPr/>
          <p:nvPr/>
        </p:nvSpPr>
        <p:spPr>
          <a:xfrm>
            <a:off x="7228637" y="4700016"/>
            <a:ext cx="457200" cy="182880"/>
          </a:xfrm>
          <a:prstGeom prst="rect">
            <a:avLst/>
          </a:prstGeom>
          <a:noFill/>
          <a:ln/>
        </p:spPr>
        <p:txBody>
          <a:bodyPr wrap="square" lIns="0" tIns="0" rIns="0" bIns="0" rtlCol="0" anchor="ctr"/>
          <a:lstStyle/>
          <a:p>
            <a:pPr algn="r" indent="0" marL="0">
              <a:buNone/>
            </a:pPr>
            <a:r>
              <a:rPr lang="en-US" sz="850" b="1" dirty="0">
                <a:solidFill>
                  <a:srgbClr val="0C1A2B"/>
                </a:solidFill>
                <a:latin typeface="Nunito Sans" pitchFamily="34" charset="0"/>
                <a:ea typeface="Nunito Sans" pitchFamily="34" charset="-122"/>
                <a:cs typeface="Nunito Sans" pitchFamily="34" charset="-120"/>
              </a:rPr>
              <a:t>0.65</a:t>
            </a:r>
            <a:endParaRPr lang="en-US" sz="850" dirty="0"/>
          </a:p>
        </p:txBody>
      </p:sp>
      <p:sp>
        <p:nvSpPr>
          <p:cNvPr id="70" name="Shape 67"/>
          <p:cNvSpPr/>
          <p:nvPr/>
        </p:nvSpPr>
        <p:spPr>
          <a:xfrm>
            <a:off x="4505858" y="4892040"/>
            <a:ext cx="3179978" cy="45720"/>
          </a:xfrm>
          <a:prstGeom prst="roundRect">
            <a:avLst>
              <a:gd name="adj" fmla="val 50000"/>
            </a:avLst>
          </a:prstGeom>
          <a:solidFill>
            <a:srgbClr val="EDE4D4"/>
          </a:solidFill>
          <a:ln w="5080">
            <a:solidFill>
              <a:srgbClr val="EDE4D4"/>
            </a:solidFill>
            <a:prstDash val="solid"/>
          </a:ln>
        </p:spPr>
      </p:sp>
      <p:sp>
        <p:nvSpPr>
          <p:cNvPr id="71" name="Shape 68"/>
          <p:cNvSpPr/>
          <p:nvPr/>
        </p:nvSpPr>
        <p:spPr>
          <a:xfrm>
            <a:off x="4505858" y="4892040"/>
            <a:ext cx="2066986" cy="45720"/>
          </a:xfrm>
          <a:prstGeom prst="roundRect">
            <a:avLst>
              <a:gd name="adj" fmla="val 50000"/>
            </a:avLst>
          </a:prstGeom>
          <a:solidFill>
            <a:srgbClr val="9E3A24"/>
          </a:solidFill>
          <a:ln w="5080">
            <a:solidFill>
              <a:srgbClr val="9E3A24"/>
            </a:solidFill>
            <a:prstDash val="solid"/>
          </a:ln>
        </p:spPr>
      </p:sp>
      <p:sp>
        <p:nvSpPr>
          <p:cNvPr id="72" name="Text 69"/>
          <p:cNvSpPr/>
          <p:nvPr/>
        </p:nvSpPr>
        <p:spPr>
          <a:xfrm>
            <a:off x="4505858" y="5001768"/>
            <a:ext cx="2722778" cy="182880"/>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Some adulteration is unavoidable</a:t>
            </a:r>
            <a:endParaRPr lang="en-US" sz="850" dirty="0"/>
          </a:p>
        </p:txBody>
      </p:sp>
      <p:sp>
        <p:nvSpPr>
          <p:cNvPr id="73" name="Text 70"/>
          <p:cNvSpPr/>
          <p:nvPr/>
        </p:nvSpPr>
        <p:spPr>
          <a:xfrm>
            <a:off x="7228637" y="5001768"/>
            <a:ext cx="457200" cy="182880"/>
          </a:xfrm>
          <a:prstGeom prst="rect">
            <a:avLst/>
          </a:prstGeom>
          <a:noFill/>
          <a:ln/>
        </p:spPr>
        <p:txBody>
          <a:bodyPr wrap="square" lIns="0" tIns="0" rIns="0" bIns="0" rtlCol="0" anchor="ctr"/>
          <a:lstStyle/>
          <a:p>
            <a:pPr algn="r" indent="0" marL="0">
              <a:buNone/>
            </a:pPr>
            <a:r>
              <a:rPr lang="en-US" sz="850" b="1" dirty="0">
                <a:solidFill>
                  <a:srgbClr val="0C1A2B"/>
                </a:solidFill>
                <a:latin typeface="Nunito Sans" pitchFamily="34" charset="0"/>
                <a:ea typeface="Nunito Sans" pitchFamily="34" charset="-122"/>
                <a:cs typeface="Nunito Sans" pitchFamily="34" charset="-120"/>
              </a:rPr>
              <a:t>0.50</a:t>
            </a:r>
            <a:endParaRPr lang="en-US" sz="850" dirty="0"/>
          </a:p>
        </p:txBody>
      </p:sp>
      <p:sp>
        <p:nvSpPr>
          <p:cNvPr id="74" name="Shape 71"/>
          <p:cNvSpPr/>
          <p:nvPr/>
        </p:nvSpPr>
        <p:spPr>
          <a:xfrm>
            <a:off x="4505858" y="5193792"/>
            <a:ext cx="3179978" cy="45720"/>
          </a:xfrm>
          <a:prstGeom prst="roundRect">
            <a:avLst>
              <a:gd name="adj" fmla="val 50000"/>
            </a:avLst>
          </a:prstGeom>
          <a:solidFill>
            <a:srgbClr val="EDE4D4"/>
          </a:solidFill>
          <a:ln w="5080">
            <a:solidFill>
              <a:srgbClr val="EDE4D4"/>
            </a:solidFill>
            <a:prstDash val="solid"/>
          </a:ln>
        </p:spPr>
      </p:sp>
      <p:sp>
        <p:nvSpPr>
          <p:cNvPr id="75" name="Shape 72"/>
          <p:cNvSpPr/>
          <p:nvPr/>
        </p:nvSpPr>
        <p:spPr>
          <a:xfrm>
            <a:off x="4505858" y="5193792"/>
            <a:ext cx="1589989" cy="45720"/>
          </a:xfrm>
          <a:prstGeom prst="roundRect">
            <a:avLst>
              <a:gd name="adj" fmla="val 50000"/>
            </a:avLst>
          </a:prstGeom>
          <a:solidFill>
            <a:srgbClr val="9E3A24"/>
          </a:solidFill>
          <a:ln w="5080">
            <a:solidFill>
              <a:srgbClr val="9E3A24"/>
            </a:solidFill>
            <a:prstDash val="solid"/>
          </a:ln>
        </p:spPr>
      </p:sp>
      <p:sp>
        <p:nvSpPr>
          <p:cNvPr id="76" name="Text 73"/>
          <p:cNvSpPr/>
          <p:nvPr/>
        </p:nvSpPr>
        <p:spPr>
          <a:xfrm>
            <a:off x="4505858" y="5303520"/>
            <a:ext cx="2722778" cy="182880"/>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I would pay 20–30% more</a:t>
            </a:r>
            <a:endParaRPr lang="en-US" sz="850" dirty="0"/>
          </a:p>
        </p:txBody>
      </p:sp>
      <p:sp>
        <p:nvSpPr>
          <p:cNvPr id="77" name="Text 74"/>
          <p:cNvSpPr/>
          <p:nvPr/>
        </p:nvSpPr>
        <p:spPr>
          <a:xfrm>
            <a:off x="7228637" y="5303520"/>
            <a:ext cx="457200" cy="182880"/>
          </a:xfrm>
          <a:prstGeom prst="rect">
            <a:avLst/>
          </a:prstGeom>
          <a:noFill/>
          <a:ln/>
        </p:spPr>
        <p:txBody>
          <a:bodyPr wrap="square" lIns="0" tIns="0" rIns="0" bIns="0" rtlCol="0" anchor="ctr"/>
          <a:lstStyle/>
          <a:p>
            <a:pPr algn="r" indent="0" marL="0">
              <a:buNone/>
            </a:pPr>
            <a:r>
              <a:rPr lang="en-US" sz="850" b="1" dirty="0">
                <a:solidFill>
                  <a:srgbClr val="0C1A2B"/>
                </a:solidFill>
                <a:latin typeface="Nunito Sans" pitchFamily="34" charset="0"/>
                <a:ea typeface="Nunito Sans" pitchFamily="34" charset="-122"/>
                <a:cs typeface="Nunito Sans" pitchFamily="34" charset="-120"/>
              </a:rPr>
              <a:t>0.48</a:t>
            </a:r>
            <a:endParaRPr lang="en-US" sz="850" dirty="0"/>
          </a:p>
        </p:txBody>
      </p:sp>
      <p:sp>
        <p:nvSpPr>
          <p:cNvPr id="78" name="Shape 75"/>
          <p:cNvSpPr/>
          <p:nvPr/>
        </p:nvSpPr>
        <p:spPr>
          <a:xfrm>
            <a:off x="4505858" y="5495544"/>
            <a:ext cx="3179978" cy="45720"/>
          </a:xfrm>
          <a:prstGeom prst="roundRect">
            <a:avLst>
              <a:gd name="adj" fmla="val 50000"/>
            </a:avLst>
          </a:prstGeom>
          <a:solidFill>
            <a:srgbClr val="EDE4D4"/>
          </a:solidFill>
          <a:ln w="5080">
            <a:solidFill>
              <a:srgbClr val="EDE4D4"/>
            </a:solidFill>
            <a:prstDash val="solid"/>
          </a:ln>
        </p:spPr>
      </p:sp>
      <p:sp>
        <p:nvSpPr>
          <p:cNvPr id="79" name="Shape 76"/>
          <p:cNvSpPr/>
          <p:nvPr/>
        </p:nvSpPr>
        <p:spPr>
          <a:xfrm>
            <a:off x="4505858" y="5495544"/>
            <a:ext cx="1526390" cy="45720"/>
          </a:xfrm>
          <a:prstGeom prst="roundRect">
            <a:avLst>
              <a:gd name="adj" fmla="val 50000"/>
            </a:avLst>
          </a:prstGeom>
          <a:solidFill>
            <a:srgbClr val="9E3A24"/>
          </a:solidFill>
          <a:ln w="5080">
            <a:solidFill>
              <a:srgbClr val="9E3A24"/>
            </a:solidFill>
            <a:prstDash val="solid"/>
          </a:ln>
        </p:spPr>
      </p:sp>
      <p:sp>
        <p:nvSpPr>
          <p:cNvPr id="80" name="Text 77"/>
          <p:cNvSpPr/>
          <p:nvPr/>
        </p:nvSpPr>
        <p:spPr>
          <a:xfrm>
            <a:off x="4505858" y="5605272"/>
            <a:ext cx="2722778" cy="182880"/>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The problem is proof, not cost</a:t>
            </a:r>
            <a:endParaRPr lang="en-US" sz="850" dirty="0"/>
          </a:p>
        </p:txBody>
      </p:sp>
      <p:sp>
        <p:nvSpPr>
          <p:cNvPr id="81" name="Text 78"/>
          <p:cNvSpPr/>
          <p:nvPr/>
        </p:nvSpPr>
        <p:spPr>
          <a:xfrm>
            <a:off x="7228637" y="5605272"/>
            <a:ext cx="457200" cy="182880"/>
          </a:xfrm>
          <a:prstGeom prst="rect">
            <a:avLst/>
          </a:prstGeom>
          <a:noFill/>
          <a:ln/>
        </p:spPr>
        <p:txBody>
          <a:bodyPr wrap="square" lIns="0" tIns="0" rIns="0" bIns="0" rtlCol="0" anchor="ctr"/>
          <a:lstStyle/>
          <a:p>
            <a:pPr algn="r" indent="0" marL="0">
              <a:buNone/>
            </a:pPr>
            <a:r>
              <a:rPr lang="en-US" sz="850" b="1" dirty="0">
                <a:solidFill>
                  <a:srgbClr val="0C1A2B"/>
                </a:solidFill>
                <a:latin typeface="Nunito Sans" pitchFamily="34" charset="0"/>
                <a:ea typeface="Nunito Sans" pitchFamily="34" charset="-122"/>
                <a:cs typeface="Nunito Sans" pitchFamily="34" charset="-120"/>
              </a:rPr>
              <a:t>0.47</a:t>
            </a:r>
            <a:endParaRPr lang="en-US" sz="850" dirty="0"/>
          </a:p>
        </p:txBody>
      </p:sp>
      <p:sp>
        <p:nvSpPr>
          <p:cNvPr id="82" name="Shape 79"/>
          <p:cNvSpPr/>
          <p:nvPr/>
        </p:nvSpPr>
        <p:spPr>
          <a:xfrm>
            <a:off x="4505858" y="5797296"/>
            <a:ext cx="3179978" cy="45720"/>
          </a:xfrm>
          <a:prstGeom prst="roundRect">
            <a:avLst>
              <a:gd name="adj" fmla="val 50000"/>
            </a:avLst>
          </a:prstGeom>
          <a:solidFill>
            <a:srgbClr val="EDE4D4"/>
          </a:solidFill>
          <a:ln w="5080">
            <a:solidFill>
              <a:srgbClr val="EDE4D4"/>
            </a:solidFill>
            <a:prstDash val="solid"/>
          </a:ln>
        </p:spPr>
      </p:sp>
      <p:sp>
        <p:nvSpPr>
          <p:cNvPr id="83" name="Shape 80"/>
          <p:cNvSpPr/>
          <p:nvPr/>
        </p:nvSpPr>
        <p:spPr>
          <a:xfrm>
            <a:off x="4505858" y="5797296"/>
            <a:ext cx="1494590" cy="45720"/>
          </a:xfrm>
          <a:prstGeom prst="roundRect">
            <a:avLst>
              <a:gd name="adj" fmla="val 50000"/>
            </a:avLst>
          </a:prstGeom>
          <a:solidFill>
            <a:srgbClr val="9E3A24"/>
          </a:solidFill>
          <a:ln w="5080">
            <a:solidFill>
              <a:srgbClr val="9E3A24"/>
            </a:solidFill>
            <a:prstDash val="solid"/>
          </a:ln>
        </p:spPr>
      </p:sp>
      <p:sp>
        <p:nvSpPr>
          <p:cNvPr id="84" name="Shape 81"/>
          <p:cNvSpPr/>
          <p:nvPr/>
        </p:nvSpPr>
        <p:spPr>
          <a:xfrm>
            <a:off x="8143037" y="3968496"/>
            <a:ext cx="3545738" cy="2011680"/>
          </a:xfrm>
          <a:prstGeom prst="roundRect">
            <a:avLst>
              <a:gd name="adj" fmla="val 4545"/>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85" name="Shape 82"/>
          <p:cNvSpPr/>
          <p:nvPr/>
        </p:nvSpPr>
        <p:spPr>
          <a:xfrm>
            <a:off x="8143037" y="3968496"/>
            <a:ext cx="3545738" cy="45720"/>
          </a:xfrm>
          <a:prstGeom prst="rect">
            <a:avLst/>
          </a:prstGeom>
          <a:solidFill>
            <a:srgbClr val="177A46"/>
          </a:solidFill>
          <a:ln w="5080">
            <a:solidFill>
              <a:srgbClr val="177A46"/>
            </a:solidFill>
            <a:prstDash val="solid"/>
          </a:ln>
        </p:spPr>
      </p:sp>
      <p:sp>
        <p:nvSpPr>
          <p:cNvPr id="86" name="Text 83"/>
          <p:cNvSpPr/>
          <p:nvPr/>
        </p:nvSpPr>
        <p:spPr>
          <a:xfrm>
            <a:off x="8325917" y="4096512"/>
            <a:ext cx="3179978" cy="219456"/>
          </a:xfrm>
          <a:prstGeom prst="rect">
            <a:avLst/>
          </a:prstGeom>
          <a:noFill/>
          <a:ln/>
        </p:spPr>
        <p:txBody>
          <a:bodyPr wrap="square" lIns="0" tIns="0" rIns="0" bIns="0" rtlCol="0" anchor="t"/>
          <a:lstStyle/>
          <a:p>
            <a:pPr indent="0" marL="0">
              <a:buNone/>
            </a:pPr>
            <a:r>
              <a:rPr lang="en-US" sz="950" b="1" spc="40" kern="0" dirty="0">
                <a:solidFill>
                  <a:srgbClr val="0C1A2B"/>
                </a:solidFill>
                <a:latin typeface="Nunito Sans" pitchFamily="34" charset="0"/>
                <a:ea typeface="Nunito Sans" pitchFamily="34" charset="-122"/>
                <a:cs typeface="Nunito Sans" pitchFamily="34" charset="-120"/>
              </a:rPr>
              <a:t>F3 — PROOF-DEMANDING VIGILANCE</a:t>
            </a:r>
            <a:endParaRPr lang="en-US" sz="950" dirty="0"/>
          </a:p>
        </p:txBody>
      </p:sp>
      <p:sp>
        <p:nvSpPr>
          <p:cNvPr id="87" name="Text 84"/>
          <p:cNvSpPr/>
          <p:nvPr/>
        </p:nvSpPr>
        <p:spPr>
          <a:xfrm>
            <a:off x="8325917" y="4315968"/>
            <a:ext cx="3179978" cy="365760"/>
          </a:xfrm>
          <a:prstGeom prst="rect">
            <a:avLst/>
          </a:prstGeom>
          <a:noFill/>
          <a:ln/>
        </p:spPr>
        <p:txBody>
          <a:bodyPr wrap="square" lIns="0" tIns="0" rIns="0" bIns="0" rtlCol="0" anchor="t"/>
          <a:lstStyle/>
          <a:p>
            <a:pPr indent="0" marL="0">
              <a:lnSpc>
                <a:spcPct val="106000"/>
              </a:lnSpc>
              <a:buNone/>
            </a:pPr>
            <a:r>
              <a:rPr lang="en-US" sz="800" i="1" dirty="0">
                <a:solidFill>
                  <a:srgbClr val="54606F"/>
                </a:solidFill>
                <a:latin typeface="Nunito Sans" pitchFamily="34" charset="0"/>
                <a:ea typeface="Nunito Sans" pitchFamily="34" charset="-122"/>
                <a:cs typeface="Nunito Sans" pitchFamily="34" charset="-120"/>
              </a:rPr>
              <a:t>I will check it myself. Show me the evidence.</a:t>
            </a:r>
            <a:endParaRPr lang="en-US" sz="800" dirty="0"/>
          </a:p>
        </p:txBody>
      </p:sp>
      <p:sp>
        <p:nvSpPr>
          <p:cNvPr id="88" name="Text 85"/>
          <p:cNvSpPr/>
          <p:nvPr/>
        </p:nvSpPr>
        <p:spPr>
          <a:xfrm>
            <a:off x="8325917" y="4700016"/>
            <a:ext cx="2722778" cy="182880"/>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I will pay only if a test is shown</a:t>
            </a:r>
            <a:endParaRPr lang="en-US" sz="850" dirty="0"/>
          </a:p>
        </p:txBody>
      </p:sp>
      <p:sp>
        <p:nvSpPr>
          <p:cNvPr id="89" name="Text 86"/>
          <p:cNvSpPr/>
          <p:nvPr/>
        </p:nvSpPr>
        <p:spPr>
          <a:xfrm>
            <a:off x="11048695" y="4700016"/>
            <a:ext cx="457200" cy="182880"/>
          </a:xfrm>
          <a:prstGeom prst="rect">
            <a:avLst/>
          </a:prstGeom>
          <a:noFill/>
          <a:ln/>
        </p:spPr>
        <p:txBody>
          <a:bodyPr wrap="square" lIns="0" tIns="0" rIns="0" bIns="0" rtlCol="0" anchor="ctr"/>
          <a:lstStyle/>
          <a:p>
            <a:pPr algn="r" indent="0" marL="0">
              <a:buNone/>
            </a:pPr>
            <a:r>
              <a:rPr lang="en-US" sz="850" b="1" dirty="0">
                <a:solidFill>
                  <a:srgbClr val="0C1A2B"/>
                </a:solidFill>
                <a:latin typeface="Nunito Sans" pitchFamily="34" charset="0"/>
                <a:ea typeface="Nunito Sans" pitchFamily="34" charset="-122"/>
                <a:cs typeface="Nunito Sans" pitchFamily="34" charset="-120"/>
              </a:rPr>
              <a:t>0.64</a:t>
            </a:r>
            <a:endParaRPr lang="en-US" sz="850" dirty="0"/>
          </a:p>
        </p:txBody>
      </p:sp>
      <p:sp>
        <p:nvSpPr>
          <p:cNvPr id="90" name="Shape 87"/>
          <p:cNvSpPr/>
          <p:nvPr/>
        </p:nvSpPr>
        <p:spPr>
          <a:xfrm>
            <a:off x="8325917" y="4892040"/>
            <a:ext cx="3179978" cy="45720"/>
          </a:xfrm>
          <a:prstGeom prst="roundRect">
            <a:avLst>
              <a:gd name="adj" fmla="val 50000"/>
            </a:avLst>
          </a:prstGeom>
          <a:solidFill>
            <a:srgbClr val="EDE4D4"/>
          </a:solidFill>
          <a:ln w="5080">
            <a:solidFill>
              <a:srgbClr val="EDE4D4"/>
            </a:solidFill>
            <a:prstDash val="solid"/>
          </a:ln>
        </p:spPr>
      </p:sp>
      <p:sp>
        <p:nvSpPr>
          <p:cNvPr id="91" name="Shape 88"/>
          <p:cNvSpPr/>
          <p:nvPr/>
        </p:nvSpPr>
        <p:spPr>
          <a:xfrm>
            <a:off x="8325917" y="4892040"/>
            <a:ext cx="2035186" cy="45720"/>
          </a:xfrm>
          <a:prstGeom prst="roundRect">
            <a:avLst>
              <a:gd name="adj" fmla="val 50000"/>
            </a:avLst>
          </a:prstGeom>
          <a:solidFill>
            <a:srgbClr val="177A46"/>
          </a:solidFill>
          <a:ln w="5080">
            <a:solidFill>
              <a:srgbClr val="177A46"/>
            </a:solidFill>
            <a:prstDash val="solid"/>
          </a:ln>
        </p:spPr>
      </p:sp>
      <p:sp>
        <p:nvSpPr>
          <p:cNvPr id="92" name="Text 89"/>
          <p:cNvSpPr/>
          <p:nvPr/>
        </p:nvSpPr>
        <p:spPr>
          <a:xfrm>
            <a:off x="8325917" y="5001768"/>
            <a:ext cx="2722778" cy="182880"/>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I need to verify proof myself</a:t>
            </a:r>
            <a:endParaRPr lang="en-US" sz="850" dirty="0"/>
          </a:p>
        </p:txBody>
      </p:sp>
      <p:sp>
        <p:nvSpPr>
          <p:cNvPr id="93" name="Text 90"/>
          <p:cNvSpPr/>
          <p:nvPr/>
        </p:nvSpPr>
        <p:spPr>
          <a:xfrm>
            <a:off x="11048695" y="5001768"/>
            <a:ext cx="457200" cy="182880"/>
          </a:xfrm>
          <a:prstGeom prst="rect">
            <a:avLst/>
          </a:prstGeom>
          <a:noFill/>
          <a:ln/>
        </p:spPr>
        <p:txBody>
          <a:bodyPr wrap="square" lIns="0" tIns="0" rIns="0" bIns="0" rtlCol="0" anchor="ctr"/>
          <a:lstStyle/>
          <a:p>
            <a:pPr algn="r" indent="0" marL="0">
              <a:buNone/>
            </a:pPr>
            <a:r>
              <a:rPr lang="en-US" sz="850" b="1" dirty="0">
                <a:solidFill>
                  <a:srgbClr val="0C1A2B"/>
                </a:solidFill>
                <a:latin typeface="Nunito Sans" pitchFamily="34" charset="0"/>
                <a:ea typeface="Nunito Sans" pitchFamily="34" charset="-122"/>
                <a:cs typeface="Nunito Sans" pitchFamily="34" charset="-120"/>
              </a:rPr>
              <a:t>0.60</a:t>
            </a:r>
            <a:endParaRPr lang="en-US" sz="850" dirty="0"/>
          </a:p>
        </p:txBody>
      </p:sp>
      <p:sp>
        <p:nvSpPr>
          <p:cNvPr id="94" name="Shape 91"/>
          <p:cNvSpPr/>
          <p:nvPr/>
        </p:nvSpPr>
        <p:spPr>
          <a:xfrm>
            <a:off x="8325917" y="5193792"/>
            <a:ext cx="3179978" cy="45720"/>
          </a:xfrm>
          <a:prstGeom prst="roundRect">
            <a:avLst>
              <a:gd name="adj" fmla="val 50000"/>
            </a:avLst>
          </a:prstGeom>
          <a:solidFill>
            <a:srgbClr val="EDE4D4"/>
          </a:solidFill>
          <a:ln w="5080">
            <a:solidFill>
              <a:srgbClr val="EDE4D4"/>
            </a:solidFill>
            <a:prstDash val="solid"/>
          </a:ln>
        </p:spPr>
      </p:sp>
      <p:sp>
        <p:nvSpPr>
          <p:cNvPr id="95" name="Shape 92"/>
          <p:cNvSpPr/>
          <p:nvPr/>
        </p:nvSpPr>
        <p:spPr>
          <a:xfrm>
            <a:off x="8325917" y="5193792"/>
            <a:ext cx="1907987" cy="45720"/>
          </a:xfrm>
          <a:prstGeom prst="roundRect">
            <a:avLst>
              <a:gd name="adj" fmla="val 50000"/>
            </a:avLst>
          </a:prstGeom>
          <a:solidFill>
            <a:srgbClr val="177A46"/>
          </a:solidFill>
          <a:ln w="5080">
            <a:solidFill>
              <a:srgbClr val="177A46"/>
            </a:solidFill>
            <a:prstDash val="solid"/>
          </a:ln>
        </p:spPr>
      </p:sp>
      <p:sp>
        <p:nvSpPr>
          <p:cNvPr id="96" name="Text 93"/>
          <p:cNvSpPr/>
          <p:nvPr/>
        </p:nvSpPr>
        <p:spPr>
          <a:xfrm>
            <a:off x="8325917" y="5303520"/>
            <a:ext cx="2722778" cy="182880"/>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I can spot a genuine claim</a:t>
            </a:r>
            <a:endParaRPr lang="en-US" sz="850" dirty="0"/>
          </a:p>
        </p:txBody>
      </p:sp>
      <p:sp>
        <p:nvSpPr>
          <p:cNvPr id="97" name="Text 94"/>
          <p:cNvSpPr/>
          <p:nvPr/>
        </p:nvSpPr>
        <p:spPr>
          <a:xfrm>
            <a:off x="11048695" y="5303520"/>
            <a:ext cx="457200" cy="182880"/>
          </a:xfrm>
          <a:prstGeom prst="rect">
            <a:avLst/>
          </a:prstGeom>
          <a:noFill/>
          <a:ln/>
        </p:spPr>
        <p:txBody>
          <a:bodyPr wrap="square" lIns="0" tIns="0" rIns="0" bIns="0" rtlCol="0" anchor="ctr"/>
          <a:lstStyle/>
          <a:p>
            <a:pPr algn="r" indent="0" marL="0">
              <a:buNone/>
            </a:pPr>
            <a:r>
              <a:rPr lang="en-US" sz="850" b="1" dirty="0">
                <a:solidFill>
                  <a:srgbClr val="0C1A2B"/>
                </a:solidFill>
                <a:latin typeface="Nunito Sans" pitchFamily="34" charset="0"/>
                <a:ea typeface="Nunito Sans" pitchFamily="34" charset="-122"/>
                <a:cs typeface="Nunito Sans" pitchFamily="34" charset="-120"/>
              </a:rPr>
              <a:t>0.55</a:t>
            </a:r>
            <a:endParaRPr lang="en-US" sz="850" dirty="0"/>
          </a:p>
        </p:txBody>
      </p:sp>
      <p:sp>
        <p:nvSpPr>
          <p:cNvPr id="98" name="Shape 95"/>
          <p:cNvSpPr/>
          <p:nvPr/>
        </p:nvSpPr>
        <p:spPr>
          <a:xfrm>
            <a:off x="8325917" y="5495544"/>
            <a:ext cx="3179978" cy="45720"/>
          </a:xfrm>
          <a:prstGeom prst="roundRect">
            <a:avLst>
              <a:gd name="adj" fmla="val 50000"/>
            </a:avLst>
          </a:prstGeom>
          <a:solidFill>
            <a:srgbClr val="EDE4D4"/>
          </a:solidFill>
          <a:ln w="5080">
            <a:solidFill>
              <a:srgbClr val="EDE4D4"/>
            </a:solidFill>
            <a:prstDash val="solid"/>
          </a:ln>
        </p:spPr>
      </p:sp>
      <p:sp>
        <p:nvSpPr>
          <p:cNvPr id="99" name="Shape 96"/>
          <p:cNvSpPr/>
          <p:nvPr/>
        </p:nvSpPr>
        <p:spPr>
          <a:xfrm>
            <a:off x="8325917" y="5495544"/>
            <a:ext cx="1748988" cy="45720"/>
          </a:xfrm>
          <a:prstGeom prst="roundRect">
            <a:avLst>
              <a:gd name="adj" fmla="val 50000"/>
            </a:avLst>
          </a:prstGeom>
          <a:solidFill>
            <a:srgbClr val="177A46"/>
          </a:solidFill>
          <a:ln w="5080">
            <a:solidFill>
              <a:srgbClr val="177A46"/>
            </a:solidFill>
            <a:prstDash val="solid"/>
          </a:ln>
        </p:spPr>
      </p:sp>
      <p:sp>
        <p:nvSpPr>
          <p:cNvPr id="100" name="Text 97"/>
          <p:cNvSpPr/>
          <p:nvPr/>
        </p:nvSpPr>
        <p:spPr>
          <a:xfrm>
            <a:off x="8325917" y="5605272"/>
            <a:ext cx="2722778" cy="182880"/>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Cost blocks me from safer food</a:t>
            </a:r>
            <a:endParaRPr lang="en-US" sz="850" dirty="0"/>
          </a:p>
        </p:txBody>
      </p:sp>
      <p:sp>
        <p:nvSpPr>
          <p:cNvPr id="101" name="Text 98"/>
          <p:cNvSpPr/>
          <p:nvPr/>
        </p:nvSpPr>
        <p:spPr>
          <a:xfrm>
            <a:off x="11048695" y="5605272"/>
            <a:ext cx="457200" cy="182880"/>
          </a:xfrm>
          <a:prstGeom prst="rect">
            <a:avLst/>
          </a:prstGeom>
          <a:noFill/>
          <a:ln/>
        </p:spPr>
        <p:txBody>
          <a:bodyPr wrap="square" lIns="0" tIns="0" rIns="0" bIns="0" rtlCol="0" anchor="ctr"/>
          <a:lstStyle/>
          <a:p>
            <a:pPr algn="r" indent="0" marL="0">
              <a:buNone/>
            </a:pPr>
            <a:r>
              <a:rPr lang="en-US" sz="850" b="1" dirty="0">
                <a:solidFill>
                  <a:srgbClr val="0C1A2B"/>
                </a:solidFill>
                <a:latin typeface="Nunito Sans" pitchFamily="34" charset="0"/>
                <a:ea typeface="Nunito Sans" pitchFamily="34" charset="-122"/>
                <a:cs typeface="Nunito Sans" pitchFamily="34" charset="-120"/>
              </a:rPr>
              <a:t>0.48</a:t>
            </a:r>
            <a:endParaRPr lang="en-US" sz="850" dirty="0"/>
          </a:p>
        </p:txBody>
      </p:sp>
      <p:sp>
        <p:nvSpPr>
          <p:cNvPr id="102" name="Shape 99"/>
          <p:cNvSpPr/>
          <p:nvPr/>
        </p:nvSpPr>
        <p:spPr>
          <a:xfrm>
            <a:off x="8325917" y="5797296"/>
            <a:ext cx="3179978" cy="45720"/>
          </a:xfrm>
          <a:prstGeom prst="roundRect">
            <a:avLst>
              <a:gd name="adj" fmla="val 50000"/>
            </a:avLst>
          </a:prstGeom>
          <a:solidFill>
            <a:srgbClr val="EDE4D4"/>
          </a:solidFill>
          <a:ln w="5080">
            <a:solidFill>
              <a:srgbClr val="EDE4D4"/>
            </a:solidFill>
            <a:prstDash val="solid"/>
          </a:ln>
        </p:spPr>
      </p:sp>
      <p:sp>
        <p:nvSpPr>
          <p:cNvPr id="103" name="Shape 100"/>
          <p:cNvSpPr/>
          <p:nvPr/>
        </p:nvSpPr>
        <p:spPr>
          <a:xfrm>
            <a:off x="8325917" y="5797296"/>
            <a:ext cx="1526390" cy="45720"/>
          </a:xfrm>
          <a:prstGeom prst="roundRect">
            <a:avLst>
              <a:gd name="adj" fmla="val 50000"/>
            </a:avLst>
          </a:prstGeom>
          <a:solidFill>
            <a:srgbClr val="177A46"/>
          </a:solidFill>
          <a:ln w="5080">
            <a:solidFill>
              <a:srgbClr val="177A46"/>
            </a:solidFill>
            <a:prstDash val="solid"/>
          </a:ln>
        </p:spPr>
      </p:sp>
      <p:sp>
        <p:nvSpPr>
          <p:cNvPr id="104" name="Text 101"/>
          <p:cNvSpPr/>
          <p:nvPr/>
        </p:nvSpPr>
        <p:spPr>
          <a:xfrm>
            <a:off x="502920" y="6071616"/>
            <a:ext cx="11185855" cy="329184"/>
          </a:xfrm>
          <a:prstGeom prst="rect">
            <a:avLst/>
          </a:prstGeom>
          <a:noFill/>
          <a:ln/>
        </p:spPr>
        <p:txBody>
          <a:bodyPr wrap="square" lIns="0" tIns="0" rIns="0" bIns="0" rtlCol="0" anchor="t"/>
          <a:lstStyle/>
          <a:p>
            <a:pPr indent="0" marL="0">
              <a:buNone/>
            </a:pPr>
            <a:r>
              <a:rPr lang="en-US" sz="900" i="1" dirty="0">
                <a:solidFill>
                  <a:srgbClr val="54606F"/>
                </a:solidFill>
                <a:latin typeface="Nunito Sans" pitchFamily="34" charset="0"/>
                <a:ea typeface="Nunito Sans" pitchFamily="34" charset="-122"/>
                <a:cs typeface="Nunito Sans" pitchFamily="34" charset="-120"/>
              </a:rPr>
              <a:t>The statistics didn’t create these groups; they revealed groups already in the data. At k=3, Guardians and Trusters merge into one unusable segment.</a:t>
            </a:r>
            <a:endParaRPr lang="en-US" sz="900" dirty="0"/>
          </a:p>
        </p:txBody>
      </p:sp>
      <p:sp>
        <p:nvSpPr>
          <p:cNvPr id="105" name="Shape 102"/>
          <p:cNvSpPr/>
          <p:nvPr/>
        </p:nvSpPr>
        <p:spPr>
          <a:xfrm>
            <a:off x="502920" y="6492240"/>
            <a:ext cx="11185855" cy="0"/>
          </a:xfrm>
          <a:prstGeom prst="line">
            <a:avLst/>
          </a:prstGeom>
          <a:noFill/>
          <a:ln w="9525">
            <a:solidFill>
              <a:srgbClr val="E5DCCB"/>
            </a:solidFill>
            <a:prstDash val="solid"/>
          </a:ln>
        </p:spPr>
      </p:sp>
      <p:sp>
        <p:nvSpPr>
          <p:cNvPr id="106" name="Text 103"/>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THE CONSUMER</a:t>
            </a:r>
            <a:endParaRPr lang="en-US" sz="800" dirty="0"/>
          </a:p>
        </p:txBody>
      </p:sp>
      <p:sp>
        <p:nvSpPr>
          <p:cNvPr id="107" name="Text 104"/>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08</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2159813"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2159813"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SEGMENTATION OUTPUT</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500" dirty="0">
                <a:solidFill>
                  <a:srgbClr val="0C1A2B"/>
                </a:solidFill>
                <a:latin typeface="Archivo Black" pitchFamily="34" charset="0"/>
                <a:ea typeface="Archivo Black" pitchFamily="34" charset="-122"/>
                <a:cs typeface="Archivo Black" pitchFamily="34" charset="-120"/>
              </a:rPr>
              <a:t>Four Customer Segments emerged from Research</a:t>
            </a:r>
            <a:endParaRPr lang="en-US" sz="2500" dirty="0"/>
          </a:p>
        </p:txBody>
      </p:sp>
      <p:sp>
        <p:nvSpPr>
          <p:cNvPr id="6" name="Shape 3"/>
          <p:cNvSpPr/>
          <p:nvPr/>
        </p:nvSpPr>
        <p:spPr>
          <a:xfrm>
            <a:off x="502920" y="1463040"/>
            <a:ext cx="11185855" cy="402336"/>
          </a:xfrm>
          <a:prstGeom prst="roundRect">
            <a:avLst>
              <a:gd name="adj" fmla="val 9091"/>
            </a:avLst>
          </a:prstGeom>
          <a:solidFill>
            <a:srgbClr val="F3ECE0"/>
          </a:solidFill>
          <a:ln w="15875">
            <a:solidFill>
              <a:srgbClr val="EDE4D4"/>
            </a:solidFill>
            <a:prstDash val="solid"/>
          </a:ln>
          <a:effectLst>
            <a:outerShdw sx="100000" sy="100000" kx="0" ky="0" algn="bl" rotWithShape="0" blurRad="228600" dist="25400" dir="5400000">
              <a:srgbClr val="0C1A2B">
                <a:alpha val="7000"/>
              </a:srgbClr>
            </a:outerShdw>
          </a:effectLst>
        </p:spPr>
      </p:sp>
      <p:sp>
        <p:nvSpPr>
          <p:cNvPr id="7" name="Text 4"/>
          <p:cNvSpPr/>
          <p:nvPr/>
        </p:nvSpPr>
        <p:spPr>
          <a:xfrm>
            <a:off x="630936" y="1463040"/>
            <a:ext cx="2926080" cy="402336"/>
          </a:xfrm>
          <a:prstGeom prst="rect">
            <a:avLst/>
          </a:prstGeom>
          <a:noFill/>
          <a:ln/>
        </p:spPr>
        <p:txBody>
          <a:bodyPr wrap="square" lIns="0" tIns="0" rIns="0" bIns="0" rtlCol="0" anchor="ctr"/>
          <a:lstStyle/>
          <a:p>
            <a:pPr algn="l" indent="0" marL="0">
              <a:buNone/>
            </a:pPr>
            <a:r>
              <a:rPr lang="en-US" sz="750" b="1" spc="80" kern="0" dirty="0">
                <a:solidFill>
                  <a:srgbClr val="8B95A2"/>
                </a:solidFill>
                <a:latin typeface="Nunito Sans" pitchFamily="34" charset="0"/>
                <a:ea typeface="Nunito Sans" pitchFamily="34" charset="-122"/>
                <a:cs typeface="Nunito Sans" pitchFamily="34" charset="-120"/>
              </a:rPr>
              <a:t>SEGMENT</a:t>
            </a:r>
            <a:endParaRPr lang="en-US" sz="750" dirty="0"/>
          </a:p>
        </p:txBody>
      </p:sp>
      <p:sp>
        <p:nvSpPr>
          <p:cNvPr id="8" name="Text 5"/>
          <p:cNvSpPr/>
          <p:nvPr/>
        </p:nvSpPr>
        <p:spPr>
          <a:xfrm>
            <a:off x="3739896" y="1463040"/>
            <a:ext cx="1097280" cy="402336"/>
          </a:xfrm>
          <a:prstGeom prst="rect">
            <a:avLst/>
          </a:prstGeom>
          <a:noFill/>
          <a:ln/>
        </p:spPr>
        <p:txBody>
          <a:bodyPr wrap="square" lIns="0" tIns="0" rIns="0" bIns="0" rtlCol="0" anchor="ctr"/>
          <a:lstStyle/>
          <a:p>
            <a:pPr algn="r" indent="0" marL="0">
              <a:buNone/>
            </a:pPr>
            <a:r>
              <a:rPr lang="en-US" sz="750" b="1" spc="80" kern="0" dirty="0">
                <a:solidFill>
                  <a:srgbClr val="8B95A2"/>
                </a:solidFill>
                <a:latin typeface="Nunito Sans" pitchFamily="34" charset="0"/>
                <a:ea typeface="Nunito Sans" pitchFamily="34" charset="-122"/>
                <a:cs typeface="Nunito Sans" pitchFamily="34" charset="-120"/>
              </a:rPr>
              <a:t>N (%)</a:t>
            </a:r>
            <a:endParaRPr lang="en-US" sz="750" dirty="0"/>
          </a:p>
        </p:txBody>
      </p:sp>
      <p:sp>
        <p:nvSpPr>
          <p:cNvPr id="9" name="Text 6"/>
          <p:cNvSpPr/>
          <p:nvPr/>
        </p:nvSpPr>
        <p:spPr>
          <a:xfrm>
            <a:off x="5020056" y="1463040"/>
            <a:ext cx="1005840" cy="402336"/>
          </a:xfrm>
          <a:prstGeom prst="rect">
            <a:avLst/>
          </a:prstGeom>
          <a:noFill/>
          <a:ln/>
        </p:spPr>
        <p:txBody>
          <a:bodyPr wrap="square" lIns="0" tIns="0" rIns="0" bIns="0" rtlCol="0" anchor="ctr"/>
          <a:lstStyle/>
          <a:p>
            <a:pPr algn="r" indent="0" marL="0">
              <a:buNone/>
            </a:pPr>
            <a:r>
              <a:rPr lang="en-US" sz="750" b="1" spc="80" kern="0" dirty="0">
                <a:solidFill>
                  <a:srgbClr val="8B95A2"/>
                </a:solidFill>
                <a:latin typeface="Nunito Sans" pitchFamily="34" charset="0"/>
                <a:ea typeface="Nunito Sans" pitchFamily="34" charset="-122"/>
                <a:cs typeface="Nunito Sans" pitchFamily="34" charset="-120"/>
              </a:rPr>
              <a:t>F1 SOCIAL</a:t>
            </a:r>
            <a:endParaRPr lang="en-US" sz="750" dirty="0"/>
          </a:p>
        </p:txBody>
      </p:sp>
      <p:sp>
        <p:nvSpPr>
          <p:cNvPr id="10" name="Text 7"/>
          <p:cNvSpPr/>
          <p:nvPr/>
        </p:nvSpPr>
        <p:spPr>
          <a:xfrm>
            <a:off x="6208776" y="1463040"/>
            <a:ext cx="1051560" cy="402336"/>
          </a:xfrm>
          <a:prstGeom prst="rect">
            <a:avLst/>
          </a:prstGeom>
          <a:noFill/>
          <a:ln/>
        </p:spPr>
        <p:txBody>
          <a:bodyPr wrap="square" lIns="0" tIns="0" rIns="0" bIns="0" rtlCol="0" anchor="ctr"/>
          <a:lstStyle/>
          <a:p>
            <a:pPr algn="r" indent="0" marL="0">
              <a:buNone/>
            </a:pPr>
            <a:r>
              <a:rPr lang="en-US" sz="750" b="1" spc="80" kern="0" dirty="0">
                <a:solidFill>
                  <a:srgbClr val="8B95A2"/>
                </a:solidFill>
                <a:latin typeface="Nunito Sans" pitchFamily="34" charset="0"/>
                <a:ea typeface="Nunito Sans" pitchFamily="34" charset="-122"/>
                <a:cs typeface="Nunito Sans" pitchFamily="34" charset="-120"/>
              </a:rPr>
              <a:t>F2 DISTRUST</a:t>
            </a:r>
            <a:endParaRPr lang="en-US" sz="750" dirty="0"/>
          </a:p>
        </p:txBody>
      </p:sp>
      <p:sp>
        <p:nvSpPr>
          <p:cNvPr id="11" name="Text 8"/>
          <p:cNvSpPr/>
          <p:nvPr/>
        </p:nvSpPr>
        <p:spPr>
          <a:xfrm>
            <a:off x="7443216" y="1463040"/>
            <a:ext cx="1097280" cy="402336"/>
          </a:xfrm>
          <a:prstGeom prst="rect">
            <a:avLst/>
          </a:prstGeom>
          <a:noFill/>
          <a:ln/>
        </p:spPr>
        <p:txBody>
          <a:bodyPr wrap="square" lIns="0" tIns="0" rIns="0" bIns="0" rtlCol="0" anchor="ctr"/>
          <a:lstStyle/>
          <a:p>
            <a:pPr algn="r" indent="0" marL="0">
              <a:buNone/>
            </a:pPr>
            <a:r>
              <a:rPr lang="en-US" sz="750" b="1" spc="80" kern="0" dirty="0">
                <a:solidFill>
                  <a:srgbClr val="8B95A2"/>
                </a:solidFill>
                <a:latin typeface="Nunito Sans" pitchFamily="34" charset="0"/>
                <a:ea typeface="Nunito Sans" pitchFamily="34" charset="-122"/>
                <a:cs typeface="Nunito Sans" pitchFamily="34" charset="-120"/>
              </a:rPr>
              <a:t>F3 VIGILANCE</a:t>
            </a:r>
            <a:endParaRPr lang="en-US" sz="750" dirty="0"/>
          </a:p>
        </p:txBody>
      </p:sp>
      <p:sp>
        <p:nvSpPr>
          <p:cNvPr id="12" name="Text 9"/>
          <p:cNvSpPr/>
          <p:nvPr/>
        </p:nvSpPr>
        <p:spPr>
          <a:xfrm>
            <a:off x="8723376" y="1463040"/>
            <a:ext cx="1325880" cy="402336"/>
          </a:xfrm>
          <a:prstGeom prst="rect">
            <a:avLst/>
          </a:prstGeom>
          <a:noFill/>
          <a:ln/>
        </p:spPr>
        <p:txBody>
          <a:bodyPr wrap="square" lIns="0" tIns="0" rIns="0" bIns="0" rtlCol="0" anchor="ctr"/>
          <a:lstStyle/>
          <a:p>
            <a:pPr algn="r" indent="0" marL="0">
              <a:buNone/>
            </a:pPr>
            <a:r>
              <a:rPr lang="en-US" sz="750" b="1" spc="80" kern="0" dirty="0">
                <a:solidFill>
                  <a:srgbClr val="8B95A2"/>
                </a:solidFill>
                <a:latin typeface="Nunito Sans" pitchFamily="34" charset="0"/>
                <a:ea typeface="Nunito Sans" pitchFamily="34" charset="-122"/>
                <a:cs typeface="Nunito Sans" pitchFamily="34" charset="-120"/>
              </a:rPr>
              <a:t>TRUST IN CERT. CLAIM</a:t>
            </a:r>
            <a:endParaRPr lang="en-US" sz="750" dirty="0"/>
          </a:p>
        </p:txBody>
      </p:sp>
      <p:sp>
        <p:nvSpPr>
          <p:cNvPr id="13" name="Text 10"/>
          <p:cNvSpPr/>
          <p:nvPr/>
        </p:nvSpPr>
        <p:spPr>
          <a:xfrm>
            <a:off x="10232136" y="1463040"/>
            <a:ext cx="1188720" cy="402336"/>
          </a:xfrm>
          <a:prstGeom prst="rect">
            <a:avLst/>
          </a:prstGeom>
          <a:noFill/>
          <a:ln/>
        </p:spPr>
        <p:txBody>
          <a:bodyPr wrap="square" lIns="0" tIns="0" rIns="0" bIns="0" rtlCol="0" anchor="ctr"/>
          <a:lstStyle/>
          <a:p>
            <a:pPr algn="r" indent="0" marL="0">
              <a:buNone/>
            </a:pPr>
            <a:r>
              <a:rPr lang="en-US" sz="750" b="1" spc="80" kern="0" dirty="0">
                <a:solidFill>
                  <a:srgbClr val="8B95A2"/>
                </a:solidFill>
                <a:latin typeface="Nunito Sans" pitchFamily="34" charset="0"/>
                <a:ea typeface="Nunito Sans" pitchFamily="34" charset="-122"/>
                <a:cs typeface="Nunito Sans" pitchFamily="34" charset="-120"/>
              </a:rPr>
              <a:t>WOULD PAY 11%+</a:t>
            </a:r>
            <a:endParaRPr lang="en-US" sz="750" dirty="0"/>
          </a:p>
        </p:txBody>
      </p:sp>
      <p:sp>
        <p:nvSpPr>
          <p:cNvPr id="14" name="Shape 11"/>
          <p:cNvSpPr/>
          <p:nvPr/>
        </p:nvSpPr>
        <p:spPr>
          <a:xfrm>
            <a:off x="502920" y="1865376"/>
            <a:ext cx="11185855" cy="420624"/>
          </a:xfrm>
          <a:prstGeom prst="rect">
            <a:avLst/>
          </a:prstGeom>
          <a:solidFill>
            <a:srgbClr val="FFFFFF"/>
          </a:solidFill>
          <a:ln w="5080">
            <a:solidFill>
              <a:srgbClr val="E5DCCB"/>
            </a:solidFill>
            <a:prstDash val="solid"/>
          </a:ln>
        </p:spPr>
      </p:sp>
      <p:sp>
        <p:nvSpPr>
          <p:cNvPr id="15" name="Shape 12"/>
          <p:cNvSpPr/>
          <p:nvPr/>
        </p:nvSpPr>
        <p:spPr>
          <a:xfrm>
            <a:off x="502920" y="1865376"/>
            <a:ext cx="45720" cy="420624"/>
          </a:xfrm>
          <a:prstGeom prst="rect">
            <a:avLst/>
          </a:prstGeom>
          <a:solidFill>
            <a:srgbClr val="177A46"/>
          </a:solidFill>
          <a:ln w="5080">
            <a:solidFill>
              <a:srgbClr val="177A46"/>
            </a:solidFill>
            <a:prstDash val="solid"/>
          </a:ln>
        </p:spPr>
      </p:sp>
      <p:sp>
        <p:nvSpPr>
          <p:cNvPr id="16" name="Text 13"/>
          <p:cNvSpPr/>
          <p:nvPr/>
        </p:nvSpPr>
        <p:spPr>
          <a:xfrm>
            <a:off x="630936" y="1865376"/>
            <a:ext cx="2926080" cy="420624"/>
          </a:xfrm>
          <a:prstGeom prst="rect">
            <a:avLst/>
          </a:prstGeom>
          <a:noFill/>
          <a:ln/>
        </p:spPr>
        <p:txBody>
          <a:bodyPr wrap="square" lIns="0" tIns="0" rIns="0" bIns="0" rtlCol="0" anchor="ctr"/>
          <a:lstStyle/>
          <a:p>
            <a:pPr algn="l" indent="0" marL="0">
              <a:buNone/>
            </a:pPr>
            <a:r>
              <a:rPr lang="en-US" sz="950" b="1" dirty="0">
                <a:solidFill>
                  <a:srgbClr val="0C1A2B"/>
                </a:solidFill>
                <a:latin typeface="Nunito Sans" pitchFamily="34" charset="0"/>
                <a:ea typeface="Nunito Sans" pitchFamily="34" charset="-122"/>
                <a:cs typeface="Nunito Sans" pitchFamily="34" charset="-120"/>
              </a:rPr>
              <a:t>Proof-Hungry Guardians</a:t>
            </a:r>
            <a:endParaRPr lang="en-US" sz="950" dirty="0"/>
          </a:p>
        </p:txBody>
      </p:sp>
      <p:sp>
        <p:nvSpPr>
          <p:cNvPr id="17" name="Text 14"/>
          <p:cNvSpPr/>
          <p:nvPr/>
        </p:nvSpPr>
        <p:spPr>
          <a:xfrm>
            <a:off x="3739896" y="1865376"/>
            <a:ext cx="1097280" cy="420624"/>
          </a:xfrm>
          <a:prstGeom prst="rect">
            <a:avLst/>
          </a:prstGeom>
          <a:noFill/>
          <a:ln/>
        </p:spPr>
        <p:txBody>
          <a:bodyPr wrap="square" lIns="0" tIns="0" rIns="0" bIns="0" rtlCol="0" anchor="ctr"/>
          <a:lstStyle/>
          <a:p>
            <a:pPr algn="r" indent="0" marL="0">
              <a:buNone/>
            </a:pPr>
            <a:r>
              <a:rPr lang="en-US" sz="950" dirty="0">
                <a:solidFill>
                  <a:srgbClr val="54606F"/>
                </a:solidFill>
                <a:latin typeface="Nunito Sans" pitchFamily="34" charset="0"/>
                <a:ea typeface="Nunito Sans" pitchFamily="34" charset="-122"/>
                <a:cs typeface="Nunito Sans" pitchFamily="34" charset="-120"/>
              </a:rPr>
              <a:t>109  (36%)</a:t>
            </a:r>
            <a:endParaRPr lang="en-US" sz="950" dirty="0"/>
          </a:p>
        </p:txBody>
      </p:sp>
      <p:sp>
        <p:nvSpPr>
          <p:cNvPr id="18" name="Text 15"/>
          <p:cNvSpPr/>
          <p:nvPr/>
        </p:nvSpPr>
        <p:spPr>
          <a:xfrm>
            <a:off x="5020056" y="1865376"/>
            <a:ext cx="1005840" cy="420624"/>
          </a:xfrm>
          <a:prstGeom prst="rect">
            <a:avLst/>
          </a:prstGeom>
          <a:noFill/>
          <a:ln/>
        </p:spPr>
        <p:txBody>
          <a:bodyPr wrap="square" lIns="0" tIns="0" rIns="0" bIns="0" rtlCol="0" anchor="ctr"/>
          <a:lstStyle/>
          <a:p>
            <a:pPr algn="r" indent="0" marL="0">
              <a:buNone/>
            </a:pPr>
            <a:r>
              <a:rPr lang="en-US" sz="950" dirty="0">
                <a:solidFill>
                  <a:srgbClr val="177A46"/>
                </a:solidFill>
                <a:latin typeface="Nunito Sans" pitchFamily="34" charset="0"/>
                <a:ea typeface="Nunito Sans" pitchFamily="34" charset="-122"/>
                <a:cs typeface="Nunito Sans" pitchFamily="34" charset="-120"/>
              </a:rPr>
              <a:t>+0.46</a:t>
            </a:r>
            <a:endParaRPr lang="en-US" sz="950" dirty="0"/>
          </a:p>
        </p:txBody>
      </p:sp>
      <p:sp>
        <p:nvSpPr>
          <p:cNvPr id="19" name="Text 16"/>
          <p:cNvSpPr/>
          <p:nvPr/>
        </p:nvSpPr>
        <p:spPr>
          <a:xfrm>
            <a:off x="6208776" y="1865376"/>
            <a:ext cx="1051560" cy="420624"/>
          </a:xfrm>
          <a:prstGeom prst="rect">
            <a:avLst/>
          </a:prstGeom>
          <a:noFill/>
          <a:ln/>
        </p:spPr>
        <p:txBody>
          <a:bodyPr wrap="square" lIns="0" tIns="0" rIns="0" bIns="0" rtlCol="0" anchor="ctr"/>
          <a:lstStyle/>
          <a:p>
            <a:pPr algn="r" indent="0" marL="0">
              <a:buNone/>
            </a:pPr>
            <a:r>
              <a:rPr lang="en-US" sz="950" dirty="0">
                <a:solidFill>
                  <a:srgbClr val="177A46"/>
                </a:solidFill>
                <a:latin typeface="Nunito Sans" pitchFamily="34" charset="0"/>
                <a:ea typeface="Nunito Sans" pitchFamily="34" charset="-122"/>
                <a:cs typeface="Nunito Sans" pitchFamily="34" charset="-120"/>
              </a:rPr>
              <a:t>+0.47</a:t>
            </a:r>
            <a:endParaRPr lang="en-US" sz="950" dirty="0"/>
          </a:p>
        </p:txBody>
      </p:sp>
      <p:sp>
        <p:nvSpPr>
          <p:cNvPr id="20" name="Text 17"/>
          <p:cNvSpPr/>
          <p:nvPr/>
        </p:nvSpPr>
        <p:spPr>
          <a:xfrm>
            <a:off x="7443216" y="1865376"/>
            <a:ext cx="1097280" cy="420624"/>
          </a:xfrm>
          <a:prstGeom prst="rect">
            <a:avLst/>
          </a:prstGeom>
          <a:noFill/>
          <a:ln/>
        </p:spPr>
        <p:txBody>
          <a:bodyPr wrap="square" lIns="0" tIns="0" rIns="0" bIns="0" rtlCol="0" anchor="ctr"/>
          <a:lstStyle/>
          <a:p>
            <a:pPr algn="r" indent="0" marL="0">
              <a:buNone/>
            </a:pPr>
            <a:r>
              <a:rPr lang="en-US" sz="950" dirty="0">
                <a:solidFill>
                  <a:srgbClr val="177A46"/>
                </a:solidFill>
                <a:latin typeface="Nunito Sans" pitchFamily="34" charset="0"/>
                <a:ea typeface="Nunito Sans" pitchFamily="34" charset="-122"/>
                <a:cs typeface="Nunito Sans" pitchFamily="34" charset="-120"/>
              </a:rPr>
              <a:t>+0.69</a:t>
            </a:r>
            <a:endParaRPr lang="en-US" sz="950" dirty="0"/>
          </a:p>
        </p:txBody>
      </p:sp>
      <p:sp>
        <p:nvSpPr>
          <p:cNvPr id="21" name="Text 18"/>
          <p:cNvSpPr/>
          <p:nvPr/>
        </p:nvSpPr>
        <p:spPr>
          <a:xfrm>
            <a:off x="8723376" y="1865376"/>
            <a:ext cx="1325880" cy="420624"/>
          </a:xfrm>
          <a:prstGeom prst="rect">
            <a:avLst/>
          </a:prstGeom>
          <a:noFill/>
          <a:ln/>
        </p:spPr>
        <p:txBody>
          <a:bodyPr wrap="square" lIns="0" tIns="0" rIns="0" bIns="0" rtlCol="0" anchor="ctr"/>
          <a:lstStyle/>
          <a:p>
            <a:pPr algn="r" indent="0" marL="0">
              <a:buNone/>
            </a:pPr>
            <a:r>
              <a:rPr lang="en-US" sz="950" dirty="0">
                <a:solidFill>
                  <a:srgbClr val="54606F"/>
                </a:solidFill>
                <a:latin typeface="Nunito Sans" pitchFamily="34" charset="0"/>
                <a:ea typeface="Nunito Sans" pitchFamily="34" charset="-122"/>
                <a:cs typeface="Nunito Sans" pitchFamily="34" charset="-120"/>
              </a:rPr>
              <a:t>4.4 / 5</a:t>
            </a:r>
            <a:endParaRPr lang="en-US" sz="950" dirty="0"/>
          </a:p>
        </p:txBody>
      </p:sp>
      <p:sp>
        <p:nvSpPr>
          <p:cNvPr id="22" name="Text 19"/>
          <p:cNvSpPr/>
          <p:nvPr/>
        </p:nvSpPr>
        <p:spPr>
          <a:xfrm>
            <a:off x="10232136" y="1865376"/>
            <a:ext cx="1188720" cy="420624"/>
          </a:xfrm>
          <a:prstGeom prst="rect">
            <a:avLst/>
          </a:prstGeom>
          <a:noFill/>
          <a:ln/>
        </p:spPr>
        <p:txBody>
          <a:bodyPr wrap="square" lIns="0" tIns="0" rIns="0" bIns="0" rtlCol="0" anchor="ctr"/>
          <a:lstStyle/>
          <a:p>
            <a:pPr algn="r" indent="0" marL="0">
              <a:buNone/>
            </a:pPr>
            <a:r>
              <a:rPr lang="en-US" sz="950" b="1" dirty="0">
                <a:solidFill>
                  <a:srgbClr val="54606F"/>
                </a:solidFill>
                <a:latin typeface="Nunito Sans" pitchFamily="34" charset="0"/>
                <a:ea typeface="Nunito Sans" pitchFamily="34" charset="-122"/>
                <a:cs typeface="Nunito Sans" pitchFamily="34" charset="-120"/>
              </a:rPr>
              <a:t>54%</a:t>
            </a:r>
            <a:endParaRPr lang="en-US" sz="950" dirty="0"/>
          </a:p>
        </p:txBody>
      </p:sp>
      <p:sp>
        <p:nvSpPr>
          <p:cNvPr id="23" name="Shape 20"/>
          <p:cNvSpPr/>
          <p:nvPr/>
        </p:nvSpPr>
        <p:spPr>
          <a:xfrm>
            <a:off x="502920" y="2286000"/>
            <a:ext cx="11185855" cy="420624"/>
          </a:xfrm>
          <a:prstGeom prst="rect">
            <a:avLst/>
          </a:prstGeom>
          <a:solidFill>
            <a:srgbClr val="FCFAF6"/>
          </a:solidFill>
          <a:ln w="5080">
            <a:solidFill>
              <a:srgbClr val="E5DCCB"/>
            </a:solidFill>
            <a:prstDash val="solid"/>
          </a:ln>
        </p:spPr>
      </p:sp>
      <p:sp>
        <p:nvSpPr>
          <p:cNvPr id="24" name="Shape 21"/>
          <p:cNvSpPr/>
          <p:nvPr/>
        </p:nvSpPr>
        <p:spPr>
          <a:xfrm>
            <a:off x="502920" y="2286000"/>
            <a:ext cx="45720" cy="420624"/>
          </a:xfrm>
          <a:prstGeom prst="rect">
            <a:avLst/>
          </a:prstGeom>
          <a:solidFill>
            <a:srgbClr val="3A5D97"/>
          </a:solidFill>
          <a:ln w="5080">
            <a:solidFill>
              <a:srgbClr val="3A5D97"/>
            </a:solidFill>
            <a:prstDash val="solid"/>
          </a:ln>
        </p:spPr>
      </p:sp>
      <p:sp>
        <p:nvSpPr>
          <p:cNvPr id="25" name="Text 22"/>
          <p:cNvSpPr/>
          <p:nvPr/>
        </p:nvSpPr>
        <p:spPr>
          <a:xfrm>
            <a:off x="630936" y="2286000"/>
            <a:ext cx="2926080" cy="420624"/>
          </a:xfrm>
          <a:prstGeom prst="rect">
            <a:avLst/>
          </a:prstGeom>
          <a:noFill/>
          <a:ln/>
        </p:spPr>
        <p:txBody>
          <a:bodyPr wrap="square" lIns="0" tIns="0" rIns="0" bIns="0" rtlCol="0" anchor="ctr"/>
          <a:lstStyle/>
          <a:p>
            <a:pPr algn="l" indent="0" marL="0">
              <a:buNone/>
            </a:pPr>
            <a:r>
              <a:rPr lang="en-US" sz="950" b="1" dirty="0">
                <a:solidFill>
                  <a:srgbClr val="0C1A2B"/>
                </a:solidFill>
                <a:latin typeface="Nunito Sans" pitchFamily="34" charset="0"/>
                <a:ea typeface="Nunito Sans" pitchFamily="34" charset="-122"/>
                <a:cs typeface="Nunito Sans" pitchFamily="34" charset="-120"/>
              </a:rPr>
              <a:t>Social Trusters</a:t>
            </a:r>
            <a:endParaRPr lang="en-US" sz="950" dirty="0"/>
          </a:p>
        </p:txBody>
      </p:sp>
      <p:sp>
        <p:nvSpPr>
          <p:cNvPr id="26" name="Text 23"/>
          <p:cNvSpPr/>
          <p:nvPr/>
        </p:nvSpPr>
        <p:spPr>
          <a:xfrm>
            <a:off x="3739896" y="2286000"/>
            <a:ext cx="1097280" cy="420624"/>
          </a:xfrm>
          <a:prstGeom prst="rect">
            <a:avLst/>
          </a:prstGeom>
          <a:noFill/>
          <a:ln/>
        </p:spPr>
        <p:txBody>
          <a:bodyPr wrap="square" lIns="0" tIns="0" rIns="0" bIns="0" rtlCol="0" anchor="ctr"/>
          <a:lstStyle/>
          <a:p>
            <a:pPr algn="r" indent="0" marL="0">
              <a:buNone/>
            </a:pPr>
            <a:r>
              <a:rPr lang="en-US" sz="950" dirty="0">
                <a:solidFill>
                  <a:srgbClr val="54606F"/>
                </a:solidFill>
                <a:latin typeface="Nunito Sans" pitchFamily="34" charset="0"/>
                <a:ea typeface="Nunito Sans" pitchFamily="34" charset="-122"/>
                <a:cs typeface="Nunito Sans" pitchFamily="34" charset="-120"/>
              </a:rPr>
              <a:t>62  (20%)</a:t>
            </a:r>
            <a:endParaRPr lang="en-US" sz="950" dirty="0"/>
          </a:p>
        </p:txBody>
      </p:sp>
      <p:sp>
        <p:nvSpPr>
          <p:cNvPr id="27" name="Text 24"/>
          <p:cNvSpPr/>
          <p:nvPr/>
        </p:nvSpPr>
        <p:spPr>
          <a:xfrm>
            <a:off x="5020056" y="2286000"/>
            <a:ext cx="1005840" cy="420624"/>
          </a:xfrm>
          <a:prstGeom prst="rect">
            <a:avLst/>
          </a:prstGeom>
          <a:noFill/>
          <a:ln/>
        </p:spPr>
        <p:txBody>
          <a:bodyPr wrap="square" lIns="0" tIns="0" rIns="0" bIns="0" rtlCol="0" anchor="ctr"/>
          <a:lstStyle/>
          <a:p>
            <a:pPr algn="r" indent="0" marL="0">
              <a:buNone/>
            </a:pPr>
            <a:r>
              <a:rPr lang="en-US" sz="950" dirty="0">
                <a:solidFill>
                  <a:srgbClr val="177A46"/>
                </a:solidFill>
                <a:latin typeface="Nunito Sans" pitchFamily="34" charset="0"/>
                <a:ea typeface="Nunito Sans" pitchFamily="34" charset="-122"/>
                <a:cs typeface="Nunito Sans" pitchFamily="34" charset="-120"/>
              </a:rPr>
              <a:t>+0.65</a:t>
            </a:r>
            <a:endParaRPr lang="en-US" sz="950" dirty="0"/>
          </a:p>
        </p:txBody>
      </p:sp>
      <p:sp>
        <p:nvSpPr>
          <p:cNvPr id="28" name="Text 25"/>
          <p:cNvSpPr/>
          <p:nvPr/>
        </p:nvSpPr>
        <p:spPr>
          <a:xfrm>
            <a:off x="6208776" y="2286000"/>
            <a:ext cx="1051560" cy="420624"/>
          </a:xfrm>
          <a:prstGeom prst="rect">
            <a:avLst/>
          </a:prstGeom>
          <a:noFill/>
          <a:ln/>
        </p:spPr>
        <p:txBody>
          <a:bodyPr wrap="square" lIns="0" tIns="0" rIns="0" bIns="0" rtlCol="0" anchor="ctr"/>
          <a:lstStyle/>
          <a:p>
            <a:pPr algn="r" indent="0" marL="0">
              <a:buNone/>
            </a:pPr>
            <a:r>
              <a:rPr lang="en-US" sz="950" dirty="0">
                <a:solidFill>
                  <a:srgbClr val="177A46"/>
                </a:solidFill>
                <a:latin typeface="Nunito Sans" pitchFamily="34" charset="0"/>
                <a:ea typeface="Nunito Sans" pitchFamily="34" charset="-122"/>
                <a:cs typeface="Nunito Sans" pitchFamily="34" charset="-120"/>
              </a:rPr>
              <a:t>+0.17</a:t>
            </a:r>
            <a:endParaRPr lang="en-US" sz="950" dirty="0"/>
          </a:p>
        </p:txBody>
      </p:sp>
      <p:sp>
        <p:nvSpPr>
          <p:cNvPr id="29" name="Text 26"/>
          <p:cNvSpPr/>
          <p:nvPr/>
        </p:nvSpPr>
        <p:spPr>
          <a:xfrm>
            <a:off x="7443216" y="2286000"/>
            <a:ext cx="1097280" cy="420624"/>
          </a:xfrm>
          <a:prstGeom prst="rect">
            <a:avLst/>
          </a:prstGeom>
          <a:noFill/>
          <a:ln/>
        </p:spPr>
        <p:txBody>
          <a:bodyPr wrap="square" lIns="0" tIns="0" rIns="0" bIns="0" rtlCol="0" anchor="ctr"/>
          <a:lstStyle/>
          <a:p>
            <a:pPr algn="r" indent="0" marL="0">
              <a:buNone/>
            </a:pPr>
            <a:r>
              <a:rPr lang="en-US" sz="950" dirty="0">
                <a:solidFill>
                  <a:srgbClr val="9E3A24"/>
                </a:solidFill>
                <a:latin typeface="Nunito Sans" pitchFamily="34" charset="0"/>
                <a:ea typeface="Nunito Sans" pitchFamily="34" charset="-122"/>
                <a:cs typeface="Nunito Sans" pitchFamily="34" charset="-120"/>
              </a:rPr>
              <a:t>−0.89</a:t>
            </a:r>
            <a:endParaRPr lang="en-US" sz="950" dirty="0"/>
          </a:p>
        </p:txBody>
      </p:sp>
      <p:sp>
        <p:nvSpPr>
          <p:cNvPr id="30" name="Text 27"/>
          <p:cNvSpPr/>
          <p:nvPr/>
        </p:nvSpPr>
        <p:spPr>
          <a:xfrm>
            <a:off x="8723376" y="2286000"/>
            <a:ext cx="1325880" cy="420624"/>
          </a:xfrm>
          <a:prstGeom prst="rect">
            <a:avLst/>
          </a:prstGeom>
          <a:noFill/>
          <a:ln/>
        </p:spPr>
        <p:txBody>
          <a:bodyPr wrap="square" lIns="0" tIns="0" rIns="0" bIns="0" rtlCol="0" anchor="ctr"/>
          <a:lstStyle/>
          <a:p>
            <a:pPr algn="r" indent="0" marL="0">
              <a:buNone/>
            </a:pPr>
            <a:r>
              <a:rPr lang="en-US" sz="950" dirty="0">
                <a:solidFill>
                  <a:srgbClr val="54606F"/>
                </a:solidFill>
                <a:latin typeface="Nunito Sans" pitchFamily="34" charset="0"/>
                <a:ea typeface="Nunito Sans" pitchFamily="34" charset="-122"/>
                <a:cs typeface="Nunito Sans" pitchFamily="34" charset="-120"/>
              </a:rPr>
              <a:t>3.6 / 5</a:t>
            </a:r>
            <a:endParaRPr lang="en-US" sz="950" dirty="0"/>
          </a:p>
        </p:txBody>
      </p:sp>
      <p:sp>
        <p:nvSpPr>
          <p:cNvPr id="31" name="Text 28"/>
          <p:cNvSpPr/>
          <p:nvPr/>
        </p:nvSpPr>
        <p:spPr>
          <a:xfrm>
            <a:off x="10232136" y="2286000"/>
            <a:ext cx="1188720" cy="420624"/>
          </a:xfrm>
          <a:prstGeom prst="rect">
            <a:avLst/>
          </a:prstGeom>
          <a:noFill/>
          <a:ln/>
        </p:spPr>
        <p:txBody>
          <a:bodyPr wrap="square" lIns="0" tIns="0" rIns="0" bIns="0" rtlCol="0" anchor="ctr"/>
          <a:lstStyle/>
          <a:p>
            <a:pPr algn="r" indent="0" marL="0">
              <a:buNone/>
            </a:pPr>
            <a:r>
              <a:rPr lang="en-US" sz="950" b="1" dirty="0">
                <a:solidFill>
                  <a:srgbClr val="54606F"/>
                </a:solidFill>
                <a:latin typeface="Nunito Sans" pitchFamily="34" charset="0"/>
                <a:ea typeface="Nunito Sans" pitchFamily="34" charset="-122"/>
                <a:cs typeface="Nunito Sans" pitchFamily="34" charset="-120"/>
              </a:rPr>
              <a:t>34%</a:t>
            </a:r>
            <a:endParaRPr lang="en-US" sz="950" dirty="0"/>
          </a:p>
        </p:txBody>
      </p:sp>
      <p:sp>
        <p:nvSpPr>
          <p:cNvPr id="32" name="Shape 29"/>
          <p:cNvSpPr/>
          <p:nvPr/>
        </p:nvSpPr>
        <p:spPr>
          <a:xfrm>
            <a:off x="502920" y="2706624"/>
            <a:ext cx="11185855" cy="420624"/>
          </a:xfrm>
          <a:prstGeom prst="rect">
            <a:avLst/>
          </a:prstGeom>
          <a:solidFill>
            <a:srgbClr val="FFFFFF"/>
          </a:solidFill>
          <a:ln w="5080">
            <a:solidFill>
              <a:srgbClr val="E5DCCB"/>
            </a:solidFill>
            <a:prstDash val="solid"/>
          </a:ln>
        </p:spPr>
      </p:sp>
      <p:sp>
        <p:nvSpPr>
          <p:cNvPr id="33" name="Shape 30"/>
          <p:cNvSpPr/>
          <p:nvPr/>
        </p:nvSpPr>
        <p:spPr>
          <a:xfrm>
            <a:off x="502920" y="2706624"/>
            <a:ext cx="45720" cy="420624"/>
          </a:xfrm>
          <a:prstGeom prst="rect">
            <a:avLst/>
          </a:prstGeom>
          <a:solidFill>
            <a:srgbClr val="B5AD9C"/>
          </a:solidFill>
          <a:ln w="5080">
            <a:solidFill>
              <a:srgbClr val="B5AD9C"/>
            </a:solidFill>
            <a:prstDash val="solid"/>
          </a:ln>
        </p:spPr>
      </p:sp>
      <p:sp>
        <p:nvSpPr>
          <p:cNvPr id="34" name="Text 31"/>
          <p:cNvSpPr/>
          <p:nvPr/>
        </p:nvSpPr>
        <p:spPr>
          <a:xfrm>
            <a:off x="630936" y="2706624"/>
            <a:ext cx="2926080" cy="420624"/>
          </a:xfrm>
          <a:prstGeom prst="rect">
            <a:avLst/>
          </a:prstGeom>
          <a:noFill/>
          <a:ln/>
        </p:spPr>
        <p:txBody>
          <a:bodyPr wrap="square" lIns="0" tIns="0" rIns="0" bIns="0" rtlCol="0" anchor="ctr"/>
          <a:lstStyle/>
          <a:p>
            <a:pPr algn="l" indent="0" marL="0">
              <a:buNone/>
            </a:pPr>
            <a:r>
              <a:rPr lang="en-US" sz="950" b="1" dirty="0">
                <a:solidFill>
                  <a:srgbClr val="0C1A2B"/>
                </a:solidFill>
                <a:latin typeface="Nunito Sans" pitchFamily="34" charset="0"/>
                <a:ea typeface="Nunito Sans" pitchFamily="34" charset="-122"/>
                <a:cs typeface="Nunito Sans" pitchFamily="34" charset="-120"/>
              </a:rPr>
              <a:t>Passive Defaulters</a:t>
            </a:r>
            <a:endParaRPr lang="en-US" sz="950" dirty="0"/>
          </a:p>
        </p:txBody>
      </p:sp>
      <p:sp>
        <p:nvSpPr>
          <p:cNvPr id="35" name="Text 32"/>
          <p:cNvSpPr/>
          <p:nvPr/>
        </p:nvSpPr>
        <p:spPr>
          <a:xfrm>
            <a:off x="3739896" y="2706624"/>
            <a:ext cx="1097280" cy="420624"/>
          </a:xfrm>
          <a:prstGeom prst="rect">
            <a:avLst/>
          </a:prstGeom>
          <a:noFill/>
          <a:ln/>
        </p:spPr>
        <p:txBody>
          <a:bodyPr wrap="square" lIns="0" tIns="0" rIns="0" bIns="0" rtlCol="0" anchor="ctr"/>
          <a:lstStyle/>
          <a:p>
            <a:pPr algn="r" indent="0" marL="0">
              <a:buNone/>
            </a:pPr>
            <a:r>
              <a:rPr lang="en-US" sz="950" dirty="0">
                <a:solidFill>
                  <a:srgbClr val="54606F"/>
                </a:solidFill>
                <a:latin typeface="Nunito Sans" pitchFamily="34" charset="0"/>
                <a:ea typeface="Nunito Sans" pitchFamily="34" charset="-122"/>
                <a:cs typeface="Nunito Sans" pitchFamily="34" charset="-120"/>
              </a:rPr>
              <a:t>80  (26%)</a:t>
            </a:r>
            <a:endParaRPr lang="en-US" sz="950" dirty="0"/>
          </a:p>
        </p:txBody>
      </p:sp>
      <p:sp>
        <p:nvSpPr>
          <p:cNvPr id="36" name="Text 33"/>
          <p:cNvSpPr/>
          <p:nvPr/>
        </p:nvSpPr>
        <p:spPr>
          <a:xfrm>
            <a:off x="5020056" y="2706624"/>
            <a:ext cx="1005840" cy="420624"/>
          </a:xfrm>
          <a:prstGeom prst="rect">
            <a:avLst/>
          </a:prstGeom>
          <a:noFill/>
          <a:ln/>
        </p:spPr>
        <p:txBody>
          <a:bodyPr wrap="square" lIns="0" tIns="0" rIns="0" bIns="0" rtlCol="0" anchor="ctr"/>
          <a:lstStyle/>
          <a:p>
            <a:pPr algn="r" indent="0" marL="0">
              <a:buNone/>
            </a:pPr>
            <a:r>
              <a:rPr lang="en-US" sz="950" dirty="0">
                <a:solidFill>
                  <a:srgbClr val="9E3A24"/>
                </a:solidFill>
                <a:latin typeface="Nunito Sans" pitchFamily="34" charset="0"/>
                <a:ea typeface="Nunito Sans" pitchFamily="34" charset="-122"/>
                <a:cs typeface="Nunito Sans" pitchFamily="34" charset="-120"/>
              </a:rPr>
              <a:t>−0.39</a:t>
            </a:r>
            <a:endParaRPr lang="en-US" sz="950" dirty="0"/>
          </a:p>
        </p:txBody>
      </p:sp>
      <p:sp>
        <p:nvSpPr>
          <p:cNvPr id="37" name="Text 34"/>
          <p:cNvSpPr/>
          <p:nvPr/>
        </p:nvSpPr>
        <p:spPr>
          <a:xfrm>
            <a:off x="6208776" y="2706624"/>
            <a:ext cx="1051560" cy="420624"/>
          </a:xfrm>
          <a:prstGeom prst="rect">
            <a:avLst/>
          </a:prstGeom>
          <a:noFill/>
          <a:ln/>
        </p:spPr>
        <p:txBody>
          <a:bodyPr wrap="square" lIns="0" tIns="0" rIns="0" bIns="0" rtlCol="0" anchor="ctr"/>
          <a:lstStyle/>
          <a:p>
            <a:pPr algn="r" indent="0" marL="0">
              <a:buNone/>
            </a:pPr>
            <a:r>
              <a:rPr lang="en-US" sz="950" dirty="0">
                <a:solidFill>
                  <a:srgbClr val="9E3A24"/>
                </a:solidFill>
                <a:latin typeface="Nunito Sans" pitchFamily="34" charset="0"/>
                <a:ea typeface="Nunito Sans" pitchFamily="34" charset="-122"/>
                <a:cs typeface="Nunito Sans" pitchFamily="34" charset="-120"/>
              </a:rPr>
              <a:t>−1.05</a:t>
            </a:r>
            <a:endParaRPr lang="en-US" sz="950" dirty="0"/>
          </a:p>
        </p:txBody>
      </p:sp>
      <p:sp>
        <p:nvSpPr>
          <p:cNvPr id="38" name="Text 35"/>
          <p:cNvSpPr/>
          <p:nvPr/>
        </p:nvSpPr>
        <p:spPr>
          <a:xfrm>
            <a:off x="7443216" y="2706624"/>
            <a:ext cx="1097280" cy="420624"/>
          </a:xfrm>
          <a:prstGeom prst="rect">
            <a:avLst/>
          </a:prstGeom>
          <a:noFill/>
          <a:ln/>
        </p:spPr>
        <p:txBody>
          <a:bodyPr wrap="square" lIns="0" tIns="0" rIns="0" bIns="0" rtlCol="0" anchor="ctr"/>
          <a:lstStyle/>
          <a:p>
            <a:pPr algn="r" indent="0" marL="0">
              <a:buNone/>
            </a:pPr>
            <a:r>
              <a:rPr lang="en-US" sz="950" dirty="0">
                <a:solidFill>
                  <a:srgbClr val="9E3A24"/>
                </a:solidFill>
                <a:latin typeface="Nunito Sans" pitchFamily="34" charset="0"/>
                <a:ea typeface="Nunito Sans" pitchFamily="34" charset="-122"/>
                <a:cs typeface="Nunito Sans" pitchFamily="34" charset="-120"/>
              </a:rPr>
              <a:t>−0.34</a:t>
            </a:r>
            <a:endParaRPr lang="en-US" sz="950" dirty="0"/>
          </a:p>
        </p:txBody>
      </p:sp>
      <p:sp>
        <p:nvSpPr>
          <p:cNvPr id="39" name="Text 36"/>
          <p:cNvSpPr/>
          <p:nvPr/>
        </p:nvSpPr>
        <p:spPr>
          <a:xfrm>
            <a:off x="8723376" y="2706624"/>
            <a:ext cx="1325880" cy="420624"/>
          </a:xfrm>
          <a:prstGeom prst="rect">
            <a:avLst/>
          </a:prstGeom>
          <a:noFill/>
          <a:ln/>
        </p:spPr>
        <p:txBody>
          <a:bodyPr wrap="square" lIns="0" tIns="0" rIns="0" bIns="0" rtlCol="0" anchor="ctr"/>
          <a:lstStyle/>
          <a:p>
            <a:pPr algn="r" indent="0" marL="0">
              <a:buNone/>
            </a:pPr>
            <a:r>
              <a:rPr lang="en-US" sz="950" dirty="0">
                <a:solidFill>
                  <a:srgbClr val="54606F"/>
                </a:solidFill>
                <a:latin typeface="Nunito Sans" pitchFamily="34" charset="0"/>
                <a:ea typeface="Nunito Sans" pitchFamily="34" charset="-122"/>
                <a:cs typeface="Nunito Sans" pitchFamily="34" charset="-120"/>
              </a:rPr>
              <a:t>3.5 / 5</a:t>
            </a:r>
            <a:endParaRPr lang="en-US" sz="950" dirty="0"/>
          </a:p>
        </p:txBody>
      </p:sp>
      <p:sp>
        <p:nvSpPr>
          <p:cNvPr id="40" name="Text 37"/>
          <p:cNvSpPr/>
          <p:nvPr/>
        </p:nvSpPr>
        <p:spPr>
          <a:xfrm>
            <a:off x="10232136" y="2706624"/>
            <a:ext cx="1188720" cy="420624"/>
          </a:xfrm>
          <a:prstGeom prst="rect">
            <a:avLst/>
          </a:prstGeom>
          <a:noFill/>
          <a:ln/>
        </p:spPr>
        <p:txBody>
          <a:bodyPr wrap="square" lIns="0" tIns="0" rIns="0" bIns="0" rtlCol="0" anchor="ctr"/>
          <a:lstStyle/>
          <a:p>
            <a:pPr algn="r" indent="0" marL="0">
              <a:buNone/>
            </a:pPr>
            <a:r>
              <a:rPr lang="en-US" sz="950" b="1" dirty="0">
                <a:solidFill>
                  <a:srgbClr val="54606F"/>
                </a:solidFill>
                <a:latin typeface="Nunito Sans" pitchFamily="34" charset="0"/>
                <a:ea typeface="Nunito Sans" pitchFamily="34" charset="-122"/>
                <a:cs typeface="Nunito Sans" pitchFamily="34" charset="-120"/>
              </a:rPr>
              <a:t>6%</a:t>
            </a:r>
            <a:endParaRPr lang="en-US" sz="950" dirty="0"/>
          </a:p>
        </p:txBody>
      </p:sp>
      <p:sp>
        <p:nvSpPr>
          <p:cNvPr id="41" name="Shape 38"/>
          <p:cNvSpPr/>
          <p:nvPr/>
        </p:nvSpPr>
        <p:spPr>
          <a:xfrm>
            <a:off x="502920" y="3127248"/>
            <a:ext cx="11185855" cy="420624"/>
          </a:xfrm>
          <a:prstGeom prst="rect">
            <a:avLst/>
          </a:prstGeom>
          <a:solidFill>
            <a:srgbClr val="FCFAF6"/>
          </a:solidFill>
          <a:ln w="5080">
            <a:solidFill>
              <a:srgbClr val="E5DCCB"/>
            </a:solidFill>
            <a:prstDash val="solid"/>
          </a:ln>
        </p:spPr>
      </p:sp>
      <p:sp>
        <p:nvSpPr>
          <p:cNvPr id="42" name="Shape 39"/>
          <p:cNvSpPr/>
          <p:nvPr/>
        </p:nvSpPr>
        <p:spPr>
          <a:xfrm>
            <a:off x="502920" y="3127248"/>
            <a:ext cx="45720" cy="420624"/>
          </a:xfrm>
          <a:prstGeom prst="rect">
            <a:avLst/>
          </a:prstGeom>
          <a:solidFill>
            <a:srgbClr val="9E3A24"/>
          </a:solidFill>
          <a:ln w="5080">
            <a:solidFill>
              <a:srgbClr val="9E3A24"/>
            </a:solidFill>
            <a:prstDash val="solid"/>
          </a:ln>
        </p:spPr>
      </p:sp>
      <p:sp>
        <p:nvSpPr>
          <p:cNvPr id="43" name="Text 40"/>
          <p:cNvSpPr/>
          <p:nvPr/>
        </p:nvSpPr>
        <p:spPr>
          <a:xfrm>
            <a:off x="630936" y="3127248"/>
            <a:ext cx="2926080" cy="420624"/>
          </a:xfrm>
          <a:prstGeom prst="rect">
            <a:avLst/>
          </a:prstGeom>
          <a:noFill/>
          <a:ln/>
        </p:spPr>
        <p:txBody>
          <a:bodyPr wrap="square" lIns="0" tIns="0" rIns="0" bIns="0" rtlCol="0" anchor="ctr"/>
          <a:lstStyle/>
          <a:p>
            <a:pPr algn="l" indent="0" marL="0">
              <a:buNone/>
            </a:pPr>
            <a:r>
              <a:rPr lang="en-US" sz="950" b="1" dirty="0">
                <a:solidFill>
                  <a:srgbClr val="0C1A2B"/>
                </a:solidFill>
                <a:latin typeface="Nunito Sans" pitchFamily="34" charset="0"/>
                <a:ea typeface="Nunito Sans" pitchFamily="34" charset="-122"/>
                <a:cs typeface="Nunito Sans" pitchFamily="34" charset="-120"/>
              </a:rPr>
              <a:t>System Fatalists</a:t>
            </a:r>
            <a:endParaRPr lang="en-US" sz="950" dirty="0"/>
          </a:p>
        </p:txBody>
      </p:sp>
      <p:sp>
        <p:nvSpPr>
          <p:cNvPr id="44" name="Text 41"/>
          <p:cNvSpPr/>
          <p:nvPr/>
        </p:nvSpPr>
        <p:spPr>
          <a:xfrm>
            <a:off x="3739896" y="3127248"/>
            <a:ext cx="1097280" cy="420624"/>
          </a:xfrm>
          <a:prstGeom prst="rect">
            <a:avLst/>
          </a:prstGeom>
          <a:noFill/>
          <a:ln/>
        </p:spPr>
        <p:txBody>
          <a:bodyPr wrap="square" lIns="0" tIns="0" rIns="0" bIns="0" rtlCol="0" anchor="ctr"/>
          <a:lstStyle/>
          <a:p>
            <a:pPr algn="r" indent="0" marL="0">
              <a:buNone/>
            </a:pPr>
            <a:r>
              <a:rPr lang="en-US" sz="950" dirty="0">
                <a:solidFill>
                  <a:srgbClr val="54606F"/>
                </a:solidFill>
                <a:latin typeface="Nunito Sans" pitchFamily="34" charset="0"/>
                <a:ea typeface="Nunito Sans" pitchFamily="34" charset="-122"/>
                <a:cs typeface="Nunito Sans" pitchFamily="34" charset="-120"/>
              </a:rPr>
              <a:t>54  (18%)</a:t>
            </a:r>
            <a:endParaRPr lang="en-US" sz="950" dirty="0"/>
          </a:p>
        </p:txBody>
      </p:sp>
      <p:sp>
        <p:nvSpPr>
          <p:cNvPr id="45" name="Text 42"/>
          <p:cNvSpPr/>
          <p:nvPr/>
        </p:nvSpPr>
        <p:spPr>
          <a:xfrm>
            <a:off x="5020056" y="3127248"/>
            <a:ext cx="1005840" cy="420624"/>
          </a:xfrm>
          <a:prstGeom prst="rect">
            <a:avLst/>
          </a:prstGeom>
          <a:noFill/>
          <a:ln/>
        </p:spPr>
        <p:txBody>
          <a:bodyPr wrap="square" lIns="0" tIns="0" rIns="0" bIns="0" rtlCol="0" anchor="ctr"/>
          <a:lstStyle/>
          <a:p>
            <a:pPr algn="r" indent="0" marL="0">
              <a:buNone/>
            </a:pPr>
            <a:r>
              <a:rPr lang="en-US" sz="950" dirty="0">
                <a:solidFill>
                  <a:srgbClr val="9E3A24"/>
                </a:solidFill>
                <a:latin typeface="Nunito Sans" pitchFamily="34" charset="0"/>
                <a:ea typeface="Nunito Sans" pitchFamily="34" charset="-122"/>
                <a:cs typeface="Nunito Sans" pitchFamily="34" charset="-120"/>
              </a:rPr>
              <a:t>−1.09</a:t>
            </a:r>
            <a:endParaRPr lang="en-US" sz="950" dirty="0"/>
          </a:p>
        </p:txBody>
      </p:sp>
      <p:sp>
        <p:nvSpPr>
          <p:cNvPr id="46" name="Text 43"/>
          <p:cNvSpPr/>
          <p:nvPr/>
        </p:nvSpPr>
        <p:spPr>
          <a:xfrm>
            <a:off x="6208776" y="3127248"/>
            <a:ext cx="1051560" cy="420624"/>
          </a:xfrm>
          <a:prstGeom prst="rect">
            <a:avLst/>
          </a:prstGeom>
          <a:noFill/>
          <a:ln/>
        </p:spPr>
        <p:txBody>
          <a:bodyPr wrap="square" lIns="0" tIns="0" rIns="0" bIns="0" rtlCol="0" anchor="ctr"/>
          <a:lstStyle/>
          <a:p>
            <a:pPr algn="r" indent="0" marL="0">
              <a:buNone/>
            </a:pPr>
            <a:r>
              <a:rPr lang="en-US" sz="950" dirty="0">
                <a:solidFill>
                  <a:srgbClr val="177A46"/>
                </a:solidFill>
                <a:latin typeface="Nunito Sans" pitchFamily="34" charset="0"/>
                <a:ea typeface="Nunito Sans" pitchFamily="34" charset="-122"/>
                <a:cs typeface="Nunito Sans" pitchFamily="34" charset="-120"/>
              </a:rPr>
              <a:t>+0.41</a:t>
            </a:r>
            <a:endParaRPr lang="en-US" sz="950" dirty="0"/>
          </a:p>
        </p:txBody>
      </p:sp>
      <p:sp>
        <p:nvSpPr>
          <p:cNvPr id="47" name="Text 44"/>
          <p:cNvSpPr/>
          <p:nvPr/>
        </p:nvSpPr>
        <p:spPr>
          <a:xfrm>
            <a:off x="7443216" y="3127248"/>
            <a:ext cx="1097280" cy="420624"/>
          </a:xfrm>
          <a:prstGeom prst="rect">
            <a:avLst/>
          </a:prstGeom>
          <a:noFill/>
          <a:ln/>
        </p:spPr>
        <p:txBody>
          <a:bodyPr wrap="square" lIns="0" tIns="0" rIns="0" bIns="0" rtlCol="0" anchor="ctr"/>
          <a:lstStyle/>
          <a:p>
            <a:pPr algn="r" indent="0" marL="0">
              <a:buNone/>
            </a:pPr>
            <a:r>
              <a:rPr lang="en-US" sz="950" dirty="0">
                <a:solidFill>
                  <a:srgbClr val="177A46"/>
                </a:solidFill>
                <a:latin typeface="Nunito Sans" pitchFamily="34" charset="0"/>
                <a:ea typeface="Nunito Sans" pitchFamily="34" charset="-122"/>
                <a:cs typeface="Nunito Sans" pitchFamily="34" charset="-120"/>
              </a:rPr>
              <a:t>+0.13</a:t>
            </a:r>
            <a:endParaRPr lang="en-US" sz="950" dirty="0"/>
          </a:p>
        </p:txBody>
      </p:sp>
      <p:sp>
        <p:nvSpPr>
          <p:cNvPr id="48" name="Text 45"/>
          <p:cNvSpPr/>
          <p:nvPr/>
        </p:nvSpPr>
        <p:spPr>
          <a:xfrm>
            <a:off x="8723376" y="3127248"/>
            <a:ext cx="1325880" cy="420624"/>
          </a:xfrm>
          <a:prstGeom prst="rect">
            <a:avLst/>
          </a:prstGeom>
          <a:noFill/>
          <a:ln/>
        </p:spPr>
        <p:txBody>
          <a:bodyPr wrap="square" lIns="0" tIns="0" rIns="0" bIns="0" rtlCol="0" anchor="ctr"/>
          <a:lstStyle/>
          <a:p>
            <a:pPr algn="r" indent="0" marL="0">
              <a:buNone/>
            </a:pPr>
            <a:r>
              <a:rPr lang="en-US" sz="950" dirty="0">
                <a:solidFill>
                  <a:srgbClr val="54606F"/>
                </a:solidFill>
                <a:latin typeface="Nunito Sans" pitchFamily="34" charset="0"/>
                <a:ea typeface="Nunito Sans" pitchFamily="34" charset="-122"/>
                <a:cs typeface="Nunito Sans" pitchFamily="34" charset="-120"/>
              </a:rPr>
              <a:t>3.6 / 5</a:t>
            </a:r>
            <a:endParaRPr lang="en-US" sz="950" dirty="0"/>
          </a:p>
        </p:txBody>
      </p:sp>
      <p:sp>
        <p:nvSpPr>
          <p:cNvPr id="49" name="Text 46"/>
          <p:cNvSpPr/>
          <p:nvPr/>
        </p:nvSpPr>
        <p:spPr>
          <a:xfrm>
            <a:off x="10232136" y="3127248"/>
            <a:ext cx="1188720" cy="420624"/>
          </a:xfrm>
          <a:prstGeom prst="rect">
            <a:avLst/>
          </a:prstGeom>
          <a:noFill/>
          <a:ln/>
        </p:spPr>
        <p:txBody>
          <a:bodyPr wrap="square" lIns="0" tIns="0" rIns="0" bIns="0" rtlCol="0" anchor="ctr"/>
          <a:lstStyle/>
          <a:p>
            <a:pPr algn="r" indent="0" marL="0">
              <a:buNone/>
            </a:pPr>
            <a:r>
              <a:rPr lang="en-US" sz="950" b="1" dirty="0">
                <a:solidFill>
                  <a:srgbClr val="54606F"/>
                </a:solidFill>
                <a:latin typeface="Nunito Sans" pitchFamily="34" charset="0"/>
                <a:ea typeface="Nunito Sans" pitchFamily="34" charset="-122"/>
                <a:cs typeface="Nunito Sans" pitchFamily="34" charset="-120"/>
              </a:rPr>
              <a:t>22%</a:t>
            </a:r>
            <a:endParaRPr lang="en-US" sz="950" dirty="0"/>
          </a:p>
        </p:txBody>
      </p:sp>
      <p:sp>
        <p:nvSpPr>
          <p:cNvPr id="50" name="Text 47"/>
          <p:cNvSpPr/>
          <p:nvPr/>
        </p:nvSpPr>
        <p:spPr>
          <a:xfrm>
            <a:off x="502920" y="3602736"/>
            <a:ext cx="11185855" cy="256032"/>
          </a:xfrm>
          <a:prstGeom prst="rect">
            <a:avLst/>
          </a:prstGeom>
          <a:noFill/>
          <a:ln/>
        </p:spPr>
        <p:txBody>
          <a:bodyPr wrap="square" lIns="0" tIns="0" rIns="0" bIns="0" rtlCol="0" anchor="ctr"/>
          <a:lstStyle/>
          <a:p>
            <a:pPr indent="0" marL="0">
              <a:buNone/>
            </a:pPr>
            <a:r>
              <a:rPr lang="en-US" sz="850" i="1" dirty="0">
                <a:solidFill>
                  <a:srgbClr val="8B95A2"/>
                </a:solidFill>
                <a:latin typeface="Nunito Sans" pitchFamily="34" charset="0"/>
                <a:ea typeface="Nunito Sans" pitchFamily="34" charset="-122"/>
                <a:cs typeface="Nunito Sans" pitchFamily="34" charset="-120"/>
              </a:rPr>
              <a:t>Factor scores are standardized — 0 is the sample mean. Guardians are the only cluster positive on all three factors simultaneously.</a:t>
            </a:r>
            <a:endParaRPr lang="en-US" sz="850" dirty="0"/>
          </a:p>
        </p:txBody>
      </p:sp>
      <p:sp>
        <p:nvSpPr>
          <p:cNvPr id="51" name="Shape 48"/>
          <p:cNvSpPr/>
          <p:nvPr/>
        </p:nvSpPr>
        <p:spPr>
          <a:xfrm>
            <a:off x="502920" y="3950208"/>
            <a:ext cx="4480560" cy="0"/>
          </a:xfrm>
          <a:prstGeom prst="line">
            <a:avLst/>
          </a:prstGeom>
          <a:noFill/>
          <a:ln w="12700">
            <a:solidFill>
              <a:srgbClr val="3A5D97"/>
            </a:solidFill>
            <a:prstDash val="solid"/>
          </a:ln>
        </p:spPr>
      </p:sp>
      <p:sp>
        <p:nvSpPr>
          <p:cNvPr id="52" name="Text 49"/>
          <p:cNvSpPr/>
          <p:nvPr/>
        </p:nvSpPr>
        <p:spPr>
          <a:xfrm>
            <a:off x="502920" y="3995928"/>
            <a:ext cx="4480560"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PERCENTAGE OF SEGMENT WILLING TO PAY 11%+</a:t>
            </a:r>
            <a:endParaRPr lang="en-US" sz="900" dirty="0"/>
          </a:p>
        </p:txBody>
      </p:sp>
      <p:sp>
        <p:nvSpPr>
          <p:cNvPr id="53" name="Shape 50"/>
          <p:cNvSpPr/>
          <p:nvPr/>
        </p:nvSpPr>
        <p:spPr>
          <a:xfrm>
            <a:off x="502920" y="4242816"/>
            <a:ext cx="4480560" cy="1920240"/>
          </a:xfrm>
          <a:prstGeom prst="roundRect">
            <a:avLst>
              <a:gd name="adj" fmla="val 4762"/>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54" name="Shape 51"/>
          <p:cNvSpPr/>
          <p:nvPr/>
        </p:nvSpPr>
        <p:spPr>
          <a:xfrm>
            <a:off x="868680" y="5486400"/>
            <a:ext cx="3749040" cy="0"/>
          </a:xfrm>
          <a:prstGeom prst="line">
            <a:avLst/>
          </a:prstGeom>
          <a:noFill/>
          <a:ln w="6350">
            <a:solidFill>
              <a:srgbClr val="E5DCCB"/>
            </a:solidFill>
            <a:prstDash val="sysDot"/>
          </a:ln>
        </p:spPr>
      </p:sp>
      <p:sp>
        <p:nvSpPr>
          <p:cNvPr id="55" name="Shape 52"/>
          <p:cNvSpPr/>
          <p:nvPr/>
        </p:nvSpPr>
        <p:spPr>
          <a:xfrm>
            <a:off x="868680" y="5212080"/>
            <a:ext cx="3749040" cy="0"/>
          </a:xfrm>
          <a:prstGeom prst="line">
            <a:avLst/>
          </a:prstGeom>
          <a:noFill/>
          <a:ln w="6350">
            <a:solidFill>
              <a:srgbClr val="E5DCCB"/>
            </a:solidFill>
            <a:prstDash val="sysDot"/>
          </a:ln>
        </p:spPr>
      </p:sp>
      <p:sp>
        <p:nvSpPr>
          <p:cNvPr id="56" name="Shape 53"/>
          <p:cNvSpPr/>
          <p:nvPr/>
        </p:nvSpPr>
        <p:spPr>
          <a:xfrm>
            <a:off x="868680" y="4937760"/>
            <a:ext cx="3749040" cy="0"/>
          </a:xfrm>
          <a:prstGeom prst="line">
            <a:avLst/>
          </a:prstGeom>
          <a:noFill/>
          <a:ln w="6350">
            <a:solidFill>
              <a:srgbClr val="E5DCCB"/>
            </a:solidFill>
            <a:prstDash val="sysDot"/>
          </a:ln>
        </p:spPr>
      </p:sp>
      <p:sp>
        <p:nvSpPr>
          <p:cNvPr id="57" name="Shape 54"/>
          <p:cNvSpPr/>
          <p:nvPr/>
        </p:nvSpPr>
        <p:spPr>
          <a:xfrm>
            <a:off x="868680" y="4663440"/>
            <a:ext cx="3749040" cy="0"/>
          </a:xfrm>
          <a:prstGeom prst="line">
            <a:avLst/>
          </a:prstGeom>
          <a:noFill/>
          <a:ln w="6350">
            <a:solidFill>
              <a:srgbClr val="E5DCCB"/>
            </a:solidFill>
            <a:prstDash val="sysDot"/>
          </a:ln>
        </p:spPr>
      </p:sp>
      <p:sp>
        <p:nvSpPr>
          <p:cNvPr id="58" name="Shape 55"/>
          <p:cNvSpPr/>
          <p:nvPr/>
        </p:nvSpPr>
        <p:spPr>
          <a:xfrm>
            <a:off x="868680" y="5760720"/>
            <a:ext cx="3749040" cy="0"/>
          </a:xfrm>
          <a:prstGeom prst="line">
            <a:avLst/>
          </a:prstGeom>
          <a:noFill/>
          <a:ln w="12700">
            <a:solidFill>
              <a:srgbClr val="E5DCCB"/>
            </a:solidFill>
            <a:prstDash val="solid"/>
          </a:ln>
        </p:spPr>
      </p:sp>
      <p:sp>
        <p:nvSpPr>
          <p:cNvPr id="59" name="Shape 56"/>
          <p:cNvSpPr/>
          <p:nvPr/>
        </p:nvSpPr>
        <p:spPr>
          <a:xfrm>
            <a:off x="868680" y="4805025"/>
            <a:ext cx="786384" cy="955695"/>
          </a:xfrm>
          <a:prstGeom prst="roundRect">
            <a:avLst>
              <a:gd name="adj" fmla="val 5814"/>
            </a:avLst>
          </a:prstGeom>
          <a:solidFill>
            <a:srgbClr val="177A46"/>
          </a:solidFill>
          <a:ln w="12700">
            <a:solidFill>
              <a:srgbClr val="333333"/>
            </a:solidFill>
            <a:prstDash val="solid"/>
          </a:ln>
        </p:spPr>
      </p:sp>
      <p:sp>
        <p:nvSpPr>
          <p:cNvPr id="60" name="Text 57"/>
          <p:cNvSpPr/>
          <p:nvPr/>
        </p:nvSpPr>
        <p:spPr>
          <a:xfrm>
            <a:off x="822960" y="4530705"/>
            <a:ext cx="877824" cy="237744"/>
          </a:xfrm>
          <a:prstGeom prst="rect">
            <a:avLst/>
          </a:prstGeom>
          <a:noFill/>
          <a:ln/>
        </p:spPr>
        <p:txBody>
          <a:bodyPr wrap="square" lIns="0" tIns="0" rIns="0" bIns="0" rtlCol="0" anchor="b"/>
          <a:lstStyle/>
          <a:p>
            <a:pPr algn="ctr" indent="0" marL="0">
              <a:buNone/>
            </a:pPr>
            <a:r>
              <a:rPr lang="en-US" sz="1050" b="1" dirty="0">
                <a:solidFill>
                  <a:srgbClr val="0C1A2B"/>
                </a:solidFill>
                <a:latin typeface="Nunito Sans" pitchFamily="34" charset="0"/>
                <a:ea typeface="Nunito Sans" pitchFamily="34" charset="-122"/>
                <a:cs typeface="Nunito Sans" pitchFamily="34" charset="-120"/>
              </a:rPr>
              <a:t>54%</a:t>
            </a:r>
            <a:endParaRPr lang="en-US" sz="1050" dirty="0"/>
          </a:p>
        </p:txBody>
      </p:sp>
      <p:sp>
        <p:nvSpPr>
          <p:cNvPr id="61" name="Text 58"/>
          <p:cNvSpPr/>
          <p:nvPr/>
        </p:nvSpPr>
        <p:spPr>
          <a:xfrm>
            <a:off x="822960" y="5797296"/>
            <a:ext cx="877824" cy="237744"/>
          </a:xfrm>
          <a:prstGeom prst="rect">
            <a:avLst/>
          </a:prstGeom>
          <a:noFill/>
          <a:ln/>
        </p:spPr>
        <p:txBody>
          <a:bodyPr wrap="square" lIns="0" tIns="0" rIns="0" bIns="0" rtlCol="0" anchor="t"/>
          <a:lstStyle/>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Guardians</a:t>
            </a:r>
            <a:endParaRPr lang="en-US" sz="850" dirty="0"/>
          </a:p>
        </p:txBody>
      </p:sp>
      <p:sp>
        <p:nvSpPr>
          <p:cNvPr id="62" name="Shape 59"/>
          <p:cNvSpPr/>
          <p:nvPr/>
        </p:nvSpPr>
        <p:spPr>
          <a:xfrm>
            <a:off x="1856232" y="5158986"/>
            <a:ext cx="786384" cy="601734"/>
          </a:xfrm>
          <a:prstGeom prst="roundRect">
            <a:avLst>
              <a:gd name="adj" fmla="val 7598"/>
            </a:avLst>
          </a:prstGeom>
          <a:solidFill>
            <a:srgbClr val="3A5D97"/>
          </a:solidFill>
          <a:ln w="12700">
            <a:solidFill>
              <a:srgbClr val="333333"/>
            </a:solidFill>
            <a:prstDash val="solid"/>
          </a:ln>
        </p:spPr>
      </p:sp>
      <p:sp>
        <p:nvSpPr>
          <p:cNvPr id="63" name="Text 60"/>
          <p:cNvSpPr/>
          <p:nvPr/>
        </p:nvSpPr>
        <p:spPr>
          <a:xfrm>
            <a:off x="1810512" y="4884666"/>
            <a:ext cx="877824" cy="237744"/>
          </a:xfrm>
          <a:prstGeom prst="rect">
            <a:avLst/>
          </a:prstGeom>
          <a:noFill/>
          <a:ln/>
        </p:spPr>
        <p:txBody>
          <a:bodyPr wrap="square" lIns="0" tIns="0" rIns="0" bIns="0" rtlCol="0" anchor="b"/>
          <a:lstStyle/>
          <a:p>
            <a:pPr algn="ctr" indent="0" marL="0">
              <a:buNone/>
            </a:pPr>
            <a:r>
              <a:rPr lang="en-US" sz="1050" b="1" dirty="0">
                <a:solidFill>
                  <a:srgbClr val="0C1A2B"/>
                </a:solidFill>
                <a:latin typeface="Nunito Sans" pitchFamily="34" charset="0"/>
                <a:ea typeface="Nunito Sans" pitchFamily="34" charset="-122"/>
                <a:cs typeface="Nunito Sans" pitchFamily="34" charset="-120"/>
              </a:rPr>
              <a:t>34%</a:t>
            </a:r>
            <a:endParaRPr lang="en-US" sz="1050" dirty="0"/>
          </a:p>
        </p:txBody>
      </p:sp>
      <p:sp>
        <p:nvSpPr>
          <p:cNvPr id="64" name="Text 61"/>
          <p:cNvSpPr/>
          <p:nvPr/>
        </p:nvSpPr>
        <p:spPr>
          <a:xfrm>
            <a:off x="1810512" y="5797296"/>
            <a:ext cx="877824" cy="237744"/>
          </a:xfrm>
          <a:prstGeom prst="rect">
            <a:avLst/>
          </a:prstGeom>
          <a:noFill/>
          <a:ln/>
        </p:spPr>
        <p:txBody>
          <a:bodyPr wrap="square" lIns="0" tIns="0" rIns="0" bIns="0" rtlCol="0" anchor="t"/>
          <a:lstStyle/>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Trusters</a:t>
            </a:r>
            <a:endParaRPr lang="en-US" sz="850" dirty="0"/>
          </a:p>
        </p:txBody>
      </p:sp>
      <p:sp>
        <p:nvSpPr>
          <p:cNvPr id="65" name="Shape 62"/>
          <p:cNvSpPr/>
          <p:nvPr/>
        </p:nvSpPr>
        <p:spPr>
          <a:xfrm>
            <a:off x="2843784" y="5371363"/>
            <a:ext cx="786384" cy="389357"/>
          </a:xfrm>
          <a:prstGeom prst="roundRect">
            <a:avLst>
              <a:gd name="adj" fmla="val 11742"/>
            </a:avLst>
          </a:prstGeom>
          <a:solidFill>
            <a:srgbClr val="9E3A24"/>
          </a:solidFill>
          <a:ln w="12700">
            <a:solidFill>
              <a:srgbClr val="333333"/>
            </a:solidFill>
            <a:prstDash val="solid"/>
          </a:ln>
        </p:spPr>
      </p:sp>
      <p:sp>
        <p:nvSpPr>
          <p:cNvPr id="66" name="Text 63"/>
          <p:cNvSpPr/>
          <p:nvPr/>
        </p:nvSpPr>
        <p:spPr>
          <a:xfrm>
            <a:off x="2798064" y="5097043"/>
            <a:ext cx="877824" cy="237744"/>
          </a:xfrm>
          <a:prstGeom prst="rect">
            <a:avLst/>
          </a:prstGeom>
          <a:noFill/>
          <a:ln/>
        </p:spPr>
        <p:txBody>
          <a:bodyPr wrap="square" lIns="0" tIns="0" rIns="0" bIns="0" rtlCol="0" anchor="b"/>
          <a:lstStyle/>
          <a:p>
            <a:pPr algn="ctr" indent="0" marL="0">
              <a:buNone/>
            </a:pPr>
            <a:r>
              <a:rPr lang="en-US" sz="1050" b="1" dirty="0">
                <a:solidFill>
                  <a:srgbClr val="0C1A2B"/>
                </a:solidFill>
                <a:latin typeface="Nunito Sans" pitchFamily="34" charset="0"/>
                <a:ea typeface="Nunito Sans" pitchFamily="34" charset="-122"/>
                <a:cs typeface="Nunito Sans" pitchFamily="34" charset="-120"/>
              </a:rPr>
              <a:t>22%</a:t>
            </a:r>
            <a:endParaRPr lang="en-US" sz="1050" dirty="0"/>
          </a:p>
        </p:txBody>
      </p:sp>
      <p:sp>
        <p:nvSpPr>
          <p:cNvPr id="67" name="Text 64"/>
          <p:cNvSpPr/>
          <p:nvPr/>
        </p:nvSpPr>
        <p:spPr>
          <a:xfrm>
            <a:off x="2798064" y="5797296"/>
            <a:ext cx="877824" cy="237744"/>
          </a:xfrm>
          <a:prstGeom prst="rect">
            <a:avLst/>
          </a:prstGeom>
          <a:noFill/>
          <a:ln/>
        </p:spPr>
        <p:txBody>
          <a:bodyPr wrap="square" lIns="0" tIns="0" rIns="0" bIns="0" rtlCol="0" anchor="t"/>
          <a:lstStyle/>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Fatalists</a:t>
            </a:r>
            <a:endParaRPr lang="en-US" sz="850" dirty="0"/>
          </a:p>
        </p:txBody>
      </p:sp>
      <p:sp>
        <p:nvSpPr>
          <p:cNvPr id="68" name="Shape 65"/>
          <p:cNvSpPr/>
          <p:nvPr/>
        </p:nvSpPr>
        <p:spPr>
          <a:xfrm>
            <a:off x="3831336" y="5654532"/>
            <a:ext cx="786384" cy="106188"/>
          </a:xfrm>
          <a:prstGeom prst="roundRect">
            <a:avLst>
              <a:gd name="adj" fmla="val 43056"/>
            </a:avLst>
          </a:prstGeom>
          <a:solidFill>
            <a:srgbClr val="B5AD9C"/>
          </a:solidFill>
          <a:ln w="12700">
            <a:solidFill>
              <a:srgbClr val="333333"/>
            </a:solidFill>
            <a:prstDash val="solid"/>
          </a:ln>
        </p:spPr>
      </p:sp>
      <p:sp>
        <p:nvSpPr>
          <p:cNvPr id="69" name="Text 66"/>
          <p:cNvSpPr/>
          <p:nvPr/>
        </p:nvSpPr>
        <p:spPr>
          <a:xfrm>
            <a:off x="3785616" y="5380212"/>
            <a:ext cx="877824" cy="237744"/>
          </a:xfrm>
          <a:prstGeom prst="rect">
            <a:avLst/>
          </a:prstGeom>
          <a:noFill/>
          <a:ln/>
        </p:spPr>
        <p:txBody>
          <a:bodyPr wrap="square" lIns="0" tIns="0" rIns="0" bIns="0" rtlCol="0" anchor="b"/>
          <a:lstStyle/>
          <a:p>
            <a:pPr algn="ctr" indent="0" marL="0">
              <a:buNone/>
            </a:pPr>
            <a:r>
              <a:rPr lang="en-US" sz="1050" b="1" dirty="0">
                <a:solidFill>
                  <a:srgbClr val="0C1A2B"/>
                </a:solidFill>
                <a:latin typeface="Nunito Sans" pitchFamily="34" charset="0"/>
                <a:ea typeface="Nunito Sans" pitchFamily="34" charset="-122"/>
                <a:cs typeface="Nunito Sans" pitchFamily="34" charset="-120"/>
              </a:rPr>
              <a:t>6%</a:t>
            </a:r>
            <a:endParaRPr lang="en-US" sz="1050" dirty="0"/>
          </a:p>
        </p:txBody>
      </p:sp>
      <p:sp>
        <p:nvSpPr>
          <p:cNvPr id="70" name="Text 67"/>
          <p:cNvSpPr/>
          <p:nvPr/>
        </p:nvSpPr>
        <p:spPr>
          <a:xfrm>
            <a:off x="3785616" y="5797296"/>
            <a:ext cx="877824" cy="237744"/>
          </a:xfrm>
          <a:prstGeom prst="rect">
            <a:avLst/>
          </a:prstGeom>
          <a:noFill/>
          <a:ln/>
        </p:spPr>
        <p:txBody>
          <a:bodyPr wrap="square" lIns="0" tIns="0" rIns="0" bIns="0" rtlCol="0" anchor="t"/>
          <a:lstStyle/>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Defaulters</a:t>
            </a:r>
            <a:endParaRPr lang="en-US" sz="850" dirty="0"/>
          </a:p>
        </p:txBody>
      </p:sp>
      <p:sp>
        <p:nvSpPr>
          <p:cNvPr id="71" name="Shape 68"/>
          <p:cNvSpPr/>
          <p:nvPr/>
        </p:nvSpPr>
        <p:spPr>
          <a:xfrm>
            <a:off x="5257800" y="3950208"/>
            <a:ext cx="6430975" cy="0"/>
          </a:xfrm>
          <a:prstGeom prst="line">
            <a:avLst/>
          </a:prstGeom>
          <a:noFill/>
          <a:ln w="12700">
            <a:solidFill>
              <a:srgbClr val="3A5D97"/>
            </a:solidFill>
            <a:prstDash val="solid"/>
          </a:ln>
        </p:spPr>
      </p:sp>
      <p:sp>
        <p:nvSpPr>
          <p:cNvPr id="72" name="Text 69"/>
          <p:cNvSpPr/>
          <p:nvPr/>
        </p:nvSpPr>
        <p:spPr>
          <a:xfrm>
            <a:off x="5257800" y="3995928"/>
            <a:ext cx="6430975"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THE TRUST WALL, NOT THE WALLET WALL</a:t>
            </a:r>
            <a:endParaRPr lang="en-US" sz="900" dirty="0"/>
          </a:p>
        </p:txBody>
      </p:sp>
      <p:sp>
        <p:nvSpPr>
          <p:cNvPr id="73" name="Text 70"/>
          <p:cNvSpPr/>
          <p:nvPr/>
        </p:nvSpPr>
        <p:spPr>
          <a:xfrm>
            <a:off x="5257800" y="4242816"/>
            <a:ext cx="6430975" cy="914400"/>
          </a:xfrm>
          <a:prstGeom prst="rect">
            <a:avLst/>
          </a:prstGeom>
          <a:noFill/>
          <a:ln/>
        </p:spPr>
        <p:txBody>
          <a:bodyPr wrap="square" lIns="0" tIns="0" rIns="0" bIns="0" rtlCol="0" anchor="t"/>
          <a:lstStyle/>
          <a:p>
            <a:pPr marL="342900" indent="-342900">
              <a:spcAft>
                <a:spcPts val="400"/>
              </a:spcAft>
              <a:buSzPct val="100000"/>
              <a:buChar char="•"/>
            </a:pPr>
            <a:r>
              <a:rPr lang="en-US" sz="900" dirty="0">
                <a:solidFill>
                  <a:srgbClr val="54606F"/>
                </a:solidFill>
                <a:latin typeface="Nunito Sans" pitchFamily="34" charset="0"/>
                <a:ea typeface="Nunito Sans" pitchFamily="34" charset="-122"/>
                <a:cs typeface="Nunito Sans" pitchFamily="34" charset="-120"/>
              </a:rPr>
              <a:t>Roughly half of every category’s buyers say they would pay nothing extra — and give the reason: they do not trust the claims</a:t>
            </a:r>
            <a:endParaRPr lang="en-US" sz="900" dirty="0"/>
          </a:p>
          <a:p>
            <a:pPr marL="342900" indent="-342900">
              <a:spcAft>
                <a:spcPts val="400"/>
              </a:spcAft>
              <a:buSzPct val="100000"/>
              <a:buChar char="•"/>
            </a:pPr>
            <a:r>
              <a:rPr lang="en-US" sz="900" dirty="0">
                <a:solidFill>
                  <a:srgbClr val="54606F"/>
                </a:solidFill>
                <a:latin typeface="Nunito Sans" pitchFamily="34" charset="0"/>
                <a:ea typeface="Nunito Sans" pitchFamily="34" charset="-122"/>
                <a:cs typeface="Nunito Sans" pitchFamily="34" charset="-120"/>
              </a:rPr>
              <a:t>44% sit inside a +10–20% corridor; only 5% accept 21–30%</a:t>
            </a:r>
            <a:endParaRPr lang="en-US" sz="900" dirty="0"/>
          </a:p>
          <a:p>
            <a:pPr marL="342900" indent="-342900">
              <a:spcAft>
                <a:spcPts val="400"/>
              </a:spcAft>
              <a:buSzPct val="100000"/>
              <a:buChar char="•"/>
            </a:pPr>
            <a:r>
              <a:rPr lang="en-US" sz="900" dirty="0">
                <a:solidFill>
                  <a:srgbClr val="54606F"/>
                </a:solidFill>
                <a:latin typeface="Nunito Sans" pitchFamily="34" charset="0"/>
                <a:ea typeface="Nunito Sans" pitchFamily="34" charset="-122"/>
                <a:cs typeface="Nunito Sans" pitchFamily="34" charset="-120"/>
              </a:rPr>
              <a:t>Yet 60% say they would pay 20–30% more if someone they trusted had independently verified it. Stated willingness to pay under distrust is a floor, not a ceiling</a:t>
            </a:r>
            <a:endParaRPr lang="en-US" sz="900" dirty="0"/>
          </a:p>
        </p:txBody>
      </p:sp>
      <p:sp>
        <p:nvSpPr>
          <p:cNvPr id="74" name="Shape 71"/>
          <p:cNvSpPr/>
          <p:nvPr/>
        </p:nvSpPr>
        <p:spPr>
          <a:xfrm>
            <a:off x="5257800" y="5248656"/>
            <a:ext cx="6430975" cy="914400"/>
          </a:xfrm>
          <a:prstGeom prst="roundRect">
            <a:avLst>
              <a:gd name="adj" fmla="val 10000"/>
            </a:avLst>
          </a:prstGeom>
          <a:solidFill>
            <a:srgbClr val="FAF0DA"/>
          </a:solidFill>
          <a:ln w="6350">
            <a:solidFill>
              <a:srgbClr val="FAF0DA"/>
            </a:solidFill>
            <a:prstDash val="solid"/>
          </a:ln>
        </p:spPr>
      </p:sp>
      <p:sp>
        <p:nvSpPr>
          <p:cNvPr id="75" name="Text 72"/>
          <p:cNvSpPr/>
          <p:nvPr/>
        </p:nvSpPr>
        <p:spPr>
          <a:xfrm>
            <a:off x="5458968" y="5367528"/>
            <a:ext cx="6028639" cy="402336"/>
          </a:xfrm>
          <a:prstGeom prst="rect">
            <a:avLst/>
          </a:prstGeom>
          <a:noFill/>
          <a:ln/>
        </p:spPr>
        <p:txBody>
          <a:bodyPr wrap="square" lIns="0" tIns="0" rIns="0" bIns="0" rtlCol="0" anchor="t"/>
          <a:lstStyle/>
          <a:p>
            <a:pPr indent="0" marL="0">
              <a:lnSpc>
                <a:spcPct val="102000"/>
              </a:lnSpc>
              <a:buNone/>
            </a:pPr>
            <a:r>
              <a:rPr lang="en-US" sz="1050" b="1" dirty="0">
                <a:solidFill>
                  <a:srgbClr val="9E7220"/>
                </a:solidFill>
                <a:latin typeface="Nunito Sans" pitchFamily="34" charset="0"/>
                <a:ea typeface="Nunito Sans" pitchFamily="34" charset="-122"/>
                <a:cs typeface="Nunito Sans" pitchFamily="34" charset="-120"/>
              </a:rPr>
              <a:t>PREMIUM WILLINGNESS DOES NOT TRACK INCOME.</a:t>
            </a:r>
            <a:endParaRPr lang="en-US" sz="1050" dirty="0"/>
          </a:p>
        </p:txBody>
      </p:sp>
      <p:sp>
        <p:nvSpPr>
          <p:cNvPr id="76" name="Text 73"/>
          <p:cNvSpPr/>
          <p:nvPr/>
        </p:nvSpPr>
        <p:spPr>
          <a:xfrm>
            <a:off x="5458968" y="5797296"/>
            <a:ext cx="6028639" cy="274320"/>
          </a:xfrm>
          <a:prstGeom prst="rect">
            <a:avLst/>
          </a:prstGeom>
          <a:noFill/>
          <a:ln/>
        </p:spPr>
        <p:txBody>
          <a:bodyPr wrap="square" lIns="0" tIns="0" rIns="0" bIns="0" rtlCol="0" anchor="t"/>
          <a:lstStyle/>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It peaks in the ₹60K–1L band (71%) and falls to 32% in ₹1–1.5L. Geographically, it runs from Delhi NCR at 64% down to Ahmedabad at 33% — which makes Delhi NCR the launch market on belief, not on affluence.</a:t>
            </a:r>
            <a:endParaRPr lang="en-US" sz="900" dirty="0"/>
          </a:p>
        </p:txBody>
      </p:sp>
      <p:sp>
        <p:nvSpPr>
          <p:cNvPr id="77" name="Shape 74"/>
          <p:cNvSpPr/>
          <p:nvPr/>
        </p:nvSpPr>
        <p:spPr>
          <a:xfrm>
            <a:off x="502920" y="6492240"/>
            <a:ext cx="11185855" cy="0"/>
          </a:xfrm>
          <a:prstGeom prst="line">
            <a:avLst/>
          </a:prstGeom>
          <a:noFill/>
          <a:ln w="9525">
            <a:solidFill>
              <a:srgbClr val="E5DCCB"/>
            </a:solidFill>
            <a:prstDash val="solid"/>
          </a:ln>
        </p:spPr>
      </p:sp>
      <p:sp>
        <p:nvSpPr>
          <p:cNvPr id="78" name="Text 75"/>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THE CONSUMER</a:t>
            </a:r>
            <a:endParaRPr lang="en-US" sz="800" dirty="0"/>
          </a:p>
        </p:txBody>
      </p:sp>
      <p:sp>
        <p:nvSpPr>
          <p:cNvPr id="79" name="Text 76"/>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09</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2070202"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2070202"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THE BUYER PERSONAS</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500" dirty="0">
                <a:solidFill>
                  <a:srgbClr val="0C1A2B"/>
                </a:solidFill>
                <a:latin typeface="Archivo Black" pitchFamily="34" charset="0"/>
                <a:ea typeface="Archivo Black" pitchFamily="34" charset="-122"/>
                <a:cs typeface="Archivo Black" pitchFamily="34" charset="-120"/>
              </a:rPr>
              <a:t>The Buyer Personas</a:t>
            </a:r>
            <a:endParaRPr lang="en-US" sz="2500" dirty="0"/>
          </a:p>
        </p:txBody>
      </p:sp>
      <p:sp>
        <p:nvSpPr>
          <p:cNvPr id="6" name="Shape 3"/>
          <p:cNvSpPr/>
          <p:nvPr/>
        </p:nvSpPr>
        <p:spPr>
          <a:xfrm>
            <a:off x="502920" y="1463040"/>
            <a:ext cx="2631872" cy="4224528"/>
          </a:xfrm>
          <a:prstGeom prst="roundRect">
            <a:avLst>
              <a:gd name="adj" fmla="val 3474"/>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7" name="Shape 4"/>
          <p:cNvSpPr/>
          <p:nvPr/>
        </p:nvSpPr>
        <p:spPr>
          <a:xfrm>
            <a:off x="502920" y="1463040"/>
            <a:ext cx="2631872" cy="45720"/>
          </a:xfrm>
          <a:prstGeom prst="rect">
            <a:avLst/>
          </a:prstGeom>
          <a:solidFill>
            <a:srgbClr val="3A5D97"/>
          </a:solidFill>
          <a:ln w="5080">
            <a:solidFill>
              <a:srgbClr val="3A5D97"/>
            </a:solidFill>
            <a:prstDash val="solid"/>
          </a:ln>
        </p:spPr>
      </p:sp>
      <p:sp>
        <p:nvSpPr>
          <p:cNvPr id="8" name="Shape 5"/>
          <p:cNvSpPr/>
          <p:nvPr/>
        </p:nvSpPr>
        <p:spPr>
          <a:xfrm>
            <a:off x="685800" y="1627632"/>
            <a:ext cx="493776" cy="493776"/>
          </a:xfrm>
          <a:prstGeom prst="ellipse">
            <a:avLst/>
          </a:prstGeom>
          <a:solidFill>
            <a:srgbClr val="3A5D97"/>
          </a:solidFill>
          <a:ln w="5080">
            <a:solidFill>
              <a:srgbClr val="3A5D97"/>
            </a:solidFill>
            <a:prstDash val="solid"/>
          </a:ln>
        </p:spPr>
      </p:sp>
      <p:sp>
        <p:nvSpPr>
          <p:cNvPr id="9" name="Text 6"/>
          <p:cNvSpPr/>
          <p:nvPr/>
        </p:nvSpPr>
        <p:spPr>
          <a:xfrm>
            <a:off x="685800" y="1627632"/>
            <a:ext cx="493776" cy="493776"/>
          </a:xfrm>
          <a:prstGeom prst="rect">
            <a:avLst/>
          </a:prstGeom>
          <a:noFill/>
          <a:ln/>
        </p:spPr>
        <p:txBody>
          <a:bodyPr wrap="square" lIns="0" tIns="0" rIns="0" bIns="0" rtlCol="0" anchor="ctr"/>
          <a:lstStyle/>
          <a:p>
            <a:pPr algn="ctr" indent="0" marL="0">
              <a:buNone/>
            </a:pPr>
            <a:r>
              <a:rPr lang="en-US" sz="1400" dirty="0">
                <a:solidFill>
                  <a:srgbClr val="FFFFFF"/>
                </a:solidFill>
                <a:latin typeface="Archivo Black" pitchFamily="34" charset="0"/>
                <a:ea typeface="Archivo Black" pitchFamily="34" charset="-122"/>
                <a:cs typeface="Archivo Black" pitchFamily="34" charset="-120"/>
              </a:rPr>
              <a:t>V</a:t>
            </a:r>
            <a:endParaRPr lang="en-US" sz="1400" dirty="0"/>
          </a:p>
        </p:txBody>
      </p:sp>
      <p:sp>
        <p:nvSpPr>
          <p:cNvPr id="10" name="Text 7"/>
          <p:cNvSpPr/>
          <p:nvPr/>
        </p:nvSpPr>
        <p:spPr>
          <a:xfrm>
            <a:off x="1289304" y="1645920"/>
            <a:ext cx="1662608" cy="237744"/>
          </a:xfrm>
          <a:prstGeom prst="rect">
            <a:avLst/>
          </a:prstGeom>
          <a:noFill/>
          <a:ln/>
        </p:spPr>
        <p:txBody>
          <a:bodyPr wrap="square" lIns="0" tIns="0" rIns="0" bIns="0" rtlCol="0" anchor="ctr"/>
          <a:lstStyle/>
          <a:p>
            <a:pPr indent="0" marL="0">
              <a:buNone/>
            </a:pPr>
            <a:r>
              <a:rPr lang="en-US" sz="1200" b="1" dirty="0">
                <a:solidFill>
                  <a:srgbClr val="0C1A2B"/>
                </a:solidFill>
                <a:latin typeface="Nunito Sans" pitchFamily="34" charset="0"/>
                <a:ea typeface="Nunito Sans" pitchFamily="34" charset="-122"/>
                <a:cs typeface="Nunito Sans" pitchFamily="34" charset="-120"/>
              </a:rPr>
              <a:t>Vandana Iyer</a:t>
            </a:r>
            <a:endParaRPr lang="en-US" sz="1200" dirty="0"/>
          </a:p>
        </p:txBody>
      </p:sp>
      <p:sp>
        <p:nvSpPr>
          <p:cNvPr id="11" name="Text 8"/>
          <p:cNvSpPr/>
          <p:nvPr/>
        </p:nvSpPr>
        <p:spPr>
          <a:xfrm>
            <a:off x="1289304" y="1883664"/>
            <a:ext cx="1662608" cy="219456"/>
          </a:xfrm>
          <a:prstGeom prst="rect">
            <a:avLst/>
          </a:prstGeom>
          <a:noFill/>
          <a:ln/>
        </p:spPr>
        <p:txBody>
          <a:bodyPr wrap="square" lIns="0" tIns="0" rIns="0" bIns="0" rtlCol="0" anchor="ctr"/>
          <a:lstStyle/>
          <a:p>
            <a:pPr indent="0" marL="0">
              <a:buNone/>
            </a:pPr>
            <a:r>
              <a:rPr lang="en-US" sz="800" b="1" spc="80" kern="0" dirty="0">
                <a:solidFill>
                  <a:srgbClr val="3A5D97"/>
                </a:solidFill>
                <a:latin typeface="Nunito Sans" pitchFamily="34" charset="0"/>
                <a:ea typeface="Nunito Sans" pitchFamily="34" charset="-122"/>
                <a:cs typeface="Nunito Sans" pitchFamily="34" charset="-120"/>
              </a:rPr>
              <a:t>THE VERIFIER  ·  36%</a:t>
            </a:r>
            <a:endParaRPr lang="en-US" sz="800" dirty="0"/>
          </a:p>
        </p:txBody>
      </p:sp>
      <p:sp>
        <p:nvSpPr>
          <p:cNvPr id="12" name="Text 9"/>
          <p:cNvSpPr/>
          <p:nvPr/>
        </p:nvSpPr>
        <p:spPr>
          <a:xfrm>
            <a:off x="685800" y="2212848"/>
            <a:ext cx="2266112" cy="201168"/>
          </a:xfrm>
          <a:prstGeom prst="rect">
            <a:avLst/>
          </a:prstGeom>
          <a:noFill/>
          <a:ln/>
        </p:spPr>
        <p:txBody>
          <a:bodyPr wrap="square" lIns="0" tIns="0" rIns="0" bIns="0" rtlCol="0" anchor="ctr"/>
          <a:lstStyle/>
          <a:p>
            <a:pPr indent="0" marL="0">
              <a:buNone/>
            </a:pPr>
            <a:r>
              <a:rPr lang="en-US" sz="800" b="1" spc="120" kern="0" dirty="0">
                <a:solidFill>
                  <a:srgbClr val="8B95A2"/>
                </a:solidFill>
                <a:latin typeface="Nunito Sans" pitchFamily="34" charset="0"/>
                <a:ea typeface="Nunito Sans" pitchFamily="34" charset="-122"/>
                <a:cs typeface="Nunito Sans" pitchFamily="34" charset="-120"/>
              </a:rPr>
              <a:t>PROOF-HUNGRY GUARDIAN</a:t>
            </a:r>
            <a:endParaRPr lang="en-US" sz="800" dirty="0"/>
          </a:p>
        </p:txBody>
      </p:sp>
      <p:sp>
        <p:nvSpPr>
          <p:cNvPr id="13" name="Text 10"/>
          <p:cNvSpPr/>
          <p:nvPr/>
        </p:nvSpPr>
        <p:spPr>
          <a:xfrm>
            <a:off x="685800" y="2432304"/>
            <a:ext cx="2266112" cy="822960"/>
          </a:xfrm>
          <a:prstGeom prst="rect">
            <a:avLst/>
          </a:prstGeom>
          <a:noFill/>
          <a:ln/>
        </p:spPr>
        <p:txBody>
          <a:bodyPr wrap="square" lIns="0" tIns="0" rIns="0" bIns="0" rtlCol="0" anchor="t"/>
          <a:lstStyle/>
          <a:p>
            <a:pPr indent="0" marL="0">
              <a:lnSpc>
                <a:spcPct val="106000"/>
              </a:lnSpc>
              <a:buNone/>
            </a:pPr>
            <a:r>
              <a:rPr lang="en-US" sz="850" i="1" dirty="0">
                <a:solidFill>
                  <a:srgbClr val="0C1A2B"/>
                </a:solidFill>
                <a:latin typeface="Nunito Sans" pitchFamily="34" charset="0"/>
                <a:ea typeface="Nunito Sans" pitchFamily="34" charset="-122"/>
                <a:cs typeface="Nunito Sans" pitchFamily="34" charset="-120"/>
              </a:rPr>
              <a:t>“The word organic on a label means nothing to me anymore. Show me the actual test report for this batch and I'll happily pay more.”</a:t>
            </a:r>
            <a:endParaRPr lang="en-US" sz="850" dirty="0"/>
          </a:p>
        </p:txBody>
      </p:sp>
      <p:sp>
        <p:nvSpPr>
          <p:cNvPr id="14" name="Shape 11"/>
          <p:cNvSpPr/>
          <p:nvPr/>
        </p:nvSpPr>
        <p:spPr>
          <a:xfrm>
            <a:off x="685800" y="3310128"/>
            <a:ext cx="2266112" cy="0"/>
          </a:xfrm>
          <a:prstGeom prst="line">
            <a:avLst/>
          </a:prstGeom>
          <a:noFill/>
          <a:ln w="7620">
            <a:solidFill>
              <a:srgbClr val="E5DCCB"/>
            </a:solidFill>
            <a:prstDash val="dash"/>
          </a:ln>
        </p:spPr>
      </p:sp>
      <p:sp>
        <p:nvSpPr>
          <p:cNvPr id="15" name="Text 12"/>
          <p:cNvSpPr/>
          <p:nvPr/>
        </p:nvSpPr>
        <p:spPr>
          <a:xfrm>
            <a:off x="685800" y="3383280"/>
            <a:ext cx="2266112" cy="219456"/>
          </a:xfrm>
          <a:prstGeom prst="rect">
            <a:avLst/>
          </a:prstGeom>
          <a:noFill/>
          <a:ln/>
        </p:spPr>
        <p:txBody>
          <a:bodyPr wrap="square" lIns="0" tIns="0" rIns="0" bIns="0" rtlCol="0" anchor="ctr"/>
          <a:lstStyle/>
          <a:p>
            <a:pPr indent="0" marL="0">
              <a:buNone/>
            </a:pPr>
            <a:r>
              <a:rPr lang="en-US" sz="950" b="1" spc="180" kern="0" dirty="0">
                <a:solidFill>
                  <a:srgbClr val="8B95A2"/>
                </a:solidFill>
                <a:latin typeface="Nunito Sans" pitchFamily="34" charset="0"/>
                <a:ea typeface="Nunito Sans" pitchFamily="34" charset="-122"/>
                <a:cs typeface="Nunito Sans" pitchFamily="34" charset="-120"/>
              </a:rPr>
              <a:t>PROFILE</a:t>
            </a:r>
            <a:endParaRPr lang="en-US" sz="950" dirty="0"/>
          </a:p>
        </p:txBody>
      </p:sp>
      <p:sp>
        <p:nvSpPr>
          <p:cNvPr id="16" name="Text 13"/>
          <p:cNvSpPr/>
          <p:nvPr/>
        </p:nvSpPr>
        <p:spPr>
          <a:xfrm>
            <a:off x="685800" y="3584448"/>
            <a:ext cx="2266112" cy="530352"/>
          </a:xfrm>
          <a:prstGeom prst="rect">
            <a:avLst/>
          </a:prstGeom>
          <a:noFill/>
          <a:ln/>
        </p:spPr>
        <p:txBody>
          <a:bodyPr wrap="square" lIns="0" tIns="0" rIns="0" bIns="0" rtlCol="0" anchor="t"/>
          <a:lstStyle/>
          <a:p>
            <a:pPr indent="0" marL="0">
              <a:lnSpc>
                <a:spcPct val="108000"/>
              </a:lnSpc>
              <a:buNone/>
            </a:pPr>
            <a:r>
              <a:rPr lang="en-US" sz="800" dirty="0">
                <a:solidFill>
                  <a:srgbClr val="54606F"/>
                </a:solidFill>
                <a:latin typeface="Nunito Sans" pitchFamily="34" charset="0"/>
                <a:ea typeface="Nunito Sans" pitchFamily="34" charset="-122"/>
                <a:cs typeface="Nunito Sans" pitchFamily="34" charset="-120"/>
              </a:rPr>
              <a:t>34–45 · postgraduate · senior professional · nuclear family with young children · ₹1.5–2.5L+/month · Tier-1 metro</a:t>
            </a:r>
            <a:endParaRPr lang="en-US" sz="800" dirty="0"/>
          </a:p>
        </p:txBody>
      </p:sp>
      <p:sp>
        <p:nvSpPr>
          <p:cNvPr id="17" name="Text 14"/>
          <p:cNvSpPr/>
          <p:nvPr/>
        </p:nvSpPr>
        <p:spPr>
          <a:xfrm>
            <a:off x="685800" y="4151376"/>
            <a:ext cx="2266112" cy="219456"/>
          </a:xfrm>
          <a:prstGeom prst="rect">
            <a:avLst/>
          </a:prstGeom>
          <a:noFill/>
          <a:ln/>
        </p:spPr>
        <p:txBody>
          <a:bodyPr wrap="square" lIns="0" tIns="0" rIns="0" bIns="0" rtlCol="0" anchor="ctr"/>
          <a:lstStyle/>
          <a:p>
            <a:pPr indent="0" marL="0">
              <a:buNone/>
            </a:pPr>
            <a:r>
              <a:rPr lang="en-US" sz="950" b="1" spc="180" kern="0" dirty="0">
                <a:solidFill>
                  <a:srgbClr val="177A46"/>
                </a:solidFill>
                <a:latin typeface="Nunito Sans" pitchFamily="34" charset="0"/>
                <a:ea typeface="Nunito Sans" pitchFamily="34" charset="-122"/>
                <a:cs typeface="Nunito Sans" pitchFamily="34" charset="-120"/>
              </a:rPr>
              <a:t>WHAT CONVERTS HER / HIM</a:t>
            </a:r>
            <a:endParaRPr lang="en-US" sz="950" dirty="0"/>
          </a:p>
        </p:txBody>
      </p:sp>
      <p:sp>
        <p:nvSpPr>
          <p:cNvPr id="18" name="Text 15"/>
          <p:cNvSpPr/>
          <p:nvPr/>
        </p:nvSpPr>
        <p:spPr>
          <a:xfrm>
            <a:off x="685800" y="4352544"/>
            <a:ext cx="2266112" cy="530352"/>
          </a:xfrm>
          <a:prstGeom prst="rect">
            <a:avLst/>
          </a:prstGeom>
          <a:noFill/>
          <a:ln/>
        </p:spPr>
        <p:txBody>
          <a:bodyPr wrap="square" lIns="0" tIns="0" rIns="0" bIns="0" rtlCol="0" anchor="t"/>
          <a:lstStyle/>
          <a:p>
            <a:pPr indent="0" marL="0">
              <a:lnSpc>
                <a:spcPct val="108000"/>
              </a:lnSpc>
              <a:buNone/>
            </a:pPr>
            <a:r>
              <a:rPr lang="en-US" sz="800" dirty="0">
                <a:solidFill>
                  <a:srgbClr val="54606F"/>
                </a:solidFill>
                <a:latin typeface="Nunito Sans" pitchFamily="34" charset="0"/>
                <a:ea typeface="Nunito Sans" pitchFamily="34" charset="-122"/>
                <a:cs typeface="Nunito Sans" pitchFamily="34" charset="-120"/>
              </a:rPr>
              <a:t>Batch-specific lab report by QR; "below detectable limits"; a specialist who has personally reviewed it</a:t>
            </a:r>
            <a:endParaRPr lang="en-US" sz="800" dirty="0"/>
          </a:p>
        </p:txBody>
      </p:sp>
      <p:sp>
        <p:nvSpPr>
          <p:cNvPr id="19" name="Text 16"/>
          <p:cNvSpPr/>
          <p:nvPr/>
        </p:nvSpPr>
        <p:spPr>
          <a:xfrm>
            <a:off x="685800" y="4919472"/>
            <a:ext cx="2266112" cy="219456"/>
          </a:xfrm>
          <a:prstGeom prst="rect">
            <a:avLst/>
          </a:prstGeom>
          <a:noFill/>
          <a:ln/>
        </p:spPr>
        <p:txBody>
          <a:bodyPr wrap="square" lIns="0" tIns="0" rIns="0" bIns="0" rtlCol="0" anchor="ctr"/>
          <a:lstStyle/>
          <a:p>
            <a:pPr indent="0" marL="0">
              <a:buNone/>
            </a:pPr>
            <a:r>
              <a:rPr lang="en-US" sz="950" b="1" spc="180" kern="0" dirty="0">
                <a:solidFill>
                  <a:srgbClr val="9E3A24"/>
                </a:solidFill>
                <a:latin typeface="Nunito Sans" pitchFamily="34" charset="0"/>
                <a:ea typeface="Nunito Sans" pitchFamily="34" charset="-122"/>
                <a:cs typeface="Nunito Sans" pitchFamily="34" charset="-120"/>
              </a:rPr>
              <a:t>WHAT BLOCKS THE SALE</a:t>
            </a:r>
            <a:endParaRPr lang="en-US" sz="950" dirty="0"/>
          </a:p>
        </p:txBody>
      </p:sp>
      <p:sp>
        <p:nvSpPr>
          <p:cNvPr id="20" name="Text 17"/>
          <p:cNvSpPr/>
          <p:nvPr/>
        </p:nvSpPr>
        <p:spPr>
          <a:xfrm>
            <a:off x="685800" y="5120640"/>
            <a:ext cx="2266112" cy="530352"/>
          </a:xfrm>
          <a:prstGeom prst="rect">
            <a:avLst/>
          </a:prstGeom>
          <a:noFill/>
          <a:ln/>
        </p:spPr>
        <p:txBody>
          <a:bodyPr wrap="square" lIns="0" tIns="0" rIns="0" bIns="0" rtlCol="0" anchor="t"/>
          <a:lstStyle/>
          <a:p>
            <a:pPr indent="0" marL="0">
              <a:lnSpc>
                <a:spcPct val="108000"/>
              </a:lnSpc>
              <a:buNone/>
            </a:pPr>
            <a:r>
              <a:rPr lang="en-US" sz="800" dirty="0">
                <a:solidFill>
                  <a:srgbClr val="54606F"/>
                </a:solidFill>
                <a:latin typeface="Nunito Sans" pitchFamily="34" charset="0"/>
                <a:ea typeface="Nunito Sans" pitchFamily="34" charset="-122"/>
                <a:cs typeface="Nunito Sans" pitchFamily="34" charset="-120"/>
              </a:rPr>
              <a:t>No way to verify independently; greenwashing fatigue; a scan, not a research project</a:t>
            </a:r>
            <a:endParaRPr lang="en-US" sz="800" dirty="0"/>
          </a:p>
        </p:txBody>
      </p:sp>
      <p:sp>
        <p:nvSpPr>
          <p:cNvPr id="21" name="Shape 18"/>
          <p:cNvSpPr/>
          <p:nvPr/>
        </p:nvSpPr>
        <p:spPr>
          <a:xfrm>
            <a:off x="3354248" y="1463040"/>
            <a:ext cx="2631872" cy="4224528"/>
          </a:xfrm>
          <a:prstGeom prst="roundRect">
            <a:avLst>
              <a:gd name="adj" fmla="val 3474"/>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22" name="Shape 19"/>
          <p:cNvSpPr/>
          <p:nvPr/>
        </p:nvSpPr>
        <p:spPr>
          <a:xfrm>
            <a:off x="3354248" y="1463040"/>
            <a:ext cx="2631872" cy="45720"/>
          </a:xfrm>
          <a:prstGeom prst="rect">
            <a:avLst/>
          </a:prstGeom>
          <a:solidFill>
            <a:srgbClr val="177A46"/>
          </a:solidFill>
          <a:ln w="5080">
            <a:solidFill>
              <a:srgbClr val="177A46"/>
            </a:solidFill>
            <a:prstDash val="solid"/>
          </a:ln>
        </p:spPr>
      </p:sp>
      <p:sp>
        <p:nvSpPr>
          <p:cNvPr id="23" name="Shape 20"/>
          <p:cNvSpPr/>
          <p:nvPr/>
        </p:nvSpPr>
        <p:spPr>
          <a:xfrm>
            <a:off x="3537128" y="1627632"/>
            <a:ext cx="493776" cy="493776"/>
          </a:xfrm>
          <a:prstGeom prst="ellipse">
            <a:avLst/>
          </a:prstGeom>
          <a:solidFill>
            <a:srgbClr val="177A46"/>
          </a:solidFill>
          <a:ln w="5080">
            <a:solidFill>
              <a:srgbClr val="177A46"/>
            </a:solidFill>
            <a:prstDash val="solid"/>
          </a:ln>
        </p:spPr>
      </p:sp>
      <p:sp>
        <p:nvSpPr>
          <p:cNvPr id="24" name="Text 21"/>
          <p:cNvSpPr/>
          <p:nvPr/>
        </p:nvSpPr>
        <p:spPr>
          <a:xfrm>
            <a:off x="3537128" y="1627632"/>
            <a:ext cx="493776" cy="493776"/>
          </a:xfrm>
          <a:prstGeom prst="rect">
            <a:avLst/>
          </a:prstGeom>
          <a:noFill/>
          <a:ln/>
        </p:spPr>
        <p:txBody>
          <a:bodyPr wrap="square" lIns="0" tIns="0" rIns="0" bIns="0" rtlCol="0" anchor="ctr"/>
          <a:lstStyle/>
          <a:p>
            <a:pPr algn="ctr" indent="0" marL="0">
              <a:buNone/>
            </a:pPr>
            <a:r>
              <a:rPr lang="en-US" sz="1400" dirty="0">
                <a:solidFill>
                  <a:srgbClr val="FFFFFF"/>
                </a:solidFill>
                <a:latin typeface="Archivo Black" pitchFamily="34" charset="0"/>
                <a:ea typeface="Archivo Black" pitchFamily="34" charset="-122"/>
                <a:cs typeface="Archivo Black" pitchFamily="34" charset="-120"/>
              </a:rPr>
              <a:t>M</a:t>
            </a:r>
            <a:endParaRPr lang="en-US" sz="1400" dirty="0"/>
          </a:p>
        </p:txBody>
      </p:sp>
      <p:sp>
        <p:nvSpPr>
          <p:cNvPr id="25" name="Text 22"/>
          <p:cNvSpPr/>
          <p:nvPr/>
        </p:nvSpPr>
        <p:spPr>
          <a:xfrm>
            <a:off x="4140632" y="1645920"/>
            <a:ext cx="1662608" cy="237744"/>
          </a:xfrm>
          <a:prstGeom prst="rect">
            <a:avLst/>
          </a:prstGeom>
          <a:noFill/>
          <a:ln/>
        </p:spPr>
        <p:txBody>
          <a:bodyPr wrap="square" lIns="0" tIns="0" rIns="0" bIns="0" rtlCol="0" anchor="ctr"/>
          <a:lstStyle/>
          <a:p>
            <a:pPr indent="0" marL="0">
              <a:buNone/>
            </a:pPr>
            <a:r>
              <a:rPr lang="en-US" sz="1200" b="1" dirty="0">
                <a:solidFill>
                  <a:srgbClr val="0C1A2B"/>
                </a:solidFill>
                <a:latin typeface="Nunito Sans" pitchFamily="34" charset="0"/>
                <a:ea typeface="Nunito Sans" pitchFamily="34" charset="-122"/>
                <a:cs typeface="Nunito Sans" pitchFamily="34" charset="-120"/>
              </a:rPr>
              <a:t>Meera Nair</a:t>
            </a:r>
            <a:endParaRPr lang="en-US" sz="1200" dirty="0"/>
          </a:p>
        </p:txBody>
      </p:sp>
      <p:sp>
        <p:nvSpPr>
          <p:cNvPr id="26" name="Text 23"/>
          <p:cNvSpPr/>
          <p:nvPr/>
        </p:nvSpPr>
        <p:spPr>
          <a:xfrm>
            <a:off x="4140632" y="1883664"/>
            <a:ext cx="1662608" cy="219456"/>
          </a:xfrm>
          <a:prstGeom prst="rect">
            <a:avLst/>
          </a:prstGeom>
          <a:noFill/>
          <a:ln/>
        </p:spPr>
        <p:txBody>
          <a:bodyPr wrap="square" lIns="0" tIns="0" rIns="0" bIns="0" rtlCol="0" anchor="ctr"/>
          <a:lstStyle/>
          <a:p>
            <a:pPr indent="0" marL="0">
              <a:buNone/>
            </a:pPr>
            <a:r>
              <a:rPr lang="en-US" sz="800" b="1" spc="80" kern="0" dirty="0">
                <a:solidFill>
                  <a:srgbClr val="177A46"/>
                </a:solidFill>
                <a:latin typeface="Nunito Sans" pitchFamily="34" charset="0"/>
                <a:ea typeface="Nunito Sans" pitchFamily="34" charset="-122"/>
                <a:cs typeface="Nunito Sans" pitchFamily="34" charset="-120"/>
              </a:rPr>
              <a:t>THE BELIEVER  ·  20%</a:t>
            </a:r>
            <a:endParaRPr lang="en-US" sz="800" dirty="0"/>
          </a:p>
        </p:txBody>
      </p:sp>
      <p:sp>
        <p:nvSpPr>
          <p:cNvPr id="27" name="Text 24"/>
          <p:cNvSpPr/>
          <p:nvPr/>
        </p:nvSpPr>
        <p:spPr>
          <a:xfrm>
            <a:off x="3537128" y="2212848"/>
            <a:ext cx="2266112" cy="201168"/>
          </a:xfrm>
          <a:prstGeom prst="rect">
            <a:avLst/>
          </a:prstGeom>
          <a:noFill/>
          <a:ln/>
        </p:spPr>
        <p:txBody>
          <a:bodyPr wrap="square" lIns="0" tIns="0" rIns="0" bIns="0" rtlCol="0" anchor="ctr"/>
          <a:lstStyle/>
          <a:p>
            <a:pPr indent="0" marL="0">
              <a:buNone/>
            </a:pPr>
            <a:r>
              <a:rPr lang="en-US" sz="800" b="1" spc="120" kern="0" dirty="0">
                <a:solidFill>
                  <a:srgbClr val="8B95A2"/>
                </a:solidFill>
                <a:latin typeface="Nunito Sans" pitchFamily="34" charset="0"/>
                <a:ea typeface="Nunito Sans" pitchFamily="34" charset="-122"/>
                <a:cs typeface="Nunito Sans" pitchFamily="34" charset="-120"/>
              </a:rPr>
              <a:t>SOCIAL TRUSTER</a:t>
            </a:r>
            <a:endParaRPr lang="en-US" sz="800" dirty="0"/>
          </a:p>
        </p:txBody>
      </p:sp>
      <p:sp>
        <p:nvSpPr>
          <p:cNvPr id="28" name="Text 25"/>
          <p:cNvSpPr/>
          <p:nvPr/>
        </p:nvSpPr>
        <p:spPr>
          <a:xfrm>
            <a:off x="3537128" y="2432304"/>
            <a:ext cx="2266112" cy="822960"/>
          </a:xfrm>
          <a:prstGeom prst="rect">
            <a:avLst/>
          </a:prstGeom>
          <a:noFill/>
          <a:ln/>
        </p:spPr>
        <p:txBody>
          <a:bodyPr wrap="square" lIns="0" tIns="0" rIns="0" bIns="0" rtlCol="0" anchor="t"/>
          <a:lstStyle/>
          <a:p>
            <a:pPr indent="0" marL="0">
              <a:lnSpc>
                <a:spcPct val="106000"/>
              </a:lnSpc>
              <a:buNone/>
            </a:pPr>
            <a:r>
              <a:rPr lang="en-US" sz="850" i="1" dirty="0">
                <a:solidFill>
                  <a:srgbClr val="0C1A2B"/>
                </a:solidFill>
                <a:latin typeface="Nunito Sans" pitchFamily="34" charset="0"/>
                <a:ea typeface="Nunito Sans" pitchFamily="34" charset="-122"/>
                <a:cs typeface="Nunito Sans" pitchFamily="34" charset="-120"/>
              </a:rPr>
              <a:t>“If my doctor and my sister both say it's good for the family, that's all the proof I need. I'm not going to scan codes and read reports.”</a:t>
            </a:r>
            <a:endParaRPr lang="en-US" sz="850" dirty="0"/>
          </a:p>
        </p:txBody>
      </p:sp>
      <p:sp>
        <p:nvSpPr>
          <p:cNvPr id="29" name="Shape 26"/>
          <p:cNvSpPr/>
          <p:nvPr/>
        </p:nvSpPr>
        <p:spPr>
          <a:xfrm>
            <a:off x="3537128" y="3310128"/>
            <a:ext cx="2266112" cy="0"/>
          </a:xfrm>
          <a:prstGeom prst="line">
            <a:avLst/>
          </a:prstGeom>
          <a:noFill/>
          <a:ln w="7620">
            <a:solidFill>
              <a:srgbClr val="E5DCCB"/>
            </a:solidFill>
            <a:prstDash val="dash"/>
          </a:ln>
        </p:spPr>
      </p:sp>
      <p:sp>
        <p:nvSpPr>
          <p:cNvPr id="30" name="Text 27"/>
          <p:cNvSpPr/>
          <p:nvPr/>
        </p:nvSpPr>
        <p:spPr>
          <a:xfrm>
            <a:off x="3537128" y="3383280"/>
            <a:ext cx="2266112" cy="219456"/>
          </a:xfrm>
          <a:prstGeom prst="rect">
            <a:avLst/>
          </a:prstGeom>
          <a:noFill/>
          <a:ln/>
        </p:spPr>
        <p:txBody>
          <a:bodyPr wrap="square" lIns="0" tIns="0" rIns="0" bIns="0" rtlCol="0" anchor="ctr"/>
          <a:lstStyle/>
          <a:p>
            <a:pPr indent="0" marL="0">
              <a:buNone/>
            </a:pPr>
            <a:r>
              <a:rPr lang="en-US" sz="950" b="1" spc="180" kern="0" dirty="0">
                <a:solidFill>
                  <a:srgbClr val="8B95A2"/>
                </a:solidFill>
                <a:latin typeface="Nunito Sans" pitchFamily="34" charset="0"/>
                <a:ea typeface="Nunito Sans" pitchFamily="34" charset="-122"/>
                <a:cs typeface="Nunito Sans" pitchFamily="34" charset="-120"/>
              </a:rPr>
              <a:t>PROFILE</a:t>
            </a:r>
            <a:endParaRPr lang="en-US" sz="950" dirty="0"/>
          </a:p>
        </p:txBody>
      </p:sp>
      <p:sp>
        <p:nvSpPr>
          <p:cNvPr id="31" name="Text 28"/>
          <p:cNvSpPr/>
          <p:nvPr/>
        </p:nvSpPr>
        <p:spPr>
          <a:xfrm>
            <a:off x="3537128" y="3584448"/>
            <a:ext cx="2266112" cy="530352"/>
          </a:xfrm>
          <a:prstGeom prst="rect">
            <a:avLst/>
          </a:prstGeom>
          <a:noFill/>
          <a:ln/>
        </p:spPr>
        <p:txBody>
          <a:bodyPr wrap="square" lIns="0" tIns="0" rIns="0" bIns="0" rtlCol="0" anchor="t"/>
          <a:lstStyle/>
          <a:p>
            <a:pPr indent="0" marL="0">
              <a:lnSpc>
                <a:spcPct val="108000"/>
              </a:lnSpc>
              <a:buNone/>
            </a:pPr>
            <a:r>
              <a:rPr lang="en-US" sz="800" dirty="0">
                <a:solidFill>
                  <a:srgbClr val="54606F"/>
                </a:solidFill>
                <a:latin typeface="Nunito Sans" pitchFamily="34" charset="0"/>
                <a:ea typeface="Nunito Sans" pitchFamily="34" charset="-122"/>
                <a:cs typeface="Nunito Sans" pitchFamily="34" charset="-120"/>
              </a:rPr>
              <a:t>30–50 · graduate · homemaker or teacher · joint or extended family · ₹1–1.5L/month · Tier-1 and Tier-2</a:t>
            </a:r>
            <a:endParaRPr lang="en-US" sz="800" dirty="0"/>
          </a:p>
        </p:txBody>
      </p:sp>
      <p:sp>
        <p:nvSpPr>
          <p:cNvPr id="32" name="Text 29"/>
          <p:cNvSpPr/>
          <p:nvPr/>
        </p:nvSpPr>
        <p:spPr>
          <a:xfrm>
            <a:off x="3537128" y="4151376"/>
            <a:ext cx="2266112" cy="219456"/>
          </a:xfrm>
          <a:prstGeom prst="rect">
            <a:avLst/>
          </a:prstGeom>
          <a:noFill/>
          <a:ln/>
        </p:spPr>
        <p:txBody>
          <a:bodyPr wrap="square" lIns="0" tIns="0" rIns="0" bIns="0" rtlCol="0" anchor="ctr"/>
          <a:lstStyle/>
          <a:p>
            <a:pPr indent="0" marL="0">
              <a:buNone/>
            </a:pPr>
            <a:r>
              <a:rPr lang="en-US" sz="950" b="1" spc="180" kern="0" dirty="0">
                <a:solidFill>
                  <a:srgbClr val="177A46"/>
                </a:solidFill>
                <a:latin typeface="Nunito Sans" pitchFamily="34" charset="0"/>
                <a:ea typeface="Nunito Sans" pitchFamily="34" charset="-122"/>
                <a:cs typeface="Nunito Sans" pitchFamily="34" charset="-120"/>
              </a:rPr>
              <a:t>WHAT CONVERTS HER / HIM</a:t>
            </a:r>
            <a:endParaRPr lang="en-US" sz="950" dirty="0"/>
          </a:p>
        </p:txBody>
      </p:sp>
      <p:sp>
        <p:nvSpPr>
          <p:cNvPr id="33" name="Text 30"/>
          <p:cNvSpPr/>
          <p:nvPr/>
        </p:nvSpPr>
        <p:spPr>
          <a:xfrm>
            <a:off x="3537128" y="4352544"/>
            <a:ext cx="2266112" cy="530352"/>
          </a:xfrm>
          <a:prstGeom prst="rect">
            <a:avLst/>
          </a:prstGeom>
          <a:noFill/>
          <a:ln/>
        </p:spPr>
        <p:txBody>
          <a:bodyPr wrap="square" lIns="0" tIns="0" rIns="0" bIns="0" rtlCol="0" anchor="t"/>
          <a:lstStyle/>
          <a:p>
            <a:pPr indent="0" marL="0">
              <a:lnSpc>
                <a:spcPct val="108000"/>
              </a:lnSpc>
              <a:buNone/>
            </a:pPr>
            <a:r>
              <a:rPr lang="en-US" sz="800" dirty="0">
                <a:solidFill>
                  <a:srgbClr val="54606F"/>
                </a:solidFill>
                <a:latin typeface="Nunito Sans" pitchFamily="34" charset="0"/>
                <a:ea typeface="Nunito Sans" pitchFamily="34" charset="-122"/>
                <a:cs typeface="Nunito Sans" pitchFamily="34" charset="-120"/>
              </a:rPr>
              <a:t>Doctor and dietitian endorsement; a trusted person already using it; warm, relatable word of mouth</a:t>
            </a:r>
            <a:endParaRPr lang="en-US" sz="800" dirty="0"/>
          </a:p>
        </p:txBody>
      </p:sp>
      <p:sp>
        <p:nvSpPr>
          <p:cNvPr id="34" name="Text 31"/>
          <p:cNvSpPr/>
          <p:nvPr/>
        </p:nvSpPr>
        <p:spPr>
          <a:xfrm>
            <a:off x="3537128" y="4919472"/>
            <a:ext cx="2266112" cy="219456"/>
          </a:xfrm>
          <a:prstGeom prst="rect">
            <a:avLst/>
          </a:prstGeom>
          <a:noFill/>
          <a:ln/>
        </p:spPr>
        <p:txBody>
          <a:bodyPr wrap="square" lIns="0" tIns="0" rIns="0" bIns="0" rtlCol="0" anchor="ctr"/>
          <a:lstStyle/>
          <a:p>
            <a:pPr indent="0" marL="0">
              <a:buNone/>
            </a:pPr>
            <a:r>
              <a:rPr lang="en-US" sz="950" b="1" spc="180" kern="0" dirty="0">
                <a:solidFill>
                  <a:srgbClr val="9E3A24"/>
                </a:solidFill>
                <a:latin typeface="Nunito Sans" pitchFamily="34" charset="0"/>
                <a:ea typeface="Nunito Sans" pitchFamily="34" charset="-122"/>
                <a:cs typeface="Nunito Sans" pitchFamily="34" charset="-120"/>
              </a:rPr>
              <a:t>WHAT BLOCKS THE SALE</a:t>
            </a:r>
            <a:endParaRPr lang="en-US" sz="950" dirty="0"/>
          </a:p>
        </p:txBody>
      </p:sp>
      <p:sp>
        <p:nvSpPr>
          <p:cNvPr id="35" name="Text 32"/>
          <p:cNvSpPr/>
          <p:nvPr/>
        </p:nvSpPr>
        <p:spPr>
          <a:xfrm>
            <a:off x="3537128" y="5120640"/>
            <a:ext cx="2266112" cy="530352"/>
          </a:xfrm>
          <a:prstGeom prst="rect">
            <a:avLst/>
          </a:prstGeom>
          <a:noFill/>
          <a:ln/>
        </p:spPr>
        <p:txBody>
          <a:bodyPr wrap="square" lIns="0" tIns="0" rIns="0" bIns="0" rtlCol="0" anchor="t"/>
          <a:lstStyle/>
          <a:p>
            <a:pPr indent="0" marL="0">
              <a:lnSpc>
                <a:spcPct val="108000"/>
              </a:lnSpc>
              <a:buNone/>
            </a:pPr>
            <a:r>
              <a:rPr lang="en-US" sz="800" dirty="0">
                <a:solidFill>
                  <a:srgbClr val="54606F"/>
                </a:solidFill>
                <a:latin typeface="Nunito Sans" pitchFamily="34" charset="0"/>
                <a:ea typeface="Nunito Sans" pitchFamily="34" charset="-122"/>
                <a:cs typeface="Nunito Sans" pitchFamily="34" charset="-120"/>
              </a:rPr>
              <a:t>Clinical, jargon-heavy messaging; conflicting opinions in her circle; nobody she trusts has vouched</a:t>
            </a:r>
            <a:endParaRPr lang="en-US" sz="800" dirty="0"/>
          </a:p>
        </p:txBody>
      </p:sp>
      <p:sp>
        <p:nvSpPr>
          <p:cNvPr id="36" name="Shape 33"/>
          <p:cNvSpPr/>
          <p:nvPr/>
        </p:nvSpPr>
        <p:spPr>
          <a:xfrm>
            <a:off x="6205576" y="1463040"/>
            <a:ext cx="2631872" cy="4224528"/>
          </a:xfrm>
          <a:prstGeom prst="roundRect">
            <a:avLst>
              <a:gd name="adj" fmla="val 3474"/>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37" name="Shape 34"/>
          <p:cNvSpPr/>
          <p:nvPr/>
        </p:nvSpPr>
        <p:spPr>
          <a:xfrm>
            <a:off x="6205576" y="1463040"/>
            <a:ext cx="2631872" cy="45720"/>
          </a:xfrm>
          <a:prstGeom prst="rect">
            <a:avLst/>
          </a:prstGeom>
          <a:solidFill>
            <a:srgbClr val="8A8474"/>
          </a:solidFill>
          <a:ln w="5080">
            <a:solidFill>
              <a:srgbClr val="8A8474"/>
            </a:solidFill>
            <a:prstDash val="solid"/>
          </a:ln>
        </p:spPr>
      </p:sp>
      <p:sp>
        <p:nvSpPr>
          <p:cNvPr id="38" name="Shape 35"/>
          <p:cNvSpPr/>
          <p:nvPr/>
        </p:nvSpPr>
        <p:spPr>
          <a:xfrm>
            <a:off x="6388456" y="1627632"/>
            <a:ext cx="493776" cy="493776"/>
          </a:xfrm>
          <a:prstGeom prst="ellipse">
            <a:avLst/>
          </a:prstGeom>
          <a:solidFill>
            <a:srgbClr val="8A8474"/>
          </a:solidFill>
          <a:ln w="5080">
            <a:solidFill>
              <a:srgbClr val="8A8474"/>
            </a:solidFill>
            <a:prstDash val="solid"/>
          </a:ln>
        </p:spPr>
      </p:sp>
      <p:sp>
        <p:nvSpPr>
          <p:cNvPr id="39" name="Text 36"/>
          <p:cNvSpPr/>
          <p:nvPr/>
        </p:nvSpPr>
        <p:spPr>
          <a:xfrm>
            <a:off x="6388456" y="1627632"/>
            <a:ext cx="493776" cy="493776"/>
          </a:xfrm>
          <a:prstGeom prst="rect">
            <a:avLst/>
          </a:prstGeom>
          <a:noFill/>
          <a:ln/>
        </p:spPr>
        <p:txBody>
          <a:bodyPr wrap="square" lIns="0" tIns="0" rIns="0" bIns="0" rtlCol="0" anchor="ctr"/>
          <a:lstStyle/>
          <a:p>
            <a:pPr algn="ctr" indent="0" marL="0">
              <a:buNone/>
            </a:pPr>
            <a:r>
              <a:rPr lang="en-US" sz="1400" dirty="0">
                <a:solidFill>
                  <a:srgbClr val="FFFFFF"/>
                </a:solidFill>
                <a:latin typeface="Archivo Black" pitchFamily="34" charset="0"/>
                <a:ea typeface="Archivo Black" pitchFamily="34" charset="-122"/>
                <a:cs typeface="Archivo Black" pitchFamily="34" charset="-120"/>
              </a:rPr>
              <a:t>K</a:t>
            </a:r>
            <a:endParaRPr lang="en-US" sz="1400" dirty="0"/>
          </a:p>
        </p:txBody>
      </p:sp>
      <p:sp>
        <p:nvSpPr>
          <p:cNvPr id="40" name="Text 37"/>
          <p:cNvSpPr/>
          <p:nvPr/>
        </p:nvSpPr>
        <p:spPr>
          <a:xfrm>
            <a:off x="6991960" y="1645920"/>
            <a:ext cx="1662608" cy="237744"/>
          </a:xfrm>
          <a:prstGeom prst="rect">
            <a:avLst/>
          </a:prstGeom>
          <a:noFill/>
          <a:ln/>
        </p:spPr>
        <p:txBody>
          <a:bodyPr wrap="square" lIns="0" tIns="0" rIns="0" bIns="0" rtlCol="0" anchor="ctr"/>
          <a:lstStyle/>
          <a:p>
            <a:pPr indent="0" marL="0">
              <a:buNone/>
            </a:pPr>
            <a:r>
              <a:rPr lang="en-US" sz="1200" b="1" dirty="0">
                <a:solidFill>
                  <a:srgbClr val="0C1A2B"/>
                </a:solidFill>
                <a:latin typeface="Nunito Sans" pitchFamily="34" charset="0"/>
                <a:ea typeface="Nunito Sans" pitchFamily="34" charset="-122"/>
                <a:cs typeface="Nunito Sans" pitchFamily="34" charset="-120"/>
              </a:rPr>
              <a:t>Karan Mehta</a:t>
            </a:r>
            <a:endParaRPr lang="en-US" sz="1200" dirty="0"/>
          </a:p>
        </p:txBody>
      </p:sp>
      <p:sp>
        <p:nvSpPr>
          <p:cNvPr id="41" name="Text 38"/>
          <p:cNvSpPr/>
          <p:nvPr/>
        </p:nvSpPr>
        <p:spPr>
          <a:xfrm>
            <a:off x="6991960" y="1883664"/>
            <a:ext cx="1662608" cy="219456"/>
          </a:xfrm>
          <a:prstGeom prst="rect">
            <a:avLst/>
          </a:prstGeom>
          <a:noFill/>
          <a:ln/>
        </p:spPr>
        <p:txBody>
          <a:bodyPr wrap="square" lIns="0" tIns="0" rIns="0" bIns="0" rtlCol="0" anchor="ctr"/>
          <a:lstStyle/>
          <a:p>
            <a:pPr indent="0" marL="0">
              <a:buNone/>
            </a:pPr>
            <a:r>
              <a:rPr lang="en-US" sz="800" b="1" spc="80" kern="0" dirty="0">
                <a:solidFill>
                  <a:srgbClr val="8A8474"/>
                </a:solidFill>
                <a:latin typeface="Nunito Sans" pitchFamily="34" charset="0"/>
                <a:ea typeface="Nunito Sans" pitchFamily="34" charset="-122"/>
                <a:cs typeface="Nunito Sans" pitchFamily="34" charset="-120"/>
              </a:rPr>
              <a:t>THE CRUISE-CONTROLLER  ·  26%</a:t>
            </a:r>
            <a:endParaRPr lang="en-US" sz="800" dirty="0"/>
          </a:p>
        </p:txBody>
      </p:sp>
      <p:sp>
        <p:nvSpPr>
          <p:cNvPr id="42" name="Text 39"/>
          <p:cNvSpPr/>
          <p:nvPr/>
        </p:nvSpPr>
        <p:spPr>
          <a:xfrm>
            <a:off x="6388456" y="2212848"/>
            <a:ext cx="2266112" cy="201168"/>
          </a:xfrm>
          <a:prstGeom prst="rect">
            <a:avLst/>
          </a:prstGeom>
          <a:noFill/>
          <a:ln/>
        </p:spPr>
        <p:txBody>
          <a:bodyPr wrap="square" lIns="0" tIns="0" rIns="0" bIns="0" rtlCol="0" anchor="ctr"/>
          <a:lstStyle/>
          <a:p>
            <a:pPr indent="0" marL="0">
              <a:buNone/>
            </a:pPr>
            <a:r>
              <a:rPr lang="en-US" sz="800" b="1" spc="120" kern="0" dirty="0">
                <a:solidFill>
                  <a:srgbClr val="8B95A2"/>
                </a:solidFill>
                <a:latin typeface="Nunito Sans" pitchFamily="34" charset="0"/>
                <a:ea typeface="Nunito Sans" pitchFamily="34" charset="-122"/>
                <a:cs typeface="Nunito Sans" pitchFamily="34" charset="-120"/>
              </a:rPr>
              <a:t>PASSIVE DEFAULTER</a:t>
            </a:r>
            <a:endParaRPr lang="en-US" sz="800" dirty="0"/>
          </a:p>
        </p:txBody>
      </p:sp>
      <p:sp>
        <p:nvSpPr>
          <p:cNvPr id="43" name="Text 40"/>
          <p:cNvSpPr/>
          <p:nvPr/>
        </p:nvSpPr>
        <p:spPr>
          <a:xfrm>
            <a:off x="6388456" y="2432304"/>
            <a:ext cx="2266112" cy="822960"/>
          </a:xfrm>
          <a:prstGeom prst="rect">
            <a:avLst/>
          </a:prstGeom>
          <a:noFill/>
          <a:ln/>
        </p:spPr>
        <p:txBody>
          <a:bodyPr wrap="square" lIns="0" tIns="0" rIns="0" bIns="0" rtlCol="0" anchor="t"/>
          <a:lstStyle/>
          <a:p>
            <a:pPr indent="0" marL="0">
              <a:lnSpc>
                <a:spcPct val="106000"/>
              </a:lnSpc>
              <a:buNone/>
            </a:pPr>
            <a:r>
              <a:rPr lang="en-US" sz="850" i="1" dirty="0">
                <a:solidFill>
                  <a:srgbClr val="0C1A2B"/>
                </a:solidFill>
                <a:latin typeface="Nunito Sans" pitchFamily="34" charset="0"/>
                <a:ea typeface="Nunito Sans" pitchFamily="34" charset="-122"/>
                <a:cs typeface="Nunito Sans" pitchFamily="34" charset="-120"/>
              </a:rPr>
              <a:t>“Honestly, I just buy whatever brand I know that looks decent and isn't overpriced. Food safety isn't something I lose sleep over.”</a:t>
            </a:r>
            <a:endParaRPr lang="en-US" sz="850" dirty="0"/>
          </a:p>
        </p:txBody>
      </p:sp>
      <p:sp>
        <p:nvSpPr>
          <p:cNvPr id="44" name="Shape 41"/>
          <p:cNvSpPr/>
          <p:nvPr/>
        </p:nvSpPr>
        <p:spPr>
          <a:xfrm>
            <a:off x="6388456" y="3310128"/>
            <a:ext cx="2266112" cy="0"/>
          </a:xfrm>
          <a:prstGeom prst="line">
            <a:avLst/>
          </a:prstGeom>
          <a:noFill/>
          <a:ln w="7620">
            <a:solidFill>
              <a:srgbClr val="E5DCCB"/>
            </a:solidFill>
            <a:prstDash val="dash"/>
          </a:ln>
        </p:spPr>
      </p:sp>
      <p:sp>
        <p:nvSpPr>
          <p:cNvPr id="45" name="Text 42"/>
          <p:cNvSpPr/>
          <p:nvPr/>
        </p:nvSpPr>
        <p:spPr>
          <a:xfrm>
            <a:off x="6388456" y="3383280"/>
            <a:ext cx="2266112" cy="219456"/>
          </a:xfrm>
          <a:prstGeom prst="rect">
            <a:avLst/>
          </a:prstGeom>
          <a:noFill/>
          <a:ln/>
        </p:spPr>
        <p:txBody>
          <a:bodyPr wrap="square" lIns="0" tIns="0" rIns="0" bIns="0" rtlCol="0" anchor="ctr"/>
          <a:lstStyle/>
          <a:p>
            <a:pPr indent="0" marL="0">
              <a:buNone/>
            </a:pPr>
            <a:r>
              <a:rPr lang="en-US" sz="950" b="1" spc="180" kern="0" dirty="0">
                <a:solidFill>
                  <a:srgbClr val="8B95A2"/>
                </a:solidFill>
                <a:latin typeface="Nunito Sans" pitchFamily="34" charset="0"/>
                <a:ea typeface="Nunito Sans" pitchFamily="34" charset="-122"/>
                <a:cs typeface="Nunito Sans" pitchFamily="34" charset="-120"/>
              </a:rPr>
              <a:t>PROFILE</a:t>
            </a:r>
            <a:endParaRPr lang="en-US" sz="950" dirty="0"/>
          </a:p>
        </p:txBody>
      </p:sp>
      <p:sp>
        <p:nvSpPr>
          <p:cNvPr id="46" name="Text 43"/>
          <p:cNvSpPr/>
          <p:nvPr/>
        </p:nvSpPr>
        <p:spPr>
          <a:xfrm>
            <a:off x="6388456" y="3584448"/>
            <a:ext cx="2266112" cy="530352"/>
          </a:xfrm>
          <a:prstGeom prst="rect">
            <a:avLst/>
          </a:prstGeom>
          <a:noFill/>
          <a:ln/>
        </p:spPr>
        <p:txBody>
          <a:bodyPr wrap="square" lIns="0" tIns="0" rIns="0" bIns="0" rtlCol="0" anchor="t"/>
          <a:lstStyle/>
          <a:p>
            <a:pPr indent="0" marL="0">
              <a:lnSpc>
                <a:spcPct val="108000"/>
              </a:lnSpc>
              <a:buNone/>
            </a:pPr>
            <a:r>
              <a:rPr lang="en-US" sz="800" dirty="0">
                <a:solidFill>
                  <a:srgbClr val="54606F"/>
                </a:solidFill>
                <a:latin typeface="Nunito Sans" pitchFamily="34" charset="0"/>
                <a:ea typeface="Nunito Sans" pitchFamily="34" charset="-122"/>
                <a:cs typeface="Nunito Sans" pitchFamily="34" charset="-120"/>
              </a:rPr>
              <a:t>26–38 · graduate · IT / sales / ops professional · DINK or small family · ₹80K–1.5L/month · heavy quick-commerce user</a:t>
            </a:r>
            <a:endParaRPr lang="en-US" sz="800" dirty="0"/>
          </a:p>
        </p:txBody>
      </p:sp>
      <p:sp>
        <p:nvSpPr>
          <p:cNvPr id="47" name="Text 44"/>
          <p:cNvSpPr/>
          <p:nvPr/>
        </p:nvSpPr>
        <p:spPr>
          <a:xfrm>
            <a:off x="6388456" y="4151376"/>
            <a:ext cx="2266112" cy="219456"/>
          </a:xfrm>
          <a:prstGeom prst="rect">
            <a:avLst/>
          </a:prstGeom>
          <a:noFill/>
          <a:ln/>
        </p:spPr>
        <p:txBody>
          <a:bodyPr wrap="square" lIns="0" tIns="0" rIns="0" bIns="0" rtlCol="0" anchor="ctr"/>
          <a:lstStyle/>
          <a:p>
            <a:pPr indent="0" marL="0">
              <a:buNone/>
            </a:pPr>
            <a:r>
              <a:rPr lang="en-US" sz="950" b="1" spc="180" kern="0" dirty="0">
                <a:solidFill>
                  <a:srgbClr val="177A46"/>
                </a:solidFill>
                <a:latin typeface="Nunito Sans" pitchFamily="34" charset="0"/>
                <a:ea typeface="Nunito Sans" pitchFamily="34" charset="-122"/>
                <a:cs typeface="Nunito Sans" pitchFamily="34" charset="-120"/>
              </a:rPr>
              <a:t>WHAT CONVERTS HER / HIM</a:t>
            </a:r>
            <a:endParaRPr lang="en-US" sz="950" dirty="0"/>
          </a:p>
        </p:txBody>
      </p:sp>
      <p:sp>
        <p:nvSpPr>
          <p:cNvPr id="48" name="Text 45"/>
          <p:cNvSpPr/>
          <p:nvPr/>
        </p:nvSpPr>
        <p:spPr>
          <a:xfrm>
            <a:off x="6388456" y="4352544"/>
            <a:ext cx="2266112" cy="530352"/>
          </a:xfrm>
          <a:prstGeom prst="rect">
            <a:avLst/>
          </a:prstGeom>
          <a:noFill/>
          <a:ln/>
        </p:spPr>
        <p:txBody>
          <a:bodyPr wrap="square" lIns="0" tIns="0" rIns="0" bIns="0" rtlCol="0" anchor="t"/>
          <a:lstStyle/>
          <a:p>
            <a:pPr indent="0" marL="0">
              <a:lnSpc>
                <a:spcPct val="108000"/>
              </a:lnSpc>
              <a:buNone/>
            </a:pPr>
            <a:r>
              <a:rPr lang="en-US" sz="800" dirty="0">
                <a:solidFill>
                  <a:srgbClr val="54606F"/>
                </a:solidFill>
                <a:latin typeface="Nunito Sans" pitchFamily="34" charset="0"/>
                <a:ea typeface="Nunito Sans" pitchFamily="34" charset="-122"/>
                <a:cs typeface="Nunito Sans" pitchFamily="34" charset="-120"/>
              </a:rPr>
              <a:t>Visible on the app he already uses; price parity with his usual brand; taste he notices</a:t>
            </a:r>
            <a:endParaRPr lang="en-US" sz="800" dirty="0"/>
          </a:p>
        </p:txBody>
      </p:sp>
      <p:sp>
        <p:nvSpPr>
          <p:cNvPr id="49" name="Text 46"/>
          <p:cNvSpPr/>
          <p:nvPr/>
        </p:nvSpPr>
        <p:spPr>
          <a:xfrm>
            <a:off x="6388456" y="4919472"/>
            <a:ext cx="2266112" cy="219456"/>
          </a:xfrm>
          <a:prstGeom prst="rect">
            <a:avLst/>
          </a:prstGeom>
          <a:noFill/>
          <a:ln/>
        </p:spPr>
        <p:txBody>
          <a:bodyPr wrap="square" lIns="0" tIns="0" rIns="0" bIns="0" rtlCol="0" anchor="ctr"/>
          <a:lstStyle/>
          <a:p>
            <a:pPr indent="0" marL="0">
              <a:buNone/>
            </a:pPr>
            <a:r>
              <a:rPr lang="en-US" sz="950" b="1" spc="180" kern="0" dirty="0">
                <a:solidFill>
                  <a:srgbClr val="9E3A24"/>
                </a:solidFill>
                <a:latin typeface="Nunito Sans" pitchFamily="34" charset="0"/>
                <a:ea typeface="Nunito Sans" pitchFamily="34" charset="-122"/>
                <a:cs typeface="Nunito Sans" pitchFamily="34" charset="-120"/>
              </a:rPr>
              <a:t>WHAT BLOCKS THE SALE</a:t>
            </a:r>
            <a:endParaRPr lang="en-US" sz="950" dirty="0"/>
          </a:p>
        </p:txBody>
      </p:sp>
      <p:sp>
        <p:nvSpPr>
          <p:cNvPr id="50" name="Text 47"/>
          <p:cNvSpPr/>
          <p:nvPr/>
        </p:nvSpPr>
        <p:spPr>
          <a:xfrm>
            <a:off x="6388456" y="5120640"/>
            <a:ext cx="2266112" cy="530352"/>
          </a:xfrm>
          <a:prstGeom prst="rect">
            <a:avLst/>
          </a:prstGeom>
          <a:noFill/>
          <a:ln/>
        </p:spPr>
        <p:txBody>
          <a:bodyPr wrap="square" lIns="0" tIns="0" rIns="0" bIns="0" rtlCol="0" anchor="t"/>
          <a:lstStyle/>
          <a:p>
            <a:pPr indent="0" marL="0">
              <a:lnSpc>
                <a:spcPct val="108000"/>
              </a:lnSpc>
              <a:buNone/>
            </a:pPr>
            <a:r>
              <a:rPr lang="en-US" sz="800" dirty="0">
                <a:solidFill>
                  <a:srgbClr val="54606F"/>
                </a:solidFill>
                <a:latin typeface="Nunito Sans" pitchFamily="34" charset="0"/>
                <a:ea typeface="Nunito Sans" pitchFamily="34" charset="-122"/>
                <a:cs typeface="Nunito Sans" pitchFamily="34" charset="-120"/>
              </a:rPr>
              <a:t>Not stocked where he shops; a premium with no obvious reason; anything requiring effort to switch</a:t>
            </a:r>
            <a:endParaRPr lang="en-US" sz="800" dirty="0"/>
          </a:p>
        </p:txBody>
      </p:sp>
      <p:sp>
        <p:nvSpPr>
          <p:cNvPr id="51" name="Shape 48"/>
          <p:cNvSpPr/>
          <p:nvPr/>
        </p:nvSpPr>
        <p:spPr>
          <a:xfrm>
            <a:off x="9056903" y="1463040"/>
            <a:ext cx="2631872" cy="4224528"/>
          </a:xfrm>
          <a:prstGeom prst="roundRect">
            <a:avLst>
              <a:gd name="adj" fmla="val 3474"/>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52" name="Shape 49"/>
          <p:cNvSpPr/>
          <p:nvPr/>
        </p:nvSpPr>
        <p:spPr>
          <a:xfrm>
            <a:off x="9056903" y="1463040"/>
            <a:ext cx="2631872" cy="45720"/>
          </a:xfrm>
          <a:prstGeom prst="rect">
            <a:avLst/>
          </a:prstGeom>
          <a:solidFill>
            <a:srgbClr val="9E3A24"/>
          </a:solidFill>
          <a:ln w="5080">
            <a:solidFill>
              <a:srgbClr val="9E3A24"/>
            </a:solidFill>
            <a:prstDash val="solid"/>
          </a:ln>
        </p:spPr>
      </p:sp>
      <p:sp>
        <p:nvSpPr>
          <p:cNvPr id="53" name="Shape 50"/>
          <p:cNvSpPr/>
          <p:nvPr/>
        </p:nvSpPr>
        <p:spPr>
          <a:xfrm>
            <a:off x="9239783" y="1627632"/>
            <a:ext cx="493776" cy="493776"/>
          </a:xfrm>
          <a:prstGeom prst="ellipse">
            <a:avLst/>
          </a:prstGeom>
          <a:solidFill>
            <a:srgbClr val="9E3A24"/>
          </a:solidFill>
          <a:ln w="5080">
            <a:solidFill>
              <a:srgbClr val="9E3A24"/>
            </a:solidFill>
            <a:prstDash val="solid"/>
          </a:ln>
        </p:spPr>
      </p:sp>
      <p:sp>
        <p:nvSpPr>
          <p:cNvPr id="54" name="Text 51"/>
          <p:cNvSpPr/>
          <p:nvPr/>
        </p:nvSpPr>
        <p:spPr>
          <a:xfrm>
            <a:off x="9239783" y="1627632"/>
            <a:ext cx="493776" cy="493776"/>
          </a:xfrm>
          <a:prstGeom prst="rect">
            <a:avLst/>
          </a:prstGeom>
          <a:noFill/>
          <a:ln/>
        </p:spPr>
        <p:txBody>
          <a:bodyPr wrap="square" lIns="0" tIns="0" rIns="0" bIns="0" rtlCol="0" anchor="ctr"/>
          <a:lstStyle/>
          <a:p>
            <a:pPr algn="ctr" indent="0" marL="0">
              <a:buNone/>
            </a:pPr>
            <a:r>
              <a:rPr lang="en-US" sz="1400" dirty="0">
                <a:solidFill>
                  <a:srgbClr val="FFFFFF"/>
                </a:solidFill>
                <a:latin typeface="Archivo Black" pitchFamily="34" charset="0"/>
                <a:ea typeface="Archivo Black" pitchFamily="34" charset="-122"/>
                <a:cs typeface="Archivo Black" pitchFamily="34" charset="-120"/>
              </a:rPr>
              <a:t>S</a:t>
            </a:r>
            <a:endParaRPr lang="en-US" sz="1400" dirty="0"/>
          </a:p>
        </p:txBody>
      </p:sp>
      <p:sp>
        <p:nvSpPr>
          <p:cNvPr id="55" name="Text 52"/>
          <p:cNvSpPr/>
          <p:nvPr/>
        </p:nvSpPr>
        <p:spPr>
          <a:xfrm>
            <a:off x="9843287" y="1645920"/>
            <a:ext cx="1662608" cy="237744"/>
          </a:xfrm>
          <a:prstGeom prst="rect">
            <a:avLst/>
          </a:prstGeom>
          <a:noFill/>
          <a:ln/>
        </p:spPr>
        <p:txBody>
          <a:bodyPr wrap="square" lIns="0" tIns="0" rIns="0" bIns="0" rtlCol="0" anchor="ctr"/>
          <a:lstStyle/>
          <a:p>
            <a:pPr indent="0" marL="0">
              <a:buNone/>
            </a:pPr>
            <a:r>
              <a:rPr lang="en-US" sz="1200" b="1" dirty="0">
                <a:solidFill>
                  <a:srgbClr val="0C1A2B"/>
                </a:solidFill>
                <a:latin typeface="Nunito Sans" pitchFamily="34" charset="0"/>
                <a:ea typeface="Nunito Sans" pitchFamily="34" charset="-122"/>
                <a:cs typeface="Nunito Sans" pitchFamily="34" charset="-120"/>
              </a:rPr>
              <a:t>Sanjay Deshpande</a:t>
            </a:r>
            <a:endParaRPr lang="en-US" sz="1200" dirty="0"/>
          </a:p>
        </p:txBody>
      </p:sp>
      <p:sp>
        <p:nvSpPr>
          <p:cNvPr id="56" name="Text 53"/>
          <p:cNvSpPr/>
          <p:nvPr/>
        </p:nvSpPr>
        <p:spPr>
          <a:xfrm>
            <a:off x="9843287" y="1883664"/>
            <a:ext cx="1662608" cy="219456"/>
          </a:xfrm>
          <a:prstGeom prst="rect">
            <a:avLst/>
          </a:prstGeom>
          <a:noFill/>
          <a:ln/>
        </p:spPr>
        <p:txBody>
          <a:bodyPr wrap="square" lIns="0" tIns="0" rIns="0" bIns="0" rtlCol="0" anchor="ctr"/>
          <a:lstStyle/>
          <a:p>
            <a:pPr indent="0" marL="0">
              <a:buNone/>
            </a:pPr>
            <a:r>
              <a:rPr lang="en-US" sz="800" b="1" spc="80" kern="0" dirty="0">
                <a:solidFill>
                  <a:srgbClr val="9E3A24"/>
                </a:solidFill>
                <a:latin typeface="Nunito Sans" pitchFamily="34" charset="0"/>
                <a:ea typeface="Nunito Sans" pitchFamily="34" charset="-122"/>
                <a:cs typeface="Nunito Sans" pitchFamily="34" charset="-120"/>
              </a:rPr>
              <a:t>THE SCEPTIC  ·  18%</a:t>
            </a:r>
            <a:endParaRPr lang="en-US" sz="800" dirty="0"/>
          </a:p>
        </p:txBody>
      </p:sp>
      <p:sp>
        <p:nvSpPr>
          <p:cNvPr id="57" name="Text 54"/>
          <p:cNvSpPr/>
          <p:nvPr/>
        </p:nvSpPr>
        <p:spPr>
          <a:xfrm>
            <a:off x="9239783" y="2212848"/>
            <a:ext cx="2266112" cy="201168"/>
          </a:xfrm>
          <a:prstGeom prst="rect">
            <a:avLst/>
          </a:prstGeom>
          <a:noFill/>
          <a:ln/>
        </p:spPr>
        <p:txBody>
          <a:bodyPr wrap="square" lIns="0" tIns="0" rIns="0" bIns="0" rtlCol="0" anchor="ctr"/>
          <a:lstStyle/>
          <a:p>
            <a:pPr indent="0" marL="0">
              <a:buNone/>
            </a:pPr>
            <a:r>
              <a:rPr lang="en-US" sz="800" b="1" spc="120" kern="0" dirty="0">
                <a:solidFill>
                  <a:srgbClr val="8B95A2"/>
                </a:solidFill>
                <a:latin typeface="Nunito Sans" pitchFamily="34" charset="0"/>
                <a:ea typeface="Nunito Sans" pitchFamily="34" charset="-122"/>
                <a:cs typeface="Nunito Sans" pitchFamily="34" charset="-120"/>
              </a:rPr>
              <a:t>SYSTEM FATALIST</a:t>
            </a:r>
            <a:endParaRPr lang="en-US" sz="800" dirty="0"/>
          </a:p>
        </p:txBody>
      </p:sp>
      <p:sp>
        <p:nvSpPr>
          <p:cNvPr id="58" name="Text 55"/>
          <p:cNvSpPr/>
          <p:nvPr/>
        </p:nvSpPr>
        <p:spPr>
          <a:xfrm>
            <a:off x="9239783" y="2432304"/>
            <a:ext cx="2266112" cy="822960"/>
          </a:xfrm>
          <a:prstGeom prst="rect">
            <a:avLst/>
          </a:prstGeom>
          <a:noFill/>
          <a:ln/>
        </p:spPr>
        <p:txBody>
          <a:bodyPr wrap="square" lIns="0" tIns="0" rIns="0" bIns="0" rtlCol="0" anchor="t"/>
          <a:lstStyle/>
          <a:p>
            <a:pPr indent="0" marL="0">
              <a:lnSpc>
                <a:spcPct val="106000"/>
              </a:lnSpc>
              <a:buNone/>
            </a:pPr>
            <a:r>
              <a:rPr lang="en-US" sz="850" i="1" dirty="0">
                <a:solidFill>
                  <a:srgbClr val="0C1A2B"/>
                </a:solidFill>
                <a:latin typeface="Nunito Sans" pitchFamily="34" charset="0"/>
                <a:ea typeface="Nunito Sans" pitchFamily="34" charset="-122"/>
                <a:cs typeface="Nunito Sans" pitchFamily="34" charset="-120"/>
              </a:rPr>
              <a:t>“Every brand says it's pure. Adulteration is everywhere, and no factory is truly clean. Prove me wrong — but don't insult me with marketing.”</a:t>
            </a:r>
            <a:endParaRPr lang="en-US" sz="850" dirty="0"/>
          </a:p>
        </p:txBody>
      </p:sp>
      <p:sp>
        <p:nvSpPr>
          <p:cNvPr id="59" name="Shape 56"/>
          <p:cNvSpPr/>
          <p:nvPr/>
        </p:nvSpPr>
        <p:spPr>
          <a:xfrm>
            <a:off x="9239783" y="3310128"/>
            <a:ext cx="2266112" cy="0"/>
          </a:xfrm>
          <a:prstGeom prst="line">
            <a:avLst/>
          </a:prstGeom>
          <a:noFill/>
          <a:ln w="7620">
            <a:solidFill>
              <a:srgbClr val="E5DCCB"/>
            </a:solidFill>
            <a:prstDash val="dash"/>
          </a:ln>
        </p:spPr>
      </p:sp>
      <p:sp>
        <p:nvSpPr>
          <p:cNvPr id="60" name="Text 57"/>
          <p:cNvSpPr/>
          <p:nvPr/>
        </p:nvSpPr>
        <p:spPr>
          <a:xfrm>
            <a:off x="9239783" y="3383280"/>
            <a:ext cx="2266112" cy="219456"/>
          </a:xfrm>
          <a:prstGeom prst="rect">
            <a:avLst/>
          </a:prstGeom>
          <a:noFill/>
          <a:ln/>
        </p:spPr>
        <p:txBody>
          <a:bodyPr wrap="square" lIns="0" tIns="0" rIns="0" bIns="0" rtlCol="0" anchor="ctr"/>
          <a:lstStyle/>
          <a:p>
            <a:pPr indent="0" marL="0">
              <a:buNone/>
            </a:pPr>
            <a:r>
              <a:rPr lang="en-US" sz="950" b="1" spc="180" kern="0" dirty="0">
                <a:solidFill>
                  <a:srgbClr val="8B95A2"/>
                </a:solidFill>
                <a:latin typeface="Nunito Sans" pitchFamily="34" charset="0"/>
                <a:ea typeface="Nunito Sans" pitchFamily="34" charset="-122"/>
                <a:cs typeface="Nunito Sans" pitchFamily="34" charset="-120"/>
              </a:rPr>
              <a:t>PROFILE</a:t>
            </a:r>
            <a:endParaRPr lang="en-US" sz="950" dirty="0"/>
          </a:p>
        </p:txBody>
      </p:sp>
      <p:sp>
        <p:nvSpPr>
          <p:cNvPr id="61" name="Text 58"/>
          <p:cNvSpPr/>
          <p:nvPr/>
        </p:nvSpPr>
        <p:spPr>
          <a:xfrm>
            <a:off x="9239783" y="3584448"/>
            <a:ext cx="2266112" cy="530352"/>
          </a:xfrm>
          <a:prstGeom prst="rect">
            <a:avLst/>
          </a:prstGeom>
          <a:noFill/>
          <a:ln/>
        </p:spPr>
        <p:txBody>
          <a:bodyPr wrap="square" lIns="0" tIns="0" rIns="0" bIns="0" rtlCol="0" anchor="t"/>
          <a:lstStyle/>
          <a:p>
            <a:pPr indent="0" marL="0">
              <a:lnSpc>
                <a:spcPct val="108000"/>
              </a:lnSpc>
              <a:buNone/>
            </a:pPr>
            <a:r>
              <a:rPr lang="en-US" sz="800" dirty="0">
                <a:solidFill>
                  <a:srgbClr val="54606F"/>
                </a:solidFill>
                <a:latin typeface="Nunito Sans" pitchFamily="34" charset="0"/>
                <a:ea typeface="Nunito Sans" pitchFamily="34" charset="-122"/>
                <a:cs typeface="Nunito Sans" pitchFamily="34" charset="-120"/>
              </a:rPr>
              <a:t>38–55 · graduate to postgraduate · senior professional or business owner · established family · Tier-1 and Tier-2</a:t>
            </a:r>
            <a:endParaRPr lang="en-US" sz="800" dirty="0"/>
          </a:p>
        </p:txBody>
      </p:sp>
      <p:sp>
        <p:nvSpPr>
          <p:cNvPr id="62" name="Text 59"/>
          <p:cNvSpPr/>
          <p:nvPr/>
        </p:nvSpPr>
        <p:spPr>
          <a:xfrm>
            <a:off x="9239783" y="4151376"/>
            <a:ext cx="2266112" cy="219456"/>
          </a:xfrm>
          <a:prstGeom prst="rect">
            <a:avLst/>
          </a:prstGeom>
          <a:noFill/>
          <a:ln/>
        </p:spPr>
        <p:txBody>
          <a:bodyPr wrap="square" lIns="0" tIns="0" rIns="0" bIns="0" rtlCol="0" anchor="ctr"/>
          <a:lstStyle/>
          <a:p>
            <a:pPr indent="0" marL="0">
              <a:buNone/>
            </a:pPr>
            <a:r>
              <a:rPr lang="en-US" sz="950" b="1" spc="180" kern="0" dirty="0">
                <a:solidFill>
                  <a:srgbClr val="177A46"/>
                </a:solidFill>
                <a:latin typeface="Nunito Sans" pitchFamily="34" charset="0"/>
                <a:ea typeface="Nunito Sans" pitchFamily="34" charset="-122"/>
                <a:cs typeface="Nunito Sans" pitchFamily="34" charset="-120"/>
              </a:rPr>
              <a:t>WHAT CONVERTS HER / HIM</a:t>
            </a:r>
            <a:endParaRPr lang="en-US" sz="950" dirty="0"/>
          </a:p>
        </p:txBody>
      </p:sp>
      <p:sp>
        <p:nvSpPr>
          <p:cNvPr id="63" name="Text 60"/>
          <p:cNvSpPr/>
          <p:nvPr/>
        </p:nvSpPr>
        <p:spPr>
          <a:xfrm>
            <a:off x="9239783" y="4352544"/>
            <a:ext cx="2266112" cy="530352"/>
          </a:xfrm>
          <a:prstGeom prst="rect">
            <a:avLst/>
          </a:prstGeom>
          <a:noFill/>
          <a:ln/>
        </p:spPr>
        <p:txBody>
          <a:bodyPr wrap="square" lIns="0" tIns="0" rIns="0" bIns="0" rtlCol="0" anchor="t"/>
          <a:lstStyle/>
          <a:p>
            <a:pPr indent="0" marL="0">
              <a:lnSpc>
                <a:spcPct val="108000"/>
              </a:lnSpc>
              <a:buNone/>
            </a:pPr>
            <a:r>
              <a:rPr lang="en-US" sz="800" dirty="0">
                <a:solidFill>
                  <a:srgbClr val="54606F"/>
                </a:solidFill>
                <a:latin typeface="Nunito Sans" pitchFamily="34" charset="0"/>
                <a:ea typeface="Nunito Sans" pitchFamily="34" charset="-122"/>
                <a:cs typeface="Nunito Sans" pitchFamily="34" charset="-120"/>
              </a:rPr>
              <a:t>Unscripted farmer proof; independent, non-brand-paid verification; being shown what is imperfect</a:t>
            </a:r>
            <a:endParaRPr lang="en-US" sz="800" dirty="0"/>
          </a:p>
        </p:txBody>
      </p:sp>
      <p:sp>
        <p:nvSpPr>
          <p:cNvPr id="64" name="Text 61"/>
          <p:cNvSpPr/>
          <p:nvPr/>
        </p:nvSpPr>
        <p:spPr>
          <a:xfrm>
            <a:off x="9239783" y="4919472"/>
            <a:ext cx="2266112" cy="219456"/>
          </a:xfrm>
          <a:prstGeom prst="rect">
            <a:avLst/>
          </a:prstGeom>
          <a:noFill/>
          <a:ln/>
        </p:spPr>
        <p:txBody>
          <a:bodyPr wrap="square" lIns="0" tIns="0" rIns="0" bIns="0" rtlCol="0" anchor="ctr"/>
          <a:lstStyle/>
          <a:p>
            <a:pPr indent="0" marL="0">
              <a:buNone/>
            </a:pPr>
            <a:r>
              <a:rPr lang="en-US" sz="950" b="1" spc="180" kern="0" dirty="0">
                <a:solidFill>
                  <a:srgbClr val="9E3A24"/>
                </a:solidFill>
                <a:latin typeface="Nunito Sans" pitchFamily="34" charset="0"/>
                <a:ea typeface="Nunito Sans" pitchFamily="34" charset="-122"/>
                <a:cs typeface="Nunito Sans" pitchFamily="34" charset="-120"/>
              </a:rPr>
              <a:t>WHAT BLOCKS THE SALE</a:t>
            </a:r>
            <a:endParaRPr lang="en-US" sz="950" dirty="0"/>
          </a:p>
        </p:txBody>
      </p:sp>
      <p:sp>
        <p:nvSpPr>
          <p:cNvPr id="65" name="Text 62"/>
          <p:cNvSpPr/>
          <p:nvPr/>
        </p:nvSpPr>
        <p:spPr>
          <a:xfrm>
            <a:off x="9239783" y="5120640"/>
            <a:ext cx="2266112" cy="530352"/>
          </a:xfrm>
          <a:prstGeom prst="rect">
            <a:avLst/>
          </a:prstGeom>
          <a:noFill/>
          <a:ln/>
        </p:spPr>
        <p:txBody>
          <a:bodyPr wrap="square" lIns="0" tIns="0" rIns="0" bIns="0" rtlCol="0" anchor="t"/>
          <a:lstStyle/>
          <a:p>
            <a:pPr indent="0" marL="0">
              <a:lnSpc>
                <a:spcPct val="108000"/>
              </a:lnSpc>
              <a:buNone/>
            </a:pPr>
            <a:r>
              <a:rPr lang="en-US" sz="800" dirty="0">
                <a:solidFill>
                  <a:srgbClr val="54606F"/>
                </a:solidFill>
                <a:latin typeface="Nunito Sans" pitchFamily="34" charset="0"/>
                <a:ea typeface="Nunito Sans" pitchFamily="34" charset="-122"/>
                <a:cs typeface="Nunito Sans" pitchFamily="34" charset="-120"/>
              </a:rPr>
              <a:t>Polished claims like everyone else's; certification with no visible teeth; anything that reads like a script</a:t>
            </a:r>
            <a:endParaRPr lang="en-US" sz="800" dirty="0"/>
          </a:p>
        </p:txBody>
      </p:sp>
      <p:sp>
        <p:nvSpPr>
          <p:cNvPr id="66" name="Shape 63"/>
          <p:cNvSpPr/>
          <p:nvPr/>
        </p:nvSpPr>
        <p:spPr>
          <a:xfrm>
            <a:off x="502920" y="5833872"/>
            <a:ext cx="11185855" cy="548640"/>
          </a:xfrm>
          <a:prstGeom prst="roundRect">
            <a:avLst>
              <a:gd name="adj" fmla="val 16667"/>
            </a:avLst>
          </a:prstGeom>
          <a:solidFill>
            <a:srgbClr val="E4F2EA"/>
          </a:solidFill>
          <a:ln w="6350">
            <a:solidFill>
              <a:srgbClr val="E4F2EA"/>
            </a:solidFill>
            <a:prstDash val="solid"/>
          </a:ln>
        </p:spPr>
      </p:sp>
      <p:sp>
        <p:nvSpPr>
          <p:cNvPr id="67" name="Text 64"/>
          <p:cNvSpPr/>
          <p:nvPr/>
        </p:nvSpPr>
        <p:spPr>
          <a:xfrm>
            <a:off x="704088" y="5952744"/>
            <a:ext cx="10783519" cy="338328"/>
          </a:xfrm>
          <a:prstGeom prst="rect">
            <a:avLst/>
          </a:prstGeom>
          <a:noFill/>
          <a:ln/>
        </p:spPr>
        <p:txBody>
          <a:bodyPr wrap="square" lIns="0" tIns="0" rIns="0" bIns="0" rtlCol="0" anchor="t"/>
          <a:lstStyle/>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Guardians convert fast on facts. Trusters need a voice of assurance. Defaulters need shelf presence and price parity. Fatalists need to be shown the imperfections to win their trust.</a:t>
            </a:r>
            <a:endParaRPr lang="en-US" sz="900" dirty="0"/>
          </a:p>
        </p:txBody>
      </p:sp>
      <p:sp>
        <p:nvSpPr>
          <p:cNvPr id="68" name="Shape 65"/>
          <p:cNvSpPr/>
          <p:nvPr/>
        </p:nvSpPr>
        <p:spPr>
          <a:xfrm>
            <a:off x="502920" y="6492240"/>
            <a:ext cx="11185855" cy="0"/>
          </a:xfrm>
          <a:prstGeom prst="line">
            <a:avLst/>
          </a:prstGeom>
          <a:noFill/>
          <a:ln w="9525">
            <a:solidFill>
              <a:srgbClr val="E5DCCB"/>
            </a:solidFill>
            <a:prstDash val="solid"/>
          </a:ln>
        </p:spPr>
      </p:sp>
      <p:sp>
        <p:nvSpPr>
          <p:cNvPr id="69" name="Text 66"/>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THE CONSUMER</a:t>
            </a:r>
            <a:endParaRPr lang="en-US" sz="800" dirty="0"/>
          </a:p>
        </p:txBody>
      </p:sp>
      <p:sp>
        <p:nvSpPr>
          <p:cNvPr id="70" name="Text 67"/>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10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2428646"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2428646"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THE TARGETING DECISION</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500" dirty="0">
                <a:solidFill>
                  <a:srgbClr val="0C1A2B"/>
                </a:solidFill>
                <a:latin typeface="Archivo Black" pitchFamily="34" charset="0"/>
                <a:ea typeface="Archivo Black" pitchFamily="34" charset="-122"/>
                <a:cs typeface="Archivo Black" pitchFamily="34" charset="-120"/>
              </a:rPr>
              <a:t>The targeting decision: Where to play first ?</a:t>
            </a:r>
            <a:endParaRPr lang="en-US" sz="2500" dirty="0"/>
          </a:p>
        </p:txBody>
      </p:sp>
      <p:sp>
        <p:nvSpPr>
          <p:cNvPr id="6" name="Shape 3"/>
          <p:cNvSpPr/>
          <p:nvPr/>
        </p:nvSpPr>
        <p:spPr>
          <a:xfrm>
            <a:off x="502920" y="1463040"/>
            <a:ext cx="2618156" cy="1627632"/>
          </a:xfrm>
          <a:prstGeom prst="roundRect">
            <a:avLst>
              <a:gd name="adj" fmla="val 5618"/>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7" name="Shape 4"/>
          <p:cNvSpPr/>
          <p:nvPr/>
        </p:nvSpPr>
        <p:spPr>
          <a:xfrm>
            <a:off x="502920" y="1463040"/>
            <a:ext cx="2618156" cy="45720"/>
          </a:xfrm>
          <a:prstGeom prst="rect">
            <a:avLst/>
          </a:prstGeom>
          <a:solidFill>
            <a:srgbClr val="177A46"/>
          </a:solidFill>
          <a:ln w="5080">
            <a:solidFill>
              <a:srgbClr val="177A46"/>
            </a:solidFill>
            <a:prstDash val="solid"/>
          </a:ln>
        </p:spPr>
      </p:sp>
      <p:sp>
        <p:nvSpPr>
          <p:cNvPr id="8" name="Text 5"/>
          <p:cNvSpPr/>
          <p:nvPr/>
        </p:nvSpPr>
        <p:spPr>
          <a:xfrm>
            <a:off x="685800" y="1609344"/>
            <a:ext cx="2252396" cy="201168"/>
          </a:xfrm>
          <a:prstGeom prst="rect">
            <a:avLst/>
          </a:prstGeom>
          <a:noFill/>
          <a:ln/>
        </p:spPr>
        <p:txBody>
          <a:bodyPr wrap="square" lIns="0" tIns="0" rIns="0" bIns="0" rtlCol="0" anchor="ctr"/>
          <a:lstStyle/>
          <a:p>
            <a:pPr indent="0" marL="0">
              <a:buNone/>
            </a:pPr>
            <a:r>
              <a:rPr lang="en-US" sz="800" b="1" spc="120" kern="0" dirty="0">
                <a:solidFill>
                  <a:srgbClr val="177A46"/>
                </a:solidFill>
                <a:latin typeface="Nunito Sans" pitchFamily="34" charset="0"/>
                <a:ea typeface="Nunito Sans" pitchFamily="34" charset="-122"/>
                <a:cs typeface="Nunito Sans" pitchFamily="34" charset="-120"/>
              </a:rPr>
              <a:t>PRIMARY</a:t>
            </a:r>
            <a:endParaRPr lang="en-US" sz="800" dirty="0"/>
          </a:p>
        </p:txBody>
      </p:sp>
      <p:sp>
        <p:nvSpPr>
          <p:cNvPr id="9" name="Text 6"/>
          <p:cNvSpPr/>
          <p:nvPr/>
        </p:nvSpPr>
        <p:spPr>
          <a:xfrm>
            <a:off x="685800" y="1828800"/>
            <a:ext cx="2252396" cy="402336"/>
          </a:xfrm>
          <a:prstGeom prst="rect">
            <a:avLst/>
          </a:prstGeom>
          <a:noFill/>
          <a:ln/>
        </p:spPr>
        <p:txBody>
          <a:bodyPr wrap="square" lIns="0" tIns="0" rIns="0" bIns="0" rtlCol="0" anchor="t"/>
          <a:lstStyle/>
          <a:p>
            <a:pPr indent="0" marL="0">
              <a:buNone/>
            </a:pPr>
            <a:r>
              <a:rPr lang="en-US" sz="2200" dirty="0">
                <a:solidFill>
                  <a:srgbClr val="0C1A2B"/>
                </a:solidFill>
                <a:latin typeface="Archivo Black" pitchFamily="34" charset="0"/>
                <a:ea typeface="Archivo Black" pitchFamily="34" charset="-122"/>
                <a:cs typeface="Archivo Black" pitchFamily="34" charset="-120"/>
              </a:rPr>
              <a:t>36%</a:t>
            </a:r>
            <a:endParaRPr lang="en-US" sz="2200" dirty="0"/>
          </a:p>
        </p:txBody>
      </p:sp>
      <p:sp>
        <p:nvSpPr>
          <p:cNvPr id="10" name="Text 7"/>
          <p:cNvSpPr/>
          <p:nvPr/>
        </p:nvSpPr>
        <p:spPr>
          <a:xfrm>
            <a:off x="685800" y="2267712"/>
            <a:ext cx="2252396" cy="219456"/>
          </a:xfrm>
          <a:prstGeom prst="rect">
            <a:avLst/>
          </a:prstGeom>
          <a:noFill/>
          <a:ln/>
        </p:spPr>
        <p:txBody>
          <a:bodyPr wrap="square" lIns="0" tIns="0" rIns="0" bIns="0" rtlCol="0" anchor="t"/>
          <a:lstStyle/>
          <a:p>
            <a:pPr indent="0" marL="0">
              <a:buNone/>
            </a:pPr>
            <a:r>
              <a:rPr lang="en-US" sz="1000" b="1" dirty="0">
                <a:solidFill>
                  <a:srgbClr val="0C1A2B"/>
                </a:solidFill>
                <a:latin typeface="Nunito Sans" pitchFamily="34" charset="0"/>
                <a:ea typeface="Nunito Sans" pitchFamily="34" charset="-122"/>
                <a:cs typeface="Nunito Sans" pitchFamily="34" charset="-120"/>
              </a:rPr>
              <a:t>Proof-Hungry Guardians</a:t>
            </a:r>
            <a:endParaRPr lang="en-US" sz="1000" dirty="0"/>
          </a:p>
        </p:txBody>
      </p:sp>
      <p:sp>
        <p:nvSpPr>
          <p:cNvPr id="11" name="Text 8"/>
          <p:cNvSpPr/>
          <p:nvPr/>
        </p:nvSpPr>
        <p:spPr>
          <a:xfrm>
            <a:off x="685800" y="2487168"/>
            <a:ext cx="2252396" cy="566928"/>
          </a:xfrm>
          <a:prstGeom prst="rect">
            <a:avLst/>
          </a:prstGeom>
          <a:noFill/>
          <a:ln/>
        </p:spPr>
        <p:txBody>
          <a:bodyPr wrap="square" lIns="0" tIns="0" rIns="0" bIns="0" rtlCol="0" anchor="t"/>
          <a:lstStyle/>
          <a:p>
            <a:pPr indent="0" marL="0">
              <a:lnSpc>
                <a:spcPct val="110000"/>
              </a:lnSpc>
              <a:buNone/>
            </a:pPr>
            <a:r>
              <a:rPr lang="en-US" sz="850" dirty="0">
                <a:solidFill>
                  <a:srgbClr val="54606F"/>
                </a:solidFill>
                <a:latin typeface="Nunito Sans" pitchFamily="34" charset="0"/>
                <a:ea typeface="Nunito Sans" pitchFamily="34" charset="-122"/>
                <a:cs typeface="Nunito Sans" pitchFamily="34" charset="-120"/>
              </a:rPr>
              <a:t>Largest segment, highest willingness to pay, and the only one that responds to the proof DHF already generates.</a:t>
            </a:r>
            <a:endParaRPr lang="en-US" sz="850" dirty="0"/>
          </a:p>
        </p:txBody>
      </p:sp>
      <p:sp>
        <p:nvSpPr>
          <p:cNvPr id="12" name="Shape 9"/>
          <p:cNvSpPr/>
          <p:nvPr/>
        </p:nvSpPr>
        <p:spPr>
          <a:xfrm>
            <a:off x="3358820" y="1463040"/>
            <a:ext cx="2618156" cy="1627632"/>
          </a:xfrm>
          <a:prstGeom prst="roundRect">
            <a:avLst>
              <a:gd name="adj" fmla="val 5618"/>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3" name="Shape 10"/>
          <p:cNvSpPr/>
          <p:nvPr/>
        </p:nvSpPr>
        <p:spPr>
          <a:xfrm>
            <a:off x="3358820" y="1463040"/>
            <a:ext cx="2618156" cy="45720"/>
          </a:xfrm>
          <a:prstGeom prst="rect">
            <a:avLst/>
          </a:prstGeom>
          <a:solidFill>
            <a:srgbClr val="3A5D97"/>
          </a:solidFill>
          <a:ln w="5080">
            <a:solidFill>
              <a:srgbClr val="3A5D97"/>
            </a:solidFill>
            <a:prstDash val="solid"/>
          </a:ln>
        </p:spPr>
      </p:sp>
      <p:sp>
        <p:nvSpPr>
          <p:cNvPr id="14" name="Text 11"/>
          <p:cNvSpPr/>
          <p:nvPr/>
        </p:nvSpPr>
        <p:spPr>
          <a:xfrm>
            <a:off x="3541700" y="1609344"/>
            <a:ext cx="2252396" cy="201168"/>
          </a:xfrm>
          <a:prstGeom prst="rect">
            <a:avLst/>
          </a:prstGeom>
          <a:noFill/>
          <a:ln/>
        </p:spPr>
        <p:txBody>
          <a:bodyPr wrap="square" lIns="0" tIns="0" rIns="0" bIns="0" rtlCol="0" anchor="ctr"/>
          <a:lstStyle/>
          <a:p>
            <a:pPr indent="0" marL="0">
              <a:buNone/>
            </a:pPr>
            <a:r>
              <a:rPr lang="en-US" sz="800" b="1" spc="120" kern="0" dirty="0">
                <a:solidFill>
                  <a:srgbClr val="3A5D97"/>
                </a:solidFill>
                <a:latin typeface="Nunito Sans" pitchFamily="34" charset="0"/>
                <a:ea typeface="Nunito Sans" pitchFamily="34" charset="-122"/>
                <a:cs typeface="Nunito Sans" pitchFamily="34" charset="-120"/>
              </a:rPr>
              <a:t>SECONDARY</a:t>
            </a:r>
            <a:endParaRPr lang="en-US" sz="800" dirty="0"/>
          </a:p>
        </p:txBody>
      </p:sp>
      <p:sp>
        <p:nvSpPr>
          <p:cNvPr id="15" name="Text 12"/>
          <p:cNvSpPr/>
          <p:nvPr/>
        </p:nvSpPr>
        <p:spPr>
          <a:xfrm>
            <a:off x="3541700" y="1828800"/>
            <a:ext cx="2252396" cy="402336"/>
          </a:xfrm>
          <a:prstGeom prst="rect">
            <a:avLst/>
          </a:prstGeom>
          <a:noFill/>
          <a:ln/>
        </p:spPr>
        <p:txBody>
          <a:bodyPr wrap="square" lIns="0" tIns="0" rIns="0" bIns="0" rtlCol="0" anchor="t"/>
          <a:lstStyle/>
          <a:p>
            <a:pPr indent="0" marL="0">
              <a:buNone/>
            </a:pPr>
            <a:r>
              <a:rPr lang="en-US" sz="2200" dirty="0">
                <a:solidFill>
                  <a:srgbClr val="0C1A2B"/>
                </a:solidFill>
                <a:latin typeface="Archivo Black" pitchFamily="34" charset="0"/>
                <a:ea typeface="Archivo Black" pitchFamily="34" charset="-122"/>
                <a:cs typeface="Archivo Black" pitchFamily="34" charset="-120"/>
              </a:rPr>
              <a:t>20%</a:t>
            </a:r>
            <a:endParaRPr lang="en-US" sz="2200" dirty="0"/>
          </a:p>
        </p:txBody>
      </p:sp>
      <p:sp>
        <p:nvSpPr>
          <p:cNvPr id="16" name="Text 13"/>
          <p:cNvSpPr/>
          <p:nvPr/>
        </p:nvSpPr>
        <p:spPr>
          <a:xfrm>
            <a:off x="3541700" y="2267712"/>
            <a:ext cx="2252396" cy="219456"/>
          </a:xfrm>
          <a:prstGeom prst="rect">
            <a:avLst/>
          </a:prstGeom>
          <a:noFill/>
          <a:ln/>
        </p:spPr>
        <p:txBody>
          <a:bodyPr wrap="square" lIns="0" tIns="0" rIns="0" bIns="0" rtlCol="0" anchor="t"/>
          <a:lstStyle/>
          <a:p>
            <a:pPr indent="0" marL="0">
              <a:buNone/>
            </a:pPr>
            <a:r>
              <a:rPr lang="en-US" sz="1000" b="1" dirty="0">
                <a:solidFill>
                  <a:srgbClr val="0C1A2B"/>
                </a:solidFill>
                <a:latin typeface="Nunito Sans" pitchFamily="34" charset="0"/>
                <a:ea typeface="Nunito Sans" pitchFamily="34" charset="-122"/>
                <a:cs typeface="Nunito Sans" pitchFamily="34" charset="-120"/>
              </a:rPr>
              <a:t>Social Trusters</a:t>
            </a:r>
            <a:endParaRPr lang="en-US" sz="1000" dirty="0"/>
          </a:p>
        </p:txBody>
      </p:sp>
      <p:sp>
        <p:nvSpPr>
          <p:cNvPr id="17" name="Text 14"/>
          <p:cNvSpPr/>
          <p:nvPr/>
        </p:nvSpPr>
        <p:spPr>
          <a:xfrm>
            <a:off x="3541700" y="2487168"/>
            <a:ext cx="2252396" cy="566928"/>
          </a:xfrm>
          <a:prstGeom prst="rect">
            <a:avLst/>
          </a:prstGeom>
          <a:noFill/>
          <a:ln/>
        </p:spPr>
        <p:txBody>
          <a:bodyPr wrap="square" lIns="0" tIns="0" rIns="0" bIns="0" rtlCol="0" anchor="t"/>
          <a:lstStyle/>
          <a:p>
            <a:pPr indent="0" marL="0">
              <a:lnSpc>
                <a:spcPct val="110000"/>
              </a:lnSpc>
              <a:buNone/>
            </a:pPr>
            <a:r>
              <a:rPr lang="en-US" sz="850" dirty="0">
                <a:solidFill>
                  <a:srgbClr val="54606F"/>
                </a:solidFill>
                <a:latin typeface="Nunito Sans" pitchFamily="34" charset="0"/>
                <a:ea typeface="Nunito Sans" pitchFamily="34" charset="-122"/>
                <a:cs typeface="Nunito Sans" pitchFamily="34" charset="-120"/>
              </a:rPr>
              <a:t>Activated by the Guardians' verification becoming social proof. Doctor endorsement bridges both segments at once.</a:t>
            </a:r>
            <a:endParaRPr lang="en-US" sz="850" dirty="0"/>
          </a:p>
        </p:txBody>
      </p:sp>
      <p:sp>
        <p:nvSpPr>
          <p:cNvPr id="18" name="Shape 15"/>
          <p:cNvSpPr/>
          <p:nvPr/>
        </p:nvSpPr>
        <p:spPr>
          <a:xfrm>
            <a:off x="6214720" y="1463040"/>
            <a:ext cx="2618156" cy="1627632"/>
          </a:xfrm>
          <a:prstGeom prst="roundRect">
            <a:avLst>
              <a:gd name="adj" fmla="val 5618"/>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9" name="Shape 16"/>
          <p:cNvSpPr/>
          <p:nvPr/>
        </p:nvSpPr>
        <p:spPr>
          <a:xfrm>
            <a:off x="6214720" y="1463040"/>
            <a:ext cx="2618156" cy="45720"/>
          </a:xfrm>
          <a:prstGeom prst="rect">
            <a:avLst/>
          </a:prstGeom>
          <a:solidFill>
            <a:srgbClr val="B5AD9C"/>
          </a:solidFill>
          <a:ln w="5080">
            <a:solidFill>
              <a:srgbClr val="B5AD9C"/>
            </a:solidFill>
            <a:prstDash val="solid"/>
          </a:ln>
        </p:spPr>
      </p:sp>
      <p:sp>
        <p:nvSpPr>
          <p:cNvPr id="20" name="Text 17"/>
          <p:cNvSpPr/>
          <p:nvPr/>
        </p:nvSpPr>
        <p:spPr>
          <a:xfrm>
            <a:off x="6397600" y="1609344"/>
            <a:ext cx="2252396" cy="201168"/>
          </a:xfrm>
          <a:prstGeom prst="rect">
            <a:avLst/>
          </a:prstGeom>
          <a:noFill/>
          <a:ln/>
        </p:spPr>
        <p:txBody>
          <a:bodyPr wrap="square" lIns="0" tIns="0" rIns="0" bIns="0" rtlCol="0" anchor="ctr"/>
          <a:lstStyle/>
          <a:p>
            <a:pPr indent="0" marL="0">
              <a:buNone/>
            </a:pPr>
            <a:r>
              <a:rPr lang="en-US" sz="800" b="1" spc="120" kern="0" dirty="0">
                <a:solidFill>
                  <a:srgbClr val="B5AD9C"/>
                </a:solidFill>
                <a:latin typeface="Nunito Sans" pitchFamily="34" charset="0"/>
                <a:ea typeface="Nunito Sans" pitchFamily="34" charset="-122"/>
                <a:cs typeface="Nunito Sans" pitchFamily="34" charset="-120"/>
              </a:rPr>
              <a:t>DEFER</a:t>
            </a:r>
            <a:endParaRPr lang="en-US" sz="800" dirty="0"/>
          </a:p>
        </p:txBody>
      </p:sp>
      <p:sp>
        <p:nvSpPr>
          <p:cNvPr id="21" name="Text 18"/>
          <p:cNvSpPr/>
          <p:nvPr/>
        </p:nvSpPr>
        <p:spPr>
          <a:xfrm>
            <a:off x="6397600" y="1828800"/>
            <a:ext cx="2252396" cy="402336"/>
          </a:xfrm>
          <a:prstGeom prst="rect">
            <a:avLst/>
          </a:prstGeom>
          <a:noFill/>
          <a:ln/>
        </p:spPr>
        <p:txBody>
          <a:bodyPr wrap="square" lIns="0" tIns="0" rIns="0" bIns="0" rtlCol="0" anchor="t"/>
          <a:lstStyle/>
          <a:p>
            <a:pPr indent="0" marL="0">
              <a:buNone/>
            </a:pPr>
            <a:r>
              <a:rPr lang="en-US" sz="2200" dirty="0">
                <a:solidFill>
                  <a:srgbClr val="0C1A2B"/>
                </a:solidFill>
                <a:latin typeface="Archivo Black" pitchFamily="34" charset="0"/>
                <a:ea typeface="Archivo Black" pitchFamily="34" charset="-122"/>
                <a:cs typeface="Archivo Black" pitchFamily="34" charset="-120"/>
              </a:rPr>
              <a:t>26%</a:t>
            </a:r>
            <a:endParaRPr lang="en-US" sz="2200" dirty="0"/>
          </a:p>
        </p:txBody>
      </p:sp>
      <p:sp>
        <p:nvSpPr>
          <p:cNvPr id="22" name="Text 19"/>
          <p:cNvSpPr/>
          <p:nvPr/>
        </p:nvSpPr>
        <p:spPr>
          <a:xfrm>
            <a:off x="6397600" y="2267712"/>
            <a:ext cx="2252396" cy="219456"/>
          </a:xfrm>
          <a:prstGeom prst="rect">
            <a:avLst/>
          </a:prstGeom>
          <a:noFill/>
          <a:ln/>
        </p:spPr>
        <p:txBody>
          <a:bodyPr wrap="square" lIns="0" tIns="0" rIns="0" bIns="0" rtlCol="0" anchor="t"/>
          <a:lstStyle/>
          <a:p>
            <a:pPr indent="0" marL="0">
              <a:buNone/>
            </a:pPr>
            <a:r>
              <a:rPr lang="en-US" sz="1000" b="1" dirty="0">
                <a:solidFill>
                  <a:srgbClr val="0C1A2B"/>
                </a:solidFill>
                <a:latin typeface="Nunito Sans" pitchFamily="34" charset="0"/>
                <a:ea typeface="Nunito Sans" pitchFamily="34" charset="-122"/>
                <a:cs typeface="Nunito Sans" pitchFamily="34" charset="-120"/>
              </a:rPr>
              <a:t>Passive Defaulters</a:t>
            </a:r>
            <a:endParaRPr lang="en-US" sz="1000" dirty="0"/>
          </a:p>
        </p:txBody>
      </p:sp>
      <p:sp>
        <p:nvSpPr>
          <p:cNvPr id="23" name="Text 20"/>
          <p:cNvSpPr/>
          <p:nvPr/>
        </p:nvSpPr>
        <p:spPr>
          <a:xfrm>
            <a:off x="6397600" y="2487168"/>
            <a:ext cx="2252396" cy="566928"/>
          </a:xfrm>
          <a:prstGeom prst="rect">
            <a:avLst/>
          </a:prstGeom>
          <a:noFill/>
          <a:ln/>
        </p:spPr>
        <p:txBody>
          <a:bodyPr wrap="square" lIns="0" tIns="0" rIns="0" bIns="0" rtlCol="0" anchor="t"/>
          <a:lstStyle/>
          <a:p>
            <a:pPr indent="0" marL="0">
              <a:lnSpc>
                <a:spcPct val="110000"/>
              </a:lnSpc>
              <a:buNone/>
            </a:pPr>
            <a:r>
              <a:rPr lang="en-US" sz="850" dirty="0">
                <a:solidFill>
                  <a:srgbClr val="54606F"/>
                </a:solidFill>
                <a:latin typeface="Nunito Sans" pitchFamily="34" charset="0"/>
                <a:ea typeface="Nunito Sans" pitchFamily="34" charset="-122"/>
                <a:cs typeface="Nunito Sans" pitchFamily="34" charset="-120"/>
              </a:rPr>
              <a:t>Proof-heavy messaging misfires. Capture cheaply in phase two, once the category feels default.</a:t>
            </a:r>
            <a:endParaRPr lang="en-US" sz="850" dirty="0"/>
          </a:p>
        </p:txBody>
      </p:sp>
      <p:sp>
        <p:nvSpPr>
          <p:cNvPr id="24" name="Shape 21"/>
          <p:cNvSpPr/>
          <p:nvPr/>
        </p:nvSpPr>
        <p:spPr>
          <a:xfrm>
            <a:off x="9070619" y="1463040"/>
            <a:ext cx="2618156" cy="1627632"/>
          </a:xfrm>
          <a:prstGeom prst="roundRect">
            <a:avLst>
              <a:gd name="adj" fmla="val 5618"/>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25" name="Shape 22"/>
          <p:cNvSpPr/>
          <p:nvPr/>
        </p:nvSpPr>
        <p:spPr>
          <a:xfrm>
            <a:off x="9070619" y="1463040"/>
            <a:ext cx="2618156" cy="45720"/>
          </a:xfrm>
          <a:prstGeom prst="rect">
            <a:avLst/>
          </a:prstGeom>
          <a:solidFill>
            <a:srgbClr val="9E3A24"/>
          </a:solidFill>
          <a:ln w="5080">
            <a:solidFill>
              <a:srgbClr val="9E3A24"/>
            </a:solidFill>
            <a:prstDash val="solid"/>
          </a:ln>
        </p:spPr>
      </p:sp>
      <p:sp>
        <p:nvSpPr>
          <p:cNvPr id="26" name="Text 23"/>
          <p:cNvSpPr/>
          <p:nvPr/>
        </p:nvSpPr>
        <p:spPr>
          <a:xfrm>
            <a:off x="9253499" y="1609344"/>
            <a:ext cx="2252396" cy="201168"/>
          </a:xfrm>
          <a:prstGeom prst="rect">
            <a:avLst/>
          </a:prstGeom>
          <a:noFill/>
          <a:ln/>
        </p:spPr>
        <p:txBody>
          <a:bodyPr wrap="square" lIns="0" tIns="0" rIns="0" bIns="0" rtlCol="0" anchor="ctr"/>
          <a:lstStyle/>
          <a:p>
            <a:pPr indent="0" marL="0">
              <a:buNone/>
            </a:pPr>
            <a:r>
              <a:rPr lang="en-US" sz="800" b="1" spc="120" kern="0" dirty="0">
                <a:solidFill>
                  <a:srgbClr val="9E3A24"/>
                </a:solidFill>
                <a:latin typeface="Nunito Sans" pitchFamily="34" charset="0"/>
                <a:ea typeface="Nunito Sans" pitchFamily="34" charset="-122"/>
                <a:cs typeface="Nunito Sans" pitchFamily="34" charset="-120"/>
              </a:rPr>
              <a:t>SEQUENCE LAST</a:t>
            </a:r>
            <a:endParaRPr lang="en-US" sz="800" dirty="0"/>
          </a:p>
        </p:txBody>
      </p:sp>
      <p:sp>
        <p:nvSpPr>
          <p:cNvPr id="27" name="Text 24"/>
          <p:cNvSpPr/>
          <p:nvPr/>
        </p:nvSpPr>
        <p:spPr>
          <a:xfrm>
            <a:off x="9253499" y="1828800"/>
            <a:ext cx="2252396" cy="402336"/>
          </a:xfrm>
          <a:prstGeom prst="rect">
            <a:avLst/>
          </a:prstGeom>
          <a:noFill/>
          <a:ln/>
        </p:spPr>
        <p:txBody>
          <a:bodyPr wrap="square" lIns="0" tIns="0" rIns="0" bIns="0" rtlCol="0" anchor="t"/>
          <a:lstStyle/>
          <a:p>
            <a:pPr indent="0" marL="0">
              <a:buNone/>
            </a:pPr>
            <a:r>
              <a:rPr lang="en-US" sz="2200" dirty="0">
                <a:solidFill>
                  <a:srgbClr val="0C1A2B"/>
                </a:solidFill>
                <a:latin typeface="Archivo Black" pitchFamily="34" charset="0"/>
                <a:ea typeface="Archivo Black" pitchFamily="34" charset="-122"/>
                <a:cs typeface="Archivo Black" pitchFamily="34" charset="-120"/>
              </a:rPr>
              <a:t>18%</a:t>
            </a:r>
            <a:endParaRPr lang="en-US" sz="2200" dirty="0"/>
          </a:p>
        </p:txBody>
      </p:sp>
      <p:sp>
        <p:nvSpPr>
          <p:cNvPr id="28" name="Text 25"/>
          <p:cNvSpPr/>
          <p:nvPr/>
        </p:nvSpPr>
        <p:spPr>
          <a:xfrm>
            <a:off x="9253499" y="2267712"/>
            <a:ext cx="2252396" cy="219456"/>
          </a:xfrm>
          <a:prstGeom prst="rect">
            <a:avLst/>
          </a:prstGeom>
          <a:noFill/>
          <a:ln/>
        </p:spPr>
        <p:txBody>
          <a:bodyPr wrap="square" lIns="0" tIns="0" rIns="0" bIns="0" rtlCol="0" anchor="t"/>
          <a:lstStyle/>
          <a:p>
            <a:pPr indent="0" marL="0">
              <a:buNone/>
            </a:pPr>
            <a:r>
              <a:rPr lang="en-US" sz="1000" b="1" dirty="0">
                <a:solidFill>
                  <a:srgbClr val="0C1A2B"/>
                </a:solidFill>
                <a:latin typeface="Nunito Sans" pitchFamily="34" charset="0"/>
                <a:ea typeface="Nunito Sans" pitchFamily="34" charset="-122"/>
                <a:cs typeface="Nunito Sans" pitchFamily="34" charset="-120"/>
              </a:rPr>
              <a:t>System Fatalists</a:t>
            </a:r>
            <a:endParaRPr lang="en-US" sz="1000" dirty="0"/>
          </a:p>
        </p:txBody>
      </p:sp>
      <p:sp>
        <p:nvSpPr>
          <p:cNvPr id="29" name="Text 26"/>
          <p:cNvSpPr/>
          <p:nvPr/>
        </p:nvSpPr>
        <p:spPr>
          <a:xfrm>
            <a:off x="9253499" y="2487168"/>
            <a:ext cx="2252396" cy="566928"/>
          </a:xfrm>
          <a:prstGeom prst="rect">
            <a:avLst/>
          </a:prstGeom>
          <a:noFill/>
          <a:ln/>
        </p:spPr>
        <p:txBody>
          <a:bodyPr wrap="square" lIns="0" tIns="0" rIns="0" bIns="0" rtlCol="0" anchor="t"/>
          <a:lstStyle/>
          <a:p>
            <a:pPr indent="0" marL="0">
              <a:lnSpc>
                <a:spcPct val="110000"/>
              </a:lnSpc>
              <a:buNone/>
            </a:pPr>
            <a:r>
              <a:rPr lang="en-US" sz="850" dirty="0">
                <a:solidFill>
                  <a:srgbClr val="54606F"/>
                </a:solidFill>
                <a:latin typeface="Nunito Sans" pitchFamily="34" charset="0"/>
                <a:ea typeface="Nunito Sans" pitchFamily="34" charset="-122"/>
                <a:cs typeface="Nunito Sans" pitchFamily="34" charset="-120"/>
              </a:rPr>
              <a:t>Smallest and hardest. Needs a separate radical-transparency, farmer / founder-direct playbook.</a:t>
            </a:r>
            <a:endParaRPr lang="en-US" sz="850" dirty="0"/>
          </a:p>
        </p:txBody>
      </p:sp>
      <p:sp>
        <p:nvSpPr>
          <p:cNvPr id="30" name="Shape 27"/>
          <p:cNvSpPr/>
          <p:nvPr/>
        </p:nvSpPr>
        <p:spPr>
          <a:xfrm>
            <a:off x="502920" y="3236976"/>
            <a:ext cx="5669280" cy="0"/>
          </a:xfrm>
          <a:prstGeom prst="line">
            <a:avLst/>
          </a:prstGeom>
          <a:noFill/>
          <a:ln w="12700">
            <a:solidFill>
              <a:srgbClr val="3A5D97"/>
            </a:solidFill>
            <a:prstDash val="solid"/>
          </a:ln>
        </p:spPr>
      </p:sp>
      <p:sp>
        <p:nvSpPr>
          <p:cNvPr id="31" name="Text 28"/>
          <p:cNvSpPr/>
          <p:nvPr/>
        </p:nvSpPr>
        <p:spPr>
          <a:xfrm>
            <a:off x="502920" y="3282696"/>
            <a:ext cx="5669280"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WHAT WOULD MAKE YOU TRY A NEW BRAND?  (% NAMING IT THE SINGLE TOP DRIVER)</a:t>
            </a:r>
            <a:endParaRPr lang="en-US" sz="900" dirty="0"/>
          </a:p>
        </p:txBody>
      </p:sp>
      <p:sp>
        <p:nvSpPr>
          <p:cNvPr id="32" name="Text 29"/>
          <p:cNvSpPr/>
          <p:nvPr/>
        </p:nvSpPr>
        <p:spPr>
          <a:xfrm>
            <a:off x="502920" y="3529584"/>
            <a:ext cx="393192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Doctor / child-specialist endorsement</a:t>
            </a:r>
            <a:endParaRPr lang="en-US" sz="950" dirty="0"/>
          </a:p>
        </p:txBody>
      </p:sp>
      <p:sp>
        <p:nvSpPr>
          <p:cNvPr id="33" name="Text 30"/>
          <p:cNvSpPr/>
          <p:nvPr/>
        </p:nvSpPr>
        <p:spPr>
          <a:xfrm>
            <a:off x="4434840" y="3529584"/>
            <a:ext cx="1737360" cy="201168"/>
          </a:xfrm>
          <a:prstGeom prst="rect">
            <a:avLst/>
          </a:prstGeom>
          <a:noFill/>
          <a:ln/>
        </p:spPr>
        <p:txBody>
          <a:bodyPr wrap="square" lIns="0" tIns="0" rIns="0" bIns="0" rtlCol="0" anchor="ctr"/>
          <a:lstStyle/>
          <a:p>
            <a:pPr algn="r" indent="0" marL="0">
              <a:buNone/>
            </a:pPr>
            <a:r>
              <a:rPr lang="en-US" sz="1000" b="1" dirty="0">
                <a:solidFill>
                  <a:srgbClr val="177A46"/>
                </a:solidFill>
                <a:latin typeface="Nunito Sans" pitchFamily="34" charset="0"/>
                <a:ea typeface="Nunito Sans" pitchFamily="34" charset="-122"/>
                <a:cs typeface="Nunito Sans" pitchFamily="34" charset="-120"/>
              </a:rPr>
              <a:t>44%</a:t>
            </a:r>
            <a:endParaRPr lang="en-US" sz="1000" dirty="0"/>
          </a:p>
        </p:txBody>
      </p:sp>
      <p:sp>
        <p:nvSpPr>
          <p:cNvPr id="34" name="Shape 31"/>
          <p:cNvSpPr/>
          <p:nvPr/>
        </p:nvSpPr>
        <p:spPr>
          <a:xfrm>
            <a:off x="502920" y="3749040"/>
            <a:ext cx="5669280" cy="100584"/>
          </a:xfrm>
          <a:prstGeom prst="roundRect">
            <a:avLst>
              <a:gd name="adj" fmla="val 50000"/>
            </a:avLst>
          </a:prstGeom>
          <a:solidFill>
            <a:srgbClr val="EDE4D4"/>
          </a:solidFill>
          <a:ln w="12700">
            <a:solidFill>
              <a:srgbClr val="333333"/>
            </a:solidFill>
            <a:prstDash val="solid"/>
          </a:ln>
        </p:spPr>
      </p:sp>
      <p:sp>
        <p:nvSpPr>
          <p:cNvPr id="35" name="Shape 32"/>
          <p:cNvSpPr/>
          <p:nvPr/>
        </p:nvSpPr>
        <p:spPr>
          <a:xfrm>
            <a:off x="502920" y="3749040"/>
            <a:ext cx="4988966" cy="100584"/>
          </a:xfrm>
          <a:prstGeom prst="roundRect">
            <a:avLst>
              <a:gd name="adj" fmla="val 50000"/>
            </a:avLst>
          </a:prstGeom>
          <a:solidFill>
            <a:srgbClr val="177A46"/>
          </a:solidFill>
          <a:ln w="12700">
            <a:solidFill>
              <a:srgbClr val="333333"/>
            </a:solidFill>
            <a:prstDash val="solid"/>
          </a:ln>
        </p:spPr>
      </p:sp>
      <p:sp>
        <p:nvSpPr>
          <p:cNvPr id="36" name="Text 33"/>
          <p:cNvSpPr/>
          <p:nvPr/>
        </p:nvSpPr>
        <p:spPr>
          <a:xfrm>
            <a:off x="502920" y="3831336"/>
            <a:ext cx="393192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"Below detectable limits" + QR to lab report</a:t>
            </a:r>
            <a:endParaRPr lang="en-US" sz="950" dirty="0"/>
          </a:p>
        </p:txBody>
      </p:sp>
      <p:sp>
        <p:nvSpPr>
          <p:cNvPr id="37" name="Text 34"/>
          <p:cNvSpPr/>
          <p:nvPr/>
        </p:nvSpPr>
        <p:spPr>
          <a:xfrm>
            <a:off x="4434840" y="3831336"/>
            <a:ext cx="1737360" cy="201168"/>
          </a:xfrm>
          <a:prstGeom prst="rect">
            <a:avLst/>
          </a:prstGeom>
          <a:noFill/>
          <a:ln/>
        </p:spPr>
        <p:txBody>
          <a:bodyPr wrap="square" lIns="0" tIns="0" rIns="0" bIns="0" rtlCol="0" anchor="ctr"/>
          <a:lstStyle/>
          <a:p>
            <a:pPr algn="r" indent="0" marL="0">
              <a:buNone/>
            </a:pPr>
            <a:r>
              <a:rPr lang="en-US" sz="1000" b="1" dirty="0">
                <a:solidFill>
                  <a:srgbClr val="3A5D97"/>
                </a:solidFill>
                <a:latin typeface="Nunito Sans" pitchFamily="34" charset="0"/>
                <a:ea typeface="Nunito Sans" pitchFamily="34" charset="-122"/>
                <a:cs typeface="Nunito Sans" pitchFamily="34" charset="-120"/>
              </a:rPr>
              <a:t>27%</a:t>
            </a:r>
            <a:endParaRPr lang="en-US" sz="1000" dirty="0"/>
          </a:p>
        </p:txBody>
      </p:sp>
      <p:sp>
        <p:nvSpPr>
          <p:cNvPr id="38" name="Shape 35"/>
          <p:cNvSpPr/>
          <p:nvPr/>
        </p:nvSpPr>
        <p:spPr>
          <a:xfrm>
            <a:off x="502920" y="4050792"/>
            <a:ext cx="5669280" cy="100584"/>
          </a:xfrm>
          <a:prstGeom prst="roundRect">
            <a:avLst>
              <a:gd name="adj" fmla="val 50000"/>
            </a:avLst>
          </a:prstGeom>
          <a:solidFill>
            <a:srgbClr val="EDE4D4"/>
          </a:solidFill>
          <a:ln w="12700">
            <a:solidFill>
              <a:srgbClr val="333333"/>
            </a:solidFill>
            <a:prstDash val="solid"/>
          </a:ln>
        </p:spPr>
      </p:sp>
      <p:sp>
        <p:nvSpPr>
          <p:cNvPr id="39" name="Shape 36"/>
          <p:cNvSpPr/>
          <p:nvPr/>
        </p:nvSpPr>
        <p:spPr>
          <a:xfrm>
            <a:off x="502920" y="4050792"/>
            <a:ext cx="3061411" cy="100584"/>
          </a:xfrm>
          <a:prstGeom prst="roundRect">
            <a:avLst>
              <a:gd name="adj" fmla="val 50000"/>
            </a:avLst>
          </a:prstGeom>
          <a:solidFill>
            <a:srgbClr val="3A5D97"/>
          </a:solidFill>
          <a:ln w="12700">
            <a:solidFill>
              <a:srgbClr val="333333"/>
            </a:solidFill>
            <a:prstDash val="solid"/>
          </a:ln>
        </p:spPr>
      </p:sp>
      <p:sp>
        <p:nvSpPr>
          <p:cNvPr id="40" name="Text 37"/>
          <p:cNvSpPr/>
          <p:nvPr/>
        </p:nvSpPr>
        <p:spPr>
          <a:xfrm>
            <a:off x="502920" y="4133088"/>
            <a:ext cx="393192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Farmer's name and village on pack</a:t>
            </a:r>
            <a:endParaRPr lang="en-US" sz="950" dirty="0"/>
          </a:p>
        </p:txBody>
      </p:sp>
      <p:sp>
        <p:nvSpPr>
          <p:cNvPr id="41" name="Text 38"/>
          <p:cNvSpPr/>
          <p:nvPr/>
        </p:nvSpPr>
        <p:spPr>
          <a:xfrm>
            <a:off x="4434840" y="4133088"/>
            <a:ext cx="1737360" cy="201168"/>
          </a:xfrm>
          <a:prstGeom prst="rect">
            <a:avLst/>
          </a:prstGeom>
          <a:noFill/>
          <a:ln/>
        </p:spPr>
        <p:txBody>
          <a:bodyPr wrap="square" lIns="0" tIns="0" rIns="0" bIns="0" rtlCol="0" anchor="ctr"/>
          <a:lstStyle/>
          <a:p>
            <a:pPr algn="r" indent="0" marL="0">
              <a:buNone/>
            </a:pPr>
            <a:r>
              <a:rPr lang="en-US" sz="1000" b="1" dirty="0">
                <a:solidFill>
                  <a:srgbClr val="6688BE"/>
                </a:solidFill>
                <a:latin typeface="Nunito Sans" pitchFamily="34" charset="0"/>
                <a:ea typeface="Nunito Sans" pitchFamily="34" charset="-122"/>
                <a:cs typeface="Nunito Sans" pitchFamily="34" charset="-120"/>
              </a:rPr>
              <a:t>12%</a:t>
            </a:r>
            <a:endParaRPr lang="en-US" sz="1000" dirty="0"/>
          </a:p>
        </p:txBody>
      </p:sp>
      <p:sp>
        <p:nvSpPr>
          <p:cNvPr id="42" name="Shape 39"/>
          <p:cNvSpPr/>
          <p:nvPr/>
        </p:nvSpPr>
        <p:spPr>
          <a:xfrm>
            <a:off x="502920" y="4352544"/>
            <a:ext cx="5669280" cy="100584"/>
          </a:xfrm>
          <a:prstGeom prst="roundRect">
            <a:avLst>
              <a:gd name="adj" fmla="val 50000"/>
            </a:avLst>
          </a:prstGeom>
          <a:solidFill>
            <a:srgbClr val="EDE4D4"/>
          </a:solidFill>
          <a:ln w="12700">
            <a:solidFill>
              <a:srgbClr val="333333"/>
            </a:solidFill>
            <a:prstDash val="solid"/>
          </a:ln>
        </p:spPr>
      </p:sp>
      <p:sp>
        <p:nvSpPr>
          <p:cNvPr id="43" name="Shape 40"/>
          <p:cNvSpPr/>
          <p:nvPr/>
        </p:nvSpPr>
        <p:spPr>
          <a:xfrm>
            <a:off x="502920" y="4352544"/>
            <a:ext cx="1360627" cy="100584"/>
          </a:xfrm>
          <a:prstGeom prst="roundRect">
            <a:avLst>
              <a:gd name="adj" fmla="val 50000"/>
            </a:avLst>
          </a:prstGeom>
          <a:solidFill>
            <a:srgbClr val="6688BE"/>
          </a:solidFill>
          <a:ln w="12700">
            <a:solidFill>
              <a:srgbClr val="333333"/>
            </a:solidFill>
            <a:prstDash val="solid"/>
          </a:ln>
        </p:spPr>
      </p:sp>
      <p:sp>
        <p:nvSpPr>
          <p:cNvPr id="44" name="Text 41"/>
          <p:cNvSpPr/>
          <p:nvPr/>
        </p:nvSpPr>
        <p:spPr>
          <a:xfrm>
            <a:off x="502920" y="4434840"/>
            <a:ext cx="393192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Government certificate as the lead message</a:t>
            </a:r>
            <a:endParaRPr lang="en-US" sz="950" dirty="0"/>
          </a:p>
        </p:txBody>
      </p:sp>
      <p:sp>
        <p:nvSpPr>
          <p:cNvPr id="45" name="Text 42"/>
          <p:cNvSpPr/>
          <p:nvPr/>
        </p:nvSpPr>
        <p:spPr>
          <a:xfrm>
            <a:off x="4434840" y="4434840"/>
            <a:ext cx="1737360" cy="201168"/>
          </a:xfrm>
          <a:prstGeom prst="rect">
            <a:avLst/>
          </a:prstGeom>
          <a:noFill/>
          <a:ln/>
        </p:spPr>
        <p:txBody>
          <a:bodyPr wrap="square" lIns="0" tIns="0" rIns="0" bIns="0" rtlCol="0" anchor="ctr"/>
          <a:lstStyle/>
          <a:p>
            <a:pPr algn="r" indent="0" marL="0">
              <a:buNone/>
            </a:pPr>
            <a:r>
              <a:rPr lang="en-US" sz="1000" b="1" dirty="0">
                <a:solidFill>
                  <a:srgbClr val="B5AD9C"/>
                </a:solidFill>
                <a:latin typeface="Nunito Sans" pitchFamily="34" charset="0"/>
                <a:ea typeface="Nunito Sans" pitchFamily="34" charset="-122"/>
                <a:cs typeface="Nunito Sans" pitchFamily="34" charset="-120"/>
              </a:rPr>
              <a:t>8%</a:t>
            </a:r>
            <a:endParaRPr lang="en-US" sz="1000" dirty="0"/>
          </a:p>
        </p:txBody>
      </p:sp>
      <p:sp>
        <p:nvSpPr>
          <p:cNvPr id="46" name="Shape 43"/>
          <p:cNvSpPr/>
          <p:nvPr/>
        </p:nvSpPr>
        <p:spPr>
          <a:xfrm>
            <a:off x="502920" y="4654296"/>
            <a:ext cx="5669280" cy="100584"/>
          </a:xfrm>
          <a:prstGeom prst="roundRect">
            <a:avLst>
              <a:gd name="adj" fmla="val 50000"/>
            </a:avLst>
          </a:prstGeom>
          <a:solidFill>
            <a:srgbClr val="EDE4D4"/>
          </a:solidFill>
          <a:ln w="12700">
            <a:solidFill>
              <a:srgbClr val="333333"/>
            </a:solidFill>
            <a:prstDash val="solid"/>
          </a:ln>
        </p:spPr>
      </p:sp>
      <p:sp>
        <p:nvSpPr>
          <p:cNvPr id="47" name="Shape 44"/>
          <p:cNvSpPr/>
          <p:nvPr/>
        </p:nvSpPr>
        <p:spPr>
          <a:xfrm>
            <a:off x="502920" y="4654296"/>
            <a:ext cx="907085" cy="100584"/>
          </a:xfrm>
          <a:prstGeom prst="roundRect">
            <a:avLst>
              <a:gd name="adj" fmla="val 50000"/>
            </a:avLst>
          </a:prstGeom>
          <a:solidFill>
            <a:srgbClr val="B5AD9C"/>
          </a:solidFill>
          <a:ln w="12700">
            <a:solidFill>
              <a:srgbClr val="333333"/>
            </a:solidFill>
            <a:prstDash val="solid"/>
          </a:ln>
        </p:spPr>
      </p:sp>
      <p:sp>
        <p:nvSpPr>
          <p:cNvPr id="48" name="Text 45"/>
          <p:cNvSpPr/>
          <p:nvPr/>
        </p:nvSpPr>
        <p:spPr>
          <a:xfrm>
            <a:off x="502920" y="4736592"/>
            <a:ext cx="393192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"Tested for 200+ chemicals"</a:t>
            </a:r>
            <a:endParaRPr lang="en-US" sz="950" dirty="0"/>
          </a:p>
        </p:txBody>
      </p:sp>
      <p:sp>
        <p:nvSpPr>
          <p:cNvPr id="49" name="Text 46"/>
          <p:cNvSpPr/>
          <p:nvPr/>
        </p:nvSpPr>
        <p:spPr>
          <a:xfrm>
            <a:off x="4434840" y="4736592"/>
            <a:ext cx="1737360" cy="201168"/>
          </a:xfrm>
          <a:prstGeom prst="rect">
            <a:avLst/>
          </a:prstGeom>
          <a:noFill/>
          <a:ln/>
        </p:spPr>
        <p:txBody>
          <a:bodyPr wrap="square" lIns="0" tIns="0" rIns="0" bIns="0" rtlCol="0" anchor="ctr"/>
          <a:lstStyle/>
          <a:p>
            <a:pPr algn="r" indent="0" marL="0">
              <a:buNone/>
            </a:pPr>
            <a:r>
              <a:rPr lang="en-US" sz="1000" b="1" dirty="0">
                <a:solidFill>
                  <a:srgbClr val="9E3A24"/>
                </a:solidFill>
                <a:latin typeface="Nunito Sans" pitchFamily="34" charset="0"/>
                <a:ea typeface="Nunito Sans" pitchFamily="34" charset="-122"/>
                <a:cs typeface="Nunito Sans" pitchFamily="34" charset="-120"/>
              </a:rPr>
              <a:t>6%</a:t>
            </a:r>
            <a:endParaRPr lang="en-US" sz="1000" dirty="0"/>
          </a:p>
        </p:txBody>
      </p:sp>
      <p:sp>
        <p:nvSpPr>
          <p:cNvPr id="50" name="Shape 47"/>
          <p:cNvSpPr/>
          <p:nvPr/>
        </p:nvSpPr>
        <p:spPr>
          <a:xfrm>
            <a:off x="502920" y="4956048"/>
            <a:ext cx="5669280" cy="100584"/>
          </a:xfrm>
          <a:prstGeom prst="roundRect">
            <a:avLst>
              <a:gd name="adj" fmla="val 50000"/>
            </a:avLst>
          </a:prstGeom>
          <a:solidFill>
            <a:srgbClr val="EDE4D4"/>
          </a:solidFill>
          <a:ln w="12700">
            <a:solidFill>
              <a:srgbClr val="333333"/>
            </a:solidFill>
            <a:prstDash val="solid"/>
          </a:ln>
        </p:spPr>
      </p:sp>
      <p:sp>
        <p:nvSpPr>
          <p:cNvPr id="51" name="Shape 48"/>
          <p:cNvSpPr/>
          <p:nvPr/>
        </p:nvSpPr>
        <p:spPr>
          <a:xfrm>
            <a:off x="502920" y="4956048"/>
            <a:ext cx="680314" cy="100584"/>
          </a:xfrm>
          <a:prstGeom prst="roundRect">
            <a:avLst>
              <a:gd name="adj" fmla="val 50000"/>
            </a:avLst>
          </a:prstGeom>
          <a:solidFill>
            <a:srgbClr val="9E3A24"/>
          </a:solidFill>
          <a:ln w="12700">
            <a:solidFill>
              <a:srgbClr val="333333"/>
            </a:solidFill>
            <a:prstDash val="solid"/>
          </a:ln>
        </p:spPr>
      </p:sp>
      <p:sp>
        <p:nvSpPr>
          <p:cNvPr id="52" name="Text 49"/>
          <p:cNvSpPr/>
          <p:nvPr/>
        </p:nvSpPr>
        <p:spPr>
          <a:xfrm>
            <a:off x="502920" y="5038344"/>
            <a:ext cx="393192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Farm-visit invitations</a:t>
            </a:r>
            <a:endParaRPr lang="en-US" sz="950" dirty="0"/>
          </a:p>
        </p:txBody>
      </p:sp>
      <p:sp>
        <p:nvSpPr>
          <p:cNvPr id="53" name="Text 50"/>
          <p:cNvSpPr/>
          <p:nvPr/>
        </p:nvSpPr>
        <p:spPr>
          <a:xfrm>
            <a:off x="4434840" y="5038344"/>
            <a:ext cx="1737360" cy="201168"/>
          </a:xfrm>
          <a:prstGeom prst="rect">
            <a:avLst/>
          </a:prstGeom>
          <a:noFill/>
          <a:ln/>
        </p:spPr>
        <p:txBody>
          <a:bodyPr wrap="square" lIns="0" tIns="0" rIns="0" bIns="0" rtlCol="0" anchor="ctr"/>
          <a:lstStyle/>
          <a:p>
            <a:pPr algn="r" indent="0" marL="0">
              <a:buNone/>
            </a:pPr>
            <a:r>
              <a:rPr lang="en-US" sz="1000" b="1" dirty="0">
                <a:solidFill>
                  <a:srgbClr val="B5AD9C"/>
                </a:solidFill>
                <a:latin typeface="Nunito Sans" pitchFamily="34" charset="0"/>
                <a:ea typeface="Nunito Sans" pitchFamily="34" charset="-122"/>
                <a:cs typeface="Nunito Sans" pitchFamily="34" charset="-120"/>
              </a:rPr>
              <a:t>3%</a:t>
            </a:r>
            <a:endParaRPr lang="en-US" sz="1000" dirty="0"/>
          </a:p>
        </p:txBody>
      </p:sp>
      <p:sp>
        <p:nvSpPr>
          <p:cNvPr id="54" name="Shape 51"/>
          <p:cNvSpPr/>
          <p:nvPr/>
        </p:nvSpPr>
        <p:spPr>
          <a:xfrm>
            <a:off x="502920" y="5257800"/>
            <a:ext cx="5669280" cy="100584"/>
          </a:xfrm>
          <a:prstGeom prst="roundRect">
            <a:avLst>
              <a:gd name="adj" fmla="val 50000"/>
            </a:avLst>
          </a:prstGeom>
          <a:solidFill>
            <a:srgbClr val="EDE4D4"/>
          </a:solidFill>
          <a:ln w="12700">
            <a:solidFill>
              <a:srgbClr val="333333"/>
            </a:solidFill>
            <a:prstDash val="solid"/>
          </a:ln>
        </p:spPr>
      </p:sp>
      <p:sp>
        <p:nvSpPr>
          <p:cNvPr id="55" name="Shape 52"/>
          <p:cNvSpPr/>
          <p:nvPr/>
        </p:nvSpPr>
        <p:spPr>
          <a:xfrm>
            <a:off x="502920" y="5257800"/>
            <a:ext cx="340157" cy="100584"/>
          </a:xfrm>
          <a:prstGeom prst="roundRect">
            <a:avLst>
              <a:gd name="adj" fmla="val 50000"/>
            </a:avLst>
          </a:prstGeom>
          <a:solidFill>
            <a:srgbClr val="B5AD9C"/>
          </a:solidFill>
          <a:ln w="12700">
            <a:solidFill>
              <a:srgbClr val="333333"/>
            </a:solidFill>
            <a:prstDash val="solid"/>
          </a:ln>
        </p:spPr>
      </p:sp>
      <p:sp>
        <p:nvSpPr>
          <p:cNvPr id="56" name="Text 53"/>
          <p:cNvSpPr/>
          <p:nvPr/>
        </p:nvSpPr>
        <p:spPr>
          <a:xfrm>
            <a:off x="502920" y="5340096"/>
            <a:ext cx="393192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Side-by-side residue comparison vs rivals</a:t>
            </a:r>
            <a:endParaRPr lang="en-US" sz="950" dirty="0"/>
          </a:p>
        </p:txBody>
      </p:sp>
      <p:sp>
        <p:nvSpPr>
          <p:cNvPr id="57" name="Text 54"/>
          <p:cNvSpPr/>
          <p:nvPr/>
        </p:nvSpPr>
        <p:spPr>
          <a:xfrm>
            <a:off x="4434840" y="5340096"/>
            <a:ext cx="1737360" cy="201168"/>
          </a:xfrm>
          <a:prstGeom prst="rect">
            <a:avLst/>
          </a:prstGeom>
          <a:noFill/>
          <a:ln/>
        </p:spPr>
        <p:txBody>
          <a:bodyPr wrap="square" lIns="0" tIns="0" rIns="0" bIns="0" rtlCol="0" anchor="ctr"/>
          <a:lstStyle/>
          <a:p>
            <a:pPr algn="r" indent="0" marL="0">
              <a:buNone/>
            </a:pPr>
            <a:r>
              <a:rPr lang="en-US" sz="1000" b="1" dirty="0">
                <a:solidFill>
                  <a:srgbClr val="B5AD9C"/>
                </a:solidFill>
                <a:latin typeface="Nunito Sans" pitchFamily="34" charset="0"/>
                <a:ea typeface="Nunito Sans" pitchFamily="34" charset="-122"/>
                <a:cs typeface="Nunito Sans" pitchFamily="34" charset="-120"/>
              </a:rPr>
              <a:t>1%</a:t>
            </a:r>
            <a:endParaRPr lang="en-US" sz="1000" dirty="0"/>
          </a:p>
        </p:txBody>
      </p:sp>
      <p:sp>
        <p:nvSpPr>
          <p:cNvPr id="58" name="Shape 55"/>
          <p:cNvSpPr/>
          <p:nvPr/>
        </p:nvSpPr>
        <p:spPr>
          <a:xfrm>
            <a:off x="502920" y="5559552"/>
            <a:ext cx="5669280" cy="100584"/>
          </a:xfrm>
          <a:prstGeom prst="roundRect">
            <a:avLst>
              <a:gd name="adj" fmla="val 50000"/>
            </a:avLst>
          </a:prstGeom>
          <a:solidFill>
            <a:srgbClr val="EDE4D4"/>
          </a:solidFill>
          <a:ln w="12700">
            <a:solidFill>
              <a:srgbClr val="333333"/>
            </a:solidFill>
            <a:prstDash val="solid"/>
          </a:ln>
        </p:spPr>
      </p:sp>
      <p:sp>
        <p:nvSpPr>
          <p:cNvPr id="59" name="Shape 56"/>
          <p:cNvSpPr/>
          <p:nvPr/>
        </p:nvSpPr>
        <p:spPr>
          <a:xfrm>
            <a:off x="502920" y="5559552"/>
            <a:ext cx="113386" cy="100584"/>
          </a:xfrm>
          <a:prstGeom prst="roundRect">
            <a:avLst>
              <a:gd name="adj" fmla="val 50000"/>
            </a:avLst>
          </a:prstGeom>
          <a:solidFill>
            <a:srgbClr val="B5AD9C"/>
          </a:solidFill>
          <a:ln w="12700">
            <a:solidFill>
              <a:srgbClr val="333333"/>
            </a:solidFill>
            <a:prstDash val="solid"/>
          </a:ln>
        </p:spPr>
      </p:sp>
      <p:sp>
        <p:nvSpPr>
          <p:cNvPr id="60" name="Shape 57"/>
          <p:cNvSpPr/>
          <p:nvPr/>
        </p:nvSpPr>
        <p:spPr>
          <a:xfrm>
            <a:off x="6537960" y="3529584"/>
            <a:ext cx="5150815" cy="1060704"/>
          </a:xfrm>
          <a:prstGeom prst="roundRect">
            <a:avLst>
              <a:gd name="adj" fmla="val 8621"/>
            </a:avLst>
          </a:prstGeom>
          <a:solidFill>
            <a:srgbClr val="FBE9E3"/>
          </a:solidFill>
          <a:ln w="6350">
            <a:solidFill>
              <a:srgbClr val="FBE9E3"/>
            </a:solidFill>
            <a:prstDash val="solid"/>
          </a:ln>
        </p:spPr>
      </p:sp>
      <p:sp>
        <p:nvSpPr>
          <p:cNvPr id="61" name="Text 58"/>
          <p:cNvSpPr/>
          <p:nvPr/>
        </p:nvSpPr>
        <p:spPr>
          <a:xfrm>
            <a:off x="6739128" y="3648456"/>
            <a:ext cx="4748479" cy="219456"/>
          </a:xfrm>
          <a:prstGeom prst="rect">
            <a:avLst/>
          </a:prstGeom>
          <a:noFill/>
          <a:ln/>
        </p:spPr>
        <p:txBody>
          <a:bodyPr wrap="square" lIns="0" tIns="0" rIns="0" bIns="0" rtlCol="0" anchor="t"/>
          <a:lstStyle/>
          <a:p>
            <a:pPr indent="0" marL="0">
              <a:lnSpc>
                <a:spcPct val="102000"/>
              </a:lnSpc>
              <a:buNone/>
            </a:pPr>
            <a:r>
              <a:rPr lang="en-US" sz="1050" b="1" dirty="0">
                <a:solidFill>
                  <a:srgbClr val="9E3A24"/>
                </a:solidFill>
                <a:latin typeface="Nunito Sans" pitchFamily="34" charset="0"/>
                <a:ea typeface="Nunito Sans" pitchFamily="34" charset="-122"/>
                <a:cs typeface="Nunito Sans" pitchFamily="34" charset="-120"/>
              </a:rPr>
              <a:t>THE UNCOMFORTABLE FINDING</a:t>
            </a:r>
            <a:endParaRPr lang="en-US" sz="1050" dirty="0"/>
          </a:p>
        </p:txBody>
      </p:sp>
      <p:sp>
        <p:nvSpPr>
          <p:cNvPr id="62" name="Text 59"/>
          <p:cNvSpPr/>
          <p:nvPr/>
        </p:nvSpPr>
        <p:spPr>
          <a:xfrm>
            <a:off x="6739128" y="3895344"/>
            <a:ext cx="4748479" cy="603504"/>
          </a:xfrm>
          <a:prstGeom prst="rect">
            <a:avLst/>
          </a:prstGeom>
          <a:noFill/>
          <a:ln/>
        </p:spPr>
        <p:txBody>
          <a:bodyPr wrap="square" lIns="0" tIns="0" rIns="0" bIns="0" rtlCol="0" anchor="t"/>
          <a:lstStyle/>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DHF leads with the claim only 6% find convincing and barely uses the endorsement 44% name first. Doctor endorsement wins in every segment. 55% of Trusters, 56% of Defaulters, 50% of Fatalists. Only Guardians rank the QR lab report first.</a:t>
            </a:r>
            <a:endParaRPr lang="en-US" sz="900" dirty="0"/>
          </a:p>
        </p:txBody>
      </p:sp>
      <p:sp>
        <p:nvSpPr>
          <p:cNvPr id="63" name="Shape 60"/>
          <p:cNvSpPr/>
          <p:nvPr/>
        </p:nvSpPr>
        <p:spPr>
          <a:xfrm>
            <a:off x="6537960" y="4681728"/>
            <a:ext cx="5150815" cy="1042416"/>
          </a:xfrm>
          <a:prstGeom prst="roundRect">
            <a:avLst>
              <a:gd name="adj" fmla="val 8772"/>
            </a:avLst>
          </a:prstGeom>
          <a:solidFill>
            <a:srgbClr val="EAF0F8"/>
          </a:solidFill>
          <a:ln w="6350">
            <a:solidFill>
              <a:srgbClr val="EAF0F8"/>
            </a:solidFill>
            <a:prstDash val="solid"/>
          </a:ln>
        </p:spPr>
      </p:sp>
      <p:sp>
        <p:nvSpPr>
          <p:cNvPr id="64" name="Text 61"/>
          <p:cNvSpPr/>
          <p:nvPr/>
        </p:nvSpPr>
        <p:spPr>
          <a:xfrm>
            <a:off x="6739128" y="4800600"/>
            <a:ext cx="4748479" cy="219456"/>
          </a:xfrm>
          <a:prstGeom prst="rect">
            <a:avLst/>
          </a:prstGeom>
          <a:noFill/>
          <a:ln/>
        </p:spPr>
        <p:txBody>
          <a:bodyPr wrap="square" lIns="0" tIns="0" rIns="0" bIns="0" rtlCol="0" anchor="t"/>
          <a:lstStyle/>
          <a:p>
            <a:pPr indent="0" marL="0">
              <a:lnSpc>
                <a:spcPct val="102000"/>
              </a:lnSpc>
              <a:buNone/>
            </a:pPr>
            <a:r>
              <a:rPr lang="en-US" sz="1050" b="1" dirty="0">
                <a:solidFill>
                  <a:srgbClr val="3A5D97"/>
                </a:solidFill>
                <a:latin typeface="Nunito Sans" pitchFamily="34" charset="0"/>
                <a:ea typeface="Nunito Sans" pitchFamily="34" charset="-122"/>
                <a:cs typeface="Nunito Sans" pitchFamily="34" charset="-120"/>
              </a:rPr>
              <a:t>THE LARGEST SEGMENT IS THE MOST VALUABLE</a:t>
            </a:r>
            <a:endParaRPr lang="en-US" sz="1050" dirty="0"/>
          </a:p>
        </p:txBody>
      </p:sp>
      <p:sp>
        <p:nvSpPr>
          <p:cNvPr id="65" name="Text 62"/>
          <p:cNvSpPr/>
          <p:nvPr/>
        </p:nvSpPr>
        <p:spPr>
          <a:xfrm>
            <a:off x="6739128" y="5047488"/>
            <a:ext cx="4748479" cy="585216"/>
          </a:xfrm>
          <a:prstGeom prst="rect">
            <a:avLst/>
          </a:prstGeom>
          <a:noFill/>
          <a:ln/>
        </p:spPr>
        <p:txBody>
          <a:bodyPr wrap="square" lIns="0" tIns="0" rIns="0" bIns="0" rtlCol="0" anchor="t"/>
          <a:lstStyle/>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Guardians are 36% of decision-makers but hold roughly 60% of all stated premium-rupee intent. They also do their own diligence, which means they generate the reviews, the doctor conversations and the proof trail that the next segment follows.</a:t>
            </a:r>
            <a:endParaRPr lang="en-US" sz="900" dirty="0"/>
          </a:p>
        </p:txBody>
      </p:sp>
      <p:sp>
        <p:nvSpPr>
          <p:cNvPr id="66" name="Shape 63"/>
          <p:cNvSpPr/>
          <p:nvPr/>
        </p:nvSpPr>
        <p:spPr>
          <a:xfrm>
            <a:off x="6537960" y="5797296"/>
            <a:ext cx="5150815" cy="694944"/>
          </a:xfrm>
          <a:prstGeom prst="roundRect">
            <a:avLst>
              <a:gd name="adj" fmla="val 13158"/>
            </a:avLst>
          </a:prstGeom>
          <a:solidFill>
            <a:srgbClr val="0C1A2B"/>
          </a:solidFill>
          <a:ln w="15875">
            <a:solidFill>
              <a:srgbClr val="0C1A2B"/>
            </a:solidFill>
            <a:prstDash val="solid"/>
          </a:ln>
          <a:effectLst>
            <a:outerShdw sx="100000" sy="100000" kx="0" ky="0" algn="bl" rotWithShape="0" blurRad="228600" dist="25400" dir="5400000">
              <a:srgbClr val="0C1A2B">
                <a:alpha val="7000"/>
              </a:srgbClr>
            </a:outerShdw>
          </a:effectLst>
        </p:spPr>
      </p:sp>
      <p:sp>
        <p:nvSpPr>
          <p:cNvPr id="67" name="Text 64"/>
          <p:cNvSpPr/>
          <p:nvPr/>
        </p:nvSpPr>
        <p:spPr>
          <a:xfrm>
            <a:off x="6739128" y="5870448"/>
            <a:ext cx="2743200" cy="219456"/>
          </a:xfrm>
          <a:prstGeom prst="rect">
            <a:avLst/>
          </a:prstGeom>
          <a:noFill/>
          <a:ln/>
        </p:spPr>
        <p:txBody>
          <a:bodyPr wrap="square" lIns="0" tIns="0" rIns="0" bIns="0" rtlCol="0" anchor="ctr"/>
          <a:lstStyle/>
          <a:p>
            <a:pPr indent="0" marL="0">
              <a:buNone/>
            </a:pPr>
            <a:r>
              <a:rPr lang="en-US" sz="950" b="1" spc="180" kern="0" dirty="0">
                <a:solidFill>
                  <a:srgbClr val="5FC28C"/>
                </a:solidFill>
                <a:latin typeface="Nunito Sans" pitchFamily="34" charset="0"/>
                <a:ea typeface="Nunito Sans" pitchFamily="34" charset="-122"/>
                <a:cs typeface="Nunito Sans" pitchFamily="34" charset="-120"/>
              </a:rPr>
              <a:t>THE PLAY</a:t>
            </a:r>
            <a:endParaRPr lang="en-US" sz="950" dirty="0"/>
          </a:p>
        </p:txBody>
      </p:sp>
      <p:sp>
        <p:nvSpPr>
          <p:cNvPr id="68" name="Text 65"/>
          <p:cNvSpPr/>
          <p:nvPr/>
        </p:nvSpPr>
        <p:spPr>
          <a:xfrm>
            <a:off x="6739128" y="6053328"/>
            <a:ext cx="4748479" cy="402336"/>
          </a:xfrm>
          <a:prstGeom prst="rect">
            <a:avLst/>
          </a:prstGeom>
          <a:noFill/>
          <a:ln/>
        </p:spPr>
        <p:txBody>
          <a:bodyPr wrap="square" lIns="0" tIns="0" rIns="0" bIns="0" rtlCol="0" anchor="t"/>
          <a:lstStyle/>
          <a:p>
            <a:pPr indent="0" marL="0">
              <a:lnSpc>
                <a:spcPct val="110000"/>
              </a:lnSpc>
              <a:buNone/>
            </a:pPr>
            <a:r>
              <a:rPr lang="en-US" sz="900" dirty="0">
                <a:solidFill>
                  <a:srgbClr val="EEE9E0"/>
                </a:solidFill>
                <a:latin typeface="Nunito Sans" pitchFamily="34" charset="0"/>
                <a:ea typeface="Nunito Sans" pitchFamily="34" charset="-122"/>
                <a:cs typeface="Nunito Sans" pitchFamily="34" charset="-120"/>
              </a:rPr>
              <a:t>Win Guardians with proof → convert their advocacy into the social proof that activates Trusters → ride the combined 56% into default category leadership.</a:t>
            </a:r>
            <a:endParaRPr lang="en-US" sz="900" dirty="0"/>
          </a:p>
        </p:txBody>
      </p:sp>
      <p:sp>
        <p:nvSpPr>
          <p:cNvPr id="69" name="Shape 66"/>
          <p:cNvSpPr/>
          <p:nvPr/>
        </p:nvSpPr>
        <p:spPr>
          <a:xfrm>
            <a:off x="502920" y="6492240"/>
            <a:ext cx="11185855" cy="0"/>
          </a:xfrm>
          <a:prstGeom prst="line">
            <a:avLst/>
          </a:prstGeom>
          <a:noFill/>
          <a:ln w="9525">
            <a:solidFill>
              <a:srgbClr val="E5DCCB"/>
            </a:solidFill>
            <a:prstDash val="solid"/>
          </a:ln>
        </p:spPr>
      </p:sp>
      <p:sp>
        <p:nvSpPr>
          <p:cNvPr id="70" name="Text 67"/>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THE CONSUMER</a:t>
            </a:r>
            <a:endParaRPr lang="en-US" sz="800" dirty="0"/>
          </a:p>
        </p:txBody>
      </p:sp>
      <p:sp>
        <p:nvSpPr>
          <p:cNvPr id="71" name="Text 68"/>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11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1801368"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1801368"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THE SHELF TODAY</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100" dirty="0">
                <a:solidFill>
                  <a:srgbClr val="0C1A2B"/>
                </a:solidFill>
                <a:latin typeface="Archivo Black" pitchFamily="34" charset="0"/>
                <a:ea typeface="Archivo Black" pitchFamily="34" charset="-122"/>
                <a:cs typeface="Archivo Black" pitchFamily="34" charset="-120"/>
              </a:rPr>
              <a:t>With every shelf using a different, often unverifiable claim, generic language adds to the noise.</a:t>
            </a:r>
            <a:endParaRPr lang="en-US" sz="2100" dirty="0"/>
          </a:p>
        </p:txBody>
      </p:sp>
      <p:sp>
        <p:nvSpPr>
          <p:cNvPr id="6" name="Shape 3"/>
          <p:cNvSpPr/>
          <p:nvPr/>
        </p:nvSpPr>
        <p:spPr>
          <a:xfrm>
            <a:off x="502920" y="1463040"/>
            <a:ext cx="5669280" cy="0"/>
          </a:xfrm>
          <a:prstGeom prst="line">
            <a:avLst/>
          </a:prstGeom>
          <a:noFill/>
          <a:ln w="12700">
            <a:solidFill>
              <a:srgbClr val="3A5D97"/>
            </a:solidFill>
            <a:prstDash val="solid"/>
          </a:ln>
        </p:spPr>
      </p:sp>
      <p:sp>
        <p:nvSpPr>
          <p:cNvPr id="7" name="Text 4"/>
          <p:cNvSpPr/>
          <p:nvPr/>
        </p:nvSpPr>
        <p:spPr>
          <a:xfrm>
            <a:off x="502920" y="1508760"/>
            <a:ext cx="5669280"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GT &amp; MT SHELVES ARE FLOODED WITH CLAIMS, SENDING DIVERSE TRUST SIGNALS TO CONSUMERS</a:t>
            </a:r>
            <a:endParaRPr lang="en-US" sz="900" dirty="0"/>
          </a:p>
        </p:txBody>
      </p:sp>
      <p:sp>
        <p:nvSpPr>
          <p:cNvPr id="8" name="Shape 5"/>
          <p:cNvSpPr/>
          <p:nvPr/>
        </p:nvSpPr>
        <p:spPr>
          <a:xfrm>
            <a:off x="502920" y="1755648"/>
            <a:ext cx="3039466" cy="347472"/>
          </a:xfrm>
          <a:prstGeom prst="roundRect">
            <a:avLst>
              <a:gd name="adj" fmla="val 50000"/>
            </a:avLst>
          </a:prstGeom>
          <a:solidFill>
            <a:srgbClr val="FFFFFF"/>
          </a:solidFill>
          <a:ln w="9525">
            <a:solidFill>
              <a:srgbClr val="E5DCCB"/>
            </a:solidFill>
            <a:prstDash val="dash"/>
          </a:ln>
        </p:spPr>
      </p:sp>
      <p:sp>
        <p:nvSpPr>
          <p:cNvPr id="9" name="Text 6"/>
          <p:cNvSpPr/>
          <p:nvPr/>
        </p:nvSpPr>
        <p:spPr>
          <a:xfrm>
            <a:off x="502920" y="1755648"/>
            <a:ext cx="3039466" cy="347472"/>
          </a:xfrm>
          <a:prstGeom prst="rect">
            <a:avLst/>
          </a:prstGeom>
          <a:noFill/>
          <a:ln/>
        </p:spPr>
        <p:txBody>
          <a:bodyPr wrap="square" lIns="0" tIns="0" rIns="0" bIns="0" rtlCol="0" anchor="ctr"/>
          <a:lstStyle/>
          <a:p>
            <a:pPr algn="ctr" indent="0" marL="0">
              <a:buNone/>
            </a:pPr>
            <a:r>
              <a:rPr lang="en-US" sz="900" dirty="0">
                <a:solidFill>
                  <a:srgbClr val="54606F"/>
                </a:solidFill>
                <a:latin typeface="Nunito Sans" pitchFamily="34" charset="0"/>
                <a:ea typeface="Nunito Sans" pitchFamily="34" charset="-122"/>
                <a:cs typeface="Nunito Sans" pitchFamily="34" charset="-120"/>
              </a:rPr>
              <a:t>Farmer-face labelling - personal provenance</a:t>
            </a:r>
            <a:endParaRPr lang="en-US" sz="900" dirty="0"/>
          </a:p>
        </p:txBody>
      </p:sp>
      <p:sp>
        <p:nvSpPr>
          <p:cNvPr id="10" name="Shape 7"/>
          <p:cNvSpPr/>
          <p:nvPr/>
        </p:nvSpPr>
        <p:spPr>
          <a:xfrm>
            <a:off x="3652114" y="1755648"/>
            <a:ext cx="2293315" cy="347472"/>
          </a:xfrm>
          <a:prstGeom prst="roundRect">
            <a:avLst>
              <a:gd name="adj" fmla="val 50000"/>
            </a:avLst>
          </a:prstGeom>
          <a:solidFill>
            <a:srgbClr val="FFFFFF"/>
          </a:solidFill>
          <a:ln w="9525">
            <a:solidFill>
              <a:srgbClr val="E5DCCB"/>
            </a:solidFill>
            <a:prstDash val="dash"/>
          </a:ln>
        </p:spPr>
      </p:sp>
      <p:sp>
        <p:nvSpPr>
          <p:cNvPr id="11" name="Text 8"/>
          <p:cNvSpPr/>
          <p:nvPr/>
        </p:nvSpPr>
        <p:spPr>
          <a:xfrm>
            <a:off x="3652114" y="1755648"/>
            <a:ext cx="2293315" cy="347472"/>
          </a:xfrm>
          <a:prstGeom prst="rect">
            <a:avLst/>
          </a:prstGeom>
          <a:noFill/>
          <a:ln/>
        </p:spPr>
        <p:txBody>
          <a:bodyPr wrap="square" lIns="0" tIns="0" rIns="0" bIns="0" rtlCol="0" anchor="ctr"/>
          <a:lstStyle/>
          <a:p>
            <a:pPr algn="ctr" indent="0" marL="0">
              <a:buNone/>
            </a:pPr>
            <a:r>
              <a:rPr lang="en-US" sz="900" dirty="0">
                <a:solidFill>
                  <a:srgbClr val="54606F"/>
                </a:solidFill>
                <a:latin typeface="Nunito Sans" pitchFamily="34" charset="0"/>
                <a:ea typeface="Nunito Sans" pitchFamily="34" charset="-122"/>
                <a:cs typeface="Nunito Sans" pitchFamily="34" charset="-120"/>
              </a:rPr>
              <a:t>‘Naturally grown’, ‘unpolished’</a:t>
            </a:r>
            <a:endParaRPr lang="en-US" sz="900" dirty="0"/>
          </a:p>
        </p:txBody>
      </p:sp>
      <p:sp>
        <p:nvSpPr>
          <p:cNvPr id="12" name="Shape 9"/>
          <p:cNvSpPr/>
          <p:nvPr/>
        </p:nvSpPr>
        <p:spPr>
          <a:xfrm>
            <a:off x="502920" y="2176272"/>
            <a:ext cx="2044598" cy="347472"/>
          </a:xfrm>
          <a:prstGeom prst="roundRect">
            <a:avLst>
              <a:gd name="adj" fmla="val 50000"/>
            </a:avLst>
          </a:prstGeom>
          <a:solidFill>
            <a:srgbClr val="FFFFFF"/>
          </a:solidFill>
          <a:ln w="9525">
            <a:solidFill>
              <a:srgbClr val="E5DCCB"/>
            </a:solidFill>
            <a:prstDash val="dash"/>
          </a:ln>
        </p:spPr>
      </p:sp>
      <p:sp>
        <p:nvSpPr>
          <p:cNvPr id="13" name="Text 10"/>
          <p:cNvSpPr/>
          <p:nvPr/>
        </p:nvSpPr>
        <p:spPr>
          <a:xfrm>
            <a:off x="502920" y="2176272"/>
            <a:ext cx="2044598" cy="347472"/>
          </a:xfrm>
          <a:prstGeom prst="rect">
            <a:avLst/>
          </a:prstGeom>
          <a:noFill/>
          <a:ln/>
        </p:spPr>
        <p:txBody>
          <a:bodyPr wrap="square" lIns="0" tIns="0" rIns="0" bIns="0" rtlCol="0" anchor="ctr"/>
          <a:lstStyle/>
          <a:p>
            <a:pPr algn="ctr" indent="0" marL="0">
              <a:buNone/>
            </a:pPr>
            <a:r>
              <a:rPr lang="en-US" sz="900" dirty="0">
                <a:solidFill>
                  <a:srgbClr val="54606F"/>
                </a:solidFill>
                <a:latin typeface="Nunito Sans" pitchFamily="34" charset="0"/>
                <a:ea typeface="Nunito Sans" pitchFamily="34" charset="-122"/>
                <a:cs typeface="Nunito Sans" pitchFamily="34" charset="-120"/>
              </a:rPr>
              <a:t>Certification seal on label</a:t>
            </a:r>
            <a:endParaRPr lang="en-US" sz="900" dirty="0"/>
          </a:p>
        </p:txBody>
      </p:sp>
      <p:sp>
        <p:nvSpPr>
          <p:cNvPr id="14" name="Shape 11"/>
          <p:cNvSpPr/>
          <p:nvPr/>
        </p:nvSpPr>
        <p:spPr>
          <a:xfrm>
            <a:off x="2657246" y="2176272"/>
            <a:ext cx="1609344" cy="347472"/>
          </a:xfrm>
          <a:prstGeom prst="roundRect">
            <a:avLst>
              <a:gd name="adj" fmla="val 50000"/>
            </a:avLst>
          </a:prstGeom>
          <a:solidFill>
            <a:srgbClr val="FFFFFF"/>
          </a:solidFill>
          <a:ln w="9525">
            <a:solidFill>
              <a:srgbClr val="E5DCCB"/>
            </a:solidFill>
            <a:prstDash val="dash"/>
          </a:ln>
        </p:spPr>
      </p:sp>
      <p:sp>
        <p:nvSpPr>
          <p:cNvPr id="15" name="Text 12"/>
          <p:cNvSpPr/>
          <p:nvPr/>
        </p:nvSpPr>
        <p:spPr>
          <a:xfrm>
            <a:off x="2657246" y="2176272"/>
            <a:ext cx="1609344" cy="347472"/>
          </a:xfrm>
          <a:prstGeom prst="rect">
            <a:avLst/>
          </a:prstGeom>
          <a:noFill/>
          <a:ln/>
        </p:spPr>
        <p:txBody>
          <a:bodyPr wrap="square" lIns="0" tIns="0" rIns="0" bIns="0" rtlCol="0" anchor="ctr"/>
          <a:lstStyle/>
          <a:p>
            <a:pPr algn="ctr" indent="0" marL="0">
              <a:buNone/>
            </a:pPr>
            <a:r>
              <a:rPr lang="en-US" sz="900" dirty="0">
                <a:solidFill>
                  <a:srgbClr val="54606F"/>
                </a:solidFill>
                <a:latin typeface="Nunito Sans" pitchFamily="34" charset="0"/>
                <a:ea typeface="Nunito Sans" pitchFamily="34" charset="-122"/>
                <a:cs typeface="Nunito Sans" pitchFamily="34" charset="-120"/>
              </a:rPr>
              <a:t>‘Direct from farmer’</a:t>
            </a:r>
            <a:endParaRPr lang="en-US" sz="900" dirty="0"/>
          </a:p>
        </p:txBody>
      </p:sp>
      <p:sp>
        <p:nvSpPr>
          <p:cNvPr id="16" name="Shape 13"/>
          <p:cNvSpPr/>
          <p:nvPr/>
        </p:nvSpPr>
        <p:spPr>
          <a:xfrm>
            <a:off x="4376318" y="2176272"/>
            <a:ext cx="1111910" cy="347472"/>
          </a:xfrm>
          <a:prstGeom prst="roundRect">
            <a:avLst>
              <a:gd name="adj" fmla="val 50000"/>
            </a:avLst>
          </a:prstGeom>
          <a:solidFill>
            <a:srgbClr val="FFFFFF"/>
          </a:solidFill>
          <a:ln w="9525">
            <a:solidFill>
              <a:srgbClr val="E5DCCB"/>
            </a:solidFill>
            <a:prstDash val="dash"/>
          </a:ln>
        </p:spPr>
      </p:sp>
      <p:sp>
        <p:nvSpPr>
          <p:cNvPr id="17" name="Text 14"/>
          <p:cNvSpPr/>
          <p:nvPr/>
        </p:nvSpPr>
        <p:spPr>
          <a:xfrm>
            <a:off x="4376318" y="2176272"/>
            <a:ext cx="1111910" cy="347472"/>
          </a:xfrm>
          <a:prstGeom prst="rect">
            <a:avLst/>
          </a:prstGeom>
          <a:noFill/>
          <a:ln/>
        </p:spPr>
        <p:txBody>
          <a:bodyPr wrap="square" lIns="0" tIns="0" rIns="0" bIns="0" rtlCol="0" anchor="ctr"/>
          <a:lstStyle/>
          <a:p>
            <a:pPr algn="ctr" indent="0" marL="0">
              <a:buNone/>
            </a:pPr>
            <a:r>
              <a:rPr lang="en-US" sz="900" dirty="0">
                <a:solidFill>
                  <a:srgbClr val="54606F"/>
                </a:solidFill>
                <a:latin typeface="Nunito Sans" pitchFamily="34" charset="0"/>
                <a:ea typeface="Nunito Sans" pitchFamily="34" charset="-122"/>
                <a:cs typeface="Nunito Sans" pitchFamily="34" charset="-120"/>
              </a:rPr>
              <a:t>100% Natural</a:t>
            </a:r>
            <a:endParaRPr lang="en-US" sz="900" dirty="0"/>
          </a:p>
        </p:txBody>
      </p:sp>
      <p:pic>
        <p:nvPicPr>
          <p:cNvPr id="18" name="Image 1" descr="/home/user/hopper-tessarakt/site/assets/shelf-jars.jpg">    </p:cNvPr>
          <p:cNvPicPr>
            <a:picLocks noChangeAspect="1"/>
          </p:cNvPicPr>
          <p:nvPr/>
        </p:nvPicPr>
        <p:blipFill>
          <a:blip r:embed="rId2"/>
          <a:srcRect l="0" r="0" t="0" b="0"/>
          <a:stretch/>
        </p:blipFill>
        <p:spPr>
          <a:xfrm>
            <a:off x="502920" y="2743200"/>
            <a:ext cx="1031443" cy="1371600"/>
          </a:xfrm>
          <a:prstGeom prst="rect">
            <a:avLst/>
          </a:prstGeom>
        </p:spPr>
      </p:pic>
      <p:pic>
        <p:nvPicPr>
          <p:cNvPr id="19" name="Image 2" descr="/home/user/hopper-tessarakt/site/assets/shelf-poha.jpg">    </p:cNvPr>
          <p:cNvPicPr>
            <a:picLocks noChangeAspect="1"/>
          </p:cNvPicPr>
          <p:nvPr/>
        </p:nvPicPr>
        <p:blipFill>
          <a:blip r:embed="rId3"/>
          <a:srcRect l="0" r="0" t="0" b="0"/>
          <a:stretch/>
        </p:blipFill>
        <p:spPr>
          <a:xfrm>
            <a:off x="1662379" y="2743200"/>
            <a:ext cx="1031443" cy="1371600"/>
          </a:xfrm>
          <a:prstGeom prst="rect">
            <a:avLst/>
          </a:prstGeom>
        </p:spPr>
      </p:pic>
      <p:pic>
        <p:nvPicPr>
          <p:cNvPr id="20" name="Image 3" descr="/home/user/hopper-tessarakt/site/assets/shelf-twobrothers.jpg">    </p:cNvPr>
          <p:cNvPicPr>
            <a:picLocks noChangeAspect="1"/>
          </p:cNvPicPr>
          <p:nvPr/>
        </p:nvPicPr>
        <p:blipFill>
          <a:blip r:embed="rId4"/>
          <a:srcRect l="0" r="0" t="0" b="0"/>
          <a:stretch/>
        </p:blipFill>
        <p:spPr>
          <a:xfrm>
            <a:off x="2821838" y="2743200"/>
            <a:ext cx="1031443" cy="1371600"/>
          </a:xfrm>
          <a:prstGeom prst="rect">
            <a:avLst/>
          </a:prstGeom>
        </p:spPr>
      </p:pic>
      <p:pic>
        <p:nvPicPr>
          <p:cNvPr id="21" name="Image 4" descr="/home/user/hopper-tessarakt/site/assets/shelf-tribalveda.jpg">    </p:cNvPr>
          <p:cNvPicPr>
            <a:picLocks noChangeAspect="1"/>
          </p:cNvPicPr>
          <p:nvPr/>
        </p:nvPicPr>
        <p:blipFill>
          <a:blip r:embed="rId5"/>
          <a:srcRect l="0" r="0" t="0" b="0"/>
          <a:stretch/>
        </p:blipFill>
        <p:spPr>
          <a:xfrm>
            <a:off x="3981298" y="2743200"/>
            <a:ext cx="1031443" cy="1371600"/>
          </a:xfrm>
          <a:prstGeom prst="rect">
            <a:avLst/>
          </a:prstGeom>
        </p:spPr>
      </p:pic>
      <p:pic>
        <p:nvPicPr>
          <p:cNvPr id="22" name="Image 5" descr="/home/user/hopper-tessarakt/site/assets/shelf-ingress.jpg">    </p:cNvPr>
          <p:cNvPicPr>
            <a:picLocks noChangeAspect="1"/>
          </p:cNvPicPr>
          <p:nvPr/>
        </p:nvPicPr>
        <p:blipFill>
          <a:blip r:embed="rId6"/>
          <a:srcRect l="0" r="0" t="0" b="0"/>
          <a:stretch/>
        </p:blipFill>
        <p:spPr>
          <a:xfrm>
            <a:off x="5140757" y="2743200"/>
            <a:ext cx="1031443" cy="1371600"/>
          </a:xfrm>
          <a:prstGeom prst="rect">
            <a:avLst/>
          </a:prstGeom>
        </p:spPr>
      </p:pic>
      <p:sp>
        <p:nvSpPr>
          <p:cNvPr id="23" name="Shape 15"/>
          <p:cNvSpPr/>
          <p:nvPr/>
        </p:nvSpPr>
        <p:spPr>
          <a:xfrm>
            <a:off x="502920" y="4261104"/>
            <a:ext cx="5669280" cy="914400"/>
          </a:xfrm>
          <a:prstGeom prst="roundRect">
            <a:avLst>
              <a:gd name="adj" fmla="val 10000"/>
            </a:avLst>
          </a:prstGeom>
          <a:solidFill>
            <a:srgbClr val="E4F2EA"/>
          </a:solidFill>
          <a:ln w="6350">
            <a:solidFill>
              <a:srgbClr val="E4F2EA"/>
            </a:solidFill>
            <a:prstDash val="solid"/>
          </a:ln>
        </p:spPr>
      </p:sp>
      <p:sp>
        <p:nvSpPr>
          <p:cNvPr id="24" name="Text 16"/>
          <p:cNvSpPr/>
          <p:nvPr/>
        </p:nvSpPr>
        <p:spPr>
          <a:xfrm>
            <a:off x="704088" y="4379976"/>
            <a:ext cx="5266944" cy="704088"/>
          </a:xfrm>
          <a:prstGeom prst="rect">
            <a:avLst/>
          </a:prstGeom>
          <a:noFill/>
          <a:ln/>
        </p:spPr>
        <p:txBody>
          <a:bodyPr wrap="square" lIns="0" tIns="0" rIns="0" bIns="0" rtlCol="0" anchor="t"/>
          <a:lstStyle/>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DHF’s edge is a specific: Verifiable Proof Mechanism (QR + Test Data), not another claim in the pile.</a:t>
            </a:r>
            <a:endParaRPr lang="en-US" sz="900" dirty="0"/>
          </a:p>
        </p:txBody>
      </p:sp>
      <p:sp>
        <p:nvSpPr>
          <p:cNvPr id="25" name="Shape 17"/>
          <p:cNvSpPr/>
          <p:nvPr/>
        </p:nvSpPr>
        <p:spPr>
          <a:xfrm>
            <a:off x="6537960" y="1463040"/>
            <a:ext cx="5150815" cy="0"/>
          </a:xfrm>
          <a:prstGeom prst="line">
            <a:avLst/>
          </a:prstGeom>
          <a:noFill/>
          <a:ln w="12700">
            <a:solidFill>
              <a:srgbClr val="3A5D97"/>
            </a:solidFill>
            <a:prstDash val="solid"/>
          </a:ln>
        </p:spPr>
      </p:sp>
      <p:sp>
        <p:nvSpPr>
          <p:cNvPr id="26" name="Text 18"/>
          <p:cNvSpPr/>
          <p:nvPr/>
        </p:nvSpPr>
        <p:spPr>
          <a:xfrm>
            <a:off x="6537960" y="1508760"/>
            <a:ext cx="5150815"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MEDIA IS BUILDING THE CASE FOR VERIFIED PROOF</a:t>
            </a:r>
            <a:endParaRPr lang="en-US" sz="900" dirty="0"/>
          </a:p>
        </p:txBody>
      </p:sp>
      <p:pic>
        <p:nvPicPr>
          <p:cNvPr id="27" name="Image 6" descr="/home/user/hopper-tessarakt/site/assets/news-ccpa.jpg">    </p:cNvPr>
          <p:cNvPicPr>
            <a:picLocks noChangeAspect="1"/>
          </p:cNvPicPr>
          <p:nvPr/>
        </p:nvPicPr>
        <p:blipFill>
          <a:blip r:embed="rId7"/>
          <a:srcRect l="0" r="0" t="0" b="0"/>
          <a:stretch/>
        </p:blipFill>
        <p:spPr>
          <a:xfrm>
            <a:off x="6537960" y="1755648"/>
            <a:ext cx="1595018" cy="1133856"/>
          </a:xfrm>
          <a:prstGeom prst="rect">
            <a:avLst/>
          </a:prstGeom>
        </p:spPr>
      </p:pic>
      <p:sp>
        <p:nvSpPr>
          <p:cNvPr id="28" name="Text 19"/>
          <p:cNvSpPr/>
          <p:nvPr/>
        </p:nvSpPr>
        <p:spPr>
          <a:xfrm>
            <a:off x="6537960" y="2926080"/>
            <a:ext cx="1595018" cy="402336"/>
          </a:xfrm>
          <a:prstGeom prst="rect">
            <a:avLst/>
          </a:prstGeom>
          <a:noFill/>
          <a:ln/>
        </p:spPr>
        <p:txBody>
          <a:bodyPr wrap="square" lIns="0" tIns="0" rIns="0" bIns="0" rtlCol="0" anchor="t"/>
          <a:lstStyle/>
          <a:p>
            <a:pPr indent="0" marL="0">
              <a:lnSpc>
                <a:spcPct val="106000"/>
              </a:lnSpc>
              <a:buNone/>
            </a:pPr>
            <a:r>
              <a:rPr lang="en-US" sz="800" dirty="0">
                <a:solidFill>
                  <a:srgbClr val="54606F"/>
                </a:solidFill>
                <a:latin typeface="Nunito Sans" pitchFamily="34" charset="0"/>
                <a:ea typeface="Nunito Sans" pitchFamily="34" charset="-122"/>
                <a:cs typeface="Nunito Sans" pitchFamily="34" charset="-120"/>
              </a:rPr>
              <a:t>Regulatory crackdown</a:t>
            </a:r>
            <a:endParaRPr lang="en-US" sz="800" dirty="0"/>
          </a:p>
        </p:txBody>
      </p:sp>
      <p:pic>
        <p:nvPicPr>
          <p:cNvPr id="29" name="Image 7" descr="/home/user/hopper-tessarakt/site/assets/news-ndtv.jpg">    </p:cNvPr>
          <p:cNvPicPr>
            <a:picLocks noChangeAspect="1"/>
          </p:cNvPicPr>
          <p:nvPr/>
        </p:nvPicPr>
        <p:blipFill>
          <a:blip r:embed="rId8"/>
          <a:srcRect l="0" r="0" t="0" b="0"/>
          <a:stretch/>
        </p:blipFill>
        <p:spPr>
          <a:xfrm>
            <a:off x="8315858" y="1755648"/>
            <a:ext cx="1595018" cy="1133856"/>
          </a:xfrm>
          <a:prstGeom prst="rect">
            <a:avLst/>
          </a:prstGeom>
        </p:spPr>
      </p:pic>
      <p:sp>
        <p:nvSpPr>
          <p:cNvPr id="30" name="Text 20"/>
          <p:cNvSpPr/>
          <p:nvPr/>
        </p:nvSpPr>
        <p:spPr>
          <a:xfrm>
            <a:off x="8315858" y="2926080"/>
            <a:ext cx="1595018" cy="402336"/>
          </a:xfrm>
          <a:prstGeom prst="rect">
            <a:avLst/>
          </a:prstGeom>
          <a:noFill/>
          <a:ln/>
        </p:spPr>
        <p:txBody>
          <a:bodyPr wrap="square" lIns="0" tIns="0" rIns="0" bIns="0" rtlCol="0" anchor="t"/>
          <a:lstStyle/>
          <a:p>
            <a:pPr indent="0" marL="0">
              <a:lnSpc>
                <a:spcPct val="106000"/>
              </a:lnSpc>
              <a:buNone/>
            </a:pPr>
            <a:r>
              <a:rPr lang="en-US" sz="800" dirty="0">
                <a:solidFill>
                  <a:srgbClr val="54606F"/>
                </a:solidFill>
                <a:latin typeface="Nunito Sans" pitchFamily="34" charset="0"/>
                <a:ea typeface="Nunito Sans" pitchFamily="34" charset="-122"/>
                <a:cs typeface="Nunito Sans" pitchFamily="34" charset="-120"/>
              </a:rPr>
              <a:t>Market growth, affordability gap</a:t>
            </a:r>
            <a:endParaRPr lang="en-US" sz="800" dirty="0"/>
          </a:p>
        </p:txBody>
      </p:sp>
      <p:pic>
        <p:nvPicPr>
          <p:cNvPr id="31" name="Image 8" descr="/home/user/hopper-tessarakt/site/assets/news-c.jpg">    </p:cNvPr>
          <p:cNvPicPr>
            <a:picLocks noChangeAspect="1"/>
          </p:cNvPicPr>
          <p:nvPr/>
        </p:nvPicPr>
        <p:blipFill>
          <a:blip r:embed="rId9"/>
          <a:srcRect l="0" r="0" t="0" b="0"/>
          <a:stretch/>
        </p:blipFill>
        <p:spPr>
          <a:xfrm>
            <a:off x="10093757" y="1755648"/>
            <a:ext cx="1595018" cy="1133856"/>
          </a:xfrm>
          <a:prstGeom prst="rect">
            <a:avLst/>
          </a:prstGeom>
        </p:spPr>
      </p:pic>
      <p:sp>
        <p:nvSpPr>
          <p:cNvPr id="32" name="Text 21"/>
          <p:cNvSpPr/>
          <p:nvPr/>
        </p:nvSpPr>
        <p:spPr>
          <a:xfrm>
            <a:off x="10093757" y="2926080"/>
            <a:ext cx="1595018" cy="402336"/>
          </a:xfrm>
          <a:prstGeom prst="rect">
            <a:avLst/>
          </a:prstGeom>
          <a:noFill/>
          <a:ln/>
        </p:spPr>
        <p:txBody>
          <a:bodyPr wrap="square" lIns="0" tIns="0" rIns="0" bIns="0" rtlCol="0" anchor="t"/>
          <a:lstStyle/>
          <a:p>
            <a:pPr indent="0" marL="0">
              <a:lnSpc>
                <a:spcPct val="106000"/>
              </a:lnSpc>
              <a:buNone/>
            </a:pPr>
            <a:r>
              <a:rPr lang="en-US" sz="800" dirty="0">
                <a:solidFill>
                  <a:srgbClr val="54606F"/>
                </a:solidFill>
                <a:latin typeface="Nunito Sans" pitchFamily="34" charset="0"/>
                <a:ea typeface="Nunito Sans" pitchFamily="34" charset="-122"/>
                <a:cs typeface="Nunito Sans" pitchFamily="34" charset="-120"/>
              </a:rPr>
              <a:t>Celebrity &amp; consumer validation</a:t>
            </a:r>
            <a:endParaRPr lang="en-US" sz="800" dirty="0"/>
          </a:p>
        </p:txBody>
      </p:sp>
      <p:pic>
        <p:nvPicPr>
          <p:cNvPr id="33" name="Image 9" descr="/home/user/hopper-tessarakt/site/assets/news-3.jpg">    </p:cNvPr>
          <p:cNvPicPr>
            <a:picLocks noChangeAspect="1"/>
          </p:cNvPicPr>
          <p:nvPr/>
        </p:nvPicPr>
        <p:blipFill>
          <a:blip r:embed="rId10"/>
          <a:srcRect l="0" r="0" t="0" b="0"/>
          <a:stretch/>
        </p:blipFill>
        <p:spPr>
          <a:xfrm>
            <a:off x="6537960" y="3456432"/>
            <a:ext cx="1595018" cy="1133856"/>
          </a:xfrm>
          <a:prstGeom prst="rect">
            <a:avLst/>
          </a:prstGeom>
        </p:spPr>
      </p:pic>
      <p:sp>
        <p:nvSpPr>
          <p:cNvPr id="34" name="Text 22"/>
          <p:cNvSpPr/>
          <p:nvPr/>
        </p:nvSpPr>
        <p:spPr>
          <a:xfrm>
            <a:off x="6537960" y="4626864"/>
            <a:ext cx="1595018" cy="402336"/>
          </a:xfrm>
          <a:prstGeom prst="rect">
            <a:avLst/>
          </a:prstGeom>
          <a:noFill/>
          <a:ln/>
        </p:spPr>
        <p:txBody>
          <a:bodyPr wrap="square" lIns="0" tIns="0" rIns="0" bIns="0" rtlCol="0" anchor="t"/>
          <a:lstStyle/>
          <a:p>
            <a:pPr indent="0" marL="0">
              <a:lnSpc>
                <a:spcPct val="106000"/>
              </a:lnSpc>
              <a:buNone/>
            </a:pPr>
            <a:r>
              <a:rPr lang="en-US" sz="800" dirty="0">
                <a:solidFill>
                  <a:srgbClr val="54606F"/>
                </a:solidFill>
                <a:latin typeface="Nunito Sans" pitchFamily="34" charset="0"/>
                <a:ea typeface="Nunito Sans" pitchFamily="34" charset="-122"/>
                <a:cs typeface="Nunito Sans" pitchFamily="34" charset="-120"/>
              </a:rPr>
              <a:t>Policy &amp; certification landscape</a:t>
            </a:r>
            <a:endParaRPr lang="en-US" sz="800" dirty="0"/>
          </a:p>
        </p:txBody>
      </p:sp>
      <p:pic>
        <p:nvPicPr>
          <p:cNvPr id="35" name="Image 10" descr="/home/user/hopper-tessarakt/site/assets/news-b.jpg">    </p:cNvPr>
          <p:cNvPicPr>
            <a:picLocks noChangeAspect="1"/>
          </p:cNvPicPr>
          <p:nvPr/>
        </p:nvPicPr>
        <p:blipFill>
          <a:blip r:embed="rId11"/>
          <a:srcRect l="0" r="0" t="0" b="0"/>
          <a:stretch/>
        </p:blipFill>
        <p:spPr>
          <a:xfrm>
            <a:off x="8315858" y="3456432"/>
            <a:ext cx="1595018" cy="1133856"/>
          </a:xfrm>
          <a:prstGeom prst="rect">
            <a:avLst/>
          </a:prstGeom>
        </p:spPr>
      </p:pic>
      <p:sp>
        <p:nvSpPr>
          <p:cNvPr id="36" name="Text 23"/>
          <p:cNvSpPr/>
          <p:nvPr/>
        </p:nvSpPr>
        <p:spPr>
          <a:xfrm>
            <a:off x="8315858" y="4626864"/>
            <a:ext cx="1595018" cy="402336"/>
          </a:xfrm>
          <a:prstGeom prst="rect">
            <a:avLst/>
          </a:prstGeom>
          <a:noFill/>
          <a:ln/>
        </p:spPr>
        <p:txBody>
          <a:bodyPr wrap="square" lIns="0" tIns="0" rIns="0" bIns="0" rtlCol="0" anchor="t"/>
          <a:lstStyle/>
          <a:p>
            <a:pPr indent="0" marL="0">
              <a:lnSpc>
                <a:spcPct val="106000"/>
              </a:lnSpc>
              <a:buNone/>
            </a:pPr>
            <a:r>
              <a:rPr lang="en-US" sz="800" dirty="0">
                <a:solidFill>
                  <a:srgbClr val="54606F"/>
                </a:solidFill>
                <a:latin typeface="Nunito Sans" pitchFamily="34" charset="0"/>
                <a:ea typeface="Nunito Sans" pitchFamily="34" charset="-122"/>
                <a:cs typeface="Nunito Sans" pitchFamily="34" charset="-120"/>
              </a:rPr>
              <a:t>Pesticide safety alarm</a:t>
            </a:r>
            <a:endParaRPr lang="en-US" sz="800" dirty="0"/>
          </a:p>
        </p:txBody>
      </p:sp>
      <p:sp>
        <p:nvSpPr>
          <p:cNvPr id="37" name="Shape 24"/>
          <p:cNvSpPr/>
          <p:nvPr/>
        </p:nvSpPr>
        <p:spPr>
          <a:xfrm>
            <a:off x="502920" y="6492240"/>
            <a:ext cx="11185855" cy="0"/>
          </a:xfrm>
          <a:prstGeom prst="line">
            <a:avLst/>
          </a:prstGeom>
          <a:noFill/>
          <a:ln w="9525">
            <a:solidFill>
              <a:srgbClr val="E5DCCB"/>
            </a:solidFill>
            <a:prstDash val="solid"/>
          </a:ln>
        </p:spPr>
      </p:sp>
      <p:sp>
        <p:nvSpPr>
          <p:cNvPr id="38" name="Text 25"/>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BRAND &amp; PROOF</a:t>
            </a:r>
            <a:endParaRPr lang="en-US" sz="800" dirty="0"/>
          </a:p>
        </p:txBody>
      </p:sp>
      <p:sp>
        <p:nvSpPr>
          <p:cNvPr id="39" name="Text 26"/>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12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1A2B"/>
        </a:solidFill>
      </p:bgPr>
    </p:bg>
    <p:spTree>
      <p:nvGrpSpPr>
        <p:cNvPr id="1" name=""/>
        <p:cNvGrpSpPr/>
        <p:nvPr/>
      </p:nvGrpSpPr>
      <p:grpSpPr>
        <a:xfrm>
          <a:off x="0" y="0"/>
          <a:ext cx="0" cy="0"/>
          <a:chOff x="0" y="0"/>
          <a:chExt cx="0" cy="0"/>
        </a:xfrm>
      </p:grpSpPr>
      <p:pic>
        <p:nvPicPr>
          <p:cNvPr id="2" name="Image 0" descr="/home/user/hopper-tessarakt/site/assets/panel-spices.jpg">    </p:cNvPr>
          <p:cNvPicPr>
            <a:picLocks noChangeAspect="1"/>
          </p:cNvPicPr>
          <p:nvPr/>
        </p:nvPicPr>
        <p:blipFill>
          <a:blip r:embed="rId1"/>
          <a:stretch>
            <a:fillRect/>
          </a:stretch>
        </p:blipFill>
        <p:spPr>
          <a:xfrm>
            <a:off x="8686800" y="0"/>
            <a:ext cx="3504895" cy="6858000"/>
          </a:xfrm>
          <a:prstGeom prst="rect">
            <a:avLst/>
          </a:prstGeom>
        </p:spPr>
      </p:pic>
      <p:sp>
        <p:nvSpPr>
          <p:cNvPr id="3" name="Shape 0"/>
          <p:cNvSpPr/>
          <p:nvPr/>
        </p:nvSpPr>
        <p:spPr>
          <a:xfrm>
            <a:off x="502920" y="256032"/>
            <a:ext cx="1801368" cy="274320"/>
          </a:xfrm>
          <a:prstGeom prst="roundRect">
            <a:avLst>
              <a:gd name="adj" fmla="val 23333"/>
            </a:avLst>
          </a:prstGeom>
          <a:solidFill>
            <a:srgbClr val="5FC28C"/>
          </a:solidFill>
          <a:ln w="12700">
            <a:solidFill>
              <a:srgbClr val="333333"/>
            </a:solidFill>
            <a:prstDash val="solid"/>
          </a:ln>
        </p:spPr>
      </p:sp>
      <p:sp>
        <p:nvSpPr>
          <p:cNvPr id="4" name="Text 1"/>
          <p:cNvSpPr/>
          <p:nvPr/>
        </p:nvSpPr>
        <p:spPr>
          <a:xfrm>
            <a:off x="502920" y="256032"/>
            <a:ext cx="1801368" cy="274320"/>
          </a:xfrm>
          <a:prstGeom prst="rect">
            <a:avLst/>
          </a:prstGeom>
          <a:noFill/>
          <a:ln/>
        </p:spPr>
        <p:txBody>
          <a:bodyPr wrap="square" lIns="0" tIns="0" rIns="0" bIns="0" rtlCol="0" anchor="ctr"/>
          <a:lstStyle/>
          <a:p>
            <a:pPr algn="ctr" indent="0" marL="0">
              <a:buNone/>
            </a:pPr>
            <a:r>
              <a:rPr lang="en-US" sz="900" b="1" spc="160" kern="0" dirty="0">
                <a:solidFill>
                  <a:srgbClr val="0C1A2B"/>
                </a:solidFill>
                <a:latin typeface="Nunito Sans" pitchFamily="34" charset="0"/>
                <a:ea typeface="Nunito Sans" pitchFamily="34" charset="-122"/>
                <a:cs typeface="Nunito Sans" pitchFamily="34" charset="-120"/>
              </a:rPr>
              <a:t>BRAND MANIFESTO</a:t>
            </a:r>
            <a:endParaRPr lang="en-US" sz="900" dirty="0"/>
          </a:p>
        </p:txBody>
      </p:sp>
      <p:pic>
        <p:nvPicPr>
          <p:cNvPr id="5" name="Image 1" descr="/home/user/hopper-tessarakt/site/assets/logo.png">    </p:cNvPr>
          <p:cNvPicPr>
            <a:picLocks noChangeAspect="1"/>
          </p:cNvPicPr>
          <p:nvPr/>
        </p:nvPicPr>
        <p:blipFill>
          <a:blip r:embed="rId2"/>
          <a:stretch>
            <a:fillRect/>
          </a:stretch>
        </p:blipFill>
        <p:spPr>
          <a:xfrm>
            <a:off x="10545775" y="237744"/>
            <a:ext cx="1143000" cy="420624"/>
          </a:xfrm>
          <a:prstGeom prst="rect">
            <a:avLst/>
          </a:prstGeom>
        </p:spPr>
      </p:pic>
      <p:sp>
        <p:nvSpPr>
          <p:cNvPr id="6" name="Text 2"/>
          <p:cNvSpPr/>
          <p:nvPr/>
        </p:nvSpPr>
        <p:spPr>
          <a:xfrm>
            <a:off x="502920" y="585216"/>
            <a:ext cx="7132320" cy="658368"/>
          </a:xfrm>
          <a:prstGeom prst="rect">
            <a:avLst/>
          </a:prstGeom>
          <a:noFill/>
          <a:ln/>
        </p:spPr>
        <p:txBody>
          <a:bodyPr wrap="square" lIns="0" tIns="0" rIns="0" bIns="0" rtlCol="0" anchor="t"/>
          <a:lstStyle/>
          <a:p>
            <a:pPr indent="0" marL="0">
              <a:lnSpc>
                <a:spcPct val="102000"/>
              </a:lnSpc>
              <a:buNone/>
            </a:pPr>
            <a:r>
              <a:rPr lang="en-US" sz="3000" dirty="0">
                <a:solidFill>
                  <a:srgbClr val="FFFFFF"/>
                </a:solidFill>
                <a:latin typeface="Archivo Black" pitchFamily="34" charset="0"/>
                <a:ea typeface="Archivo Black" pitchFamily="34" charset="-122"/>
                <a:cs typeface="Archivo Black" pitchFamily="34" charset="-120"/>
              </a:rPr>
              <a:t>We believe</a:t>
            </a:r>
            <a:endParaRPr lang="en-US" sz="3000" dirty="0"/>
          </a:p>
        </p:txBody>
      </p:sp>
      <p:sp>
        <p:nvSpPr>
          <p:cNvPr id="7" name="Text 3"/>
          <p:cNvSpPr/>
          <p:nvPr/>
        </p:nvSpPr>
        <p:spPr>
          <a:xfrm>
            <a:off x="502920" y="1335024"/>
            <a:ext cx="7498080" cy="822960"/>
          </a:xfrm>
          <a:prstGeom prst="rect">
            <a:avLst/>
          </a:prstGeom>
          <a:noFill/>
          <a:ln/>
        </p:spPr>
        <p:txBody>
          <a:bodyPr wrap="square" lIns="0" tIns="0" rIns="0" bIns="0" rtlCol="0" anchor="t"/>
          <a:lstStyle/>
          <a:p>
            <a:pPr indent="0" marL="0">
              <a:lnSpc>
                <a:spcPct val="116000"/>
              </a:lnSpc>
              <a:buNone/>
            </a:pPr>
            <a:r>
              <a:rPr lang="en-US" sz="1350" dirty="0">
                <a:solidFill>
                  <a:srgbClr val="EEE9E0"/>
                </a:solidFill>
                <a:latin typeface="Nunito Sans" pitchFamily="34" charset="0"/>
                <a:ea typeface="Nunito Sans" pitchFamily="34" charset="-122"/>
                <a:cs typeface="Nunito Sans" pitchFamily="34" charset="-120"/>
              </a:rPr>
              <a:t>The future of food isn’t claimed on a label; it’s proven in the field. Every seed we recommend, every practice we track, and every farmer we name is how we turn honesty into something you can verify, not just believe.</a:t>
            </a:r>
            <a:endParaRPr lang="en-US" sz="1350" dirty="0"/>
          </a:p>
        </p:txBody>
      </p:sp>
      <p:sp>
        <p:nvSpPr>
          <p:cNvPr id="8" name="Shape 4"/>
          <p:cNvSpPr/>
          <p:nvPr/>
        </p:nvSpPr>
        <p:spPr>
          <a:xfrm>
            <a:off x="502920" y="2267712"/>
            <a:ext cx="7498080" cy="0"/>
          </a:xfrm>
          <a:prstGeom prst="line">
            <a:avLst/>
          </a:prstGeom>
          <a:noFill/>
          <a:ln w="9525">
            <a:solidFill>
              <a:srgbClr val="FFFFFF">
                <a:alpha val="24000"/>
              </a:srgbClr>
            </a:solidFill>
            <a:prstDash val="solid"/>
          </a:ln>
        </p:spPr>
      </p:sp>
      <p:sp>
        <p:nvSpPr>
          <p:cNvPr id="9" name="Text 5"/>
          <p:cNvSpPr/>
          <p:nvPr/>
        </p:nvSpPr>
        <p:spPr>
          <a:xfrm>
            <a:off x="502920" y="2313432"/>
            <a:ext cx="3657600" cy="219456"/>
          </a:xfrm>
          <a:prstGeom prst="rect">
            <a:avLst/>
          </a:prstGeom>
          <a:noFill/>
          <a:ln/>
        </p:spPr>
        <p:txBody>
          <a:bodyPr wrap="square" lIns="0" tIns="0" rIns="0" bIns="0" rtlCol="0" anchor="ctr"/>
          <a:lstStyle/>
          <a:p>
            <a:pPr indent="0" marL="0">
              <a:buNone/>
            </a:pPr>
            <a:r>
              <a:rPr lang="en-US" sz="900" b="1" spc="160" kern="0" dirty="0">
                <a:solidFill>
                  <a:srgbClr val="5FC28C"/>
                </a:solidFill>
                <a:latin typeface="Nunito Sans" pitchFamily="34" charset="0"/>
                <a:ea typeface="Nunito Sans" pitchFamily="34" charset="-122"/>
                <a:cs typeface="Nunito Sans" pitchFamily="34" charset="-120"/>
              </a:rPr>
              <a:t>WE STAND FOR</a:t>
            </a:r>
            <a:endParaRPr lang="en-US" sz="900" dirty="0"/>
          </a:p>
        </p:txBody>
      </p:sp>
      <p:sp>
        <p:nvSpPr>
          <p:cNvPr id="10" name="Shape 6"/>
          <p:cNvSpPr/>
          <p:nvPr/>
        </p:nvSpPr>
        <p:spPr>
          <a:xfrm>
            <a:off x="502920" y="2615184"/>
            <a:ext cx="3639312" cy="896112"/>
          </a:xfrm>
          <a:prstGeom prst="roundRect">
            <a:avLst>
              <a:gd name="adj" fmla="val 8163"/>
            </a:avLst>
          </a:prstGeom>
          <a:solidFill>
            <a:srgbClr val="17304A"/>
          </a:solidFill>
          <a:ln w="9525">
            <a:solidFill>
              <a:srgbClr val="2E5470"/>
            </a:solidFill>
            <a:prstDash val="solid"/>
          </a:ln>
        </p:spPr>
      </p:sp>
      <p:sp>
        <p:nvSpPr>
          <p:cNvPr id="11" name="Text 7"/>
          <p:cNvSpPr/>
          <p:nvPr/>
        </p:nvSpPr>
        <p:spPr>
          <a:xfrm>
            <a:off x="667512" y="2688336"/>
            <a:ext cx="3310128" cy="237744"/>
          </a:xfrm>
          <a:prstGeom prst="rect">
            <a:avLst/>
          </a:prstGeom>
          <a:noFill/>
          <a:ln/>
        </p:spPr>
        <p:txBody>
          <a:bodyPr wrap="square" lIns="0" tIns="0" rIns="0" bIns="0" rtlCol="0" anchor="t"/>
          <a:lstStyle/>
          <a:p>
            <a:pPr indent="0" marL="0">
              <a:buNone/>
            </a:pPr>
            <a:r>
              <a:rPr lang="en-US" sz="950" dirty="0">
                <a:solidFill>
                  <a:srgbClr val="FFFFFF"/>
                </a:solidFill>
                <a:latin typeface="Archivo Black" pitchFamily="34" charset="0"/>
                <a:ea typeface="Archivo Black" pitchFamily="34" charset="-122"/>
                <a:cs typeface="Archivo Black" pitchFamily="34" charset="-120"/>
              </a:rPr>
              <a:t>Resilience</a:t>
            </a:r>
            <a:endParaRPr lang="en-US" sz="950" dirty="0"/>
          </a:p>
        </p:txBody>
      </p:sp>
      <p:sp>
        <p:nvSpPr>
          <p:cNvPr id="12" name="Text 8"/>
          <p:cNvSpPr/>
          <p:nvPr/>
        </p:nvSpPr>
        <p:spPr>
          <a:xfrm>
            <a:off x="667512" y="2926080"/>
            <a:ext cx="3310128" cy="530352"/>
          </a:xfrm>
          <a:prstGeom prst="rect">
            <a:avLst/>
          </a:prstGeom>
          <a:noFill/>
          <a:ln/>
        </p:spPr>
        <p:txBody>
          <a:bodyPr wrap="square" lIns="0" tIns="0" rIns="0" bIns="0" rtlCol="0" anchor="t"/>
          <a:lstStyle/>
          <a:p>
            <a:pPr indent="0" marL="0">
              <a:lnSpc>
                <a:spcPct val="108000"/>
              </a:lnSpc>
              <a:buNone/>
            </a:pPr>
            <a:r>
              <a:rPr lang="en-US" sz="800" dirty="0">
                <a:solidFill>
                  <a:srgbClr val="EEE9E0"/>
                </a:solidFill>
                <a:latin typeface="Nunito Sans" pitchFamily="34" charset="0"/>
                <a:ea typeface="Nunito Sans" pitchFamily="34" charset="-122"/>
                <a:cs typeface="Nunito Sans" pitchFamily="34" charset="-120"/>
              </a:rPr>
              <a:t>We meet uncertainty with patience and grit, learning from the land and adapting so farmers can thrive through seasons and shocks.</a:t>
            </a:r>
            <a:endParaRPr lang="en-US" sz="800" dirty="0"/>
          </a:p>
        </p:txBody>
      </p:sp>
      <p:sp>
        <p:nvSpPr>
          <p:cNvPr id="13" name="Shape 9"/>
          <p:cNvSpPr/>
          <p:nvPr/>
        </p:nvSpPr>
        <p:spPr>
          <a:xfrm>
            <a:off x="4361688" y="2615184"/>
            <a:ext cx="3639312" cy="896112"/>
          </a:xfrm>
          <a:prstGeom prst="roundRect">
            <a:avLst>
              <a:gd name="adj" fmla="val 8163"/>
            </a:avLst>
          </a:prstGeom>
          <a:solidFill>
            <a:srgbClr val="17304A"/>
          </a:solidFill>
          <a:ln w="9525">
            <a:solidFill>
              <a:srgbClr val="2E5470"/>
            </a:solidFill>
            <a:prstDash val="solid"/>
          </a:ln>
        </p:spPr>
      </p:sp>
      <p:sp>
        <p:nvSpPr>
          <p:cNvPr id="14" name="Text 10"/>
          <p:cNvSpPr/>
          <p:nvPr/>
        </p:nvSpPr>
        <p:spPr>
          <a:xfrm>
            <a:off x="4526280" y="2688336"/>
            <a:ext cx="3310128" cy="237744"/>
          </a:xfrm>
          <a:prstGeom prst="rect">
            <a:avLst/>
          </a:prstGeom>
          <a:noFill/>
          <a:ln/>
        </p:spPr>
        <p:txBody>
          <a:bodyPr wrap="square" lIns="0" tIns="0" rIns="0" bIns="0" rtlCol="0" anchor="t"/>
          <a:lstStyle/>
          <a:p>
            <a:pPr indent="0" marL="0">
              <a:buNone/>
            </a:pPr>
            <a:r>
              <a:rPr lang="en-US" sz="950" dirty="0">
                <a:solidFill>
                  <a:srgbClr val="FFFFFF"/>
                </a:solidFill>
                <a:latin typeface="Archivo Black" pitchFamily="34" charset="0"/>
                <a:ea typeface="Archivo Black" pitchFamily="34" charset="-122"/>
                <a:cs typeface="Archivo Black" pitchFamily="34" charset="-120"/>
              </a:rPr>
              <a:t>Integrity</a:t>
            </a:r>
            <a:endParaRPr lang="en-US" sz="950" dirty="0"/>
          </a:p>
        </p:txBody>
      </p:sp>
      <p:sp>
        <p:nvSpPr>
          <p:cNvPr id="15" name="Text 11"/>
          <p:cNvSpPr/>
          <p:nvPr/>
        </p:nvSpPr>
        <p:spPr>
          <a:xfrm>
            <a:off x="4526280" y="2926080"/>
            <a:ext cx="3310128" cy="530352"/>
          </a:xfrm>
          <a:prstGeom prst="rect">
            <a:avLst/>
          </a:prstGeom>
          <a:noFill/>
          <a:ln/>
        </p:spPr>
        <p:txBody>
          <a:bodyPr wrap="square" lIns="0" tIns="0" rIns="0" bIns="0" rtlCol="0" anchor="t"/>
          <a:lstStyle/>
          <a:p>
            <a:pPr indent="0" marL="0">
              <a:lnSpc>
                <a:spcPct val="108000"/>
              </a:lnSpc>
              <a:buNone/>
            </a:pPr>
            <a:r>
              <a:rPr lang="en-US" sz="800" dirty="0">
                <a:solidFill>
                  <a:srgbClr val="EEE9E0"/>
                </a:solidFill>
                <a:latin typeface="Nunito Sans" pitchFamily="34" charset="0"/>
                <a:ea typeface="Nunito Sans" pitchFamily="34" charset="-122"/>
                <a:cs typeface="Nunito Sans" pitchFamily="34" charset="-120"/>
              </a:rPr>
              <a:t>Transparency is a mechanism, not a promise to be broken. You can check batch data, farmer names, and practices. They are not the claims you’re asked to believe.</a:t>
            </a:r>
            <a:endParaRPr lang="en-US" sz="800" dirty="0"/>
          </a:p>
        </p:txBody>
      </p:sp>
      <p:sp>
        <p:nvSpPr>
          <p:cNvPr id="16" name="Shape 12"/>
          <p:cNvSpPr/>
          <p:nvPr/>
        </p:nvSpPr>
        <p:spPr>
          <a:xfrm>
            <a:off x="502920" y="3621024"/>
            <a:ext cx="3639312" cy="896112"/>
          </a:xfrm>
          <a:prstGeom prst="roundRect">
            <a:avLst>
              <a:gd name="adj" fmla="val 8163"/>
            </a:avLst>
          </a:prstGeom>
          <a:solidFill>
            <a:srgbClr val="17304A"/>
          </a:solidFill>
          <a:ln w="9525">
            <a:solidFill>
              <a:srgbClr val="2E5470"/>
            </a:solidFill>
            <a:prstDash val="solid"/>
          </a:ln>
        </p:spPr>
      </p:sp>
      <p:sp>
        <p:nvSpPr>
          <p:cNvPr id="17" name="Text 13"/>
          <p:cNvSpPr/>
          <p:nvPr/>
        </p:nvSpPr>
        <p:spPr>
          <a:xfrm>
            <a:off x="667512" y="3694176"/>
            <a:ext cx="3310128" cy="237744"/>
          </a:xfrm>
          <a:prstGeom prst="rect">
            <a:avLst/>
          </a:prstGeom>
          <a:noFill/>
          <a:ln/>
        </p:spPr>
        <p:txBody>
          <a:bodyPr wrap="square" lIns="0" tIns="0" rIns="0" bIns="0" rtlCol="0" anchor="t"/>
          <a:lstStyle/>
          <a:p>
            <a:pPr indent="0" marL="0">
              <a:buNone/>
            </a:pPr>
            <a:r>
              <a:rPr lang="en-US" sz="950" dirty="0">
                <a:solidFill>
                  <a:srgbClr val="FFFFFF"/>
                </a:solidFill>
                <a:latin typeface="Archivo Black" pitchFamily="34" charset="0"/>
                <a:ea typeface="Archivo Black" pitchFamily="34" charset="-122"/>
                <a:cs typeface="Archivo Black" pitchFamily="34" charset="-120"/>
              </a:rPr>
              <a:t>Simplicity</a:t>
            </a:r>
            <a:endParaRPr lang="en-US" sz="950" dirty="0"/>
          </a:p>
        </p:txBody>
      </p:sp>
      <p:sp>
        <p:nvSpPr>
          <p:cNvPr id="18" name="Text 14"/>
          <p:cNvSpPr/>
          <p:nvPr/>
        </p:nvSpPr>
        <p:spPr>
          <a:xfrm>
            <a:off x="667512" y="3931920"/>
            <a:ext cx="3310128" cy="530352"/>
          </a:xfrm>
          <a:prstGeom prst="rect">
            <a:avLst/>
          </a:prstGeom>
          <a:noFill/>
          <a:ln/>
        </p:spPr>
        <p:txBody>
          <a:bodyPr wrap="square" lIns="0" tIns="0" rIns="0" bIns="0" rtlCol="0" anchor="t"/>
          <a:lstStyle/>
          <a:p>
            <a:pPr indent="0" marL="0">
              <a:lnSpc>
                <a:spcPct val="108000"/>
              </a:lnSpc>
              <a:buNone/>
            </a:pPr>
            <a:r>
              <a:rPr lang="en-US" sz="800" dirty="0">
                <a:solidFill>
                  <a:srgbClr val="EEE9E0"/>
                </a:solidFill>
                <a:latin typeface="Nunito Sans" pitchFamily="34" charset="0"/>
                <a:ea typeface="Nunito Sans" pitchFamily="34" charset="-122"/>
                <a:cs typeface="Nunito Sans" pitchFamily="34" charset="-120"/>
              </a:rPr>
              <a:t>We turn complex agri-data into one clear signal, so our farmers can take confident actions, and consumers can trust what they see instantly.</a:t>
            </a:r>
            <a:endParaRPr lang="en-US" sz="800" dirty="0"/>
          </a:p>
        </p:txBody>
      </p:sp>
      <p:sp>
        <p:nvSpPr>
          <p:cNvPr id="19" name="Shape 15"/>
          <p:cNvSpPr/>
          <p:nvPr/>
        </p:nvSpPr>
        <p:spPr>
          <a:xfrm>
            <a:off x="4361688" y="3621024"/>
            <a:ext cx="3639312" cy="896112"/>
          </a:xfrm>
          <a:prstGeom prst="roundRect">
            <a:avLst>
              <a:gd name="adj" fmla="val 8163"/>
            </a:avLst>
          </a:prstGeom>
          <a:solidFill>
            <a:srgbClr val="17304A"/>
          </a:solidFill>
          <a:ln w="9525">
            <a:solidFill>
              <a:srgbClr val="2E5470"/>
            </a:solidFill>
            <a:prstDash val="solid"/>
          </a:ln>
        </p:spPr>
      </p:sp>
      <p:sp>
        <p:nvSpPr>
          <p:cNvPr id="20" name="Text 16"/>
          <p:cNvSpPr/>
          <p:nvPr/>
        </p:nvSpPr>
        <p:spPr>
          <a:xfrm>
            <a:off x="4526280" y="3694176"/>
            <a:ext cx="3310128" cy="237744"/>
          </a:xfrm>
          <a:prstGeom prst="rect">
            <a:avLst/>
          </a:prstGeom>
          <a:noFill/>
          <a:ln/>
        </p:spPr>
        <p:txBody>
          <a:bodyPr wrap="square" lIns="0" tIns="0" rIns="0" bIns="0" rtlCol="0" anchor="t"/>
          <a:lstStyle/>
          <a:p>
            <a:pPr indent="0" marL="0">
              <a:buNone/>
            </a:pPr>
            <a:r>
              <a:rPr lang="en-US" sz="950" dirty="0">
                <a:solidFill>
                  <a:srgbClr val="FFFFFF"/>
                </a:solidFill>
                <a:latin typeface="Archivo Black" pitchFamily="34" charset="0"/>
                <a:ea typeface="Archivo Black" pitchFamily="34" charset="-122"/>
                <a:cs typeface="Archivo Black" pitchFamily="34" charset="-120"/>
              </a:rPr>
              <a:t>Progress</a:t>
            </a:r>
            <a:endParaRPr lang="en-US" sz="950" dirty="0"/>
          </a:p>
        </p:txBody>
      </p:sp>
      <p:sp>
        <p:nvSpPr>
          <p:cNvPr id="21" name="Text 17"/>
          <p:cNvSpPr/>
          <p:nvPr/>
        </p:nvSpPr>
        <p:spPr>
          <a:xfrm>
            <a:off x="4526280" y="3931920"/>
            <a:ext cx="3310128" cy="530352"/>
          </a:xfrm>
          <a:prstGeom prst="rect">
            <a:avLst/>
          </a:prstGeom>
          <a:noFill/>
          <a:ln/>
        </p:spPr>
        <p:txBody>
          <a:bodyPr wrap="square" lIns="0" tIns="0" rIns="0" bIns="0" rtlCol="0" anchor="t"/>
          <a:lstStyle/>
          <a:p>
            <a:pPr indent="0" marL="0">
              <a:lnSpc>
                <a:spcPct val="108000"/>
              </a:lnSpc>
              <a:buNone/>
            </a:pPr>
            <a:r>
              <a:rPr lang="en-US" sz="800" dirty="0">
                <a:solidFill>
                  <a:srgbClr val="EEE9E0"/>
                </a:solidFill>
                <a:latin typeface="Nunito Sans" pitchFamily="34" charset="0"/>
                <a:ea typeface="Nunito Sans" pitchFamily="34" charset="-122"/>
                <a:cs typeface="Nunito Sans" pitchFamily="34" charset="-120"/>
              </a:rPr>
              <a:t>Not progress for its own sake, but progress powered by DeHaat’s own agri-tech, in service of tradition, not instead of it.</a:t>
            </a:r>
            <a:endParaRPr lang="en-US" sz="800" dirty="0"/>
          </a:p>
        </p:txBody>
      </p:sp>
      <p:sp>
        <p:nvSpPr>
          <p:cNvPr id="22" name="Shape 18"/>
          <p:cNvSpPr/>
          <p:nvPr/>
        </p:nvSpPr>
        <p:spPr>
          <a:xfrm>
            <a:off x="502920" y="4626864"/>
            <a:ext cx="3639312" cy="896112"/>
          </a:xfrm>
          <a:prstGeom prst="roundRect">
            <a:avLst>
              <a:gd name="adj" fmla="val 8163"/>
            </a:avLst>
          </a:prstGeom>
          <a:solidFill>
            <a:srgbClr val="17304A"/>
          </a:solidFill>
          <a:ln w="9525">
            <a:solidFill>
              <a:srgbClr val="2E5470"/>
            </a:solidFill>
            <a:prstDash val="solid"/>
          </a:ln>
        </p:spPr>
      </p:sp>
      <p:sp>
        <p:nvSpPr>
          <p:cNvPr id="23" name="Text 19"/>
          <p:cNvSpPr/>
          <p:nvPr/>
        </p:nvSpPr>
        <p:spPr>
          <a:xfrm>
            <a:off x="667512" y="4700016"/>
            <a:ext cx="3310128" cy="237744"/>
          </a:xfrm>
          <a:prstGeom prst="rect">
            <a:avLst/>
          </a:prstGeom>
          <a:noFill/>
          <a:ln/>
        </p:spPr>
        <p:txBody>
          <a:bodyPr wrap="square" lIns="0" tIns="0" rIns="0" bIns="0" rtlCol="0" anchor="t"/>
          <a:lstStyle/>
          <a:p>
            <a:pPr indent="0" marL="0">
              <a:buNone/>
            </a:pPr>
            <a:r>
              <a:rPr lang="en-US" sz="950" dirty="0">
                <a:solidFill>
                  <a:srgbClr val="FFFFFF"/>
                </a:solidFill>
                <a:latin typeface="Archivo Black" pitchFamily="34" charset="0"/>
                <a:ea typeface="Archivo Black" pitchFamily="34" charset="-122"/>
                <a:cs typeface="Archivo Black" pitchFamily="34" charset="-120"/>
              </a:rPr>
              <a:t>Education and empowerment</a:t>
            </a:r>
            <a:endParaRPr lang="en-US" sz="950" dirty="0"/>
          </a:p>
        </p:txBody>
      </p:sp>
      <p:sp>
        <p:nvSpPr>
          <p:cNvPr id="24" name="Text 20"/>
          <p:cNvSpPr/>
          <p:nvPr/>
        </p:nvSpPr>
        <p:spPr>
          <a:xfrm>
            <a:off x="667512" y="4937760"/>
            <a:ext cx="3310128" cy="530352"/>
          </a:xfrm>
          <a:prstGeom prst="rect">
            <a:avLst/>
          </a:prstGeom>
          <a:noFill/>
          <a:ln/>
        </p:spPr>
        <p:txBody>
          <a:bodyPr wrap="square" lIns="0" tIns="0" rIns="0" bIns="0" rtlCol="0" anchor="t"/>
          <a:lstStyle/>
          <a:p>
            <a:pPr indent="0" marL="0">
              <a:lnSpc>
                <a:spcPct val="108000"/>
              </a:lnSpc>
              <a:buNone/>
            </a:pPr>
            <a:r>
              <a:rPr lang="en-US" sz="800" dirty="0">
                <a:solidFill>
                  <a:srgbClr val="EEE9E0"/>
                </a:solidFill>
                <a:latin typeface="Nunito Sans" pitchFamily="34" charset="0"/>
                <a:ea typeface="Nunito Sans" pitchFamily="34" charset="-122"/>
                <a:cs typeface="Nunito Sans" pitchFamily="34" charset="-120"/>
              </a:rPr>
              <a:t>We bridge Krishi wisdom and modern methods, so farming becomes more productive, profitable, and sustainable; inspiring young people to see agriculture as a modern opportunity.</a:t>
            </a:r>
            <a:endParaRPr lang="en-US" sz="800" dirty="0"/>
          </a:p>
        </p:txBody>
      </p:sp>
      <p:sp>
        <p:nvSpPr>
          <p:cNvPr id="25" name="Shape 21"/>
          <p:cNvSpPr/>
          <p:nvPr/>
        </p:nvSpPr>
        <p:spPr>
          <a:xfrm>
            <a:off x="4361688" y="4626864"/>
            <a:ext cx="3639312" cy="896112"/>
          </a:xfrm>
          <a:prstGeom prst="roundRect">
            <a:avLst>
              <a:gd name="adj" fmla="val 8163"/>
            </a:avLst>
          </a:prstGeom>
          <a:solidFill>
            <a:srgbClr val="17304A"/>
          </a:solidFill>
          <a:ln w="9525">
            <a:solidFill>
              <a:srgbClr val="2E5470"/>
            </a:solidFill>
            <a:prstDash val="solid"/>
          </a:ln>
        </p:spPr>
      </p:sp>
      <p:sp>
        <p:nvSpPr>
          <p:cNvPr id="26" name="Text 22"/>
          <p:cNvSpPr/>
          <p:nvPr/>
        </p:nvSpPr>
        <p:spPr>
          <a:xfrm>
            <a:off x="4526280" y="4700016"/>
            <a:ext cx="3310128" cy="237744"/>
          </a:xfrm>
          <a:prstGeom prst="rect">
            <a:avLst/>
          </a:prstGeom>
          <a:noFill/>
          <a:ln/>
        </p:spPr>
        <p:txBody>
          <a:bodyPr wrap="square" lIns="0" tIns="0" rIns="0" bIns="0" rtlCol="0" anchor="t"/>
          <a:lstStyle/>
          <a:p>
            <a:pPr indent="0" marL="0">
              <a:buNone/>
            </a:pPr>
            <a:r>
              <a:rPr lang="en-US" sz="950" dirty="0">
                <a:solidFill>
                  <a:srgbClr val="FFFFFF"/>
                </a:solidFill>
                <a:latin typeface="Archivo Black" pitchFamily="34" charset="0"/>
                <a:ea typeface="Archivo Black" pitchFamily="34" charset="-122"/>
                <a:cs typeface="Archivo Black" pitchFamily="34" charset="-120"/>
              </a:rPr>
              <a:t>Connection</a:t>
            </a:r>
            <a:endParaRPr lang="en-US" sz="950" dirty="0"/>
          </a:p>
        </p:txBody>
      </p:sp>
      <p:sp>
        <p:nvSpPr>
          <p:cNvPr id="27" name="Text 23"/>
          <p:cNvSpPr/>
          <p:nvPr/>
        </p:nvSpPr>
        <p:spPr>
          <a:xfrm>
            <a:off x="4526280" y="4937760"/>
            <a:ext cx="3310128" cy="530352"/>
          </a:xfrm>
          <a:prstGeom prst="rect">
            <a:avLst/>
          </a:prstGeom>
          <a:noFill/>
          <a:ln/>
        </p:spPr>
        <p:txBody>
          <a:bodyPr wrap="square" lIns="0" tIns="0" rIns="0" bIns="0" rtlCol="0" anchor="t"/>
          <a:lstStyle/>
          <a:p>
            <a:pPr indent="0" marL="0">
              <a:lnSpc>
                <a:spcPct val="108000"/>
              </a:lnSpc>
              <a:buNone/>
            </a:pPr>
            <a:r>
              <a:rPr lang="en-US" sz="800" dirty="0">
                <a:solidFill>
                  <a:srgbClr val="EEE9E0"/>
                </a:solidFill>
                <a:latin typeface="Nunito Sans" pitchFamily="34" charset="0"/>
                <a:ea typeface="Nunito Sans" pitchFamily="34" charset="-122"/>
                <a:cs typeface="Nunito Sans" pitchFamily="34" charset="-120"/>
              </a:rPr>
              <a:t>The farmer isn’t a sourcing story we tell; they’re the name on the batch, accountable and credited. When farmers prosper, supply is reliable; when consumers can trace what they buy back to a real farm, honesty becomes provable, not just promised.</a:t>
            </a:r>
            <a:endParaRPr lang="en-US" sz="800" dirty="0"/>
          </a:p>
        </p:txBody>
      </p:sp>
      <p:sp>
        <p:nvSpPr>
          <p:cNvPr id="28" name="Text 24"/>
          <p:cNvSpPr/>
          <p:nvPr/>
        </p:nvSpPr>
        <p:spPr>
          <a:xfrm>
            <a:off x="502920" y="5687568"/>
            <a:ext cx="7498080" cy="365760"/>
          </a:xfrm>
          <a:prstGeom prst="rect">
            <a:avLst/>
          </a:prstGeom>
          <a:noFill/>
          <a:ln/>
        </p:spPr>
        <p:txBody>
          <a:bodyPr wrap="square" lIns="0" tIns="0" rIns="0" bIns="0" rtlCol="0" anchor="ctr"/>
          <a:lstStyle/>
          <a:p>
            <a:pPr indent="0" marL="0">
              <a:buNone/>
            </a:pPr>
            <a:r>
              <a:rPr lang="en-US" sz="1350" i="1" dirty="0">
                <a:solidFill>
                  <a:srgbClr val="EEE9E0"/>
                </a:solidFill>
                <a:latin typeface="Nunito Sans" pitchFamily="34" charset="0"/>
                <a:ea typeface="Nunito Sans" pitchFamily="34" charset="-122"/>
                <a:cs typeface="Nunito Sans" pitchFamily="34" charset="-120"/>
              </a:rPr>
              <a:t>We are Honest Farms. </a:t>
            </a:r>
            <a:pPr indent="0" marL="0">
              <a:buNone/>
            </a:pPr>
            <a:r>
              <a:rPr lang="en-US" sz="1350" b="1" dirty="0">
                <a:solidFill>
                  <a:srgbClr val="5FC28C"/>
                </a:solidFill>
                <a:latin typeface="Nunito Sans" pitchFamily="34" charset="0"/>
                <a:ea typeface="Nunito Sans" pitchFamily="34" charset="-122"/>
                <a:cs typeface="Nunito Sans" pitchFamily="34" charset="-120"/>
              </a:rPr>
              <a:t>Verified in the fields, Honest on the shelves.</a:t>
            </a:r>
            <a:endParaRPr lang="en-US" sz="1350" dirty="0"/>
          </a:p>
        </p:txBody>
      </p:sp>
      <p:sp>
        <p:nvSpPr>
          <p:cNvPr id="29" name="Shape 25"/>
          <p:cNvSpPr/>
          <p:nvPr/>
        </p:nvSpPr>
        <p:spPr>
          <a:xfrm>
            <a:off x="502920" y="6492240"/>
            <a:ext cx="11185855" cy="0"/>
          </a:xfrm>
          <a:prstGeom prst="line">
            <a:avLst/>
          </a:prstGeom>
          <a:noFill/>
          <a:ln w="9525">
            <a:solidFill>
              <a:srgbClr val="FFFFFF">
                <a:alpha val="16000"/>
              </a:srgbClr>
            </a:solidFill>
            <a:prstDash val="solid"/>
          </a:ln>
        </p:spPr>
      </p:sp>
      <p:sp>
        <p:nvSpPr>
          <p:cNvPr id="30" name="Text 26"/>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A9B6C7"/>
                </a:solidFill>
                <a:latin typeface="Nunito Sans" pitchFamily="34" charset="0"/>
                <a:ea typeface="Nunito Sans" pitchFamily="34" charset="-122"/>
                <a:cs typeface="Nunito Sans" pitchFamily="34" charset="-120"/>
              </a:rPr>
              <a:t>BRAND &amp; PROOF</a:t>
            </a:r>
            <a:endParaRPr lang="en-US" sz="800" dirty="0"/>
          </a:p>
        </p:txBody>
      </p:sp>
      <p:sp>
        <p:nvSpPr>
          <p:cNvPr id="31" name="Text 27"/>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5FC28C"/>
                </a:solidFill>
                <a:latin typeface="Archivo Black" pitchFamily="34" charset="0"/>
                <a:ea typeface="Archivo Black" pitchFamily="34" charset="-122"/>
                <a:cs typeface="Archivo Black" pitchFamily="34" charset="-120"/>
              </a:rPr>
              <a:t>13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ECE0"/>
        </a:solidFill>
      </p:bgPr>
    </p:bg>
    <p:spTree>
      <p:nvGrpSpPr>
        <p:cNvPr id="1" name=""/>
        <p:cNvGrpSpPr/>
        <p:nvPr/>
      </p:nvGrpSpPr>
      <p:grpSpPr>
        <a:xfrm>
          <a:off x="0" y="0"/>
          <a:ext cx="0" cy="0"/>
          <a:chOff x="0" y="0"/>
          <a:chExt cx="0" cy="0"/>
        </a:xfrm>
      </p:grpSpPr>
      <p:pic>
        <p:nvPicPr>
          <p:cNvPr id="2" name="Image 0" descr="/home/user/hopper-tessarakt/site/assets/sapling.jpg">    </p:cNvPr>
          <p:cNvPicPr>
            <a:picLocks noChangeAspect="1"/>
          </p:cNvPicPr>
          <p:nvPr/>
        </p:nvPicPr>
        <p:blipFill>
          <a:blip r:embed="rId1"/>
          <a:srcRect l="0" r="0" t="0" b="0"/>
          <a:stretch/>
        </p:blipFill>
        <p:spPr>
          <a:xfrm>
            <a:off x="7040880" y="0"/>
            <a:ext cx="5150815" cy="6327648"/>
          </a:xfrm>
          <a:prstGeom prst="rect">
            <a:avLst/>
          </a:prstGeom>
        </p:spPr>
      </p:pic>
      <p:sp>
        <p:nvSpPr>
          <p:cNvPr id="3" name="Shape 0"/>
          <p:cNvSpPr/>
          <p:nvPr/>
        </p:nvSpPr>
        <p:spPr>
          <a:xfrm>
            <a:off x="502920" y="256032"/>
            <a:ext cx="1622146" cy="274320"/>
          </a:xfrm>
          <a:prstGeom prst="roundRect">
            <a:avLst>
              <a:gd name="adj" fmla="val 23333"/>
            </a:avLst>
          </a:prstGeom>
          <a:solidFill>
            <a:srgbClr val="3A5D97"/>
          </a:solidFill>
          <a:ln w="12700">
            <a:solidFill>
              <a:srgbClr val="333333"/>
            </a:solidFill>
            <a:prstDash val="solid"/>
          </a:ln>
        </p:spPr>
      </p:sp>
      <p:sp>
        <p:nvSpPr>
          <p:cNvPr id="4" name="Text 1"/>
          <p:cNvSpPr/>
          <p:nvPr/>
        </p:nvSpPr>
        <p:spPr>
          <a:xfrm>
            <a:off x="502920" y="256032"/>
            <a:ext cx="1622146"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BRAND PURPOSE</a:t>
            </a:r>
            <a:endParaRPr lang="en-US" sz="900" dirty="0"/>
          </a:p>
        </p:txBody>
      </p:sp>
      <p:pic>
        <p:nvPicPr>
          <p:cNvPr id="5" name="Image 1" descr="/home/user/hopper-tessarakt/site/assets/logo.png">    </p:cNvPr>
          <p:cNvPicPr>
            <a:picLocks noChangeAspect="1"/>
          </p:cNvPicPr>
          <p:nvPr/>
        </p:nvPicPr>
        <p:blipFill>
          <a:blip r:embed="rId2"/>
          <a:stretch>
            <a:fillRect/>
          </a:stretch>
        </p:blipFill>
        <p:spPr>
          <a:xfrm>
            <a:off x="10545775" y="237744"/>
            <a:ext cx="1143000" cy="420624"/>
          </a:xfrm>
          <a:prstGeom prst="rect">
            <a:avLst/>
          </a:prstGeom>
        </p:spPr>
      </p:pic>
      <p:sp>
        <p:nvSpPr>
          <p:cNvPr id="6" name="Text 2"/>
          <p:cNvSpPr/>
          <p:nvPr/>
        </p:nvSpPr>
        <p:spPr>
          <a:xfrm>
            <a:off x="502920" y="585216"/>
            <a:ext cx="6126480" cy="2743200"/>
          </a:xfrm>
          <a:prstGeom prst="rect">
            <a:avLst/>
          </a:prstGeom>
          <a:noFill/>
          <a:ln/>
        </p:spPr>
        <p:txBody>
          <a:bodyPr wrap="square" lIns="0" tIns="0" rIns="0" bIns="0" rtlCol="0" anchor="t"/>
          <a:lstStyle/>
          <a:p>
            <a:pPr indent="0" marL="0">
              <a:lnSpc>
                <a:spcPct val="102000"/>
              </a:lnSpc>
              <a:buNone/>
            </a:pPr>
            <a:r>
              <a:rPr lang="en-US" sz="2700" dirty="0">
                <a:solidFill>
                  <a:srgbClr val="0C1A2B"/>
                </a:solidFill>
                <a:latin typeface="Archivo Black" pitchFamily="34" charset="0"/>
                <a:ea typeface="Archivo Black" pitchFamily="34" charset="-122"/>
                <a:cs typeface="Archivo Black" pitchFamily="34" charset="-120"/>
              </a:rPr>
              <a:t>To nurture soil and skills, to do business honestly, and to prove it batch by batch, farmer by farmer.</a:t>
            </a:r>
            <a:endParaRPr lang="en-US" sz="2700" dirty="0"/>
          </a:p>
        </p:txBody>
      </p:sp>
      <p:sp>
        <p:nvSpPr>
          <p:cNvPr id="8" name="Shape 3"/>
          <p:cNvSpPr/>
          <p:nvPr/>
        </p:nvSpPr>
        <p:spPr>
          <a:xfrm>
            <a:off x="502920" y="6492240"/>
            <a:ext cx="11185855" cy="0"/>
          </a:xfrm>
          <a:prstGeom prst="line">
            <a:avLst/>
          </a:prstGeom>
          <a:noFill/>
          <a:ln w="9525">
            <a:solidFill>
              <a:srgbClr val="E5DCCB"/>
            </a:solidFill>
            <a:prstDash val="solid"/>
          </a:ln>
        </p:spPr>
      </p:sp>
      <p:sp>
        <p:nvSpPr>
          <p:cNvPr id="9" name="Text 4"/>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BRAND &amp; PROOF</a:t>
            </a:r>
            <a:endParaRPr lang="en-US" sz="800" dirty="0"/>
          </a:p>
        </p:txBody>
      </p:sp>
      <p:sp>
        <p:nvSpPr>
          <p:cNvPr id="10" name="Text 5"/>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14</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5385816"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5385816"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MAKING BACKEND AGRI-TECH RIGOR VISIBLE TO THE CONSUMERS</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500" dirty="0">
                <a:solidFill>
                  <a:srgbClr val="0C1A2B"/>
                </a:solidFill>
                <a:latin typeface="Archivo Black" pitchFamily="34" charset="0"/>
                <a:ea typeface="Archivo Black" pitchFamily="34" charset="-122"/>
                <a:cs typeface="Archivo Black" pitchFamily="34" charset="-120"/>
              </a:rPr>
              <a:t>Flip the Script on QR Traceability: Farmers in the Spotlight</a:t>
            </a:r>
            <a:endParaRPr lang="en-US" sz="2500" dirty="0"/>
          </a:p>
        </p:txBody>
      </p:sp>
      <p:sp>
        <p:nvSpPr>
          <p:cNvPr id="6" name="Shape 3"/>
          <p:cNvSpPr/>
          <p:nvPr/>
        </p:nvSpPr>
        <p:spPr>
          <a:xfrm>
            <a:off x="502920" y="1463040"/>
            <a:ext cx="3730752" cy="1060704"/>
          </a:xfrm>
          <a:prstGeom prst="roundRect">
            <a:avLst>
              <a:gd name="adj" fmla="val 8621"/>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7" name="Shape 4"/>
          <p:cNvSpPr/>
          <p:nvPr/>
        </p:nvSpPr>
        <p:spPr>
          <a:xfrm>
            <a:off x="502920" y="1463040"/>
            <a:ext cx="41148" cy="1060704"/>
          </a:xfrm>
          <a:prstGeom prst="rect">
            <a:avLst/>
          </a:prstGeom>
          <a:solidFill>
            <a:srgbClr val="177A46"/>
          </a:solidFill>
          <a:ln w="5080">
            <a:solidFill>
              <a:srgbClr val="177A46"/>
            </a:solidFill>
            <a:prstDash val="solid"/>
          </a:ln>
        </p:spPr>
      </p:sp>
      <p:sp>
        <p:nvSpPr>
          <p:cNvPr id="8" name="Text 5"/>
          <p:cNvSpPr/>
          <p:nvPr/>
        </p:nvSpPr>
        <p:spPr>
          <a:xfrm>
            <a:off x="685800" y="1554480"/>
            <a:ext cx="3364992" cy="237744"/>
          </a:xfrm>
          <a:prstGeom prst="rect">
            <a:avLst/>
          </a:prstGeom>
          <a:noFill/>
          <a:ln/>
        </p:spPr>
        <p:txBody>
          <a:bodyPr wrap="square" lIns="0" tIns="0" rIns="0" bIns="0" rtlCol="0" anchor="t"/>
          <a:lstStyle/>
          <a:p>
            <a:pPr indent="0" marL="0">
              <a:buNone/>
            </a:pPr>
            <a:r>
              <a:rPr lang="en-US" sz="1050" b="1" dirty="0">
                <a:solidFill>
                  <a:srgbClr val="0C1A2B"/>
                </a:solidFill>
                <a:latin typeface="Nunito Sans" pitchFamily="34" charset="0"/>
                <a:ea typeface="Nunito Sans" pitchFamily="34" charset="-122"/>
                <a:cs typeface="Nunito Sans" pitchFamily="34" charset="-120"/>
              </a:rPr>
              <a:t>QR to farmer</a:t>
            </a:r>
            <a:endParaRPr lang="en-US" sz="1050" dirty="0"/>
          </a:p>
        </p:txBody>
      </p:sp>
      <p:sp>
        <p:nvSpPr>
          <p:cNvPr id="9" name="Text 6"/>
          <p:cNvSpPr/>
          <p:nvPr/>
        </p:nvSpPr>
        <p:spPr>
          <a:xfrm>
            <a:off x="685800" y="1810512"/>
            <a:ext cx="3364992" cy="640080"/>
          </a:xfrm>
          <a:prstGeom prst="rect">
            <a:avLst/>
          </a:prstGeom>
          <a:noFill/>
          <a:ln/>
        </p:spPr>
        <p:txBody>
          <a:bodyPr wrap="square" lIns="0" tIns="0" rIns="0" bIns="0" rtlCol="0" anchor="t"/>
          <a:lstStyle/>
          <a:p>
            <a:pPr indent="0" marL="0">
              <a:lnSpc>
                <a:spcPct val="110000"/>
              </a:lnSpc>
              <a:buNone/>
            </a:pPr>
            <a:r>
              <a:rPr lang="en-US" sz="850" dirty="0">
                <a:solidFill>
                  <a:srgbClr val="54606F"/>
                </a:solidFill>
                <a:latin typeface="Nunito Sans" pitchFamily="34" charset="0"/>
                <a:ea typeface="Nunito Sans" pitchFamily="34" charset="-122"/>
                <a:cs typeface="Nunito Sans" pitchFamily="34" charset="-120"/>
              </a:rPr>
              <a:t>Scan the pack and land on a unique microsite of that farmer - know his village, harvest date, daily life, growth, consumer connects &amp; download the Pesticide-Free Certificate.</a:t>
            </a:r>
            <a:endParaRPr lang="en-US" sz="850" dirty="0"/>
          </a:p>
        </p:txBody>
      </p:sp>
      <p:sp>
        <p:nvSpPr>
          <p:cNvPr id="10" name="Shape 7"/>
          <p:cNvSpPr/>
          <p:nvPr/>
        </p:nvSpPr>
        <p:spPr>
          <a:xfrm>
            <a:off x="4453128" y="1463040"/>
            <a:ext cx="3730752" cy="1060704"/>
          </a:xfrm>
          <a:prstGeom prst="roundRect">
            <a:avLst>
              <a:gd name="adj" fmla="val 8621"/>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1" name="Shape 8"/>
          <p:cNvSpPr/>
          <p:nvPr/>
        </p:nvSpPr>
        <p:spPr>
          <a:xfrm>
            <a:off x="4453128" y="1463040"/>
            <a:ext cx="41148" cy="1060704"/>
          </a:xfrm>
          <a:prstGeom prst="rect">
            <a:avLst/>
          </a:prstGeom>
          <a:solidFill>
            <a:srgbClr val="177A46"/>
          </a:solidFill>
          <a:ln w="5080">
            <a:solidFill>
              <a:srgbClr val="177A46"/>
            </a:solidFill>
            <a:prstDash val="solid"/>
          </a:ln>
        </p:spPr>
      </p:sp>
      <p:sp>
        <p:nvSpPr>
          <p:cNvPr id="12" name="Text 9"/>
          <p:cNvSpPr/>
          <p:nvPr/>
        </p:nvSpPr>
        <p:spPr>
          <a:xfrm>
            <a:off x="4636008" y="1554480"/>
            <a:ext cx="3364992" cy="237744"/>
          </a:xfrm>
          <a:prstGeom prst="rect">
            <a:avLst/>
          </a:prstGeom>
          <a:noFill/>
          <a:ln/>
        </p:spPr>
        <p:txBody>
          <a:bodyPr wrap="square" lIns="0" tIns="0" rIns="0" bIns="0" rtlCol="0" anchor="t"/>
          <a:lstStyle/>
          <a:p>
            <a:pPr indent="0" marL="0">
              <a:buNone/>
            </a:pPr>
            <a:r>
              <a:rPr lang="en-US" sz="1050" b="1" dirty="0">
                <a:solidFill>
                  <a:srgbClr val="0C1A2B"/>
                </a:solidFill>
                <a:latin typeface="Nunito Sans" pitchFamily="34" charset="0"/>
                <a:ea typeface="Nunito Sans" pitchFamily="34" charset="-122"/>
                <a:cs typeface="Nunito Sans" pitchFamily="34" charset="-120"/>
              </a:rPr>
              <a:t>Village / Farm clusters on pack</a:t>
            </a:r>
            <a:endParaRPr lang="en-US" sz="1050" dirty="0"/>
          </a:p>
        </p:txBody>
      </p:sp>
      <p:sp>
        <p:nvSpPr>
          <p:cNvPr id="13" name="Text 10"/>
          <p:cNvSpPr/>
          <p:nvPr/>
        </p:nvSpPr>
        <p:spPr>
          <a:xfrm>
            <a:off x="4636008" y="1810512"/>
            <a:ext cx="3364992" cy="640080"/>
          </a:xfrm>
          <a:prstGeom prst="rect">
            <a:avLst/>
          </a:prstGeom>
          <a:noFill/>
          <a:ln/>
        </p:spPr>
        <p:txBody>
          <a:bodyPr wrap="square" lIns="0" tIns="0" rIns="0" bIns="0" rtlCol="0" anchor="t"/>
          <a:lstStyle/>
          <a:p>
            <a:pPr indent="0" marL="0">
              <a:lnSpc>
                <a:spcPct val="110000"/>
              </a:lnSpc>
              <a:buNone/>
            </a:pPr>
            <a:r>
              <a:rPr lang="en-US" sz="850" dirty="0">
                <a:solidFill>
                  <a:srgbClr val="54606F"/>
                </a:solidFill>
                <a:latin typeface="Nunito Sans" pitchFamily="34" charset="0"/>
                <a:ea typeface="Nunito Sans" pitchFamily="34" charset="-122"/>
                <a:cs typeface="Nunito Sans" pitchFamily="34" charset="-120"/>
              </a:rPr>
              <a:t>Like most wine brands across the world, Bordeaux, Nice, Nashik, Napa Valley - Prove provenance.</a:t>
            </a:r>
            <a:endParaRPr lang="en-US" sz="850" dirty="0"/>
          </a:p>
        </p:txBody>
      </p:sp>
      <p:sp>
        <p:nvSpPr>
          <p:cNvPr id="14" name="Shape 11"/>
          <p:cNvSpPr/>
          <p:nvPr/>
        </p:nvSpPr>
        <p:spPr>
          <a:xfrm>
            <a:off x="502920" y="2633472"/>
            <a:ext cx="3730752" cy="1060704"/>
          </a:xfrm>
          <a:prstGeom prst="roundRect">
            <a:avLst>
              <a:gd name="adj" fmla="val 8621"/>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5" name="Shape 12"/>
          <p:cNvSpPr/>
          <p:nvPr/>
        </p:nvSpPr>
        <p:spPr>
          <a:xfrm>
            <a:off x="502920" y="2633472"/>
            <a:ext cx="41148" cy="1060704"/>
          </a:xfrm>
          <a:prstGeom prst="rect">
            <a:avLst/>
          </a:prstGeom>
          <a:solidFill>
            <a:srgbClr val="177A46"/>
          </a:solidFill>
          <a:ln w="5080">
            <a:solidFill>
              <a:srgbClr val="177A46"/>
            </a:solidFill>
            <a:prstDash val="solid"/>
          </a:ln>
        </p:spPr>
      </p:sp>
      <p:sp>
        <p:nvSpPr>
          <p:cNvPr id="16" name="Text 13"/>
          <p:cNvSpPr/>
          <p:nvPr/>
        </p:nvSpPr>
        <p:spPr>
          <a:xfrm>
            <a:off x="685800" y="2724912"/>
            <a:ext cx="3364992" cy="237744"/>
          </a:xfrm>
          <a:prstGeom prst="rect">
            <a:avLst/>
          </a:prstGeom>
          <a:noFill/>
          <a:ln/>
        </p:spPr>
        <p:txBody>
          <a:bodyPr wrap="square" lIns="0" tIns="0" rIns="0" bIns="0" rtlCol="0" anchor="t"/>
          <a:lstStyle/>
          <a:p>
            <a:pPr indent="0" marL="0">
              <a:buNone/>
            </a:pPr>
            <a:r>
              <a:rPr lang="en-US" sz="1050" b="1" dirty="0">
                <a:solidFill>
                  <a:srgbClr val="0C1A2B"/>
                </a:solidFill>
                <a:latin typeface="Nunito Sans" pitchFamily="34" charset="0"/>
                <a:ea typeface="Nunito Sans" pitchFamily="34" charset="-122"/>
                <a:cs typeface="Nunito Sans" pitchFamily="34" charset="-120"/>
              </a:rPr>
              <a:t>Farmers as content creators</a:t>
            </a:r>
            <a:endParaRPr lang="en-US" sz="1050" dirty="0"/>
          </a:p>
        </p:txBody>
      </p:sp>
      <p:sp>
        <p:nvSpPr>
          <p:cNvPr id="17" name="Text 14"/>
          <p:cNvSpPr/>
          <p:nvPr/>
        </p:nvSpPr>
        <p:spPr>
          <a:xfrm>
            <a:off x="685800" y="2980944"/>
            <a:ext cx="3364992" cy="640080"/>
          </a:xfrm>
          <a:prstGeom prst="rect">
            <a:avLst/>
          </a:prstGeom>
          <a:noFill/>
          <a:ln/>
        </p:spPr>
        <p:txBody>
          <a:bodyPr wrap="square" lIns="0" tIns="0" rIns="0" bIns="0" rtlCol="0" anchor="t"/>
          <a:lstStyle/>
          <a:p>
            <a:pPr indent="0" marL="0">
              <a:lnSpc>
                <a:spcPct val="110000"/>
              </a:lnSpc>
              <a:buNone/>
            </a:pPr>
            <a:r>
              <a:rPr lang="en-US" sz="850" dirty="0">
                <a:solidFill>
                  <a:srgbClr val="54606F"/>
                </a:solidFill>
                <a:latin typeface="Nunito Sans" pitchFamily="34" charset="0"/>
                <a:ea typeface="Nunito Sans" pitchFamily="34" charset="-122"/>
                <a:cs typeface="Nunito Sans" pitchFamily="34" charset="-120"/>
              </a:rPr>
              <a:t>They play the lead role with unscripted reels, voice notes, and live harvest streams. Rougher, less polished than a typical ad, which is exactly what signals "real" to a sceptical buyer.</a:t>
            </a:r>
            <a:endParaRPr lang="en-US" sz="850" dirty="0"/>
          </a:p>
        </p:txBody>
      </p:sp>
      <p:sp>
        <p:nvSpPr>
          <p:cNvPr id="18" name="Shape 15"/>
          <p:cNvSpPr/>
          <p:nvPr/>
        </p:nvSpPr>
        <p:spPr>
          <a:xfrm>
            <a:off x="4453128" y="2633472"/>
            <a:ext cx="3730752" cy="1060704"/>
          </a:xfrm>
          <a:prstGeom prst="roundRect">
            <a:avLst>
              <a:gd name="adj" fmla="val 8621"/>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9" name="Shape 16"/>
          <p:cNvSpPr/>
          <p:nvPr/>
        </p:nvSpPr>
        <p:spPr>
          <a:xfrm>
            <a:off x="4453128" y="2633472"/>
            <a:ext cx="41148" cy="1060704"/>
          </a:xfrm>
          <a:prstGeom prst="rect">
            <a:avLst/>
          </a:prstGeom>
          <a:solidFill>
            <a:srgbClr val="177A46"/>
          </a:solidFill>
          <a:ln w="5080">
            <a:solidFill>
              <a:srgbClr val="177A46"/>
            </a:solidFill>
            <a:prstDash val="solid"/>
          </a:ln>
        </p:spPr>
      </p:sp>
      <p:sp>
        <p:nvSpPr>
          <p:cNvPr id="20" name="Text 17"/>
          <p:cNvSpPr/>
          <p:nvPr/>
        </p:nvSpPr>
        <p:spPr>
          <a:xfrm>
            <a:off x="4636008" y="2724912"/>
            <a:ext cx="3364992" cy="237744"/>
          </a:xfrm>
          <a:prstGeom prst="rect">
            <a:avLst/>
          </a:prstGeom>
          <a:noFill/>
          <a:ln/>
        </p:spPr>
        <p:txBody>
          <a:bodyPr wrap="square" lIns="0" tIns="0" rIns="0" bIns="0" rtlCol="0" anchor="t"/>
          <a:lstStyle/>
          <a:p>
            <a:pPr indent="0" marL="0">
              <a:buNone/>
            </a:pPr>
            <a:r>
              <a:rPr lang="en-US" sz="1050" b="1" dirty="0">
                <a:solidFill>
                  <a:srgbClr val="0C1A2B"/>
                </a:solidFill>
                <a:latin typeface="Nunito Sans" pitchFamily="34" charset="0"/>
                <a:ea typeface="Nunito Sans" pitchFamily="34" charset="-122"/>
                <a:cs typeface="Nunito Sans" pitchFamily="34" charset="-120"/>
              </a:rPr>
              <a:t>Hand-written Farmer Letters in pack</a:t>
            </a:r>
            <a:endParaRPr lang="en-US" sz="1050" dirty="0"/>
          </a:p>
        </p:txBody>
      </p:sp>
      <p:sp>
        <p:nvSpPr>
          <p:cNvPr id="21" name="Text 18"/>
          <p:cNvSpPr/>
          <p:nvPr/>
        </p:nvSpPr>
        <p:spPr>
          <a:xfrm>
            <a:off x="4636008" y="2980944"/>
            <a:ext cx="3364992" cy="640080"/>
          </a:xfrm>
          <a:prstGeom prst="rect">
            <a:avLst/>
          </a:prstGeom>
          <a:noFill/>
          <a:ln/>
        </p:spPr>
        <p:txBody>
          <a:bodyPr wrap="square" lIns="0" tIns="0" rIns="0" bIns="0" rtlCol="0" anchor="t"/>
          <a:lstStyle/>
          <a:p>
            <a:pPr indent="0" marL="0">
              <a:lnSpc>
                <a:spcPct val="110000"/>
              </a:lnSpc>
              <a:buNone/>
            </a:pPr>
            <a:r>
              <a:rPr lang="en-US" sz="850" dirty="0">
                <a:solidFill>
                  <a:srgbClr val="54606F"/>
                </a:solidFill>
                <a:latin typeface="Nunito Sans" pitchFamily="34" charset="0"/>
                <a:ea typeface="Nunito Sans" pitchFamily="34" charset="-122"/>
                <a:cs typeface="Nunito Sans" pitchFamily="34" charset="-120"/>
              </a:rPr>
              <a:t>Rotating, handwritten-style notes from the actual farmer of that batch.</a:t>
            </a:r>
            <a:endParaRPr lang="en-US" sz="850" dirty="0"/>
          </a:p>
        </p:txBody>
      </p:sp>
      <p:sp>
        <p:nvSpPr>
          <p:cNvPr id="22" name="Shape 19"/>
          <p:cNvSpPr/>
          <p:nvPr/>
        </p:nvSpPr>
        <p:spPr>
          <a:xfrm>
            <a:off x="502920" y="3803904"/>
            <a:ext cx="3730752" cy="1060704"/>
          </a:xfrm>
          <a:prstGeom prst="roundRect">
            <a:avLst>
              <a:gd name="adj" fmla="val 8621"/>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23" name="Shape 20"/>
          <p:cNvSpPr/>
          <p:nvPr/>
        </p:nvSpPr>
        <p:spPr>
          <a:xfrm>
            <a:off x="502920" y="3803904"/>
            <a:ext cx="41148" cy="1060704"/>
          </a:xfrm>
          <a:prstGeom prst="rect">
            <a:avLst/>
          </a:prstGeom>
          <a:solidFill>
            <a:srgbClr val="177A46"/>
          </a:solidFill>
          <a:ln w="5080">
            <a:solidFill>
              <a:srgbClr val="177A46"/>
            </a:solidFill>
            <a:prstDash val="solid"/>
          </a:ln>
        </p:spPr>
      </p:sp>
      <p:sp>
        <p:nvSpPr>
          <p:cNvPr id="24" name="Text 21"/>
          <p:cNvSpPr/>
          <p:nvPr/>
        </p:nvSpPr>
        <p:spPr>
          <a:xfrm>
            <a:off x="685800" y="3895344"/>
            <a:ext cx="3364992" cy="237744"/>
          </a:xfrm>
          <a:prstGeom prst="rect">
            <a:avLst/>
          </a:prstGeom>
          <a:noFill/>
          <a:ln/>
        </p:spPr>
        <p:txBody>
          <a:bodyPr wrap="square" lIns="0" tIns="0" rIns="0" bIns="0" rtlCol="0" anchor="t"/>
          <a:lstStyle/>
          <a:p>
            <a:pPr indent="0" marL="0">
              <a:buNone/>
            </a:pPr>
            <a:r>
              <a:rPr lang="en-US" sz="1050" b="1" dirty="0">
                <a:solidFill>
                  <a:srgbClr val="0C1A2B"/>
                </a:solidFill>
                <a:latin typeface="Nunito Sans" pitchFamily="34" charset="0"/>
                <a:ea typeface="Nunito Sans" pitchFamily="34" charset="-122"/>
                <a:cs typeface="Nunito Sans" pitchFamily="34" charset="-120"/>
              </a:rPr>
              <a:t>Farmers send audit invitation</a:t>
            </a:r>
            <a:endParaRPr lang="en-US" sz="1050" dirty="0"/>
          </a:p>
        </p:txBody>
      </p:sp>
      <p:sp>
        <p:nvSpPr>
          <p:cNvPr id="25" name="Text 22"/>
          <p:cNvSpPr/>
          <p:nvPr/>
        </p:nvSpPr>
        <p:spPr>
          <a:xfrm>
            <a:off x="685800" y="4151376"/>
            <a:ext cx="3364992" cy="640080"/>
          </a:xfrm>
          <a:prstGeom prst="rect">
            <a:avLst/>
          </a:prstGeom>
          <a:noFill/>
          <a:ln/>
        </p:spPr>
        <p:txBody>
          <a:bodyPr wrap="square" lIns="0" tIns="0" rIns="0" bIns="0" rtlCol="0" anchor="t"/>
          <a:lstStyle/>
          <a:p>
            <a:pPr indent="0" marL="0">
              <a:lnSpc>
                <a:spcPct val="110000"/>
              </a:lnSpc>
              <a:buNone/>
            </a:pPr>
            <a:r>
              <a:rPr lang="en-US" sz="850" dirty="0">
                <a:solidFill>
                  <a:srgbClr val="54606F"/>
                </a:solidFill>
                <a:latin typeface="Nunito Sans" pitchFamily="34" charset="0"/>
                <a:ea typeface="Nunito Sans" pitchFamily="34" charset="-122"/>
                <a:cs typeface="Nunito Sans" pitchFamily="34" charset="-120"/>
              </a:rPr>
              <a:t>No need to give advance notice. Wins the prove me wrong archetype.</a:t>
            </a:r>
            <a:endParaRPr lang="en-US" sz="850" dirty="0"/>
          </a:p>
        </p:txBody>
      </p:sp>
      <p:sp>
        <p:nvSpPr>
          <p:cNvPr id="26" name="Shape 23"/>
          <p:cNvSpPr/>
          <p:nvPr/>
        </p:nvSpPr>
        <p:spPr>
          <a:xfrm>
            <a:off x="4453128" y="3803904"/>
            <a:ext cx="3730752" cy="1060704"/>
          </a:xfrm>
          <a:prstGeom prst="roundRect">
            <a:avLst>
              <a:gd name="adj" fmla="val 8621"/>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27" name="Shape 24"/>
          <p:cNvSpPr/>
          <p:nvPr/>
        </p:nvSpPr>
        <p:spPr>
          <a:xfrm>
            <a:off x="4453128" y="3803904"/>
            <a:ext cx="41148" cy="1060704"/>
          </a:xfrm>
          <a:prstGeom prst="rect">
            <a:avLst/>
          </a:prstGeom>
          <a:solidFill>
            <a:srgbClr val="177A46"/>
          </a:solidFill>
          <a:ln w="5080">
            <a:solidFill>
              <a:srgbClr val="177A46"/>
            </a:solidFill>
            <a:prstDash val="solid"/>
          </a:ln>
        </p:spPr>
      </p:sp>
      <p:sp>
        <p:nvSpPr>
          <p:cNvPr id="28" name="Text 25"/>
          <p:cNvSpPr/>
          <p:nvPr/>
        </p:nvSpPr>
        <p:spPr>
          <a:xfrm>
            <a:off x="4636008" y="3895344"/>
            <a:ext cx="3364992" cy="237744"/>
          </a:xfrm>
          <a:prstGeom prst="rect">
            <a:avLst/>
          </a:prstGeom>
          <a:noFill/>
          <a:ln/>
        </p:spPr>
        <p:txBody>
          <a:bodyPr wrap="square" lIns="0" tIns="0" rIns="0" bIns="0" rtlCol="0" anchor="t"/>
          <a:lstStyle/>
          <a:p>
            <a:pPr indent="0" marL="0">
              <a:buNone/>
            </a:pPr>
            <a:r>
              <a:rPr lang="en-US" sz="1050" b="1" dirty="0">
                <a:solidFill>
                  <a:srgbClr val="0C1A2B"/>
                </a:solidFill>
                <a:latin typeface="Nunito Sans" pitchFamily="34" charset="0"/>
                <a:ea typeface="Nunito Sans" pitchFamily="34" charset="-122"/>
                <a:cs typeface="Nunito Sans" pitchFamily="34" charset="-120"/>
              </a:rPr>
              <a:t>Farmer-Led sampling</a:t>
            </a:r>
            <a:endParaRPr lang="en-US" sz="1050" dirty="0"/>
          </a:p>
        </p:txBody>
      </p:sp>
      <p:sp>
        <p:nvSpPr>
          <p:cNvPr id="29" name="Text 26"/>
          <p:cNvSpPr/>
          <p:nvPr/>
        </p:nvSpPr>
        <p:spPr>
          <a:xfrm>
            <a:off x="4636008" y="4151376"/>
            <a:ext cx="3364992" cy="640080"/>
          </a:xfrm>
          <a:prstGeom prst="rect">
            <a:avLst/>
          </a:prstGeom>
          <a:noFill/>
          <a:ln/>
        </p:spPr>
        <p:txBody>
          <a:bodyPr wrap="square" lIns="0" tIns="0" rIns="0" bIns="0" rtlCol="0" anchor="t"/>
          <a:lstStyle/>
          <a:p>
            <a:pPr indent="0" marL="0">
              <a:lnSpc>
                <a:spcPct val="110000"/>
              </a:lnSpc>
              <a:buNone/>
            </a:pPr>
            <a:r>
              <a:rPr lang="en-US" sz="850" dirty="0">
                <a:solidFill>
                  <a:srgbClr val="54606F"/>
                </a:solidFill>
                <a:latin typeface="Nunito Sans" pitchFamily="34" charset="0"/>
                <a:ea typeface="Nunito Sans" pitchFamily="34" charset="-122"/>
                <a:cs typeface="Nunito Sans" pitchFamily="34" charset="-120"/>
              </a:rPr>
              <a:t>The farmers, not agency promoters, make demos at flea markets or housing societies to drive trials.</a:t>
            </a:r>
            <a:endParaRPr lang="en-US" sz="850" dirty="0"/>
          </a:p>
        </p:txBody>
      </p:sp>
      <p:sp>
        <p:nvSpPr>
          <p:cNvPr id="30" name="Shape 27"/>
          <p:cNvSpPr/>
          <p:nvPr/>
        </p:nvSpPr>
        <p:spPr>
          <a:xfrm>
            <a:off x="502920" y="4974336"/>
            <a:ext cx="3730752" cy="1060704"/>
          </a:xfrm>
          <a:prstGeom prst="roundRect">
            <a:avLst>
              <a:gd name="adj" fmla="val 8621"/>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31" name="Shape 28"/>
          <p:cNvSpPr/>
          <p:nvPr/>
        </p:nvSpPr>
        <p:spPr>
          <a:xfrm>
            <a:off x="502920" y="4974336"/>
            <a:ext cx="41148" cy="1060704"/>
          </a:xfrm>
          <a:prstGeom prst="rect">
            <a:avLst/>
          </a:prstGeom>
          <a:solidFill>
            <a:srgbClr val="177A46"/>
          </a:solidFill>
          <a:ln w="5080">
            <a:solidFill>
              <a:srgbClr val="177A46"/>
            </a:solidFill>
            <a:prstDash val="solid"/>
          </a:ln>
        </p:spPr>
      </p:sp>
      <p:sp>
        <p:nvSpPr>
          <p:cNvPr id="32" name="Text 29"/>
          <p:cNvSpPr/>
          <p:nvPr/>
        </p:nvSpPr>
        <p:spPr>
          <a:xfrm>
            <a:off x="685800" y="5065776"/>
            <a:ext cx="3364992" cy="237744"/>
          </a:xfrm>
          <a:prstGeom prst="rect">
            <a:avLst/>
          </a:prstGeom>
          <a:noFill/>
          <a:ln/>
        </p:spPr>
        <p:txBody>
          <a:bodyPr wrap="square" lIns="0" tIns="0" rIns="0" bIns="0" rtlCol="0" anchor="t"/>
          <a:lstStyle/>
          <a:p>
            <a:pPr indent="0" marL="0">
              <a:buNone/>
            </a:pPr>
            <a:r>
              <a:rPr lang="en-US" sz="1050" b="1" dirty="0">
                <a:solidFill>
                  <a:srgbClr val="0C1A2B"/>
                </a:solidFill>
                <a:latin typeface="Nunito Sans" pitchFamily="34" charset="0"/>
                <a:ea typeface="Nunito Sans" pitchFamily="34" charset="-122"/>
                <a:cs typeface="Nunito Sans" pitchFamily="34" charset="-120"/>
              </a:rPr>
              <a:t>Consumer-to-farmer feedback loop</a:t>
            </a:r>
            <a:endParaRPr lang="en-US" sz="1050" dirty="0"/>
          </a:p>
        </p:txBody>
      </p:sp>
      <p:sp>
        <p:nvSpPr>
          <p:cNvPr id="33" name="Text 30"/>
          <p:cNvSpPr/>
          <p:nvPr/>
        </p:nvSpPr>
        <p:spPr>
          <a:xfrm>
            <a:off x="685800" y="5321808"/>
            <a:ext cx="3364992" cy="640080"/>
          </a:xfrm>
          <a:prstGeom prst="rect">
            <a:avLst/>
          </a:prstGeom>
          <a:noFill/>
          <a:ln/>
        </p:spPr>
        <p:txBody>
          <a:bodyPr wrap="square" lIns="0" tIns="0" rIns="0" bIns="0" rtlCol="0" anchor="t"/>
          <a:lstStyle/>
          <a:p>
            <a:pPr indent="0" marL="0">
              <a:lnSpc>
                <a:spcPct val="110000"/>
              </a:lnSpc>
              <a:buNone/>
            </a:pPr>
            <a:r>
              <a:rPr lang="en-US" sz="850" dirty="0">
                <a:solidFill>
                  <a:srgbClr val="54606F"/>
                </a:solidFill>
                <a:latin typeface="Nunito Sans" pitchFamily="34" charset="0"/>
                <a:ea typeface="Nunito Sans" pitchFamily="34" charset="-122"/>
                <a:cs typeface="Nunito Sans" pitchFamily="34" charset="-120"/>
              </a:rPr>
              <a:t>Get consumers to review the farmers and their fields’ produce, instead of the product purchased.</a:t>
            </a:r>
            <a:endParaRPr lang="en-US" sz="850" dirty="0"/>
          </a:p>
        </p:txBody>
      </p:sp>
      <p:pic>
        <p:nvPicPr>
          <p:cNvPr id="34" name="Image 1" descr="/home/user/hopper-tessarakt/site/assets/qr-scan.jpg">    </p:cNvPr>
          <p:cNvPicPr>
            <a:picLocks noChangeAspect="1"/>
          </p:cNvPicPr>
          <p:nvPr/>
        </p:nvPicPr>
        <p:blipFill>
          <a:blip r:embed="rId2"/>
          <a:srcRect l="0" r="0" t="0" b="0"/>
          <a:stretch/>
        </p:blipFill>
        <p:spPr>
          <a:xfrm>
            <a:off x="8458200" y="1463040"/>
            <a:ext cx="3230575" cy="2331720"/>
          </a:xfrm>
          <a:prstGeom prst="rect">
            <a:avLst/>
          </a:prstGeom>
        </p:spPr>
      </p:pic>
      <p:pic>
        <p:nvPicPr>
          <p:cNvPr id="35" name="Image 2" descr="/home/user/hopper-tessarakt/site/assets/pack-range.jpg">    </p:cNvPr>
          <p:cNvPicPr>
            <a:picLocks noChangeAspect="1"/>
          </p:cNvPicPr>
          <p:nvPr/>
        </p:nvPicPr>
        <p:blipFill>
          <a:blip r:embed="rId3"/>
          <a:srcRect l="0" r="0" t="0" b="0"/>
          <a:stretch/>
        </p:blipFill>
        <p:spPr>
          <a:xfrm>
            <a:off x="8458200" y="3913632"/>
            <a:ext cx="3230575" cy="2194560"/>
          </a:xfrm>
          <a:prstGeom prst="rect">
            <a:avLst/>
          </a:prstGeom>
        </p:spPr>
      </p:pic>
      <p:sp>
        <p:nvSpPr>
          <p:cNvPr id="37" name="Shape 31"/>
          <p:cNvSpPr/>
          <p:nvPr/>
        </p:nvSpPr>
        <p:spPr>
          <a:xfrm>
            <a:off x="502920" y="6492240"/>
            <a:ext cx="11185855" cy="0"/>
          </a:xfrm>
          <a:prstGeom prst="line">
            <a:avLst/>
          </a:prstGeom>
          <a:noFill/>
          <a:ln w="9525">
            <a:solidFill>
              <a:srgbClr val="E5DCCB"/>
            </a:solidFill>
            <a:prstDash val="solid"/>
          </a:ln>
        </p:spPr>
      </p:sp>
      <p:sp>
        <p:nvSpPr>
          <p:cNvPr id="38" name="Text 32"/>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BRAND &amp; PROOF</a:t>
            </a:r>
            <a:endParaRPr lang="en-US" sz="800" dirty="0"/>
          </a:p>
        </p:txBody>
      </p:sp>
      <p:sp>
        <p:nvSpPr>
          <p:cNvPr id="39" name="Text 33"/>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15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1442923"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1442923"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POSITIONING</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500" dirty="0">
                <a:solidFill>
                  <a:srgbClr val="0C1A2B"/>
                </a:solidFill>
                <a:latin typeface="Archivo Black" pitchFamily="34" charset="0"/>
                <a:ea typeface="Archivo Black" pitchFamily="34" charset="-122"/>
                <a:cs typeface="Archivo Black" pitchFamily="34" charset="-120"/>
              </a:rPr>
              <a:t>The only food brand in India that consumers verify, not just trust.</a:t>
            </a:r>
            <a:endParaRPr lang="en-US" sz="2500" dirty="0"/>
          </a:p>
        </p:txBody>
      </p:sp>
      <p:sp>
        <p:nvSpPr>
          <p:cNvPr id="6" name="Shape 3"/>
          <p:cNvSpPr/>
          <p:nvPr/>
        </p:nvSpPr>
        <p:spPr>
          <a:xfrm>
            <a:off x="502920" y="1463040"/>
            <a:ext cx="5669280" cy="859536"/>
          </a:xfrm>
          <a:prstGeom prst="roundRect">
            <a:avLst>
              <a:gd name="adj" fmla="val 10638"/>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7" name="Text 4"/>
          <p:cNvSpPr/>
          <p:nvPr/>
        </p:nvSpPr>
        <p:spPr>
          <a:xfrm>
            <a:off x="685800" y="1591056"/>
            <a:ext cx="2743200" cy="219456"/>
          </a:xfrm>
          <a:prstGeom prst="rect">
            <a:avLst/>
          </a:prstGeom>
          <a:noFill/>
          <a:ln/>
        </p:spPr>
        <p:txBody>
          <a:bodyPr wrap="square" lIns="0" tIns="0" rIns="0" bIns="0" rtlCol="0" anchor="ctr"/>
          <a:lstStyle/>
          <a:p>
            <a:pPr indent="0" marL="0">
              <a:buNone/>
            </a:pPr>
            <a:r>
              <a:rPr lang="en-US" sz="950" b="1" spc="180" kern="0" dirty="0">
                <a:solidFill>
                  <a:srgbClr val="177A46"/>
                </a:solidFill>
                <a:latin typeface="Nunito Sans" pitchFamily="34" charset="0"/>
                <a:ea typeface="Nunito Sans" pitchFamily="34" charset="-122"/>
                <a:cs typeface="Nunito Sans" pitchFamily="34" charset="-120"/>
              </a:rPr>
              <a:t>ROLE</a:t>
            </a:r>
            <a:endParaRPr lang="en-US" sz="950" dirty="0"/>
          </a:p>
        </p:txBody>
      </p:sp>
      <p:sp>
        <p:nvSpPr>
          <p:cNvPr id="8" name="Text 5"/>
          <p:cNvSpPr/>
          <p:nvPr/>
        </p:nvSpPr>
        <p:spPr>
          <a:xfrm>
            <a:off x="685800" y="1828800"/>
            <a:ext cx="5303520" cy="438912"/>
          </a:xfrm>
          <a:prstGeom prst="rect">
            <a:avLst/>
          </a:prstGeom>
          <a:noFill/>
          <a:ln/>
        </p:spPr>
        <p:txBody>
          <a:bodyPr wrap="square" lIns="0" tIns="0" rIns="0" bIns="0" rtlCol="0" anchor="t"/>
          <a:lstStyle/>
          <a:p>
            <a:pPr indent="0" marL="0">
              <a:lnSpc>
                <a:spcPct val="106000"/>
              </a:lnSpc>
              <a:buNone/>
            </a:pPr>
            <a:r>
              <a:rPr lang="en-US" sz="1050" dirty="0">
                <a:solidFill>
                  <a:srgbClr val="16202D"/>
                </a:solidFill>
                <a:latin typeface="Nunito Sans" pitchFamily="34" charset="0"/>
                <a:ea typeface="Nunito Sans" pitchFamily="34" charset="-122"/>
                <a:cs typeface="Nunito Sans" pitchFamily="34" charset="-120"/>
              </a:rPr>
              <a:t>An honest guide that leads with transparency, answers with proof, and never preaches.</a:t>
            </a:r>
            <a:endParaRPr lang="en-US" sz="1050" dirty="0"/>
          </a:p>
        </p:txBody>
      </p:sp>
      <p:sp>
        <p:nvSpPr>
          <p:cNvPr id="9" name="Shape 6"/>
          <p:cNvSpPr/>
          <p:nvPr/>
        </p:nvSpPr>
        <p:spPr>
          <a:xfrm>
            <a:off x="502920" y="2414016"/>
            <a:ext cx="5669280" cy="859536"/>
          </a:xfrm>
          <a:prstGeom prst="roundRect">
            <a:avLst>
              <a:gd name="adj" fmla="val 10638"/>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0" name="Text 7"/>
          <p:cNvSpPr/>
          <p:nvPr/>
        </p:nvSpPr>
        <p:spPr>
          <a:xfrm>
            <a:off x="685800" y="2542032"/>
            <a:ext cx="2743200" cy="219456"/>
          </a:xfrm>
          <a:prstGeom prst="rect">
            <a:avLst/>
          </a:prstGeom>
          <a:noFill/>
          <a:ln/>
        </p:spPr>
        <p:txBody>
          <a:bodyPr wrap="square" lIns="0" tIns="0" rIns="0" bIns="0" rtlCol="0" anchor="ctr"/>
          <a:lstStyle/>
          <a:p>
            <a:pPr indent="0" marL="0">
              <a:buNone/>
            </a:pPr>
            <a:r>
              <a:rPr lang="en-US" sz="950" b="1" spc="180" kern="0" dirty="0">
                <a:solidFill>
                  <a:srgbClr val="177A46"/>
                </a:solidFill>
                <a:latin typeface="Nunito Sans" pitchFamily="34" charset="0"/>
                <a:ea typeface="Nunito Sans" pitchFamily="34" charset="-122"/>
                <a:cs typeface="Nunito Sans" pitchFamily="34" charset="-120"/>
              </a:rPr>
              <a:t>BELIEF</a:t>
            </a:r>
            <a:endParaRPr lang="en-US" sz="950" dirty="0"/>
          </a:p>
        </p:txBody>
      </p:sp>
      <p:sp>
        <p:nvSpPr>
          <p:cNvPr id="11" name="Text 8"/>
          <p:cNvSpPr/>
          <p:nvPr/>
        </p:nvSpPr>
        <p:spPr>
          <a:xfrm>
            <a:off x="685800" y="2779776"/>
            <a:ext cx="5303520" cy="438912"/>
          </a:xfrm>
          <a:prstGeom prst="rect">
            <a:avLst/>
          </a:prstGeom>
          <a:noFill/>
          <a:ln/>
        </p:spPr>
        <p:txBody>
          <a:bodyPr wrap="square" lIns="0" tIns="0" rIns="0" bIns="0" rtlCol="0" anchor="t"/>
          <a:lstStyle/>
          <a:p>
            <a:pPr indent="0" marL="0">
              <a:lnSpc>
                <a:spcPct val="106000"/>
              </a:lnSpc>
              <a:buNone/>
            </a:pPr>
            <a:r>
              <a:rPr lang="en-US" sz="1050" dirty="0">
                <a:solidFill>
                  <a:srgbClr val="16202D"/>
                </a:solidFill>
                <a:latin typeface="Nunito Sans" pitchFamily="34" charset="0"/>
                <a:ea typeface="Nunito Sans" pitchFamily="34" charset="-122"/>
                <a:cs typeface="Nunito Sans" pitchFamily="34" charset="-120"/>
              </a:rPr>
              <a:t>Progress moves from seed to plate, and every hand that touches it is named, not hidden.</a:t>
            </a:r>
            <a:endParaRPr lang="en-US" sz="1050" dirty="0"/>
          </a:p>
        </p:txBody>
      </p:sp>
      <p:sp>
        <p:nvSpPr>
          <p:cNvPr id="12" name="Shape 9"/>
          <p:cNvSpPr/>
          <p:nvPr/>
        </p:nvSpPr>
        <p:spPr>
          <a:xfrm>
            <a:off x="502920" y="3419856"/>
            <a:ext cx="1767840" cy="1371600"/>
          </a:xfrm>
          <a:prstGeom prst="roundRect">
            <a:avLst>
              <a:gd name="adj" fmla="val 6667"/>
            </a:avLst>
          </a:prstGeom>
          <a:solidFill>
            <a:srgbClr val="F3ECE0"/>
          </a:solidFill>
          <a:ln w="15875">
            <a:solidFill>
              <a:srgbClr val="EDE4D4"/>
            </a:solidFill>
            <a:prstDash val="solid"/>
          </a:ln>
          <a:effectLst>
            <a:outerShdw sx="100000" sy="100000" kx="0" ky="0" algn="bl" rotWithShape="0" blurRad="228600" dist="25400" dir="5400000">
              <a:srgbClr val="0C1A2B">
                <a:alpha val="7000"/>
              </a:srgbClr>
            </a:outerShdw>
          </a:effectLst>
        </p:spPr>
      </p:sp>
      <p:sp>
        <p:nvSpPr>
          <p:cNvPr id="13" name="Text 10"/>
          <p:cNvSpPr/>
          <p:nvPr/>
        </p:nvSpPr>
        <p:spPr>
          <a:xfrm>
            <a:off x="649224" y="3547872"/>
            <a:ext cx="1493520" cy="219456"/>
          </a:xfrm>
          <a:prstGeom prst="rect">
            <a:avLst/>
          </a:prstGeom>
          <a:noFill/>
          <a:ln/>
        </p:spPr>
        <p:txBody>
          <a:bodyPr wrap="square" lIns="0" tIns="0" rIns="0" bIns="0" rtlCol="0" anchor="ctr"/>
          <a:lstStyle/>
          <a:p>
            <a:pPr indent="0" marL="0">
              <a:buNone/>
            </a:pPr>
            <a:r>
              <a:rPr lang="en-US" sz="950" b="1" spc="180" kern="0" dirty="0">
                <a:solidFill>
                  <a:srgbClr val="3A5D97"/>
                </a:solidFill>
                <a:latin typeface="Nunito Sans" pitchFamily="34" charset="0"/>
                <a:ea typeface="Nunito Sans" pitchFamily="34" charset="-122"/>
                <a:cs typeface="Nunito Sans" pitchFamily="34" charset="-120"/>
              </a:rPr>
              <a:t>FUNCTIONAL BENEFIT:</a:t>
            </a:r>
            <a:endParaRPr lang="en-US" sz="950" dirty="0"/>
          </a:p>
        </p:txBody>
      </p:sp>
      <p:sp>
        <p:nvSpPr>
          <p:cNvPr id="14" name="Text 11"/>
          <p:cNvSpPr/>
          <p:nvPr/>
        </p:nvSpPr>
        <p:spPr>
          <a:xfrm>
            <a:off x="649224" y="3803904"/>
            <a:ext cx="1475232" cy="457200"/>
          </a:xfrm>
          <a:prstGeom prst="rect">
            <a:avLst/>
          </a:prstGeom>
          <a:noFill/>
          <a:ln/>
        </p:spPr>
        <p:txBody>
          <a:bodyPr wrap="square" lIns="0" tIns="0" rIns="0" bIns="0" rtlCol="0" anchor="t"/>
          <a:lstStyle/>
          <a:p>
            <a:pPr indent="0" marL="0">
              <a:lnSpc>
                <a:spcPct val="104000"/>
              </a:lnSpc>
              <a:buNone/>
            </a:pPr>
            <a:r>
              <a:rPr lang="en-US" sz="1000" b="1" dirty="0">
                <a:solidFill>
                  <a:srgbClr val="0C1A2B"/>
                </a:solidFill>
                <a:latin typeface="Nunito Sans" pitchFamily="34" charset="0"/>
                <a:ea typeface="Nunito Sans" pitchFamily="34" charset="-122"/>
                <a:cs typeface="Nunito Sans" pitchFamily="34" charset="-120"/>
              </a:rPr>
              <a:t>Verified safety.</a:t>
            </a:r>
            <a:endParaRPr lang="en-US" sz="1000" dirty="0"/>
          </a:p>
        </p:txBody>
      </p:sp>
      <p:sp>
        <p:nvSpPr>
          <p:cNvPr id="15" name="Text 12"/>
          <p:cNvSpPr/>
          <p:nvPr/>
        </p:nvSpPr>
        <p:spPr>
          <a:xfrm>
            <a:off x="649224" y="4279392"/>
            <a:ext cx="1475232" cy="420624"/>
          </a:xfrm>
          <a:prstGeom prst="rect">
            <a:avLst/>
          </a:prstGeom>
          <a:noFill/>
          <a:ln/>
        </p:spPr>
        <p:txBody>
          <a:bodyPr wrap="square" lIns="0" tIns="0" rIns="0" bIns="0" rtlCol="0" anchor="t"/>
          <a:lstStyle/>
          <a:p>
            <a:pPr indent="0" marL="0">
              <a:lnSpc>
                <a:spcPct val="106000"/>
              </a:lnSpc>
              <a:buNone/>
            </a:pPr>
            <a:r>
              <a:rPr lang="en-US" sz="850" dirty="0">
                <a:solidFill>
                  <a:srgbClr val="54606F"/>
                </a:solidFill>
                <a:latin typeface="Nunito Sans" pitchFamily="34" charset="0"/>
                <a:ea typeface="Nunito Sans" pitchFamily="34" charset="-122"/>
                <a:cs typeface="Nunito Sans" pitchFamily="34" charset="-120"/>
              </a:rPr>
              <a:t>No detectable residue.</a:t>
            </a:r>
            <a:endParaRPr lang="en-US" sz="850" dirty="0"/>
          </a:p>
        </p:txBody>
      </p:sp>
      <p:sp>
        <p:nvSpPr>
          <p:cNvPr id="16" name="Shape 13"/>
          <p:cNvSpPr/>
          <p:nvPr/>
        </p:nvSpPr>
        <p:spPr>
          <a:xfrm>
            <a:off x="2453640" y="3419856"/>
            <a:ext cx="1767840" cy="1371600"/>
          </a:xfrm>
          <a:prstGeom prst="roundRect">
            <a:avLst>
              <a:gd name="adj" fmla="val 6667"/>
            </a:avLst>
          </a:prstGeom>
          <a:solidFill>
            <a:srgbClr val="F3ECE0"/>
          </a:solidFill>
          <a:ln w="15875">
            <a:solidFill>
              <a:srgbClr val="EDE4D4"/>
            </a:solidFill>
            <a:prstDash val="solid"/>
          </a:ln>
          <a:effectLst>
            <a:outerShdw sx="100000" sy="100000" kx="0" ky="0" algn="bl" rotWithShape="0" blurRad="228600" dist="25400" dir="5400000">
              <a:srgbClr val="0C1A2B">
                <a:alpha val="7000"/>
              </a:srgbClr>
            </a:outerShdw>
          </a:effectLst>
        </p:spPr>
      </p:sp>
      <p:sp>
        <p:nvSpPr>
          <p:cNvPr id="17" name="Text 14"/>
          <p:cNvSpPr/>
          <p:nvPr/>
        </p:nvSpPr>
        <p:spPr>
          <a:xfrm>
            <a:off x="2599944" y="3547872"/>
            <a:ext cx="1493520" cy="219456"/>
          </a:xfrm>
          <a:prstGeom prst="rect">
            <a:avLst/>
          </a:prstGeom>
          <a:noFill/>
          <a:ln/>
        </p:spPr>
        <p:txBody>
          <a:bodyPr wrap="square" lIns="0" tIns="0" rIns="0" bIns="0" rtlCol="0" anchor="ctr"/>
          <a:lstStyle/>
          <a:p>
            <a:pPr indent="0" marL="0">
              <a:buNone/>
            </a:pPr>
            <a:r>
              <a:rPr lang="en-US" sz="950" b="1" spc="180" kern="0" dirty="0">
                <a:solidFill>
                  <a:srgbClr val="3A5D97"/>
                </a:solidFill>
                <a:latin typeface="Nunito Sans" pitchFamily="34" charset="0"/>
                <a:ea typeface="Nunito Sans" pitchFamily="34" charset="-122"/>
                <a:cs typeface="Nunito Sans" pitchFamily="34" charset="-120"/>
              </a:rPr>
              <a:t>EMOTIONAL BENEFIT:</a:t>
            </a:r>
            <a:endParaRPr lang="en-US" sz="950" dirty="0"/>
          </a:p>
        </p:txBody>
      </p:sp>
      <p:sp>
        <p:nvSpPr>
          <p:cNvPr id="18" name="Text 15"/>
          <p:cNvSpPr/>
          <p:nvPr/>
        </p:nvSpPr>
        <p:spPr>
          <a:xfrm>
            <a:off x="2599944" y="3803904"/>
            <a:ext cx="1475232" cy="457200"/>
          </a:xfrm>
          <a:prstGeom prst="rect">
            <a:avLst/>
          </a:prstGeom>
          <a:noFill/>
          <a:ln/>
        </p:spPr>
        <p:txBody>
          <a:bodyPr wrap="square" lIns="0" tIns="0" rIns="0" bIns="0" rtlCol="0" anchor="t"/>
          <a:lstStyle/>
          <a:p>
            <a:pPr indent="0" marL="0">
              <a:lnSpc>
                <a:spcPct val="104000"/>
              </a:lnSpc>
              <a:buNone/>
            </a:pPr>
            <a:r>
              <a:rPr lang="en-US" sz="1000" b="1" dirty="0">
                <a:solidFill>
                  <a:srgbClr val="0C1A2B"/>
                </a:solidFill>
                <a:latin typeface="Nunito Sans" pitchFamily="34" charset="0"/>
                <a:ea typeface="Nunito Sans" pitchFamily="34" charset="-122"/>
                <a:cs typeface="Nunito Sans" pitchFamily="34" charset="-120"/>
              </a:rPr>
              <a:t>Relief.</a:t>
            </a:r>
            <a:endParaRPr lang="en-US" sz="1000" dirty="0"/>
          </a:p>
        </p:txBody>
      </p:sp>
      <p:sp>
        <p:nvSpPr>
          <p:cNvPr id="19" name="Text 16"/>
          <p:cNvSpPr/>
          <p:nvPr/>
        </p:nvSpPr>
        <p:spPr>
          <a:xfrm>
            <a:off x="2599944" y="4279392"/>
            <a:ext cx="1475232" cy="420624"/>
          </a:xfrm>
          <a:prstGeom prst="rect">
            <a:avLst/>
          </a:prstGeom>
          <a:noFill/>
          <a:ln/>
        </p:spPr>
        <p:txBody>
          <a:bodyPr wrap="square" lIns="0" tIns="0" rIns="0" bIns="0" rtlCol="0" anchor="t"/>
          <a:lstStyle/>
          <a:p>
            <a:pPr indent="0" marL="0">
              <a:lnSpc>
                <a:spcPct val="106000"/>
              </a:lnSpc>
              <a:buNone/>
            </a:pPr>
            <a:r>
              <a:rPr lang="en-US" sz="850" dirty="0">
                <a:solidFill>
                  <a:srgbClr val="54606F"/>
                </a:solidFill>
                <a:latin typeface="Nunito Sans" pitchFamily="34" charset="0"/>
                <a:ea typeface="Nunito Sans" pitchFamily="34" charset="-122"/>
                <a:cs typeface="Nunito Sans" pitchFamily="34" charset="-120"/>
              </a:rPr>
              <a:t>You're no longer the only one keeping watch.</a:t>
            </a:r>
            <a:endParaRPr lang="en-US" sz="850" dirty="0"/>
          </a:p>
        </p:txBody>
      </p:sp>
      <p:sp>
        <p:nvSpPr>
          <p:cNvPr id="20" name="Shape 17"/>
          <p:cNvSpPr/>
          <p:nvPr/>
        </p:nvSpPr>
        <p:spPr>
          <a:xfrm>
            <a:off x="4404360" y="3419856"/>
            <a:ext cx="1767840" cy="1371600"/>
          </a:xfrm>
          <a:prstGeom prst="roundRect">
            <a:avLst>
              <a:gd name="adj" fmla="val 6667"/>
            </a:avLst>
          </a:prstGeom>
          <a:solidFill>
            <a:srgbClr val="F3ECE0"/>
          </a:solidFill>
          <a:ln w="15875">
            <a:solidFill>
              <a:srgbClr val="EDE4D4"/>
            </a:solidFill>
            <a:prstDash val="solid"/>
          </a:ln>
          <a:effectLst>
            <a:outerShdw sx="100000" sy="100000" kx="0" ky="0" algn="bl" rotWithShape="0" blurRad="228600" dist="25400" dir="5400000">
              <a:srgbClr val="0C1A2B">
                <a:alpha val="7000"/>
              </a:srgbClr>
            </a:outerShdw>
          </a:effectLst>
        </p:spPr>
      </p:sp>
      <p:sp>
        <p:nvSpPr>
          <p:cNvPr id="21" name="Text 18"/>
          <p:cNvSpPr/>
          <p:nvPr/>
        </p:nvSpPr>
        <p:spPr>
          <a:xfrm>
            <a:off x="4550664" y="3547872"/>
            <a:ext cx="1493520" cy="219456"/>
          </a:xfrm>
          <a:prstGeom prst="rect">
            <a:avLst/>
          </a:prstGeom>
          <a:noFill/>
          <a:ln/>
        </p:spPr>
        <p:txBody>
          <a:bodyPr wrap="square" lIns="0" tIns="0" rIns="0" bIns="0" rtlCol="0" anchor="ctr"/>
          <a:lstStyle/>
          <a:p>
            <a:pPr indent="0" marL="0">
              <a:buNone/>
            </a:pPr>
            <a:r>
              <a:rPr lang="en-US" sz="950" b="1" spc="180" kern="0" dirty="0">
                <a:solidFill>
                  <a:srgbClr val="3A5D97"/>
                </a:solidFill>
                <a:latin typeface="Nunito Sans" pitchFamily="34" charset="0"/>
                <a:ea typeface="Nunito Sans" pitchFamily="34" charset="-122"/>
                <a:cs typeface="Nunito Sans" pitchFamily="34" charset="-120"/>
              </a:rPr>
              <a:t>EXPERIENTIAL BENEFIT:</a:t>
            </a:r>
            <a:endParaRPr lang="en-US" sz="950" dirty="0"/>
          </a:p>
        </p:txBody>
      </p:sp>
      <p:sp>
        <p:nvSpPr>
          <p:cNvPr id="22" name="Text 19"/>
          <p:cNvSpPr/>
          <p:nvPr/>
        </p:nvSpPr>
        <p:spPr>
          <a:xfrm>
            <a:off x="4550664" y="3803904"/>
            <a:ext cx="1475232" cy="457200"/>
          </a:xfrm>
          <a:prstGeom prst="rect">
            <a:avLst/>
          </a:prstGeom>
          <a:noFill/>
          <a:ln/>
        </p:spPr>
        <p:txBody>
          <a:bodyPr wrap="square" lIns="0" tIns="0" rIns="0" bIns="0" rtlCol="0" anchor="t"/>
          <a:lstStyle/>
          <a:p>
            <a:pPr indent="0" marL="0">
              <a:lnSpc>
                <a:spcPct val="104000"/>
              </a:lnSpc>
              <a:buNone/>
            </a:pPr>
            <a:r>
              <a:rPr lang="en-US" sz="1000" b="1" dirty="0">
                <a:solidFill>
                  <a:srgbClr val="0C1A2B"/>
                </a:solidFill>
                <a:latin typeface="Nunito Sans" pitchFamily="34" charset="0"/>
                <a:ea typeface="Nunito Sans" pitchFamily="34" charset="-122"/>
                <a:cs typeface="Nunito Sans" pitchFamily="34" charset="-120"/>
              </a:rPr>
              <a:t>Honest Progress with every basket,</a:t>
            </a:r>
            <a:endParaRPr lang="en-US" sz="1000" dirty="0"/>
          </a:p>
        </p:txBody>
      </p:sp>
      <p:sp>
        <p:nvSpPr>
          <p:cNvPr id="23" name="Text 20"/>
          <p:cNvSpPr/>
          <p:nvPr/>
        </p:nvSpPr>
        <p:spPr>
          <a:xfrm>
            <a:off x="4550664" y="4279392"/>
            <a:ext cx="1475232" cy="420624"/>
          </a:xfrm>
          <a:prstGeom prst="rect">
            <a:avLst/>
          </a:prstGeom>
          <a:noFill/>
          <a:ln/>
        </p:spPr>
        <p:txBody>
          <a:bodyPr wrap="square" lIns="0" tIns="0" rIns="0" bIns="0" rtlCol="0" anchor="t"/>
          <a:lstStyle/>
          <a:p>
            <a:pPr indent="0" marL="0">
              <a:lnSpc>
                <a:spcPct val="106000"/>
              </a:lnSpc>
              <a:buNone/>
            </a:pPr>
            <a:r>
              <a:rPr lang="en-US" sz="850" dirty="0">
                <a:solidFill>
                  <a:srgbClr val="54606F"/>
                </a:solidFill>
                <a:latin typeface="Nunito Sans" pitchFamily="34" charset="0"/>
                <a:ea typeface="Nunito Sans" pitchFamily="34" charset="-122"/>
                <a:cs typeface="Nunito Sans" pitchFamily="34" charset="-120"/>
              </a:rPr>
              <a:t>from seed to plate.</a:t>
            </a:r>
            <a:endParaRPr lang="en-US" sz="850" dirty="0"/>
          </a:p>
        </p:txBody>
      </p:sp>
      <p:sp>
        <p:nvSpPr>
          <p:cNvPr id="24" name="Shape 21"/>
          <p:cNvSpPr/>
          <p:nvPr/>
        </p:nvSpPr>
        <p:spPr>
          <a:xfrm>
            <a:off x="502920" y="4919472"/>
            <a:ext cx="5669280" cy="877824"/>
          </a:xfrm>
          <a:prstGeom prst="roundRect">
            <a:avLst>
              <a:gd name="adj" fmla="val 10417"/>
            </a:avLst>
          </a:prstGeom>
          <a:solidFill>
            <a:srgbClr val="0C1A2B"/>
          </a:solidFill>
          <a:ln w="15875">
            <a:solidFill>
              <a:srgbClr val="0C1A2B"/>
            </a:solidFill>
            <a:prstDash val="solid"/>
          </a:ln>
          <a:effectLst>
            <a:outerShdw sx="100000" sy="100000" kx="0" ky="0" algn="bl" rotWithShape="0" blurRad="228600" dist="25400" dir="5400000">
              <a:srgbClr val="0C1A2B">
                <a:alpha val="7000"/>
              </a:srgbClr>
            </a:outerShdw>
          </a:effectLst>
        </p:spPr>
      </p:sp>
      <p:sp>
        <p:nvSpPr>
          <p:cNvPr id="25" name="Text 22"/>
          <p:cNvSpPr/>
          <p:nvPr/>
        </p:nvSpPr>
        <p:spPr>
          <a:xfrm>
            <a:off x="704088" y="5029200"/>
            <a:ext cx="1280160" cy="237744"/>
          </a:xfrm>
          <a:prstGeom prst="rect">
            <a:avLst/>
          </a:prstGeom>
          <a:noFill/>
          <a:ln/>
        </p:spPr>
        <p:txBody>
          <a:bodyPr wrap="square" lIns="0" tIns="0" rIns="0" bIns="0" rtlCol="0" anchor="ctr"/>
          <a:lstStyle/>
          <a:p>
            <a:pPr indent="0" marL="0">
              <a:buNone/>
            </a:pPr>
            <a:r>
              <a:rPr lang="en-US" sz="900" b="1" spc="140" kern="0" dirty="0">
                <a:solidFill>
                  <a:srgbClr val="5FC28C"/>
                </a:solidFill>
                <a:latin typeface="Nunito Sans" pitchFamily="34" charset="0"/>
                <a:ea typeface="Nunito Sans" pitchFamily="34" charset="-122"/>
                <a:cs typeface="Nunito Sans" pitchFamily="34" charset="-120"/>
              </a:rPr>
              <a:t>PROMISE:</a:t>
            </a:r>
            <a:endParaRPr lang="en-US" sz="900" dirty="0"/>
          </a:p>
        </p:txBody>
      </p:sp>
      <p:sp>
        <p:nvSpPr>
          <p:cNvPr id="26" name="Text 23"/>
          <p:cNvSpPr/>
          <p:nvPr/>
        </p:nvSpPr>
        <p:spPr>
          <a:xfrm>
            <a:off x="704088" y="5285232"/>
            <a:ext cx="5266944" cy="402336"/>
          </a:xfrm>
          <a:prstGeom prst="rect">
            <a:avLst/>
          </a:prstGeom>
          <a:noFill/>
          <a:ln/>
        </p:spPr>
        <p:txBody>
          <a:bodyPr wrap="square" lIns="0" tIns="0" rIns="0" bIns="0" rtlCol="0" anchor="ctr"/>
          <a:lstStyle/>
          <a:p>
            <a:pPr indent="0" marL="0">
              <a:buNone/>
            </a:pPr>
            <a:r>
              <a:rPr lang="en-US" sz="1350" dirty="0">
                <a:solidFill>
                  <a:srgbClr val="FFFFFF"/>
                </a:solidFill>
                <a:latin typeface="Archivo Black" pitchFamily="34" charset="0"/>
                <a:ea typeface="Archivo Black" pitchFamily="34" charset="-122"/>
                <a:cs typeface="Archivo Black" pitchFamily="34" charset="-120"/>
              </a:rPr>
              <a:t>Verified in the fields, Honest on the shelves.</a:t>
            </a:r>
            <a:endParaRPr lang="en-US" sz="1350" dirty="0"/>
          </a:p>
        </p:txBody>
      </p:sp>
      <p:sp>
        <p:nvSpPr>
          <p:cNvPr id="27" name="Shape 24"/>
          <p:cNvSpPr/>
          <p:nvPr/>
        </p:nvSpPr>
        <p:spPr>
          <a:xfrm>
            <a:off x="6446520" y="1463040"/>
            <a:ext cx="5242255" cy="0"/>
          </a:xfrm>
          <a:prstGeom prst="line">
            <a:avLst/>
          </a:prstGeom>
          <a:noFill/>
          <a:ln w="12700">
            <a:solidFill>
              <a:srgbClr val="3A5D97"/>
            </a:solidFill>
            <a:prstDash val="solid"/>
          </a:ln>
        </p:spPr>
      </p:sp>
      <p:sp>
        <p:nvSpPr>
          <p:cNvPr id="28" name="Text 25"/>
          <p:cNvSpPr/>
          <p:nvPr/>
        </p:nvSpPr>
        <p:spPr>
          <a:xfrm>
            <a:off x="6446520" y="1508760"/>
            <a:ext cx="5242255"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WHAT THE PROMISE MEANS TO EACH STAKEHOLDER</a:t>
            </a:r>
            <a:endParaRPr lang="en-US" sz="900" dirty="0"/>
          </a:p>
        </p:txBody>
      </p:sp>
      <p:sp>
        <p:nvSpPr>
          <p:cNvPr id="29" name="Shape 26"/>
          <p:cNvSpPr/>
          <p:nvPr/>
        </p:nvSpPr>
        <p:spPr>
          <a:xfrm>
            <a:off x="6446520" y="1755648"/>
            <a:ext cx="2520544" cy="1975104"/>
          </a:xfrm>
          <a:prstGeom prst="roundRect">
            <a:avLst>
              <a:gd name="adj" fmla="val 4630"/>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30" name="Text 27"/>
          <p:cNvSpPr/>
          <p:nvPr/>
        </p:nvSpPr>
        <p:spPr>
          <a:xfrm>
            <a:off x="6611112" y="1883664"/>
            <a:ext cx="2191360" cy="219456"/>
          </a:xfrm>
          <a:prstGeom prst="rect">
            <a:avLst/>
          </a:prstGeom>
          <a:noFill/>
          <a:ln/>
        </p:spPr>
        <p:txBody>
          <a:bodyPr wrap="square" lIns="0" tIns="0" rIns="0" bIns="0" rtlCol="0" anchor="ctr"/>
          <a:lstStyle/>
          <a:p>
            <a:pPr indent="0" marL="0">
              <a:buNone/>
            </a:pPr>
            <a:r>
              <a:rPr lang="en-US" sz="950" b="1" spc="180" kern="0" dirty="0">
                <a:solidFill>
                  <a:srgbClr val="3A5D97"/>
                </a:solidFill>
                <a:latin typeface="Nunito Sans" pitchFamily="34" charset="0"/>
                <a:ea typeface="Nunito Sans" pitchFamily="34" charset="-122"/>
                <a:cs typeface="Nunito Sans" pitchFamily="34" charset="-120"/>
              </a:rPr>
              <a:t>FARMERS/FPO</a:t>
            </a:r>
            <a:endParaRPr lang="en-US" sz="950" dirty="0"/>
          </a:p>
        </p:txBody>
      </p:sp>
      <p:sp>
        <p:nvSpPr>
          <p:cNvPr id="31" name="Text 28"/>
          <p:cNvSpPr/>
          <p:nvPr/>
        </p:nvSpPr>
        <p:spPr>
          <a:xfrm>
            <a:off x="6611112" y="2157984"/>
            <a:ext cx="2191360" cy="1463040"/>
          </a:xfrm>
          <a:prstGeom prst="rect">
            <a:avLst/>
          </a:prstGeom>
          <a:noFill/>
          <a:ln/>
        </p:spPr>
        <p:txBody>
          <a:bodyPr wrap="square" lIns="0" tIns="0" rIns="0" bIns="0" rtlCol="0" anchor="t"/>
          <a:lstStyle/>
          <a:p>
            <a:pPr indent="0" marL="0">
              <a:lnSpc>
                <a:spcPct val="112000"/>
              </a:lnSpc>
              <a:buNone/>
            </a:pPr>
            <a:r>
              <a:rPr lang="en-US" sz="900" dirty="0">
                <a:solidFill>
                  <a:srgbClr val="54606F"/>
                </a:solidFill>
                <a:latin typeface="Nunito Sans" pitchFamily="34" charset="0"/>
                <a:ea typeface="Nunito Sans" pitchFamily="34" charset="-122"/>
                <a:cs typeface="Nunito Sans" pitchFamily="34" charset="-120"/>
              </a:rPr>
              <a:t>Dehaat trains Farmers for productivity, profitability and sustainability with simplified agri-tech data to give clear signals to consumers. Winning trust with no hidden stories, no shortcuts.</a:t>
            </a:r>
            <a:endParaRPr lang="en-US" sz="900" dirty="0"/>
          </a:p>
        </p:txBody>
      </p:sp>
      <p:sp>
        <p:nvSpPr>
          <p:cNvPr id="32" name="Shape 29"/>
          <p:cNvSpPr/>
          <p:nvPr/>
        </p:nvSpPr>
        <p:spPr>
          <a:xfrm>
            <a:off x="9168232" y="1755648"/>
            <a:ext cx="2520544" cy="1975104"/>
          </a:xfrm>
          <a:prstGeom prst="roundRect">
            <a:avLst>
              <a:gd name="adj" fmla="val 4630"/>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33" name="Text 30"/>
          <p:cNvSpPr/>
          <p:nvPr/>
        </p:nvSpPr>
        <p:spPr>
          <a:xfrm>
            <a:off x="9332824" y="1883664"/>
            <a:ext cx="2191360" cy="219456"/>
          </a:xfrm>
          <a:prstGeom prst="rect">
            <a:avLst/>
          </a:prstGeom>
          <a:noFill/>
          <a:ln/>
        </p:spPr>
        <p:txBody>
          <a:bodyPr wrap="square" lIns="0" tIns="0" rIns="0" bIns="0" rtlCol="0" anchor="ctr"/>
          <a:lstStyle/>
          <a:p>
            <a:pPr indent="0" marL="0">
              <a:buNone/>
            </a:pPr>
            <a:r>
              <a:rPr lang="en-US" sz="950" b="1" spc="180" kern="0" dirty="0">
                <a:solidFill>
                  <a:srgbClr val="3A5D97"/>
                </a:solidFill>
                <a:latin typeface="Nunito Sans" pitchFamily="34" charset="0"/>
                <a:ea typeface="Nunito Sans" pitchFamily="34" charset="-122"/>
                <a:cs typeface="Nunito Sans" pitchFamily="34" charset="-120"/>
              </a:rPr>
              <a:t>Q-COMM, E-COMM &amp; MTS</a:t>
            </a:r>
            <a:endParaRPr lang="en-US" sz="950" dirty="0"/>
          </a:p>
        </p:txBody>
      </p:sp>
      <p:sp>
        <p:nvSpPr>
          <p:cNvPr id="34" name="Text 31"/>
          <p:cNvSpPr/>
          <p:nvPr/>
        </p:nvSpPr>
        <p:spPr>
          <a:xfrm>
            <a:off x="9332824" y="2157984"/>
            <a:ext cx="2191360" cy="1463040"/>
          </a:xfrm>
          <a:prstGeom prst="rect">
            <a:avLst/>
          </a:prstGeom>
          <a:noFill/>
          <a:ln/>
        </p:spPr>
        <p:txBody>
          <a:bodyPr wrap="square" lIns="0" tIns="0" rIns="0" bIns="0" rtlCol="0" anchor="t"/>
          <a:lstStyle/>
          <a:p>
            <a:pPr indent="0" marL="0">
              <a:lnSpc>
                <a:spcPct val="112000"/>
              </a:lnSpc>
              <a:buNone/>
            </a:pPr>
            <a:r>
              <a:rPr lang="en-US" sz="900" dirty="0">
                <a:solidFill>
                  <a:srgbClr val="54606F"/>
                </a:solidFill>
                <a:latin typeface="Nunito Sans" pitchFamily="34" charset="0"/>
                <a:ea typeface="Nunito Sans" pitchFamily="34" charset="-122"/>
                <a:cs typeface="Nunito Sans" pitchFamily="34" charset="-120"/>
              </a:rPr>
              <a:t>Made to win Honest Farms' brand trust by showing superiority in backend agri-tech, not just another category claim on apps/shelves.</a:t>
            </a:r>
            <a:endParaRPr lang="en-US" sz="900" dirty="0"/>
          </a:p>
        </p:txBody>
      </p:sp>
      <p:sp>
        <p:nvSpPr>
          <p:cNvPr id="35" name="Shape 32"/>
          <p:cNvSpPr/>
          <p:nvPr/>
        </p:nvSpPr>
        <p:spPr>
          <a:xfrm>
            <a:off x="6446520" y="3877056"/>
            <a:ext cx="2520544" cy="1975104"/>
          </a:xfrm>
          <a:prstGeom prst="roundRect">
            <a:avLst>
              <a:gd name="adj" fmla="val 4630"/>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36" name="Text 33"/>
          <p:cNvSpPr/>
          <p:nvPr/>
        </p:nvSpPr>
        <p:spPr>
          <a:xfrm>
            <a:off x="6611112" y="4005072"/>
            <a:ext cx="2191360" cy="219456"/>
          </a:xfrm>
          <a:prstGeom prst="rect">
            <a:avLst/>
          </a:prstGeom>
          <a:noFill/>
          <a:ln/>
        </p:spPr>
        <p:txBody>
          <a:bodyPr wrap="square" lIns="0" tIns="0" rIns="0" bIns="0" rtlCol="0" anchor="ctr"/>
          <a:lstStyle/>
          <a:p>
            <a:pPr indent="0" marL="0">
              <a:buNone/>
            </a:pPr>
            <a:r>
              <a:rPr lang="en-US" sz="950" b="1" spc="180" kern="0" dirty="0">
                <a:solidFill>
                  <a:srgbClr val="3A5D97"/>
                </a:solidFill>
                <a:latin typeface="Nunito Sans" pitchFamily="34" charset="0"/>
                <a:ea typeface="Nunito Sans" pitchFamily="34" charset="-122"/>
                <a:cs typeface="Nunito Sans" pitchFamily="34" charset="-120"/>
              </a:rPr>
              <a:t>CONSUMERS</a:t>
            </a:r>
            <a:endParaRPr lang="en-US" sz="950" dirty="0"/>
          </a:p>
        </p:txBody>
      </p:sp>
      <p:sp>
        <p:nvSpPr>
          <p:cNvPr id="37" name="Text 34"/>
          <p:cNvSpPr/>
          <p:nvPr/>
        </p:nvSpPr>
        <p:spPr>
          <a:xfrm>
            <a:off x="6611112" y="4279392"/>
            <a:ext cx="2191360" cy="1463040"/>
          </a:xfrm>
          <a:prstGeom prst="rect">
            <a:avLst/>
          </a:prstGeom>
          <a:noFill/>
          <a:ln/>
        </p:spPr>
        <p:txBody>
          <a:bodyPr wrap="square" lIns="0" tIns="0" rIns="0" bIns="0" rtlCol="0" anchor="t"/>
          <a:lstStyle/>
          <a:p>
            <a:pPr indent="0" marL="0">
              <a:lnSpc>
                <a:spcPct val="112000"/>
              </a:lnSpc>
              <a:buNone/>
            </a:pPr>
            <a:r>
              <a:rPr lang="en-US" sz="900" dirty="0">
                <a:solidFill>
                  <a:srgbClr val="54606F"/>
                </a:solidFill>
                <a:latin typeface="Nunito Sans" pitchFamily="34" charset="0"/>
                <a:ea typeface="Nunito Sans" pitchFamily="34" charset="-122"/>
                <a:cs typeface="Nunito Sans" pitchFamily="34" charset="-120"/>
              </a:rPr>
              <a:t>Empowered to verify every batch, farmer, and agri practice before they add to cart and put food on the table.</a:t>
            </a:r>
            <a:endParaRPr lang="en-US" sz="900" dirty="0"/>
          </a:p>
        </p:txBody>
      </p:sp>
      <p:sp>
        <p:nvSpPr>
          <p:cNvPr id="38" name="Shape 35"/>
          <p:cNvSpPr/>
          <p:nvPr/>
        </p:nvSpPr>
        <p:spPr>
          <a:xfrm>
            <a:off x="9168232" y="3877056"/>
            <a:ext cx="2520544" cy="1975104"/>
          </a:xfrm>
          <a:prstGeom prst="roundRect">
            <a:avLst>
              <a:gd name="adj" fmla="val 4630"/>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39" name="Text 36"/>
          <p:cNvSpPr/>
          <p:nvPr/>
        </p:nvSpPr>
        <p:spPr>
          <a:xfrm>
            <a:off x="9332824" y="4005072"/>
            <a:ext cx="2191360" cy="219456"/>
          </a:xfrm>
          <a:prstGeom prst="rect">
            <a:avLst/>
          </a:prstGeom>
          <a:noFill/>
          <a:ln/>
        </p:spPr>
        <p:txBody>
          <a:bodyPr wrap="square" lIns="0" tIns="0" rIns="0" bIns="0" rtlCol="0" anchor="ctr"/>
          <a:lstStyle/>
          <a:p>
            <a:pPr indent="0" marL="0">
              <a:buNone/>
            </a:pPr>
            <a:r>
              <a:rPr lang="en-US" sz="950" b="1" spc="180" kern="0" dirty="0">
                <a:solidFill>
                  <a:srgbClr val="3A5D97"/>
                </a:solidFill>
                <a:latin typeface="Nunito Sans" pitchFamily="34" charset="0"/>
                <a:ea typeface="Nunito Sans" pitchFamily="34" charset="-122"/>
                <a:cs typeface="Nunito Sans" pitchFamily="34" charset="-120"/>
              </a:rPr>
              <a:t>EMPLOYEES</a:t>
            </a:r>
            <a:endParaRPr lang="en-US" sz="950" dirty="0"/>
          </a:p>
        </p:txBody>
      </p:sp>
      <p:sp>
        <p:nvSpPr>
          <p:cNvPr id="40" name="Text 37"/>
          <p:cNvSpPr/>
          <p:nvPr/>
        </p:nvSpPr>
        <p:spPr>
          <a:xfrm>
            <a:off x="9332824" y="4279392"/>
            <a:ext cx="2191360" cy="1463040"/>
          </a:xfrm>
          <a:prstGeom prst="rect">
            <a:avLst/>
          </a:prstGeom>
          <a:noFill/>
          <a:ln/>
        </p:spPr>
        <p:txBody>
          <a:bodyPr wrap="square" lIns="0" tIns="0" rIns="0" bIns="0" rtlCol="0" anchor="t"/>
          <a:lstStyle/>
          <a:p>
            <a:pPr indent="0" marL="0">
              <a:lnSpc>
                <a:spcPct val="112000"/>
              </a:lnSpc>
              <a:buNone/>
            </a:pPr>
            <a:r>
              <a:rPr lang="en-US" sz="900" dirty="0">
                <a:solidFill>
                  <a:srgbClr val="54606F"/>
                </a:solidFill>
                <a:latin typeface="Nunito Sans" pitchFamily="34" charset="0"/>
                <a:ea typeface="Nunito Sans" pitchFamily="34" charset="-122"/>
                <a:cs typeface="Nunito Sans" pitchFamily="34" charset="-120"/>
              </a:rPr>
              <a:t>Hire and train to demonstrate the spirit of progress - bringing Krishi wisdom and modern methods to make farming more productive, profitable, and sustainable.</a:t>
            </a:r>
            <a:endParaRPr lang="en-US" sz="900" dirty="0"/>
          </a:p>
        </p:txBody>
      </p:sp>
      <p:sp>
        <p:nvSpPr>
          <p:cNvPr id="41" name="Shape 38"/>
          <p:cNvSpPr/>
          <p:nvPr/>
        </p:nvSpPr>
        <p:spPr>
          <a:xfrm>
            <a:off x="502920" y="6492240"/>
            <a:ext cx="11185855" cy="0"/>
          </a:xfrm>
          <a:prstGeom prst="line">
            <a:avLst/>
          </a:prstGeom>
          <a:noFill/>
          <a:ln w="9525">
            <a:solidFill>
              <a:srgbClr val="E5DCCB"/>
            </a:solidFill>
            <a:prstDash val="solid"/>
          </a:ln>
        </p:spPr>
      </p:sp>
      <p:sp>
        <p:nvSpPr>
          <p:cNvPr id="42" name="Text 39"/>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BRAND &amp; PROOF</a:t>
            </a:r>
            <a:endParaRPr lang="en-US" sz="800" dirty="0"/>
          </a:p>
        </p:txBody>
      </p:sp>
      <p:sp>
        <p:nvSpPr>
          <p:cNvPr id="43" name="Text 40"/>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16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A2B"/>
        </a:solidFill>
      </p:bgPr>
    </p:bg>
    <p:spTree>
      <p:nvGrpSpPr>
        <p:cNvPr id="1" name=""/>
        <p:cNvGrpSpPr/>
        <p:nvPr/>
      </p:nvGrpSpPr>
      <p:grpSpPr>
        <a:xfrm>
          <a:off x="0" y="0"/>
          <a:ext cx="0" cy="0"/>
          <a:chOff x="0" y="0"/>
          <a:chExt cx="0" cy="0"/>
        </a:xfrm>
      </p:grpSpPr>
      <p:sp>
        <p:nvSpPr>
          <p:cNvPr id="2" name="Shape 0"/>
          <p:cNvSpPr/>
          <p:nvPr/>
        </p:nvSpPr>
        <p:spPr>
          <a:xfrm>
            <a:off x="502920" y="256032"/>
            <a:ext cx="1711757" cy="274320"/>
          </a:xfrm>
          <a:prstGeom prst="roundRect">
            <a:avLst>
              <a:gd name="adj" fmla="val 23333"/>
            </a:avLst>
          </a:prstGeom>
          <a:solidFill>
            <a:srgbClr val="5FC28C"/>
          </a:solidFill>
          <a:ln w="12700">
            <a:solidFill>
              <a:srgbClr val="333333"/>
            </a:solidFill>
            <a:prstDash val="solid"/>
          </a:ln>
        </p:spPr>
      </p:sp>
      <p:sp>
        <p:nvSpPr>
          <p:cNvPr id="3" name="Text 1"/>
          <p:cNvSpPr/>
          <p:nvPr/>
        </p:nvSpPr>
        <p:spPr>
          <a:xfrm>
            <a:off x="502920" y="256032"/>
            <a:ext cx="1711757" cy="274320"/>
          </a:xfrm>
          <a:prstGeom prst="rect">
            <a:avLst/>
          </a:prstGeom>
          <a:noFill/>
          <a:ln/>
        </p:spPr>
        <p:txBody>
          <a:bodyPr wrap="square" lIns="0" tIns="0" rIns="0" bIns="0" rtlCol="0" anchor="ctr"/>
          <a:lstStyle/>
          <a:p>
            <a:pPr algn="ctr" indent="0" marL="0">
              <a:buNone/>
            </a:pPr>
            <a:r>
              <a:rPr lang="en-US" sz="900" b="1" spc="160" kern="0" dirty="0">
                <a:solidFill>
                  <a:srgbClr val="0C1A2B"/>
                </a:solidFill>
                <a:latin typeface="Nunito Sans" pitchFamily="34" charset="0"/>
                <a:ea typeface="Nunito Sans" pitchFamily="34" charset="-122"/>
                <a:cs typeface="Nunito Sans" pitchFamily="34" charset="-120"/>
              </a:rPr>
              <a:t>THE NORTH STAR</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509760" cy="1280160"/>
          </a:xfrm>
          <a:prstGeom prst="rect">
            <a:avLst/>
          </a:prstGeom>
          <a:noFill/>
          <a:ln/>
        </p:spPr>
        <p:txBody>
          <a:bodyPr wrap="square" lIns="0" tIns="0" rIns="0" bIns="0" rtlCol="0" anchor="t"/>
          <a:lstStyle/>
          <a:p>
            <a:pPr indent="0" marL="0">
              <a:lnSpc>
                <a:spcPct val="102000"/>
              </a:lnSpc>
              <a:buNone/>
            </a:pPr>
            <a:r>
              <a:rPr lang="en-US" sz="2800" dirty="0">
                <a:solidFill>
                  <a:srgbClr val="FFFFFF"/>
                </a:solidFill>
                <a:latin typeface="Archivo Black" pitchFamily="34" charset="0"/>
                <a:ea typeface="Archivo Black" pitchFamily="34" charset="-122"/>
                <a:cs typeface="Archivo Black" pitchFamily="34" charset="-120"/>
              </a:rPr>
              <a:t>Be the only food brand in India that consumers verify, not just trust.</a:t>
            </a:r>
            <a:endParaRPr lang="en-US" sz="2800" dirty="0"/>
          </a:p>
        </p:txBody>
      </p:sp>
      <p:sp>
        <p:nvSpPr>
          <p:cNvPr id="6" name="Shape 3"/>
          <p:cNvSpPr/>
          <p:nvPr/>
        </p:nvSpPr>
        <p:spPr>
          <a:xfrm>
            <a:off x="502920" y="1956816"/>
            <a:ext cx="11185855" cy="1024128"/>
          </a:xfrm>
          <a:prstGeom prst="roundRect">
            <a:avLst>
              <a:gd name="adj" fmla="val 8929"/>
            </a:avLst>
          </a:prstGeom>
          <a:solidFill>
            <a:srgbClr val="14283F"/>
          </a:solidFill>
          <a:ln w="15875">
            <a:solidFill>
              <a:srgbClr val="2B4258"/>
            </a:solidFill>
            <a:prstDash val="solid"/>
          </a:ln>
          <a:effectLst>
            <a:outerShdw sx="100000" sy="100000" kx="0" ky="0" algn="bl" rotWithShape="0" blurRad="228600" dist="25400" dir="5400000">
              <a:srgbClr val="0C1A2B">
                <a:alpha val="7000"/>
              </a:srgbClr>
            </a:outerShdw>
          </a:effectLst>
        </p:spPr>
      </p:sp>
      <p:sp>
        <p:nvSpPr>
          <p:cNvPr id="7" name="Text 4"/>
          <p:cNvSpPr/>
          <p:nvPr/>
        </p:nvSpPr>
        <p:spPr>
          <a:xfrm>
            <a:off x="731520" y="2084832"/>
            <a:ext cx="4572000" cy="219456"/>
          </a:xfrm>
          <a:prstGeom prst="rect">
            <a:avLst/>
          </a:prstGeom>
          <a:noFill/>
          <a:ln/>
        </p:spPr>
        <p:txBody>
          <a:bodyPr wrap="square" lIns="0" tIns="0" rIns="0" bIns="0" rtlCol="0" anchor="ctr"/>
          <a:lstStyle/>
          <a:p>
            <a:pPr indent="0" marL="0">
              <a:buNone/>
            </a:pPr>
            <a:r>
              <a:rPr lang="en-US" sz="950" b="1" spc="180" kern="0" dirty="0">
                <a:solidFill>
                  <a:srgbClr val="5FC28C"/>
                </a:solidFill>
                <a:latin typeface="Nunito Sans" pitchFamily="34" charset="0"/>
                <a:ea typeface="Nunito Sans" pitchFamily="34" charset="-122"/>
                <a:cs typeface="Nunito Sans" pitchFamily="34" charset="-120"/>
              </a:rPr>
              <a:t>HOW DO WE MEASURE SUCCESS?</a:t>
            </a:r>
            <a:endParaRPr lang="en-US" sz="950" dirty="0"/>
          </a:p>
        </p:txBody>
      </p:sp>
      <p:sp>
        <p:nvSpPr>
          <p:cNvPr id="8" name="Text 5"/>
          <p:cNvSpPr/>
          <p:nvPr/>
        </p:nvSpPr>
        <p:spPr>
          <a:xfrm>
            <a:off x="731520" y="2340864"/>
            <a:ext cx="10728655" cy="548640"/>
          </a:xfrm>
          <a:prstGeom prst="rect">
            <a:avLst/>
          </a:prstGeom>
          <a:noFill/>
          <a:ln/>
        </p:spPr>
        <p:txBody>
          <a:bodyPr wrap="square" lIns="0" tIns="0" rIns="0" bIns="0" rtlCol="0" anchor="t"/>
          <a:lstStyle/>
          <a:p>
            <a:pPr indent="0" marL="0">
              <a:lnSpc>
                <a:spcPct val="110000"/>
              </a:lnSpc>
              <a:buNone/>
            </a:pPr>
            <a:r>
              <a:rPr lang="en-US" sz="1150" dirty="0">
                <a:solidFill>
                  <a:srgbClr val="EEE9E0"/>
                </a:solidFill>
                <a:latin typeface="Nunito Sans" pitchFamily="34" charset="0"/>
                <a:ea typeface="Nunito Sans" pitchFamily="34" charset="-122"/>
                <a:cs typeface="Nunito Sans" pitchFamily="34" charset="-120"/>
              </a:rPr>
              <a:t>Verified Purchase Rate — the % of purchases where a consumer engages a real proof point (batch QR scan, farmer profile, lab report) before or after buying the product.</a:t>
            </a:r>
            <a:endParaRPr lang="en-US" sz="1150" dirty="0"/>
          </a:p>
        </p:txBody>
      </p:sp>
      <p:sp>
        <p:nvSpPr>
          <p:cNvPr id="9" name="Shape 6"/>
          <p:cNvSpPr/>
          <p:nvPr/>
        </p:nvSpPr>
        <p:spPr>
          <a:xfrm>
            <a:off x="502920" y="3255264"/>
            <a:ext cx="2604440" cy="1920240"/>
          </a:xfrm>
          <a:prstGeom prst="roundRect">
            <a:avLst>
              <a:gd name="adj" fmla="val 3810"/>
            </a:avLst>
          </a:prstGeom>
          <a:solidFill>
            <a:srgbClr val="17304A"/>
          </a:solidFill>
          <a:ln w="9525">
            <a:solidFill>
              <a:srgbClr val="2E5470"/>
            </a:solidFill>
            <a:prstDash val="solid"/>
          </a:ln>
        </p:spPr>
      </p:sp>
      <p:sp>
        <p:nvSpPr>
          <p:cNvPr id="10" name="Shape 7"/>
          <p:cNvSpPr/>
          <p:nvPr/>
        </p:nvSpPr>
        <p:spPr>
          <a:xfrm>
            <a:off x="704088" y="3438144"/>
            <a:ext cx="420624" cy="420624"/>
          </a:xfrm>
          <a:prstGeom prst="ellipse">
            <a:avLst/>
          </a:prstGeom>
          <a:solidFill>
            <a:srgbClr val="5FC28C"/>
          </a:solidFill>
          <a:ln w="5080">
            <a:solidFill>
              <a:srgbClr val="5FC28C"/>
            </a:solidFill>
            <a:prstDash val="solid"/>
          </a:ln>
        </p:spPr>
      </p:sp>
      <p:sp>
        <p:nvSpPr>
          <p:cNvPr id="11" name="Text 8"/>
          <p:cNvSpPr/>
          <p:nvPr/>
        </p:nvSpPr>
        <p:spPr>
          <a:xfrm>
            <a:off x="704088" y="3438144"/>
            <a:ext cx="420624" cy="420624"/>
          </a:xfrm>
          <a:prstGeom prst="rect">
            <a:avLst/>
          </a:prstGeom>
          <a:noFill/>
          <a:ln/>
        </p:spPr>
        <p:txBody>
          <a:bodyPr wrap="square" lIns="0" tIns="0" rIns="0" bIns="0" rtlCol="0" anchor="ctr"/>
          <a:lstStyle/>
          <a:p>
            <a:pPr algn="ctr" indent="0" marL="0">
              <a:buNone/>
            </a:pPr>
            <a:r>
              <a:rPr lang="en-US" sz="1100" dirty="0">
                <a:solidFill>
                  <a:srgbClr val="0C1A2B"/>
                </a:solidFill>
                <a:latin typeface="Archivo Black" pitchFamily="34" charset="0"/>
                <a:ea typeface="Archivo Black" pitchFamily="34" charset="-122"/>
                <a:cs typeface="Archivo Black" pitchFamily="34" charset="-120"/>
              </a:rPr>
              <a:t>V</a:t>
            </a:r>
            <a:endParaRPr lang="en-US" sz="1100" dirty="0"/>
          </a:p>
        </p:txBody>
      </p:sp>
      <p:sp>
        <p:nvSpPr>
          <p:cNvPr id="12" name="Text 9"/>
          <p:cNvSpPr/>
          <p:nvPr/>
        </p:nvSpPr>
        <p:spPr>
          <a:xfrm>
            <a:off x="704088" y="3950208"/>
            <a:ext cx="2202104" cy="256032"/>
          </a:xfrm>
          <a:prstGeom prst="rect">
            <a:avLst/>
          </a:prstGeom>
          <a:noFill/>
          <a:ln/>
        </p:spPr>
        <p:txBody>
          <a:bodyPr wrap="square" lIns="0" tIns="0" rIns="0" bIns="0" rtlCol="0" anchor="t"/>
          <a:lstStyle/>
          <a:p>
            <a:pPr indent="0" marL="0">
              <a:buNone/>
            </a:pPr>
            <a:r>
              <a:rPr lang="en-US" sz="1050" b="1" dirty="0">
                <a:solidFill>
                  <a:srgbClr val="FFFFFF"/>
                </a:solidFill>
                <a:latin typeface="Nunito Sans" pitchFamily="34" charset="0"/>
                <a:ea typeface="Nunito Sans" pitchFamily="34" charset="-122"/>
                <a:cs typeface="Nunito Sans" pitchFamily="34" charset="-120"/>
              </a:rPr>
              <a:t>Vandana - The Verifier</a:t>
            </a:r>
            <a:endParaRPr lang="en-US" sz="1050" dirty="0"/>
          </a:p>
        </p:txBody>
      </p:sp>
      <p:sp>
        <p:nvSpPr>
          <p:cNvPr id="13" name="Text 10"/>
          <p:cNvSpPr/>
          <p:nvPr/>
        </p:nvSpPr>
        <p:spPr>
          <a:xfrm>
            <a:off x="704088" y="4242816"/>
            <a:ext cx="2202104" cy="822960"/>
          </a:xfrm>
          <a:prstGeom prst="rect">
            <a:avLst/>
          </a:prstGeom>
          <a:noFill/>
          <a:ln/>
        </p:spPr>
        <p:txBody>
          <a:bodyPr wrap="square" lIns="0" tIns="0" rIns="0" bIns="0" rtlCol="0" anchor="t"/>
          <a:lstStyle/>
          <a:p>
            <a:pPr indent="0" marL="0">
              <a:lnSpc>
                <a:spcPct val="112000"/>
              </a:lnSpc>
              <a:buNone/>
            </a:pPr>
            <a:r>
              <a:rPr lang="en-US" sz="950" dirty="0">
                <a:solidFill>
                  <a:srgbClr val="A9B6C7"/>
                </a:solidFill>
                <a:latin typeface="Nunito Sans" pitchFamily="34" charset="0"/>
                <a:ea typeface="Nunito Sans" pitchFamily="34" charset="-122"/>
                <a:cs typeface="Nunito Sans" pitchFamily="34" charset="-120"/>
              </a:rPr>
              <a:t>Scans the batch QR; visits the microsite to engage with farmers</a:t>
            </a:r>
            <a:endParaRPr lang="en-US" sz="950" dirty="0"/>
          </a:p>
        </p:txBody>
      </p:sp>
      <p:sp>
        <p:nvSpPr>
          <p:cNvPr id="14" name="Shape 11"/>
          <p:cNvSpPr/>
          <p:nvPr/>
        </p:nvSpPr>
        <p:spPr>
          <a:xfrm>
            <a:off x="3363392" y="3255264"/>
            <a:ext cx="2604440" cy="1920240"/>
          </a:xfrm>
          <a:prstGeom prst="roundRect">
            <a:avLst>
              <a:gd name="adj" fmla="val 3810"/>
            </a:avLst>
          </a:prstGeom>
          <a:solidFill>
            <a:srgbClr val="17304A"/>
          </a:solidFill>
          <a:ln w="9525">
            <a:solidFill>
              <a:srgbClr val="2E5470"/>
            </a:solidFill>
            <a:prstDash val="solid"/>
          </a:ln>
        </p:spPr>
      </p:sp>
      <p:sp>
        <p:nvSpPr>
          <p:cNvPr id="15" name="Shape 12"/>
          <p:cNvSpPr/>
          <p:nvPr/>
        </p:nvSpPr>
        <p:spPr>
          <a:xfrm>
            <a:off x="3564560" y="3438144"/>
            <a:ext cx="420624" cy="420624"/>
          </a:xfrm>
          <a:prstGeom prst="ellipse">
            <a:avLst/>
          </a:prstGeom>
          <a:solidFill>
            <a:srgbClr val="5FC28C"/>
          </a:solidFill>
          <a:ln w="5080">
            <a:solidFill>
              <a:srgbClr val="5FC28C"/>
            </a:solidFill>
            <a:prstDash val="solid"/>
          </a:ln>
        </p:spPr>
      </p:sp>
      <p:sp>
        <p:nvSpPr>
          <p:cNvPr id="16" name="Text 13"/>
          <p:cNvSpPr/>
          <p:nvPr/>
        </p:nvSpPr>
        <p:spPr>
          <a:xfrm>
            <a:off x="3564560" y="3438144"/>
            <a:ext cx="420624" cy="420624"/>
          </a:xfrm>
          <a:prstGeom prst="rect">
            <a:avLst/>
          </a:prstGeom>
          <a:noFill/>
          <a:ln/>
        </p:spPr>
        <p:txBody>
          <a:bodyPr wrap="square" lIns="0" tIns="0" rIns="0" bIns="0" rtlCol="0" anchor="ctr"/>
          <a:lstStyle/>
          <a:p>
            <a:pPr algn="ctr" indent="0" marL="0">
              <a:buNone/>
            </a:pPr>
            <a:r>
              <a:rPr lang="en-US" sz="1100" dirty="0">
                <a:solidFill>
                  <a:srgbClr val="0C1A2B"/>
                </a:solidFill>
                <a:latin typeface="Archivo Black" pitchFamily="34" charset="0"/>
                <a:ea typeface="Archivo Black" pitchFamily="34" charset="-122"/>
                <a:cs typeface="Archivo Black" pitchFamily="34" charset="-120"/>
              </a:rPr>
              <a:t>M</a:t>
            </a:r>
            <a:endParaRPr lang="en-US" sz="1100" dirty="0"/>
          </a:p>
        </p:txBody>
      </p:sp>
      <p:sp>
        <p:nvSpPr>
          <p:cNvPr id="17" name="Text 14"/>
          <p:cNvSpPr/>
          <p:nvPr/>
        </p:nvSpPr>
        <p:spPr>
          <a:xfrm>
            <a:off x="3564560" y="3950208"/>
            <a:ext cx="2202104" cy="256032"/>
          </a:xfrm>
          <a:prstGeom prst="rect">
            <a:avLst/>
          </a:prstGeom>
          <a:noFill/>
          <a:ln/>
        </p:spPr>
        <p:txBody>
          <a:bodyPr wrap="square" lIns="0" tIns="0" rIns="0" bIns="0" rtlCol="0" anchor="t"/>
          <a:lstStyle/>
          <a:p>
            <a:pPr indent="0" marL="0">
              <a:buNone/>
            </a:pPr>
            <a:r>
              <a:rPr lang="en-US" sz="1050" b="1" dirty="0">
                <a:solidFill>
                  <a:srgbClr val="FFFFFF"/>
                </a:solidFill>
                <a:latin typeface="Nunito Sans" pitchFamily="34" charset="0"/>
                <a:ea typeface="Nunito Sans" pitchFamily="34" charset="-122"/>
                <a:cs typeface="Nunito Sans" pitchFamily="34" charset="-120"/>
              </a:rPr>
              <a:t>Meera - The Believer</a:t>
            </a:r>
            <a:endParaRPr lang="en-US" sz="1050" dirty="0"/>
          </a:p>
        </p:txBody>
      </p:sp>
      <p:sp>
        <p:nvSpPr>
          <p:cNvPr id="18" name="Text 15"/>
          <p:cNvSpPr/>
          <p:nvPr/>
        </p:nvSpPr>
        <p:spPr>
          <a:xfrm>
            <a:off x="3564560" y="4242816"/>
            <a:ext cx="2202104" cy="822960"/>
          </a:xfrm>
          <a:prstGeom prst="rect">
            <a:avLst/>
          </a:prstGeom>
          <a:noFill/>
          <a:ln/>
        </p:spPr>
        <p:txBody>
          <a:bodyPr wrap="square" lIns="0" tIns="0" rIns="0" bIns="0" rtlCol="0" anchor="t"/>
          <a:lstStyle/>
          <a:p>
            <a:pPr indent="0" marL="0">
              <a:lnSpc>
                <a:spcPct val="112000"/>
              </a:lnSpc>
              <a:buNone/>
            </a:pPr>
            <a:r>
              <a:rPr lang="en-US" sz="950" dirty="0">
                <a:solidFill>
                  <a:srgbClr val="A9B6C7"/>
                </a:solidFill>
                <a:latin typeface="Nunito Sans" pitchFamily="34" charset="0"/>
                <a:ea typeface="Nunito Sans" pitchFamily="34" charset="-122"/>
                <a:cs typeface="Nunito Sans" pitchFamily="34" charset="-120"/>
              </a:rPr>
              <a:t>Confirms it with her doctor or her circle of influence</a:t>
            </a:r>
            <a:endParaRPr lang="en-US" sz="950" dirty="0"/>
          </a:p>
        </p:txBody>
      </p:sp>
      <p:sp>
        <p:nvSpPr>
          <p:cNvPr id="19" name="Shape 16"/>
          <p:cNvSpPr/>
          <p:nvPr/>
        </p:nvSpPr>
        <p:spPr>
          <a:xfrm>
            <a:off x="6223864" y="3255264"/>
            <a:ext cx="2604440" cy="1920240"/>
          </a:xfrm>
          <a:prstGeom prst="roundRect">
            <a:avLst>
              <a:gd name="adj" fmla="val 3810"/>
            </a:avLst>
          </a:prstGeom>
          <a:solidFill>
            <a:srgbClr val="17304A"/>
          </a:solidFill>
          <a:ln w="9525">
            <a:solidFill>
              <a:srgbClr val="2E5470"/>
            </a:solidFill>
            <a:prstDash val="solid"/>
          </a:ln>
        </p:spPr>
      </p:sp>
      <p:sp>
        <p:nvSpPr>
          <p:cNvPr id="20" name="Shape 17"/>
          <p:cNvSpPr/>
          <p:nvPr/>
        </p:nvSpPr>
        <p:spPr>
          <a:xfrm>
            <a:off x="6425032" y="3438144"/>
            <a:ext cx="420624" cy="420624"/>
          </a:xfrm>
          <a:prstGeom prst="ellipse">
            <a:avLst/>
          </a:prstGeom>
          <a:solidFill>
            <a:srgbClr val="5FC28C"/>
          </a:solidFill>
          <a:ln w="5080">
            <a:solidFill>
              <a:srgbClr val="5FC28C"/>
            </a:solidFill>
            <a:prstDash val="solid"/>
          </a:ln>
        </p:spPr>
      </p:sp>
      <p:sp>
        <p:nvSpPr>
          <p:cNvPr id="21" name="Text 18"/>
          <p:cNvSpPr/>
          <p:nvPr/>
        </p:nvSpPr>
        <p:spPr>
          <a:xfrm>
            <a:off x="6425032" y="3438144"/>
            <a:ext cx="420624" cy="420624"/>
          </a:xfrm>
          <a:prstGeom prst="rect">
            <a:avLst/>
          </a:prstGeom>
          <a:noFill/>
          <a:ln/>
        </p:spPr>
        <p:txBody>
          <a:bodyPr wrap="square" lIns="0" tIns="0" rIns="0" bIns="0" rtlCol="0" anchor="ctr"/>
          <a:lstStyle/>
          <a:p>
            <a:pPr algn="ctr" indent="0" marL="0">
              <a:buNone/>
            </a:pPr>
            <a:r>
              <a:rPr lang="en-US" sz="1100" dirty="0">
                <a:solidFill>
                  <a:srgbClr val="0C1A2B"/>
                </a:solidFill>
                <a:latin typeface="Archivo Black" pitchFamily="34" charset="0"/>
                <a:ea typeface="Archivo Black" pitchFamily="34" charset="-122"/>
                <a:cs typeface="Archivo Black" pitchFamily="34" charset="-120"/>
              </a:rPr>
              <a:t>K</a:t>
            </a:r>
            <a:endParaRPr lang="en-US" sz="1100" dirty="0"/>
          </a:p>
        </p:txBody>
      </p:sp>
      <p:sp>
        <p:nvSpPr>
          <p:cNvPr id="22" name="Text 19"/>
          <p:cNvSpPr/>
          <p:nvPr/>
        </p:nvSpPr>
        <p:spPr>
          <a:xfrm>
            <a:off x="6425032" y="3950208"/>
            <a:ext cx="2202104" cy="256032"/>
          </a:xfrm>
          <a:prstGeom prst="rect">
            <a:avLst/>
          </a:prstGeom>
          <a:noFill/>
          <a:ln/>
        </p:spPr>
        <p:txBody>
          <a:bodyPr wrap="square" lIns="0" tIns="0" rIns="0" bIns="0" rtlCol="0" anchor="t"/>
          <a:lstStyle/>
          <a:p>
            <a:pPr indent="0" marL="0">
              <a:buNone/>
            </a:pPr>
            <a:r>
              <a:rPr lang="en-US" sz="1050" b="1" dirty="0">
                <a:solidFill>
                  <a:srgbClr val="FFFFFF"/>
                </a:solidFill>
                <a:latin typeface="Nunito Sans" pitchFamily="34" charset="0"/>
                <a:ea typeface="Nunito Sans" pitchFamily="34" charset="-122"/>
                <a:cs typeface="Nunito Sans" pitchFamily="34" charset="-120"/>
              </a:rPr>
              <a:t>Karan -  The Cruise Controller</a:t>
            </a:r>
            <a:endParaRPr lang="en-US" sz="1050" dirty="0"/>
          </a:p>
        </p:txBody>
      </p:sp>
      <p:sp>
        <p:nvSpPr>
          <p:cNvPr id="23" name="Text 20"/>
          <p:cNvSpPr/>
          <p:nvPr/>
        </p:nvSpPr>
        <p:spPr>
          <a:xfrm>
            <a:off x="6425032" y="4242816"/>
            <a:ext cx="2202104" cy="822960"/>
          </a:xfrm>
          <a:prstGeom prst="rect">
            <a:avLst/>
          </a:prstGeom>
          <a:noFill/>
          <a:ln/>
        </p:spPr>
        <p:txBody>
          <a:bodyPr wrap="square" lIns="0" tIns="0" rIns="0" bIns="0" rtlCol="0" anchor="t"/>
          <a:lstStyle/>
          <a:p>
            <a:pPr indent="0" marL="0">
              <a:lnSpc>
                <a:spcPct val="112000"/>
              </a:lnSpc>
              <a:buNone/>
            </a:pPr>
            <a:r>
              <a:rPr lang="en-US" sz="950" dirty="0">
                <a:solidFill>
                  <a:srgbClr val="A9B6C7"/>
                </a:solidFill>
                <a:latin typeface="Nunito Sans" pitchFamily="34" charset="0"/>
                <a:ea typeface="Nunito Sans" pitchFamily="34" charset="-122"/>
                <a:cs typeface="Nunito Sans" pitchFamily="34" charset="-120"/>
              </a:rPr>
              <a:t>Notices it’s on his app already; repeat-buys anyway</a:t>
            </a:r>
            <a:endParaRPr lang="en-US" sz="950" dirty="0"/>
          </a:p>
        </p:txBody>
      </p:sp>
      <p:sp>
        <p:nvSpPr>
          <p:cNvPr id="24" name="Shape 21"/>
          <p:cNvSpPr/>
          <p:nvPr/>
        </p:nvSpPr>
        <p:spPr>
          <a:xfrm>
            <a:off x="9084335" y="3255264"/>
            <a:ext cx="2604440" cy="1920240"/>
          </a:xfrm>
          <a:prstGeom prst="roundRect">
            <a:avLst>
              <a:gd name="adj" fmla="val 3810"/>
            </a:avLst>
          </a:prstGeom>
          <a:solidFill>
            <a:srgbClr val="17304A"/>
          </a:solidFill>
          <a:ln w="9525">
            <a:solidFill>
              <a:srgbClr val="2E5470"/>
            </a:solidFill>
            <a:prstDash val="solid"/>
          </a:ln>
        </p:spPr>
      </p:sp>
      <p:sp>
        <p:nvSpPr>
          <p:cNvPr id="25" name="Shape 22"/>
          <p:cNvSpPr/>
          <p:nvPr/>
        </p:nvSpPr>
        <p:spPr>
          <a:xfrm>
            <a:off x="9285503" y="3438144"/>
            <a:ext cx="420624" cy="420624"/>
          </a:xfrm>
          <a:prstGeom prst="ellipse">
            <a:avLst/>
          </a:prstGeom>
          <a:solidFill>
            <a:srgbClr val="5FC28C"/>
          </a:solidFill>
          <a:ln w="5080">
            <a:solidFill>
              <a:srgbClr val="5FC28C"/>
            </a:solidFill>
            <a:prstDash val="solid"/>
          </a:ln>
        </p:spPr>
      </p:sp>
      <p:sp>
        <p:nvSpPr>
          <p:cNvPr id="26" name="Text 23"/>
          <p:cNvSpPr/>
          <p:nvPr/>
        </p:nvSpPr>
        <p:spPr>
          <a:xfrm>
            <a:off x="9285503" y="3438144"/>
            <a:ext cx="420624" cy="420624"/>
          </a:xfrm>
          <a:prstGeom prst="rect">
            <a:avLst/>
          </a:prstGeom>
          <a:noFill/>
          <a:ln/>
        </p:spPr>
        <p:txBody>
          <a:bodyPr wrap="square" lIns="0" tIns="0" rIns="0" bIns="0" rtlCol="0" anchor="ctr"/>
          <a:lstStyle/>
          <a:p>
            <a:pPr algn="ctr" indent="0" marL="0">
              <a:buNone/>
            </a:pPr>
            <a:r>
              <a:rPr lang="en-US" sz="1100" dirty="0">
                <a:solidFill>
                  <a:srgbClr val="0C1A2B"/>
                </a:solidFill>
                <a:latin typeface="Archivo Black" pitchFamily="34" charset="0"/>
                <a:ea typeface="Archivo Black" pitchFamily="34" charset="-122"/>
                <a:cs typeface="Archivo Black" pitchFamily="34" charset="-120"/>
              </a:rPr>
              <a:t>S</a:t>
            </a:r>
            <a:endParaRPr lang="en-US" sz="1100" dirty="0"/>
          </a:p>
        </p:txBody>
      </p:sp>
      <p:sp>
        <p:nvSpPr>
          <p:cNvPr id="27" name="Text 24"/>
          <p:cNvSpPr/>
          <p:nvPr/>
        </p:nvSpPr>
        <p:spPr>
          <a:xfrm>
            <a:off x="9285503" y="3950208"/>
            <a:ext cx="2202104" cy="256032"/>
          </a:xfrm>
          <a:prstGeom prst="rect">
            <a:avLst/>
          </a:prstGeom>
          <a:noFill/>
          <a:ln/>
        </p:spPr>
        <p:txBody>
          <a:bodyPr wrap="square" lIns="0" tIns="0" rIns="0" bIns="0" rtlCol="0" anchor="t"/>
          <a:lstStyle/>
          <a:p>
            <a:pPr indent="0" marL="0">
              <a:buNone/>
            </a:pPr>
            <a:r>
              <a:rPr lang="en-US" sz="1050" b="1" dirty="0">
                <a:solidFill>
                  <a:srgbClr val="FFFFFF"/>
                </a:solidFill>
                <a:latin typeface="Nunito Sans" pitchFamily="34" charset="0"/>
                <a:ea typeface="Nunito Sans" pitchFamily="34" charset="-122"/>
                <a:cs typeface="Nunito Sans" pitchFamily="34" charset="-120"/>
              </a:rPr>
              <a:t>Sanjay - The Sceptic</a:t>
            </a:r>
            <a:endParaRPr lang="en-US" sz="1050" dirty="0"/>
          </a:p>
        </p:txBody>
      </p:sp>
      <p:sp>
        <p:nvSpPr>
          <p:cNvPr id="28" name="Text 25"/>
          <p:cNvSpPr/>
          <p:nvPr/>
        </p:nvSpPr>
        <p:spPr>
          <a:xfrm>
            <a:off x="9285503" y="4242816"/>
            <a:ext cx="2202104" cy="822960"/>
          </a:xfrm>
          <a:prstGeom prst="rect">
            <a:avLst/>
          </a:prstGeom>
          <a:noFill/>
          <a:ln/>
        </p:spPr>
        <p:txBody>
          <a:bodyPr wrap="square" lIns="0" tIns="0" rIns="0" bIns="0" rtlCol="0" anchor="t"/>
          <a:lstStyle/>
          <a:p>
            <a:pPr indent="0" marL="0">
              <a:lnSpc>
                <a:spcPct val="112000"/>
              </a:lnSpc>
              <a:buNone/>
            </a:pPr>
            <a:r>
              <a:rPr lang="en-US" sz="950" dirty="0">
                <a:solidFill>
                  <a:srgbClr val="A9B6C7"/>
                </a:solidFill>
                <a:latin typeface="Nunito Sans" pitchFamily="34" charset="0"/>
                <a:ea typeface="Nunito Sans" pitchFamily="34" charset="-122"/>
                <a:cs typeface="Nunito Sans" pitchFamily="34" charset="-120"/>
              </a:rPr>
              <a:t>Watches unscripted farm content; takes up an audit invite from the farmer</a:t>
            </a:r>
            <a:endParaRPr lang="en-US" sz="950" dirty="0"/>
          </a:p>
        </p:txBody>
      </p:sp>
      <p:sp>
        <p:nvSpPr>
          <p:cNvPr id="29" name="Shape 26"/>
          <p:cNvSpPr/>
          <p:nvPr/>
        </p:nvSpPr>
        <p:spPr>
          <a:xfrm>
            <a:off x="502920" y="5431536"/>
            <a:ext cx="11185855" cy="0"/>
          </a:xfrm>
          <a:prstGeom prst="line">
            <a:avLst/>
          </a:prstGeom>
          <a:noFill/>
          <a:ln w="9525">
            <a:solidFill>
              <a:srgbClr val="FFFFFF">
                <a:alpha val="20000"/>
              </a:srgbClr>
            </a:solidFill>
            <a:prstDash val="solid"/>
          </a:ln>
        </p:spPr>
      </p:sp>
      <p:sp>
        <p:nvSpPr>
          <p:cNvPr id="30" name="Text 27"/>
          <p:cNvSpPr/>
          <p:nvPr/>
        </p:nvSpPr>
        <p:spPr>
          <a:xfrm>
            <a:off x="502920" y="5577840"/>
            <a:ext cx="11185855" cy="512064"/>
          </a:xfrm>
          <a:prstGeom prst="rect">
            <a:avLst/>
          </a:prstGeom>
          <a:noFill/>
          <a:ln/>
        </p:spPr>
        <p:txBody>
          <a:bodyPr wrap="square" lIns="0" tIns="0" rIns="0" bIns="0" rtlCol="0" anchor="t"/>
          <a:lstStyle/>
          <a:p>
            <a:pPr indent="0" marL="0">
              <a:lnSpc>
                <a:spcPct val="106000"/>
              </a:lnSpc>
              <a:buNone/>
            </a:pPr>
            <a:r>
              <a:rPr lang="en-US" sz="1500" dirty="0">
                <a:solidFill>
                  <a:srgbClr val="FFFFFF"/>
                </a:solidFill>
                <a:latin typeface="Archivo Black" pitchFamily="34" charset="0"/>
                <a:ea typeface="Archivo Black" pitchFamily="34" charset="-122"/>
                <a:cs typeface="Archivo Black" pitchFamily="34" charset="-120"/>
              </a:rPr>
              <a:t>Revenue and share are outcomes. Verified Purchase Rate is the lever that sales, product, and marketing teams continuously optimize.</a:t>
            </a:r>
            <a:endParaRPr lang="en-US" sz="1500" dirty="0"/>
          </a:p>
        </p:txBody>
      </p:sp>
      <p:sp>
        <p:nvSpPr>
          <p:cNvPr id="32" name="Shape 28"/>
          <p:cNvSpPr/>
          <p:nvPr/>
        </p:nvSpPr>
        <p:spPr>
          <a:xfrm>
            <a:off x="502920" y="6492240"/>
            <a:ext cx="11185855" cy="0"/>
          </a:xfrm>
          <a:prstGeom prst="line">
            <a:avLst/>
          </a:prstGeom>
          <a:noFill/>
          <a:ln w="9525">
            <a:solidFill>
              <a:srgbClr val="FFFFFF">
                <a:alpha val="16000"/>
              </a:srgbClr>
            </a:solidFill>
            <a:prstDash val="solid"/>
          </a:ln>
        </p:spPr>
      </p:sp>
      <p:sp>
        <p:nvSpPr>
          <p:cNvPr id="33" name="Text 29"/>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A9B6C7"/>
                </a:solidFill>
                <a:latin typeface="Nunito Sans" pitchFamily="34" charset="0"/>
                <a:ea typeface="Nunito Sans" pitchFamily="34" charset="-122"/>
                <a:cs typeface="Nunito Sans" pitchFamily="34" charset="-120"/>
              </a:rPr>
              <a:t>BRAND &amp; PROOF</a:t>
            </a:r>
            <a:endParaRPr lang="en-US" sz="800" dirty="0"/>
          </a:p>
        </p:txBody>
      </p:sp>
      <p:sp>
        <p:nvSpPr>
          <p:cNvPr id="34" name="Text 30"/>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5FC28C"/>
                </a:solidFill>
                <a:latin typeface="Archivo Black" pitchFamily="34" charset="0"/>
                <a:ea typeface="Archivo Black" pitchFamily="34" charset="-122"/>
                <a:cs typeface="Archivo Black" pitchFamily="34" charset="-120"/>
              </a:rPr>
              <a:t>17</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2070202"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2070202"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PROOF ARCHITECTURE</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500" dirty="0">
                <a:solidFill>
                  <a:srgbClr val="0C1A2B"/>
                </a:solidFill>
                <a:latin typeface="Archivo Black" pitchFamily="34" charset="0"/>
                <a:ea typeface="Archivo Black" pitchFamily="34" charset="-122"/>
                <a:cs typeface="Archivo Black" pitchFamily="34" charset="-120"/>
              </a:rPr>
              <a:t>One standard, four communication deliveries</a:t>
            </a:r>
            <a:endParaRPr lang="en-US" sz="2500" dirty="0"/>
          </a:p>
        </p:txBody>
      </p:sp>
      <p:sp>
        <p:nvSpPr>
          <p:cNvPr id="6" name="Shape 3"/>
          <p:cNvSpPr/>
          <p:nvPr/>
        </p:nvSpPr>
        <p:spPr>
          <a:xfrm>
            <a:off x="502920" y="1463040"/>
            <a:ext cx="2618156" cy="3200400"/>
          </a:xfrm>
          <a:prstGeom prst="roundRect">
            <a:avLst>
              <a:gd name="adj" fmla="val 3493"/>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7" name="Shape 4"/>
          <p:cNvSpPr/>
          <p:nvPr/>
        </p:nvSpPr>
        <p:spPr>
          <a:xfrm>
            <a:off x="502920" y="1463040"/>
            <a:ext cx="2618156" cy="45720"/>
          </a:xfrm>
          <a:prstGeom prst="rect">
            <a:avLst/>
          </a:prstGeom>
          <a:solidFill>
            <a:srgbClr val="3A5D97"/>
          </a:solidFill>
          <a:ln w="5080">
            <a:solidFill>
              <a:srgbClr val="3A5D97"/>
            </a:solidFill>
            <a:prstDash val="solid"/>
          </a:ln>
        </p:spPr>
      </p:sp>
      <p:sp>
        <p:nvSpPr>
          <p:cNvPr id="8" name="Text 5"/>
          <p:cNvSpPr/>
          <p:nvPr/>
        </p:nvSpPr>
        <p:spPr>
          <a:xfrm>
            <a:off x="685800" y="1609344"/>
            <a:ext cx="2252396" cy="237744"/>
          </a:xfrm>
          <a:prstGeom prst="rect">
            <a:avLst/>
          </a:prstGeom>
          <a:noFill/>
          <a:ln/>
        </p:spPr>
        <p:txBody>
          <a:bodyPr wrap="square" lIns="0" tIns="0" rIns="0" bIns="0" rtlCol="0" anchor="t"/>
          <a:lstStyle/>
          <a:p>
            <a:pPr indent="0" marL="0">
              <a:buNone/>
            </a:pPr>
            <a:r>
              <a:rPr lang="en-US" sz="1050" b="1" dirty="0">
                <a:solidFill>
                  <a:srgbClr val="0C1A2B"/>
                </a:solidFill>
                <a:latin typeface="Nunito Sans" pitchFamily="34" charset="0"/>
                <a:ea typeface="Nunito Sans" pitchFamily="34" charset="-122"/>
                <a:cs typeface="Nunito Sans" pitchFamily="34" charset="-120"/>
              </a:rPr>
              <a:t>Vandana — The Verifier</a:t>
            </a:r>
            <a:endParaRPr lang="en-US" sz="1050" dirty="0"/>
          </a:p>
        </p:txBody>
      </p:sp>
      <p:sp>
        <p:nvSpPr>
          <p:cNvPr id="9" name="Text 6"/>
          <p:cNvSpPr/>
          <p:nvPr/>
        </p:nvSpPr>
        <p:spPr>
          <a:xfrm>
            <a:off x="685800" y="1847088"/>
            <a:ext cx="2252396" cy="182880"/>
          </a:xfrm>
          <a:prstGeom prst="rect">
            <a:avLst/>
          </a:prstGeom>
          <a:noFill/>
          <a:ln/>
        </p:spPr>
        <p:txBody>
          <a:bodyPr wrap="square" lIns="0" tIns="0" rIns="0" bIns="0" rtlCol="0" anchor="t"/>
          <a:lstStyle/>
          <a:p>
            <a:pPr indent="0" marL="0">
              <a:buNone/>
            </a:pPr>
            <a:r>
              <a:rPr lang="en-US" sz="700" b="1" spc="60" kern="0" dirty="0">
                <a:solidFill>
                  <a:srgbClr val="8B95A2"/>
                </a:solidFill>
                <a:latin typeface="Nunito Sans" pitchFamily="34" charset="0"/>
                <a:ea typeface="Nunito Sans" pitchFamily="34" charset="-122"/>
                <a:cs typeface="Nunito Sans" pitchFamily="34" charset="-120"/>
              </a:rPr>
              <a:t>PROOF-HUNGRY GUARDIANS  ·  36%</a:t>
            </a:r>
            <a:endParaRPr lang="en-US" sz="700" dirty="0"/>
          </a:p>
        </p:txBody>
      </p:sp>
      <p:sp>
        <p:nvSpPr>
          <p:cNvPr id="10" name="Text 7"/>
          <p:cNvSpPr/>
          <p:nvPr/>
        </p:nvSpPr>
        <p:spPr>
          <a:xfrm>
            <a:off x="685800" y="2066544"/>
            <a:ext cx="2252396" cy="493776"/>
          </a:xfrm>
          <a:prstGeom prst="rect">
            <a:avLst/>
          </a:prstGeom>
          <a:noFill/>
          <a:ln/>
        </p:spPr>
        <p:txBody>
          <a:bodyPr wrap="square" lIns="0" tIns="0" rIns="0" bIns="0" rtlCol="0" anchor="t"/>
          <a:lstStyle/>
          <a:p>
            <a:pPr indent="0" marL="0">
              <a:lnSpc>
                <a:spcPct val="104000"/>
              </a:lnSpc>
              <a:buNone/>
            </a:pPr>
            <a:r>
              <a:rPr lang="en-US" sz="950" b="1" i="1" dirty="0">
                <a:solidFill>
                  <a:srgbClr val="3A5D97"/>
                </a:solidFill>
                <a:latin typeface="Nunito Sans" pitchFamily="34" charset="0"/>
                <a:ea typeface="Nunito Sans" pitchFamily="34" charset="-122"/>
                <a:cs typeface="Nunito Sans" pitchFamily="34" charset="-120"/>
              </a:rPr>
              <a:t>“Scan the pack. See exactly what's inside.”</a:t>
            </a:r>
            <a:endParaRPr lang="en-US" sz="950" dirty="0"/>
          </a:p>
        </p:txBody>
      </p:sp>
      <p:sp>
        <p:nvSpPr>
          <p:cNvPr id="11" name="Text 8"/>
          <p:cNvSpPr/>
          <p:nvPr/>
        </p:nvSpPr>
        <p:spPr>
          <a:xfrm>
            <a:off x="685800" y="2651760"/>
            <a:ext cx="2252396" cy="219456"/>
          </a:xfrm>
          <a:prstGeom prst="rect">
            <a:avLst/>
          </a:prstGeom>
          <a:noFill/>
          <a:ln/>
        </p:spPr>
        <p:txBody>
          <a:bodyPr wrap="square" lIns="0" tIns="0" rIns="0" bIns="0" rtlCol="0" anchor="ctr"/>
          <a:lstStyle/>
          <a:p>
            <a:pPr indent="0" marL="0">
              <a:buNone/>
            </a:pPr>
            <a:r>
              <a:rPr lang="en-US" sz="950" b="1" spc="180" kern="0" dirty="0">
                <a:solidFill>
                  <a:srgbClr val="8B95A2"/>
                </a:solidFill>
                <a:latin typeface="Nunito Sans" pitchFamily="34" charset="0"/>
                <a:ea typeface="Nunito Sans" pitchFamily="34" charset="-122"/>
                <a:cs typeface="Nunito Sans" pitchFamily="34" charset="-120"/>
              </a:rPr>
              <a:t>THE MECHANISM</a:t>
            </a:r>
            <a:endParaRPr lang="en-US" sz="950" dirty="0"/>
          </a:p>
        </p:txBody>
      </p:sp>
      <p:sp>
        <p:nvSpPr>
          <p:cNvPr id="12" name="Text 9"/>
          <p:cNvSpPr/>
          <p:nvPr/>
        </p:nvSpPr>
        <p:spPr>
          <a:xfrm>
            <a:off x="685800" y="2871216"/>
            <a:ext cx="2252396" cy="100584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QR to the batch-level lab report and the farmer</a:t>
            </a:r>
            <a:endParaRPr lang="en-US" sz="800" dirty="0"/>
          </a:p>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Doctor or dietitian citation on pack, beside the farmer's view</a:t>
            </a:r>
            <a:endParaRPr lang="en-US" sz="800" dirty="0"/>
          </a:p>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Certification carrying a live verification link</a:t>
            </a:r>
            <a:endParaRPr lang="en-US" sz="800" dirty="0"/>
          </a:p>
        </p:txBody>
      </p:sp>
      <p:sp>
        <p:nvSpPr>
          <p:cNvPr id="13" name="Text 10"/>
          <p:cNvSpPr/>
          <p:nvPr/>
        </p:nvSpPr>
        <p:spPr>
          <a:xfrm>
            <a:off x="685800" y="3913632"/>
            <a:ext cx="2252396" cy="219456"/>
          </a:xfrm>
          <a:prstGeom prst="rect">
            <a:avLst/>
          </a:prstGeom>
          <a:noFill/>
          <a:ln/>
        </p:spPr>
        <p:txBody>
          <a:bodyPr wrap="square" lIns="0" tIns="0" rIns="0" bIns="0" rtlCol="0" anchor="ctr"/>
          <a:lstStyle/>
          <a:p>
            <a:pPr indent="0" marL="0">
              <a:buNone/>
            </a:pPr>
            <a:r>
              <a:rPr lang="en-US" sz="950" b="1" spc="180" kern="0" dirty="0">
                <a:solidFill>
                  <a:srgbClr val="8B95A2"/>
                </a:solidFill>
                <a:latin typeface="Nunito Sans" pitchFamily="34" charset="0"/>
                <a:ea typeface="Nunito Sans" pitchFamily="34" charset="-122"/>
                <a:cs typeface="Nunito Sans" pitchFamily="34" charset="-120"/>
              </a:rPr>
              <a:t>CHANNEL</a:t>
            </a:r>
            <a:endParaRPr lang="en-US" sz="950" dirty="0"/>
          </a:p>
        </p:txBody>
      </p:sp>
      <p:sp>
        <p:nvSpPr>
          <p:cNvPr id="14" name="Text 11"/>
          <p:cNvSpPr/>
          <p:nvPr/>
        </p:nvSpPr>
        <p:spPr>
          <a:xfrm>
            <a:off x="685800" y="4114800"/>
            <a:ext cx="2252396" cy="292608"/>
          </a:xfrm>
          <a:prstGeom prst="rect">
            <a:avLst/>
          </a:prstGeom>
          <a:noFill/>
          <a:ln/>
        </p:spPr>
        <p:txBody>
          <a:bodyPr wrap="square" lIns="0" tIns="0" rIns="0" bIns="0" rtlCol="0" anchor="t"/>
          <a:lstStyle/>
          <a:p>
            <a:pPr indent="0" marL="0">
              <a:lnSpc>
                <a:spcPct val="102000"/>
              </a:lnSpc>
              <a:buNone/>
            </a:pPr>
            <a:r>
              <a:rPr lang="en-US" sz="850" b="1" dirty="0">
                <a:solidFill>
                  <a:srgbClr val="16202D"/>
                </a:solidFill>
                <a:latin typeface="Nunito Sans" pitchFamily="34" charset="0"/>
                <a:ea typeface="Nunito Sans" pitchFamily="34" charset="-122"/>
                <a:cs typeface="Nunito Sans" pitchFamily="34" charset="-120"/>
              </a:rPr>
              <a:t>QR code  ·  D2C  ·  Modern trade</a:t>
            </a:r>
            <a:endParaRPr lang="en-US" sz="850" dirty="0"/>
          </a:p>
        </p:txBody>
      </p:sp>
      <p:sp>
        <p:nvSpPr>
          <p:cNvPr id="15" name="Text 12"/>
          <p:cNvSpPr/>
          <p:nvPr/>
        </p:nvSpPr>
        <p:spPr>
          <a:xfrm>
            <a:off x="685800" y="4389120"/>
            <a:ext cx="2252396" cy="219456"/>
          </a:xfrm>
          <a:prstGeom prst="rect">
            <a:avLst/>
          </a:prstGeom>
          <a:noFill/>
          <a:ln/>
        </p:spPr>
        <p:txBody>
          <a:bodyPr wrap="square" lIns="0" tIns="0" rIns="0" bIns="0" rtlCol="0" anchor="ctr"/>
          <a:lstStyle/>
          <a:p>
            <a:pPr indent="0" marL="0">
              <a:buNone/>
            </a:pPr>
            <a:r>
              <a:rPr lang="en-US" sz="950" b="1" spc="180" kern="0" dirty="0">
                <a:solidFill>
                  <a:srgbClr val="8B95A2"/>
                </a:solidFill>
                <a:latin typeface="Nunito Sans" pitchFamily="34" charset="0"/>
                <a:ea typeface="Nunito Sans" pitchFamily="34" charset="-122"/>
                <a:cs typeface="Nunito Sans" pitchFamily="34" charset="-120"/>
              </a:rPr>
              <a:t>CONVERSION SPEED</a:t>
            </a:r>
            <a:endParaRPr lang="en-US" sz="950" dirty="0"/>
          </a:p>
        </p:txBody>
      </p:sp>
      <p:sp>
        <p:nvSpPr>
          <p:cNvPr id="16" name="Text 13"/>
          <p:cNvSpPr/>
          <p:nvPr/>
        </p:nvSpPr>
        <p:spPr>
          <a:xfrm>
            <a:off x="685800" y="4572000"/>
            <a:ext cx="2252396" cy="256032"/>
          </a:xfrm>
          <a:prstGeom prst="rect">
            <a:avLst/>
          </a:prstGeom>
          <a:noFill/>
          <a:ln/>
        </p:spPr>
        <p:txBody>
          <a:bodyPr wrap="square" lIns="0" tIns="0" rIns="0" bIns="0" rtlCol="0" anchor="t"/>
          <a:lstStyle/>
          <a:p>
            <a:pPr indent="0" marL="0">
              <a:lnSpc>
                <a:spcPct val="100000"/>
              </a:lnSpc>
              <a:buNone/>
            </a:pPr>
            <a:r>
              <a:rPr lang="en-US" sz="800" dirty="0">
                <a:solidFill>
                  <a:srgbClr val="54606F"/>
                </a:solidFill>
                <a:latin typeface="Nunito Sans" pitchFamily="34" charset="0"/>
                <a:ea typeface="Nunito Sans" pitchFamily="34" charset="-122"/>
                <a:cs typeface="Nunito Sans" pitchFamily="34" charset="-120"/>
              </a:rPr>
              <a:t>Fast, once proof is visible. She does her own diligence.</a:t>
            </a:r>
            <a:endParaRPr lang="en-US" sz="800" dirty="0"/>
          </a:p>
        </p:txBody>
      </p:sp>
      <p:sp>
        <p:nvSpPr>
          <p:cNvPr id="17" name="Shape 14"/>
          <p:cNvSpPr/>
          <p:nvPr/>
        </p:nvSpPr>
        <p:spPr>
          <a:xfrm>
            <a:off x="3358820" y="1463040"/>
            <a:ext cx="2618156" cy="3200400"/>
          </a:xfrm>
          <a:prstGeom prst="roundRect">
            <a:avLst>
              <a:gd name="adj" fmla="val 3493"/>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8" name="Shape 15"/>
          <p:cNvSpPr/>
          <p:nvPr/>
        </p:nvSpPr>
        <p:spPr>
          <a:xfrm>
            <a:off x="3358820" y="1463040"/>
            <a:ext cx="2618156" cy="45720"/>
          </a:xfrm>
          <a:prstGeom prst="rect">
            <a:avLst/>
          </a:prstGeom>
          <a:solidFill>
            <a:srgbClr val="177A46"/>
          </a:solidFill>
          <a:ln w="5080">
            <a:solidFill>
              <a:srgbClr val="177A46"/>
            </a:solidFill>
            <a:prstDash val="solid"/>
          </a:ln>
        </p:spPr>
      </p:sp>
      <p:sp>
        <p:nvSpPr>
          <p:cNvPr id="19" name="Text 16"/>
          <p:cNvSpPr/>
          <p:nvPr/>
        </p:nvSpPr>
        <p:spPr>
          <a:xfrm>
            <a:off x="3541700" y="1609344"/>
            <a:ext cx="2252396" cy="237744"/>
          </a:xfrm>
          <a:prstGeom prst="rect">
            <a:avLst/>
          </a:prstGeom>
          <a:noFill/>
          <a:ln/>
        </p:spPr>
        <p:txBody>
          <a:bodyPr wrap="square" lIns="0" tIns="0" rIns="0" bIns="0" rtlCol="0" anchor="t"/>
          <a:lstStyle/>
          <a:p>
            <a:pPr indent="0" marL="0">
              <a:buNone/>
            </a:pPr>
            <a:r>
              <a:rPr lang="en-US" sz="1050" b="1" dirty="0">
                <a:solidFill>
                  <a:srgbClr val="0C1A2B"/>
                </a:solidFill>
                <a:latin typeface="Nunito Sans" pitchFamily="34" charset="0"/>
                <a:ea typeface="Nunito Sans" pitchFamily="34" charset="-122"/>
                <a:cs typeface="Nunito Sans" pitchFamily="34" charset="-120"/>
              </a:rPr>
              <a:t>Meera — The Believer</a:t>
            </a:r>
            <a:endParaRPr lang="en-US" sz="1050" dirty="0"/>
          </a:p>
        </p:txBody>
      </p:sp>
      <p:sp>
        <p:nvSpPr>
          <p:cNvPr id="20" name="Text 17"/>
          <p:cNvSpPr/>
          <p:nvPr/>
        </p:nvSpPr>
        <p:spPr>
          <a:xfrm>
            <a:off x="3541700" y="1847088"/>
            <a:ext cx="2252396" cy="182880"/>
          </a:xfrm>
          <a:prstGeom prst="rect">
            <a:avLst/>
          </a:prstGeom>
          <a:noFill/>
          <a:ln/>
        </p:spPr>
        <p:txBody>
          <a:bodyPr wrap="square" lIns="0" tIns="0" rIns="0" bIns="0" rtlCol="0" anchor="t"/>
          <a:lstStyle/>
          <a:p>
            <a:pPr indent="0" marL="0">
              <a:buNone/>
            </a:pPr>
            <a:r>
              <a:rPr lang="en-US" sz="700" b="1" spc="60" kern="0" dirty="0">
                <a:solidFill>
                  <a:srgbClr val="8B95A2"/>
                </a:solidFill>
                <a:latin typeface="Nunito Sans" pitchFamily="34" charset="0"/>
                <a:ea typeface="Nunito Sans" pitchFamily="34" charset="-122"/>
                <a:cs typeface="Nunito Sans" pitchFamily="34" charset="-120"/>
              </a:rPr>
              <a:t>SOCIAL TRUSTERS  ·  20%</a:t>
            </a:r>
            <a:endParaRPr lang="en-US" sz="700" dirty="0"/>
          </a:p>
        </p:txBody>
      </p:sp>
      <p:sp>
        <p:nvSpPr>
          <p:cNvPr id="21" name="Text 18"/>
          <p:cNvSpPr/>
          <p:nvPr/>
        </p:nvSpPr>
        <p:spPr>
          <a:xfrm>
            <a:off x="3541700" y="2066544"/>
            <a:ext cx="2252396" cy="493776"/>
          </a:xfrm>
          <a:prstGeom prst="rect">
            <a:avLst/>
          </a:prstGeom>
          <a:noFill/>
          <a:ln/>
        </p:spPr>
        <p:txBody>
          <a:bodyPr wrap="square" lIns="0" tIns="0" rIns="0" bIns="0" rtlCol="0" anchor="t"/>
          <a:lstStyle/>
          <a:p>
            <a:pPr indent="0" marL="0">
              <a:lnSpc>
                <a:spcPct val="104000"/>
              </a:lnSpc>
              <a:buNone/>
            </a:pPr>
            <a:r>
              <a:rPr lang="en-US" sz="950" b="1" i="1" dirty="0">
                <a:solidFill>
                  <a:srgbClr val="177A46"/>
                </a:solidFill>
                <a:latin typeface="Nunito Sans" pitchFamily="34" charset="0"/>
                <a:ea typeface="Nunito Sans" pitchFamily="34" charset="-122"/>
                <a:cs typeface="Nunito Sans" pitchFamily="34" charset="-120"/>
              </a:rPr>
              <a:t>“Ask your doctor. Then ask your sister. They've approved us.”</a:t>
            </a:r>
            <a:endParaRPr lang="en-US" sz="950" dirty="0"/>
          </a:p>
        </p:txBody>
      </p:sp>
      <p:sp>
        <p:nvSpPr>
          <p:cNvPr id="22" name="Text 19"/>
          <p:cNvSpPr/>
          <p:nvPr/>
        </p:nvSpPr>
        <p:spPr>
          <a:xfrm>
            <a:off x="3541700" y="2651760"/>
            <a:ext cx="2252396" cy="219456"/>
          </a:xfrm>
          <a:prstGeom prst="rect">
            <a:avLst/>
          </a:prstGeom>
          <a:noFill/>
          <a:ln/>
        </p:spPr>
        <p:txBody>
          <a:bodyPr wrap="square" lIns="0" tIns="0" rIns="0" bIns="0" rtlCol="0" anchor="ctr"/>
          <a:lstStyle/>
          <a:p>
            <a:pPr indent="0" marL="0">
              <a:buNone/>
            </a:pPr>
            <a:r>
              <a:rPr lang="en-US" sz="950" b="1" spc="180" kern="0" dirty="0">
                <a:solidFill>
                  <a:srgbClr val="8B95A2"/>
                </a:solidFill>
                <a:latin typeface="Nunito Sans" pitchFamily="34" charset="0"/>
                <a:ea typeface="Nunito Sans" pitchFamily="34" charset="-122"/>
                <a:cs typeface="Nunito Sans" pitchFamily="34" charset="-120"/>
              </a:rPr>
              <a:t>THE MECHANISM</a:t>
            </a:r>
            <a:endParaRPr lang="en-US" sz="950" dirty="0"/>
          </a:p>
        </p:txBody>
      </p:sp>
      <p:sp>
        <p:nvSpPr>
          <p:cNvPr id="23" name="Text 20"/>
          <p:cNvSpPr/>
          <p:nvPr/>
        </p:nvSpPr>
        <p:spPr>
          <a:xfrm>
            <a:off x="3541700" y="2871216"/>
            <a:ext cx="2252396" cy="100584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Doctor and dietitian partnership programme</a:t>
            </a:r>
            <a:endParaRPr lang="en-US" sz="800" dirty="0"/>
          </a:p>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Referral incentive for existing customers</a:t>
            </a:r>
            <a:endParaRPr lang="en-US" sz="800" dirty="0"/>
          </a:p>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Testimonials from families she recognises</a:t>
            </a:r>
            <a:endParaRPr lang="en-US" sz="800" dirty="0"/>
          </a:p>
        </p:txBody>
      </p:sp>
      <p:sp>
        <p:nvSpPr>
          <p:cNvPr id="24" name="Text 21"/>
          <p:cNvSpPr/>
          <p:nvPr/>
        </p:nvSpPr>
        <p:spPr>
          <a:xfrm>
            <a:off x="3541700" y="3913632"/>
            <a:ext cx="2252396" cy="219456"/>
          </a:xfrm>
          <a:prstGeom prst="rect">
            <a:avLst/>
          </a:prstGeom>
          <a:noFill/>
          <a:ln/>
        </p:spPr>
        <p:txBody>
          <a:bodyPr wrap="square" lIns="0" tIns="0" rIns="0" bIns="0" rtlCol="0" anchor="ctr"/>
          <a:lstStyle/>
          <a:p>
            <a:pPr indent="0" marL="0">
              <a:buNone/>
            </a:pPr>
            <a:r>
              <a:rPr lang="en-US" sz="950" b="1" spc="180" kern="0" dirty="0">
                <a:solidFill>
                  <a:srgbClr val="8B95A2"/>
                </a:solidFill>
                <a:latin typeface="Nunito Sans" pitchFamily="34" charset="0"/>
                <a:ea typeface="Nunito Sans" pitchFamily="34" charset="-122"/>
                <a:cs typeface="Nunito Sans" pitchFamily="34" charset="-120"/>
              </a:rPr>
              <a:t>CHANNEL</a:t>
            </a:r>
            <a:endParaRPr lang="en-US" sz="950" dirty="0"/>
          </a:p>
        </p:txBody>
      </p:sp>
      <p:sp>
        <p:nvSpPr>
          <p:cNvPr id="25" name="Text 22"/>
          <p:cNvSpPr/>
          <p:nvPr/>
        </p:nvSpPr>
        <p:spPr>
          <a:xfrm>
            <a:off x="3541700" y="4114800"/>
            <a:ext cx="2252396" cy="292608"/>
          </a:xfrm>
          <a:prstGeom prst="rect">
            <a:avLst/>
          </a:prstGeom>
          <a:noFill/>
          <a:ln/>
        </p:spPr>
        <p:txBody>
          <a:bodyPr wrap="square" lIns="0" tIns="0" rIns="0" bIns="0" rtlCol="0" anchor="t"/>
          <a:lstStyle/>
          <a:p>
            <a:pPr indent="0" marL="0">
              <a:lnSpc>
                <a:spcPct val="102000"/>
              </a:lnSpc>
              <a:buNone/>
            </a:pPr>
            <a:r>
              <a:rPr lang="en-US" sz="850" b="1" dirty="0">
                <a:solidFill>
                  <a:srgbClr val="16202D"/>
                </a:solidFill>
                <a:latin typeface="Nunito Sans" pitchFamily="34" charset="0"/>
                <a:ea typeface="Nunito Sans" pitchFamily="34" charset="-122"/>
                <a:cs typeface="Nunito Sans" pitchFamily="34" charset="-120"/>
              </a:rPr>
              <a:t>Clinic tie-ups  ·  Community WhatsApp  ·  WOM</a:t>
            </a:r>
            <a:endParaRPr lang="en-US" sz="850" dirty="0"/>
          </a:p>
        </p:txBody>
      </p:sp>
      <p:sp>
        <p:nvSpPr>
          <p:cNvPr id="26" name="Text 23"/>
          <p:cNvSpPr/>
          <p:nvPr/>
        </p:nvSpPr>
        <p:spPr>
          <a:xfrm>
            <a:off x="3541700" y="4389120"/>
            <a:ext cx="2252396" cy="219456"/>
          </a:xfrm>
          <a:prstGeom prst="rect">
            <a:avLst/>
          </a:prstGeom>
          <a:noFill/>
          <a:ln/>
        </p:spPr>
        <p:txBody>
          <a:bodyPr wrap="square" lIns="0" tIns="0" rIns="0" bIns="0" rtlCol="0" anchor="ctr"/>
          <a:lstStyle/>
          <a:p>
            <a:pPr indent="0" marL="0">
              <a:buNone/>
            </a:pPr>
            <a:r>
              <a:rPr lang="en-US" sz="950" b="1" spc="180" kern="0" dirty="0">
                <a:solidFill>
                  <a:srgbClr val="8B95A2"/>
                </a:solidFill>
                <a:latin typeface="Nunito Sans" pitchFamily="34" charset="0"/>
                <a:ea typeface="Nunito Sans" pitchFamily="34" charset="-122"/>
                <a:cs typeface="Nunito Sans" pitchFamily="34" charset="-120"/>
              </a:rPr>
              <a:t>CONVERSION SPEED</a:t>
            </a:r>
            <a:endParaRPr lang="en-US" sz="950" dirty="0"/>
          </a:p>
        </p:txBody>
      </p:sp>
      <p:sp>
        <p:nvSpPr>
          <p:cNvPr id="27" name="Text 24"/>
          <p:cNvSpPr/>
          <p:nvPr/>
        </p:nvSpPr>
        <p:spPr>
          <a:xfrm>
            <a:off x="3541700" y="4572000"/>
            <a:ext cx="2252396" cy="256032"/>
          </a:xfrm>
          <a:prstGeom prst="rect">
            <a:avLst/>
          </a:prstGeom>
          <a:noFill/>
          <a:ln/>
        </p:spPr>
        <p:txBody>
          <a:bodyPr wrap="square" lIns="0" tIns="0" rIns="0" bIns="0" rtlCol="0" anchor="t"/>
          <a:lstStyle/>
          <a:p>
            <a:pPr indent="0" marL="0">
              <a:lnSpc>
                <a:spcPct val="100000"/>
              </a:lnSpc>
              <a:buNone/>
            </a:pPr>
            <a:r>
              <a:rPr lang="en-US" sz="800" dirty="0">
                <a:solidFill>
                  <a:srgbClr val="54606F"/>
                </a:solidFill>
                <a:latin typeface="Nunito Sans" pitchFamily="34" charset="0"/>
                <a:ea typeface="Nunito Sans" pitchFamily="34" charset="-122"/>
                <a:cs typeface="Nunito Sans" pitchFamily="34" charset="-120"/>
              </a:rPr>
              <a:t>Medium. Needs one or two trusted validators, then sticks.</a:t>
            </a:r>
            <a:endParaRPr lang="en-US" sz="800" dirty="0"/>
          </a:p>
        </p:txBody>
      </p:sp>
      <p:sp>
        <p:nvSpPr>
          <p:cNvPr id="28" name="Shape 25"/>
          <p:cNvSpPr/>
          <p:nvPr/>
        </p:nvSpPr>
        <p:spPr>
          <a:xfrm>
            <a:off x="6214720" y="1463040"/>
            <a:ext cx="2618156" cy="3200400"/>
          </a:xfrm>
          <a:prstGeom prst="roundRect">
            <a:avLst>
              <a:gd name="adj" fmla="val 3493"/>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29" name="Shape 26"/>
          <p:cNvSpPr/>
          <p:nvPr/>
        </p:nvSpPr>
        <p:spPr>
          <a:xfrm>
            <a:off x="6214720" y="1463040"/>
            <a:ext cx="2618156" cy="45720"/>
          </a:xfrm>
          <a:prstGeom prst="rect">
            <a:avLst/>
          </a:prstGeom>
          <a:solidFill>
            <a:srgbClr val="B5AD9C"/>
          </a:solidFill>
          <a:ln w="5080">
            <a:solidFill>
              <a:srgbClr val="B5AD9C"/>
            </a:solidFill>
            <a:prstDash val="solid"/>
          </a:ln>
        </p:spPr>
      </p:sp>
      <p:sp>
        <p:nvSpPr>
          <p:cNvPr id="30" name="Text 27"/>
          <p:cNvSpPr/>
          <p:nvPr/>
        </p:nvSpPr>
        <p:spPr>
          <a:xfrm>
            <a:off x="6397600" y="1609344"/>
            <a:ext cx="2252396" cy="237744"/>
          </a:xfrm>
          <a:prstGeom prst="rect">
            <a:avLst/>
          </a:prstGeom>
          <a:noFill/>
          <a:ln/>
        </p:spPr>
        <p:txBody>
          <a:bodyPr wrap="square" lIns="0" tIns="0" rIns="0" bIns="0" rtlCol="0" anchor="t"/>
          <a:lstStyle/>
          <a:p>
            <a:pPr indent="0" marL="0">
              <a:buNone/>
            </a:pPr>
            <a:r>
              <a:rPr lang="en-US" sz="1050" b="1" dirty="0">
                <a:solidFill>
                  <a:srgbClr val="0C1A2B"/>
                </a:solidFill>
                <a:latin typeface="Nunito Sans" pitchFamily="34" charset="0"/>
                <a:ea typeface="Nunito Sans" pitchFamily="34" charset="-122"/>
                <a:cs typeface="Nunito Sans" pitchFamily="34" charset="-120"/>
              </a:rPr>
              <a:t>Karan — The Cruise-Controller</a:t>
            </a:r>
            <a:endParaRPr lang="en-US" sz="1050" dirty="0"/>
          </a:p>
        </p:txBody>
      </p:sp>
      <p:sp>
        <p:nvSpPr>
          <p:cNvPr id="31" name="Text 28"/>
          <p:cNvSpPr/>
          <p:nvPr/>
        </p:nvSpPr>
        <p:spPr>
          <a:xfrm>
            <a:off x="6397600" y="1847088"/>
            <a:ext cx="2252396" cy="182880"/>
          </a:xfrm>
          <a:prstGeom prst="rect">
            <a:avLst/>
          </a:prstGeom>
          <a:noFill/>
          <a:ln/>
        </p:spPr>
        <p:txBody>
          <a:bodyPr wrap="square" lIns="0" tIns="0" rIns="0" bIns="0" rtlCol="0" anchor="t"/>
          <a:lstStyle/>
          <a:p>
            <a:pPr indent="0" marL="0">
              <a:buNone/>
            </a:pPr>
            <a:r>
              <a:rPr lang="en-US" sz="700" b="1" spc="60" kern="0" dirty="0">
                <a:solidFill>
                  <a:srgbClr val="8B95A2"/>
                </a:solidFill>
                <a:latin typeface="Nunito Sans" pitchFamily="34" charset="0"/>
                <a:ea typeface="Nunito Sans" pitchFamily="34" charset="-122"/>
                <a:cs typeface="Nunito Sans" pitchFamily="34" charset="-120"/>
              </a:rPr>
              <a:t>PASSIVE DEFAULTERS  ·  26%</a:t>
            </a:r>
            <a:endParaRPr lang="en-US" sz="700" dirty="0"/>
          </a:p>
        </p:txBody>
      </p:sp>
      <p:sp>
        <p:nvSpPr>
          <p:cNvPr id="32" name="Text 29"/>
          <p:cNvSpPr/>
          <p:nvPr/>
        </p:nvSpPr>
        <p:spPr>
          <a:xfrm>
            <a:off x="6397600" y="2066544"/>
            <a:ext cx="2252396" cy="493776"/>
          </a:xfrm>
          <a:prstGeom prst="rect">
            <a:avLst/>
          </a:prstGeom>
          <a:noFill/>
          <a:ln/>
        </p:spPr>
        <p:txBody>
          <a:bodyPr wrap="square" lIns="0" tIns="0" rIns="0" bIns="0" rtlCol="0" anchor="t"/>
          <a:lstStyle/>
          <a:p>
            <a:pPr indent="0" marL="0">
              <a:lnSpc>
                <a:spcPct val="104000"/>
              </a:lnSpc>
              <a:buNone/>
            </a:pPr>
            <a:r>
              <a:rPr lang="en-US" sz="950" b="1" i="1" dirty="0">
                <a:solidFill>
                  <a:srgbClr val="B5AD9C"/>
                </a:solidFill>
                <a:latin typeface="Nunito Sans" pitchFamily="34" charset="0"/>
                <a:ea typeface="Nunito Sans" pitchFamily="34" charset="-122"/>
                <a:cs typeface="Nunito Sans" pitchFamily="34" charset="-120"/>
              </a:rPr>
              <a:t>“Same taste. Same price. Honestly, better choice.”</a:t>
            </a:r>
            <a:endParaRPr lang="en-US" sz="950" dirty="0"/>
          </a:p>
        </p:txBody>
      </p:sp>
      <p:sp>
        <p:nvSpPr>
          <p:cNvPr id="33" name="Text 30"/>
          <p:cNvSpPr/>
          <p:nvPr/>
        </p:nvSpPr>
        <p:spPr>
          <a:xfrm>
            <a:off x="6397600" y="2651760"/>
            <a:ext cx="2252396" cy="219456"/>
          </a:xfrm>
          <a:prstGeom prst="rect">
            <a:avLst/>
          </a:prstGeom>
          <a:noFill/>
          <a:ln/>
        </p:spPr>
        <p:txBody>
          <a:bodyPr wrap="square" lIns="0" tIns="0" rIns="0" bIns="0" rtlCol="0" anchor="ctr"/>
          <a:lstStyle/>
          <a:p>
            <a:pPr indent="0" marL="0">
              <a:buNone/>
            </a:pPr>
            <a:r>
              <a:rPr lang="en-US" sz="950" b="1" spc="180" kern="0" dirty="0">
                <a:solidFill>
                  <a:srgbClr val="8B95A2"/>
                </a:solidFill>
                <a:latin typeface="Nunito Sans" pitchFamily="34" charset="0"/>
                <a:ea typeface="Nunito Sans" pitchFamily="34" charset="-122"/>
                <a:cs typeface="Nunito Sans" pitchFamily="34" charset="-120"/>
              </a:rPr>
              <a:t>THE MECHANISM</a:t>
            </a:r>
            <a:endParaRPr lang="en-US" sz="950" dirty="0"/>
          </a:p>
        </p:txBody>
      </p:sp>
      <p:sp>
        <p:nvSpPr>
          <p:cNvPr id="34" name="Text 31"/>
          <p:cNvSpPr/>
          <p:nvPr/>
        </p:nvSpPr>
        <p:spPr>
          <a:xfrm>
            <a:off x="6397600" y="2871216"/>
            <a:ext cx="2252396" cy="100584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Priority placement in quick-commerce search</a:t>
            </a:r>
            <a:endParaRPr lang="en-US" sz="800" dirty="0"/>
          </a:p>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Price parity with the brand he already buys</a:t>
            </a:r>
            <a:endParaRPr lang="en-US" sz="800" dirty="0"/>
          </a:p>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Taste-forward sampling, never health-forward</a:t>
            </a:r>
            <a:endParaRPr lang="en-US" sz="800" dirty="0"/>
          </a:p>
        </p:txBody>
      </p:sp>
      <p:sp>
        <p:nvSpPr>
          <p:cNvPr id="35" name="Text 32"/>
          <p:cNvSpPr/>
          <p:nvPr/>
        </p:nvSpPr>
        <p:spPr>
          <a:xfrm>
            <a:off x="6397600" y="3913632"/>
            <a:ext cx="2252396" cy="219456"/>
          </a:xfrm>
          <a:prstGeom prst="rect">
            <a:avLst/>
          </a:prstGeom>
          <a:noFill/>
          <a:ln/>
        </p:spPr>
        <p:txBody>
          <a:bodyPr wrap="square" lIns="0" tIns="0" rIns="0" bIns="0" rtlCol="0" anchor="ctr"/>
          <a:lstStyle/>
          <a:p>
            <a:pPr indent="0" marL="0">
              <a:buNone/>
            </a:pPr>
            <a:r>
              <a:rPr lang="en-US" sz="950" b="1" spc="180" kern="0" dirty="0">
                <a:solidFill>
                  <a:srgbClr val="8B95A2"/>
                </a:solidFill>
                <a:latin typeface="Nunito Sans" pitchFamily="34" charset="0"/>
                <a:ea typeface="Nunito Sans" pitchFamily="34" charset="-122"/>
                <a:cs typeface="Nunito Sans" pitchFamily="34" charset="-120"/>
              </a:rPr>
              <a:t>CHANNEL</a:t>
            </a:r>
            <a:endParaRPr lang="en-US" sz="950" dirty="0"/>
          </a:p>
        </p:txBody>
      </p:sp>
      <p:sp>
        <p:nvSpPr>
          <p:cNvPr id="36" name="Text 33"/>
          <p:cNvSpPr/>
          <p:nvPr/>
        </p:nvSpPr>
        <p:spPr>
          <a:xfrm>
            <a:off x="6397600" y="4114800"/>
            <a:ext cx="2252396" cy="292608"/>
          </a:xfrm>
          <a:prstGeom prst="rect">
            <a:avLst/>
          </a:prstGeom>
          <a:noFill/>
          <a:ln/>
        </p:spPr>
        <p:txBody>
          <a:bodyPr wrap="square" lIns="0" tIns="0" rIns="0" bIns="0" rtlCol="0" anchor="t"/>
          <a:lstStyle/>
          <a:p>
            <a:pPr indent="0" marL="0">
              <a:lnSpc>
                <a:spcPct val="102000"/>
              </a:lnSpc>
              <a:buNone/>
            </a:pPr>
            <a:r>
              <a:rPr lang="en-US" sz="850" b="1" dirty="0">
                <a:solidFill>
                  <a:srgbClr val="16202D"/>
                </a:solidFill>
                <a:latin typeface="Nunito Sans" pitchFamily="34" charset="0"/>
                <a:ea typeface="Nunito Sans" pitchFamily="34" charset="-122"/>
                <a:cs typeface="Nunito Sans" pitchFamily="34" charset="-120"/>
              </a:rPr>
              <a:t>Quick commerce  ·  Modern trade endcaps</a:t>
            </a:r>
            <a:endParaRPr lang="en-US" sz="850" dirty="0"/>
          </a:p>
        </p:txBody>
      </p:sp>
      <p:sp>
        <p:nvSpPr>
          <p:cNvPr id="37" name="Text 34"/>
          <p:cNvSpPr/>
          <p:nvPr/>
        </p:nvSpPr>
        <p:spPr>
          <a:xfrm>
            <a:off x="6397600" y="4389120"/>
            <a:ext cx="2252396" cy="219456"/>
          </a:xfrm>
          <a:prstGeom prst="rect">
            <a:avLst/>
          </a:prstGeom>
          <a:noFill/>
          <a:ln/>
        </p:spPr>
        <p:txBody>
          <a:bodyPr wrap="square" lIns="0" tIns="0" rIns="0" bIns="0" rtlCol="0" anchor="ctr"/>
          <a:lstStyle/>
          <a:p>
            <a:pPr indent="0" marL="0">
              <a:buNone/>
            </a:pPr>
            <a:r>
              <a:rPr lang="en-US" sz="950" b="1" spc="180" kern="0" dirty="0">
                <a:solidFill>
                  <a:srgbClr val="8B95A2"/>
                </a:solidFill>
                <a:latin typeface="Nunito Sans" pitchFamily="34" charset="0"/>
                <a:ea typeface="Nunito Sans" pitchFamily="34" charset="-122"/>
                <a:cs typeface="Nunito Sans" pitchFamily="34" charset="-120"/>
              </a:rPr>
              <a:t>CONVERSION SPEED</a:t>
            </a:r>
            <a:endParaRPr lang="en-US" sz="950" dirty="0"/>
          </a:p>
        </p:txBody>
      </p:sp>
      <p:sp>
        <p:nvSpPr>
          <p:cNvPr id="38" name="Text 35"/>
          <p:cNvSpPr/>
          <p:nvPr/>
        </p:nvSpPr>
        <p:spPr>
          <a:xfrm>
            <a:off x="6397600" y="4572000"/>
            <a:ext cx="2252396" cy="256032"/>
          </a:xfrm>
          <a:prstGeom prst="rect">
            <a:avLst/>
          </a:prstGeom>
          <a:noFill/>
          <a:ln/>
        </p:spPr>
        <p:txBody>
          <a:bodyPr wrap="square" lIns="0" tIns="0" rIns="0" bIns="0" rtlCol="0" anchor="t"/>
          <a:lstStyle/>
          <a:p>
            <a:pPr indent="0" marL="0">
              <a:lnSpc>
                <a:spcPct val="100000"/>
              </a:lnSpc>
              <a:buNone/>
            </a:pPr>
            <a:r>
              <a:rPr lang="en-US" sz="800" dirty="0">
                <a:solidFill>
                  <a:srgbClr val="54606F"/>
                </a:solidFill>
                <a:latin typeface="Nunito Sans" pitchFamily="34" charset="0"/>
                <a:ea typeface="Nunito Sans" pitchFamily="34" charset="-122"/>
                <a:cs typeface="Nunito Sans" pitchFamily="34" charset="-120"/>
              </a:rPr>
              <a:t>Fast to trial, low loyalty. Needs habitual reinforcement.</a:t>
            </a:r>
            <a:endParaRPr lang="en-US" sz="800" dirty="0"/>
          </a:p>
        </p:txBody>
      </p:sp>
      <p:sp>
        <p:nvSpPr>
          <p:cNvPr id="39" name="Shape 36"/>
          <p:cNvSpPr/>
          <p:nvPr/>
        </p:nvSpPr>
        <p:spPr>
          <a:xfrm>
            <a:off x="9070619" y="1463040"/>
            <a:ext cx="2618156" cy="3200400"/>
          </a:xfrm>
          <a:prstGeom prst="roundRect">
            <a:avLst>
              <a:gd name="adj" fmla="val 3493"/>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40" name="Shape 37"/>
          <p:cNvSpPr/>
          <p:nvPr/>
        </p:nvSpPr>
        <p:spPr>
          <a:xfrm>
            <a:off x="9070619" y="1463040"/>
            <a:ext cx="2618156" cy="45720"/>
          </a:xfrm>
          <a:prstGeom prst="rect">
            <a:avLst/>
          </a:prstGeom>
          <a:solidFill>
            <a:srgbClr val="9E3A24"/>
          </a:solidFill>
          <a:ln w="5080">
            <a:solidFill>
              <a:srgbClr val="9E3A24"/>
            </a:solidFill>
            <a:prstDash val="solid"/>
          </a:ln>
        </p:spPr>
      </p:sp>
      <p:sp>
        <p:nvSpPr>
          <p:cNvPr id="41" name="Text 38"/>
          <p:cNvSpPr/>
          <p:nvPr/>
        </p:nvSpPr>
        <p:spPr>
          <a:xfrm>
            <a:off x="9253499" y="1609344"/>
            <a:ext cx="2252396" cy="237744"/>
          </a:xfrm>
          <a:prstGeom prst="rect">
            <a:avLst/>
          </a:prstGeom>
          <a:noFill/>
          <a:ln/>
        </p:spPr>
        <p:txBody>
          <a:bodyPr wrap="square" lIns="0" tIns="0" rIns="0" bIns="0" rtlCol="0" anchor="t"/>
          <a:lstStyle/>
          <a:p>
            <a:pPr indent="0" marL="0">
              <a:buNone/>
            </a:pPr>
            <a:r>
              <a:rPr lang="en-US" sz="1050" b="1" dirty="0">
                <a:solidFill>
                  <a:srgbClr val="0C1A2B"/>
                </a:solidFill>
                <a:latin typeface="Nunito Sans" pitchFamily="34" charset="0"/>
                <a:ea typeface="Nunito Sans" pitchFamily="34" charset="-122"/>
                <a:cs typeface="Nunito Sans" pitchFamily="34" charset="-120"/>
              </a:rPr>
              <a:t>Sanjay — The Sceptic</a:t>
            </a:r>
            <a:endParaRPr lang="en-US" sz="1050" dirty="0"/>
          </a:p>
        </p:txBody>
      </p:sp>
      <p:sp>
        <p:nvSpPr>
          <p:cNvPr id="42" name="Text 39"/>
          <p:cNvSpPr/>
          <p:nvPr/>
        </p:nvSpPr>
        <p:spPr>
          <a:xfrm>
            <a:off x="9253499" y="1847088"/>
            <a:ext cx="2252396" cy="182880"/>
          </a:xfrm>
          <a:prstGeom prst="rect">
            <a:avLst/>
          </a:prstGeom>
          <a:noFill/>
          <a:ln/>
        </p:spPr>
        <p:txBody>
          <a:bodyPr wrap="square" lIns="0" tIns="0" rIns="0" bIns="0" rtlCol="0" anchor="t"/>
          <a:lstStyle/>
          <a:p>
            <a:pPr indent="0" marL="0">
              <a:buNone/>
            </a:pPr>
            <a:r>
              <a:rPr lang="en-US" sz="700" b="1" spc="60" kern="0" dirty="0">
                <a:solidFill>
                  <a:srgbClr val="8B95A2"/>
                </a:solidFill>
                <a:latin typeface="Nunito Sans" pitchFamily="34" charset="0"/>
                <a:ea typeface="Nunito Sans" pitchFamily="34" charset="-122"/>
                <a:cs typeface="Nunito Sans" pitchFamily="34" charset="-120"/>
              </a:rPr>
              <a:t>SYSTEM FATALISTS  ·  18%</a:t>
            </a:r>
            <a:endParaRPr lang="en-US" sz="700" dirty="0"/>
          </a:p>
        </p:txBody>
      </p:sp>
      <p:sp>
        <p:nvSpPr>
          <p:cNvPr id="43" name="Text 40"/>
          <p:cNvSpPr/>
          <p:nvPr/>
        </p:nvSpPr>
        <p:spPr>
          <a:xfrm>
            <a:off x="9253499" y="2066544"/>
            <a:ext cx="2252396" cy="493776"/>
          </a:xfrm>
          <a:prstGeom prst="rect">
            <a:avLst/>
          </a:prstGeom>
          <a:noFill/>
          <a:ln/>
        </p:spPr>
        <p:txBody>
          <a:bodyPr wrap="square" lIns="0" tIns="0" rIns="0" bIns="0" rtlCol="0" anchor="t"/>
          <a:lstStyle/>
          <a:p>
            <a:pPr indent="0" marL="0">
              <a:lnSpc>
                <a:spcPct val="104000"/>
              </a:lnSpc>
              <a:buNone/>
            </a:pPr>
            <a:r>
              <a:rPr lang="en-US" sz="950" b="1" i="1" dirty="0">
                <a:solidFill>
                  <a:srgbClr val="9E3A24"/>
                </a:solidFill>
                <a:latin typeface="Nunito Sans" pitchFamily="34" charset="0"/>
                <a:ea typeface="Nunito Sans" pitchFamily="34" charset="-122"/>
                <a:cs typeface="Nunito Sans" pitchFamily="34" charset="-120"/>
              </a:rPr>
              <a:t>“We'll show you the parts no brand talks about.”</a:t>
            </a:r>
            <a:endParaRPr lang="en-US" sz="950" dirty="0"/>
          </a:p>
        </p:txBody>
      </p:sp>
      <p:sp>
        <p:nvSpPr>
          <p:cNvPr id="44" name="Text 41"/>
          <p:cNvSpPr/>
          <p:nvPr/>
        </p:nvSpPr>
        <p:spPr>
          <a:xfrm>
            <a:off x="9253499" y="2651760"/>
            <a:ext cx="2252396" cy="219456"/>
          </a:xfrm>
          <a:prstGeom prst="rect">
            <a:avLst/>
          </a:prstGeom>
          <a:noFill/>
          <a:ln/>
        </p:spPr>
        <p:txBody>
          <a:bodyPr wrap="square" lIns="0" tIns="0" rIns="0" bIns="0" rtlCol="0" anchor="ctr"/>
          <a:lstStyle/>
          <a:p>
            <a:pPr indent="0" marL="0">
              <a:buNone/>
            </a:pPr>
            <a:r>
              <a:rPr lang="en-US" sz="950" b="1" spc="180" kern="0" dirty="0">
                <a:solidFill>
                  <a:srgbClr val="8B95A2"/>
                </a:solidFill>
                <a:latin typeface="Nunito Sans" pitchFamily="34" charset="0"/>
                <a:ea typeface="Nunito Sans" pitchFamily="34" charset="-122"/>
                <a:cs typeface="Nunito Sans" pitchFamily="34" charset="-120"/>
              </a:rPr>
              <a:t>THE MECHANISM</a:t>
            </a:r>
            <a:endParaRPr lang="en-US" sz="950" dirty="0"/>
          </a:p>
        </p:txBody>
      </p:sp>
      <p:sp>
        <p:nvSpPr>
          <p:cNvPr id="45" name="Text 42"/>
          <p:cNvSpPr/>
          <p:nvPr/>
        </p:nvSpPr>
        <p:spPr>
          <a:xfrm>
            <a:off x="9253499" y="2871216"/>
            <a:ext cx="2252396" cy="100584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Unscripted farmer and founder video content</a:t>
            </a:r>
            <a:endParaRPr lang="en-US" sz="800" dirty="0"/>
          </a:p>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Open invitations to audit or visit the farm</a:t>
            </a:r>
            <a:endParaRPr lang="en-US" sz="800" dirty="0"/>
          </a:p>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Independent verification nobody paid for</a:t>
            </a:r>
            <a:endParaRPr lang="en-US" sz="800" dirty="0"/>
          </a:p>
        </p:txBody>
      </p:sp>
      <p:sp>
        <p:nvSpPr>
          <p:cNvPr id="46" name="Text 43"/>
          <p:cNvSpPr/>
          <p:nvPr/>
        </p:nvSpPr>
        <p:spPr>
          <a:xfrm>
            <a:off x="9253499" y="3913632"/>
            <a:ext cx="2252396" cy="219456"/>
          </a:xfrm>
          <a:prstGeom prst="rect">
            <a:avLst/>
          </a:prstGeom>
          <a:noFill/>
          <a:ln/>
        </p:spPr>
        <p:txBody>
          <a:bodyPr wrap="square" lIns="0" tIns="0" rIns="0" bIns="0" rtlCol="0" anchor="ctr"/>
          <a:lstStyle/>
          <a:p>
            <a:pPr indent="0" marL="0">
              <a:buNone/>
            </a:pPr>
            <a:r>
              <a:rPr lang="en-US" sz="950" b="1" spc="180" kern="0" dirty="0">
                <a:solidFill>
                  <a:srgbClr val="8B95A2"/>
                </a:solidFill>
                <a:latin typeface="Nunito Sans" pitchFamily="34" charset="0"/>
                <a:ea typeface="Nunito Sans" pitchFamily="34" charset="-122"/>
                <a:cs typeface="Nunito Sans" pitchFamily="34" charset="-120"/>
              </a:rPr>
              <a:t>CHANNEL</a:t>
            </a:r>
            <a:endParaRPr lang="en-US" sz="950" dirty="0"/>
          </a:p>
        </p:txBody>
      </p:sp>
      <p:sp>
        <p:nvSpPr>
          <p:cNvPr id="47" name="Text 44"/>
          <p:cNvSpPr/>
          <p:nvPr/>
        </p:nvSpPr>
        <p:spPr>
          <a:xfrm>
            <a:off x="9253499" y="4114800"/>
            <a:ext cx="2252396" cy="292608"/>
          </a:xfrm>
          <a:prstGeom prst="rect">
            <a:avLst/>
          </a:prstGeom>
          <a:noFill/>
          <a:ln/>
        </p:spPr>
        <p:txBody>
          <a:bodyPr wrap="square" lIns="0" tIns="0" rIns="0" bIns="0" rtlCol="0" anchor="t"/>
          <a:lstStyle/>
          <a:p>
            <a:pPr indent="0" marL="0">
              <a:lnSpc>
                <a:spcPct val="102000"/>
              </a:lnSpc>
              <a:buNone/>
            </a:pPr>
            <a:r>
              <a:rPr lang="en-US" sz="850" b="1" dirty="0">
                <a:solidFill>
                  <a:srgbClr val="16202D"/>
                </a:solidFill>
                <a:latin typeface="Nunito Sans" pitchFamily="34" charset="0"/>
                <a:ea typeface="Nunito Sans" pitchFamily="34" charset="-122"/>
                <a:cs typeface="Nunito Sans" pitchFamily="34" charset="-120"/>
              </a:rPr>
              <a:t>Farmer-direct platforms  ·  Founder-led content</a:t>
            </a:r>
            <a:endParaRPr lang="en-US" sz="850" dirty="0"/>
          </a:p>
        </p:txBody>
      </p:sp>
      <p:sp>
        <p:nvSpPr>
          <p:cNvPr id="48" name="Text 45"/>
          <p:cNvSpPr/>
          <p:nvPr/>
        </p:nvSpPr>
        <p:spPr>
          <a:xfrm>
            <a:off x="9253499" y="4389120"/>
            <a:ext cx="2252396" cy="219456"/>
          </a:xfrm>
          <a:prstGeom prst="rect">
            <a:avLst/>
          </a:prstGeom>
          <a:noFill/>
          <a:ln/>
        </p:spPr>
        <p:txBody>
          <a:bodyPr wrap="square" lIns="0" tIns="0" rIns="0" bIns="0" rtlCol="0" anchor="ctr"/>
          <a:lstStyle/>
          <a:p>
            <a:pPr indent="0" marL="0">
              <a:buNone/>
            </a:pPr>
            <a:r>
              <a:rPr lang="en-US" sz="950" b="1" spc="180" kern="0" dirty="0">
                <a:solidFill>
                  <a:srgbClr val="8B95A2"/>
                </a:solidFill>
                <a:latin typeface="Nunito Sans" pitchFamily="34" charset="0"/>
                <a:ea typeface="Nunito Sans" pitchFamily="34" charset="-122"/>
                <a:cs typeface="Nunito Sans" pitchFamily="34" charset="-120"/>
              </a:rPr>
              <a:t>CONVERSION SPEED</a:t>
            </a:r>
            <a:endParaRPr lang="en-US" sz="950" dirty="0"/>
          </a:p>
        </p:txBody>
      </p:sp>
      <p:sp>
        <p:nvSpPr>
          <p:cNvPr id="49" name="Text 46"/>
          <p:cNvSpPr/>
          <p:nvPr/>
        </p:nvSpPr>
        <p:spPr>
          <a:xfrm>
            <a:off x="9253499" y="4572000"/>
            <a:ext cx="2252396" cy="256032"/>
          </a:xfrm>
          <a:prstGeom prst="rect">
            <a:avLst/>
          </a:prstGeom>
          <a:noFill/>
          <a:ln/>
        </p:spPr>
        <p:txBody>
          <a:bodyPr wrap="square" lIns="0" tIns="0" rIns="0" bIns="0" rtlCol="0" anchor="t"/>
          <a:lstStyle/>
          <a:p>
            <a:pPr indent="0" marL="0">
              <a:lnSpc>
                <a:spcPct val="100000"/>
              </a:lnSpc>
              <a:buNone/>
            </a:pPr>
            <a:r>
              <a:rPr lang="en-US" sz="800" dirty="0">
                <a:solidFill>
                  <a:srgbClr val="54606F"/>
                </a:solidFill>
                <a:latin typeface="Nunito Sans" pitchFamily="34" charset="0"/>
                <a:ea typeface="Nunito Sans" pitchFamily="34" charset="-122"/>
                <a:cs typeface="Nunito Sans" pitchFamily="34" charset="-120"/>
              </a:rPr>
              <a:t>Slowest — but becomes a vocal advocate once earned.</a:t>
            </a:r>
            <a:endParaRPr lang="en-US" sz="800" dirty="0"/>
          </a:p>
        </p:txBody>
      </p:sp>
      <p:sp>
        <p:nvSpPr>
          <p:cNvPr id="50" name="Shape 47"/>
          <p:cNvSpPr/>
          <p:nvPr/>
        </p:nvSpPr>
        <p:spPr>
          <a:xfrm>
            <a:off x="502920" y="4846320"/>
            <a:ext cx="11185855" cy="0"/>
          </a:xfrm>
          <a:prstGeom prst="line">
            <a:avLst/>
          </a:prstGeom>
          <a:noFill/>
          <a:ln w="12700">
            <a:solidFill>
              <a:srgbClr val="3A5D97"/>
            </a:solidFill>
            <a:prstDash val="solid"/>
          </a:ln>
        </p:spPr>
      </p:sp>
      <p:sp>
        <p:nvSpPr>
          <p:cNvPr id="51" name="Text 48"/>
          <p:cNvSpPr/>
          <p:nvPr/>
        </p:nvSpPr>
        <p:spPr>
          <a:xfrm>
            <a:off x="502920" y="4892040"/>
            <a:ext cx="11185855"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TRUST IS MULTI-DIMENSIONAL FOR EACH ARCHETYPE</a:t>
            </a:r>
            <a:endParaRPr lang="en-US" sz="900" dirty="0"/>
          </a:p>
        </p:txBody>
      </p:sp>
      <p:sp>
        <p:nvSpPr>
          <p:cNvPr id="52" name="Shape 49"/>
          <p:cNvSpPr/>
          <p:nvPr/>
        </p:nvSpPr>
        <p:spPr>
          <a:xfrm>
            <a:off x="502920" y="5138928"/>
            <a:ext cx="11185855" cy="301752"/>
          </a:xfrm>
          <a:prstGeom prst="rect">
            <a:avLst/>
          </a:prstGeom>
          <a:solidFill>
            <a:srgbClr val="F3ECE0"/>
          </a:solidFill>
          <a:ln w="5080">
            <a:solidFill>
              <a:srgbClr val="F3ECE0"/>
            </a:solidFill>
            <a:prstDash val="solid"/>
          </a:ln>
        </p:spPr>
      </p:sp>
      <p:sp>
        <p:nvSpPr>
          <p:cNvPr id="53" name="Text 50"/>
          <p:cNvSpPr/>
          <p:nvPr/>
        </p:nvSpPr>
        <p:spPr>
          <a:xfrm>
            <a:off x="612648" y="5138928"/>
            <a:ext cx="1645920" cy="301752"/>
          </a:xfrm>
          <a:prstGeom prst="rect">
            <a:avLst/>
          </a:prstGeom>
          <a:noFill/>
          <a:ln/>
        </p:spPr>
        <p:txBody>
          <a:bodyPr wrap="square" lIns="0" tIns="0" rIns="0" bIns="0" rtlCol="0" anchor="ctr"/>
          <a:lstStyle/>
          <a:p>
            <a:pPr indent="0" marL="0">
              <a:buNone/>
            </a:pPr>
            <a:endParaRPr lang="en-US" sz="850" dirty="0"/>
          </a:p>
        </p:txBody>
      </p:sp>
      <p:sp>
        <p:nvSpPr>
          <p:cNvPr id="54" name="Text 51"/>
          <p:cNvSpPr/>
          <p:nvPr/>
        </p:nvSpPr>
        <p:spPr>
          <a:xfrm>
            <a:off x="2441448" y="5138928"/>
            <a:ext cx="2157984" cy="301752"/>
          </a:xfrm>
          <a:prstGeom prst="rect">
            <a:avLst/>
          </a:prstGeom>
          <a:noFill/>
          <a:ln/>
        </p:spPr>
        <p:txBody>
          <a:bodyPr wrap="square" lIns="0" tIns="0" rIns="0" bIns="0" rtlCol="0" anchor="ctr"/>
          <a:lstStyle/>
          <a:p>
            <a:pPr indent="0" marL="0">
              <a:buNone/>
            </a:pPr>
            <a:r>
              <a:rPr lang="en-US" sz="850" b="1" dirty="0">
                <a:solidFill>
                  <a:srgbClr val="8B95A2"/>
                </a:solidFill>
                <a:latin typeface="Nunito Sans" pitchFamily="34" charset="0"/>
                <a:ea typeface="Nunito Sans" pitchFamily="34" charset="-122"/>
                <a:cs typeface="Nunito Sans" pitchFamily="34" charset="-120"/>
              </a:rPr>
              <a:t>Vandana</a:t>
            </a:r>
            <a:endParaRPr lang="en-US" sz="850" dirty="0"/>
          </a:p>
        </p:txBody>
      </p:sp>
      <p:sp>
        <p:nvSpPr>
          <p:cNvPr id="55" name="Text 52"/>
          <p:cNvSpPr/>
          <p:nvPr/>
        </p:nvSpPr>
        <p:spPr>
          <a:xfrm>
            <a:off x="4782312" y="5138928"/>
            <a:ext cx="2157984" cy="301752"/>
          </a:xfrm>
          <a:prstGeom prst="rect">
            <a:avLst/>
          </a:prstGeom>
          <a:noFill/>
          <a:ln/>
        </p:spPr>
        <p:txBody>
          <a:bodyPr wrap="square" lIns="0" tIns="0" rIns="0" bIns="0" rtlCol="0" anchor="ctr"/>
          <a:lstStyle/>
          <a:p>
            <a:pPr indent="0" marL="0">
              <a:buNone/>
            </a:pPr>
            <a:r>
              <a:rPr lang="en-US" sz="850" b="1" dirty="0">
                <a:solidFill>
                  <a:srgbClr val="8B95A2"/>
                </a:solidFill>
                <a:latin typeface="Nunito Sans" pitchFamily="34" charset="0"/>
                <a:ea typeface="Nunito Sans" pitchFamily="34" charset="-122"/>
                <a:cs typeface="Nunito Sans" pitchFamily="34" charset="-120"/>
              </a:rPr>
              <a:t>Meera</a:t>
            </a:r>
            <a:endParaRPr lang="en-US" sz="850" dirty="0"/>
          </a:p>
        </p:txBody>
      </p:sp>
      <p:sp>
        <p:nvSpPr>
          <p:cNvPr id="56" name="Text 53"/>
          <p:cNvSpPr/>
          <p:nvPr/>
        </p:nvSpPr>
        <p:spPr>
          <a:xfrm>
            <a:off x="7123176" y="5138928"/>
            <a:ext cx="2157984" cy="301752"/>
          </a:xfrm>
          <a:prstGeom prst="rect">
            <a:avLst/>
          </a:prstGeom>
          <a:noFill/>
          <a:ln/>
        </p:spPr>
        <p:txBody>
          <a:bodyPr wrap="square" lIns="0" tIns="0" rIns="0" bIns="0" rtlCol="0" anchor="ctr"/>
          <a:lstStyle/>
          <a:p>
            <a:pPr indent="0" marL="0">
              <a:buNone/>
            </a:pPr>
            <a:r>
              <a:rPr lang="en-US" sz="850" b="1" dirty="0">
                <a:solidFill>
                  <a:srgbClr val="8B95A2"/>
                </a:solidFill>
                <a:latin typeface="Nunito Sans" pitchFamily="34" charset="0"/>
                <a:ea typeface="Nunito Sans" pitchFamily="34" charset="-122"/>
                <a:cs typeface="Nunito Sans" pitchFamily="34" charset="-120"/>
              </a:rPr>
              <a:t>Karan</a:t>
            </a:r>
            <a:endParaRPr lang="en-US" sz="850" dirty="0"/>
          </a:p>
        </p:txBody>
      </p:sp>
      <p:sp>
        <p:nvSpPr>
          <p:cNvPr id="57" name="Text 54"/>
          <p:cNvSpPr/>
          <p:nvPr/>
        </p:nvSpPr>
        <p:spPr>
          <a:xfrm>
            <a:off x="9464040" y="5138928"/>
            <a:ext cx="2157984" cy="301752"/>
          </a:xfrm>
          <a:prstGeom prst="rect">
            <a:avLst/>
          </a:prstGeom>
          <a:noFill/>
          <a:ln/>
        </p:spPr>
        <p:txBody>
          <a:bodyPr wrap="square" lIns="0" tIns="0" rIns="0" bIns="0" rtlCol="0" anchor="ctr"/>
          <a:lstStyle/>
          <a:p>
            <a:pPr indent="0" marL="0">
              <a:buNone/>
            </a:pPr>
            <a:r>
              <a:rPr lang="en-US" sz="850" b="1" dirty="0">
                <a:solidFill>
                  <a:srgbClr val="8B95A2"/>
                </a:solidFill>
                <a:latin typeface="Nunito Sans" pitchFamily="34" charset="0"/>
                <a:ea typeface="Nunito Sans" pitchFamily="34" charset="-122"/>
                <a:cs typeface="Nunito Sans" pitchFamily="34" charset="-120"/>
              </a:rPr>
              <a:t>Sanjay</a:t>
            </a:r>
            <a:endParaRPr lang="en-US" sz="850" dirty="0"/>
          </a:p>
        </p:txBody>
      </p:sp>
      <p:sp>
        <p:nvSpPr>
          <p:cNvPr id="58" name="Text 55"/>
          <p:cNvSpPr/>
          <p:nvPr/>
        </p:nvSpPr>
        <p:spPr>
          <a:xfrm>
            <a:off x="612648" y="5440680"/>
            <a:ext cx="1645920" cy="301752"/>
          </a:xfrm>
          <a:prstGeom prst="rect">
            <a:avLst/>
          </a:prstGeom>
          <a:noFill/>
          <a:ln/>
        </p:spPr>
        <p:txBody>
          <a:bodyPr wrap="square" lIns="0" tIns="0" rIns="0" bIns="0" rtlCol="0" anchor="ctr"/>
          <a:lstStyle/>
          <a:p>
            <a:pPr indent="0" marL="0">
              <a:buNone/>
            </a:pPr>
            <a:r>
              <a:rPr lang="en-US" sz="850" b="1" dirty="0">
                <a:solidFill>
                  <a:srgbClr val="8B95A2"/>
                </a:solidFill>
                <a:latin typeface="Nunito Sans" pitchFamily="34" charset="0"/>
                <a:ea typeface="Nunito Sans" pitchFamily="34" charset="-122"/>
                <a:cs typeface="Nunito Sans" pitchFamily="34" charset="-120"/>
              </a:rPr>
              <a:t>Trust lever</a:t>
            </a:r>
            <a:endParaRPr lang="en-US" sz="850" dirty="0"/>
          </a:p>
        </p:txBody>
      </p:sp>
      <p:sp>
        <p:nvSpPr>
          <p:cNvPr id="59" name="Text 56"/>
          <p:cNvSpPr/>
          <p:nvPr/>
        </p:nvSpPr>
        <p:spPr>
          <a:xfrm>
            <a:off x="2441448" y="5440680"/>
            <a:ext cx="2157984" cy="301752"/>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Verified data (QR + lab)</a:t>
            </a:r>
            <a:endParaRPr lang="en-US" sz="850" dirty="0"/>
          </a:p>
        </p:txBody>
      </p:sp>
      <p:sp>
        <p:nvSpPr>
          <p:cNvPr id="60" name="Text 57"/>
          <p:cNvSpPr/>
          <p:nvPr/>
        </p:nvSpPr>
        <p:spPr>
          <a:xfrm>
            <a:off x="4782312" y="5440680"/>
            <a:ext cx="2157984" cy="301752"/>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Human endorsement</a:t>
            </a:r>
            <a:endParaRPr lang="en-US" sz="850" dirty="0"/>
          </a:p>
        </p:txBody>
      </p:sp>
      <p:sp>
        <p:nvSpPr>
          <p:cNvPr id="61" name="Text 58"/>
          <p:cNvSpPr/>
          <p:nvPr/>
        </p:nvSpPr>
        <p:spPr>
          <a:xfrm>
            <a:off x="7123176" y="5440680"/>
            <a:ext cx="2157984" cy="301752"/>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Familiarity, shelf presence</a:t>
            </a:r>
            <a:endParaRPr lang="en-US" sz="850" dirty="0"/>
          </a:p>
        </p:txBody>
      </p:sp>
      <p:sp>
        <p:nvSpPr>
          <p:cNvPr id="62" name="Text 59"/>
          <p:cNvSpPr/>
          <p:nvPr/>
        </p:nvSpPr>
        <p:spPr>
          <a:xfrm>
            <a:off x="9464040" y="5440680"/>
            <a:ext cx="2157984" cy="301752"/>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Radical transparency</a:t>
            </a:r>
            <a:endParaRPr lang="en-US" sz="850" dirty="0"/>
          </a:p>
        </p:txBody>
      </p:sp>
      <p:sp>
        <p:nvSpPr>
          <p:cNvPr id="63" name="Shape 60"/>
          <p:cNvSpPr/>
          <p:nvPr/>
        </p:nvSpPr>
        <p:spPr>
          <a:xfrm>
            <a:off x="502920" y="5742432"/>
            <a:ext cx="11185855" cy="0"/>
          </a:xfrm>
          <a:prstGeom prst="line">
            <a:avLst/>
          </a:prstGeom>
          <a:noFill/>
          <a:ln w="5080">
            <a:solidFill>
              <a:srgbClr val="E5DCCB"/>
            </a:solidFill>
            <a:prstDash val="solid"/>
          </a:ln>
        </p:spPr>
      </p:sp>
      <p:sp>
        <p:nvSpPr>
          <p:cNvPr id="64" name="Text 61"/>
          <p:cNvSpPr/>
          <p:nvPr/>
        </p:nvSpPr>
        <p:spPr>
          <a:xfrm>
            <a:off x="612648" y="5742432"/>
            <a:ext cx="1645920" cy="301752"/>
          </a:xfrm>
          <a:prstGeom prst="rect">
            <a:avLst/>
          </a:prstGeom>
          <a:noFill/>
          <a:ln/>
        </p:spPr>
        <p:txBody>
          <a:bodyPr wrap="square" lIns="0" tIns="0" rIns="0" bIns="0" rtlCol="0" anchor="ctr"/>
          <a:lstStyle/>
          <a:p>
            <a:pPr indent="0" marL="0">
              <a:buNone/>
            </a:pPr>
            <a:r>
              <a:rPr lang="en-US" sz="850" b="1" dirty="0">
                <a:solidFill>
                  <a:srgbClr val="8B95A2"/>
                </a:solidFill>
                <a:latin typeface="Nunito Sans" pitchFamily="34" charset="0"/>
                <a:ea typeface="Nunito Sans" pitchFamily="34" charset="-122"/>
                <a:cs typeface="Nunito Sans" pitchFamily="34" charset="-120"/>
              </a:rPr>
              <a:t>Price perception</a:t>
            </a:r>
            <a:endParaRPr lang="en-US" sz="850" dirty="0"/>
          </a:p>
        </p:txBody>
      </p:sp>
      <p:sp>
        <p:nvSpPr>
          <p:cNvPr id="65" name="Text 62"/>
          <p:cNvSpPr/>
          <p:nvPr/>
        </p:nvSpPr>
        <p:spPr>
          <a:xfrm>
            <a:off x="2441448" y="5742432"/>
            <a:ext cx="2157984" cy="301752"/>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Premium OK, with proof</a:t>
            </a:r>
            <a:endParaRPr lang="en-US" sz="850" dirty="0"/>
          </a:p>
        </p:txBody>
      </p:sp>
      <p:sp>
        <p:nvSpPr>
          <p:cNvPr id="66" name="Text 63"/>
          <p:cNvSpPr/>
          <p:nvPr/>
        </p:nvSpPr>
        <p:spPr>
          <a:xfrm>
            <a:off x="4782312" y="5742432"/>
            <a:ext cx="2157984" cy="301752"/>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Modest premium if endorsed</a:t>
            </a:r>
            <a:endParaRPr lang="en-US" sz="850" dirty="0"/>
          </a:p>
        </p:txBody>
      </p:sp>
      <p:sp>
        <p:nvSpPr>
          <p:cNvPr id="67" name="Text 64"/>
          <p:cNvSpPr/>
          <p:nvPr/>
        </p:nvSpPr>
        <p:spPr>
          <a:xfrm>
            <a:off x="7123176" y="5742432"/>
            <a:ext cx="2157984" cy="301752"/>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Expects price parity</a:t>
            </a:r>
            <a:endParaRPr lang="en-US" sz="850" dirty="0"/>
          </a:p>
        </p:txBody>
      </p:sp>
      <p:sp>
        <p:nvSpPr>
          <p:cNvPr id="68" name="Text 65"/>
          <p:cNvSpPr/>
          <p:nvPr/>
        </p:nvSpPr>
        <p:spPr>
          <a:xfrm>
            <a:off x="9464040" y="5742432"/>
            <a:ext cx="2157984" cy="301752"/>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Suspicious of any premium</a:t>
            </a:r>
            <a:endParaRPr lang="en-US" sz="850" dirty="0"/>
          </a:p>
        </p:txBody>
      </p:sp>
      <p:sp>
        <p:nvSpPr>
          <p:cNvPr id="69" name="Shape 66"/>
          <p:cNvSpPr/>
          <p:nvPr/>
        </p:nvSpPr>
        <p:spPr>
          <a:xfrm>
            <a:off x="502920" y="6044184"/>
            <a:ext cx="11185855" cy="0"/>
          </a:xfrm>
          <a:prstGeom prst="line">
            <a:avLst/>
          </a:prstGeom>
          <a:noFill/>
          <a:ln w="5080">
            <a:solidFill>
              <a:srgbClr val="E5DCCB"/>
            </a:solidFill>
            <a:prstDash val="solid"/>
          </a:ln>
        </p:spPr>
      </p:sp>
      <p:sp>
        <p:nvSpPr>
          <p:cNvPr id="70" name="Text 67"/>
          <p:cNvSpPr/>
          <p:nvPr/>
        </p:nvSpPr>
        <p:spPr>
          <a:xfrm>
            <a:off x="612648" y="6044184"/>
            <a:ext cx="1645920" cy="301752"/>
          </a:xfrm>
          <a:prstGeom prst="rect">
            <a:avLst/>
          </a:prstGeom>
          <a:noFill/>
          <a:ln/>
        </p:spPr>
        <p:txBody>
          <a:bodyPr wrap="square" lIns="0" tIns="0" rIns="0" bIns="0" rtlCol="0" anchor="ctr"/>
          <a:lstStyle/>
          <a:p>
            <a:pPr indent="0" marL="0">
              <a:buNone/>
            </a:pPr>
            <a:r>
              <a:rPr lang="en-US" sz="850" b="1" dirty="0">
                <a:solidFill>
                  <a:srgbClr val="8B95A2"/>
                </a:solidFill>
                <a:latin typeface="Nunito Sans" pitchFamily="34" charset="0"/>
                <a:ea typeface="Nunito Sans" pitchFamily="34" charset="-122"/>
                <a:cs typeface="Nunito Sans" pitchFamily="34" charset="-120"/>
              </a:rPr>
              <a:t>Key to win</a:t>
            </a:r>
            <a:endParaRPr lang="en-US" sz="850" dirty="0"/>
          </a:p>
        </p:txBody>
      </p:sp>
      <p:sp>
        <p:nvSpPr>
          <p:cNvPr id="71" name="Text 68"/>
          <p:cNvSpPr/>
          <p:nvPr/>
        </p:nvSpPr>
        <p:spPr>
          <a:xfrm>
            <a:off x="2441448" y="6044184"/>
            <a:ext cx="2157984" cy="301752"/>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Batch proof + doctor review</a:t>
            </a:r>
            <a:endParaRPr lang="en-US" sz="850" dirty="0"/>
          </a:p>
        </p:txBody>
      </p:sp>
      <p:sp>
        <p:nvSpPr>
          <p:cNvPr id="72" name="Text 69"/>
          <p:cNvSpPr/>
          <p:nvPr/>
        </p:nvSpPr>
        <p:spPr>
          <a:xfrm>
            <a:off x="4782312" y="6044184"/>
            <a:ext cx="2157984" cy="301752"/>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Get her circle to vouch</a:t>
            </a:r>
            <a:endParaRPr lang="en-US" sz="850" dirty="0"/>
          </a:p>
        </p:txBody>
      </p:sp>
      <p:sp>
        <p:nvSpPr>
          <p:cNvPr id="73" name="Text 70"/>
          <p:cNvSpPr/>
          <p:nvPr/>
        </p:nvSpPr>
        <p:spPr>
          <a:xfrm>
            <a:off x="7123176" y="6044184"/>
            <a:ext cx="2157984" cy="301752"/>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Be visible and taste-led</a:t>
            </a:r>
            <a:endParaRPr lang="en-US" sz="850" dirty="0"/>
          </a:p>
        </p:txBody>
      </p:sp>
      <p:sp>
        <p:nvSpPr>
          <p:cNvPr id="74" name="Text 71"/>
          <p:cNvSpPr/>
          <p:nvPr/>
        </p:nvSpPr>
        <p:spPr>
          <a:xfrm>
            <a:off x="9464040" y="6044184"/>
            <a:ext cx="2157984" cy="301752"/>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Show the imperfect parts</a:t>
            </a:r>
            <a:endParaRPr lang="en-US" sz="850" dirty="0"/>
          </a:p>
        </p:txBody>
      </p:sp>
      <p:sp>
        <p:nvSpPr>
          <p:cNvPr id="75" name="Shape 72"/>
          <p:cNvSpPr/>
          <p:nvPr/>
        </p:nvSpPr>
        <p:spPr>
          <a:xfrm>
            <a:off x="502920" y="6345936"/>
            <a:ext cx="11185855" cy="0"/>
          </a:xfrm>
          <a:prstGeom prst="line">
            <a:avLst/>
          </a:prstGeom>
          <a:noFill/>
          <a:ln w="5080">
            <a:solidFill>
              <a:srgbClr val="E5DCCB"/>
            </a:solidFill>
            <a:prstDash val="solid"/>
          </a:ln>
        </p:spPr>
      </p:sp>
      <p:sp>
        <p:nvSpPr>
          <p:cNvPr id="76" name="Shape 73"/>
          <p:cNvSpPr/>
          <p:nvPr/>
        </p:nvSpPr>
        <p:spPr>
          <a:xfrm>
            <a:off x="502920" y="6492240"/>
            <a:ext cx="11185855" cy="0"/>
          </a:xfrm>
          <a:prstGeom prst="line">
            <a:avLst/>
          </a:prstGeom>
          <a:noFill/>
          <a:ln w="9525">
            <a:solidFill>
              <a:srgbClr val="E5DCCB"/>
            </a:solidFill>
            <a:prstDash val="solid"/>
          </a:ln>
        </p:spPr>
      </p:sp>
      <p:sp>
        <p:nvSpPr>
          <p:cNvPr id="77" name="Text 74"/>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BRAND &amp; PROOF</a:t>
            </a:r>
            <a:endParaRPr lang="en-US" sz="800" dirty="0"/>
          </a:p>
        </p:txBody>
      </p:sp>
      <p:sp>
        <p:nvSpPr>
          <p:cNvPr id="78" name="Text 75"/>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18</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1A2B"/>
        </a:solidFill>
      </p:bgPr>
    </p:bg>
    <p:spTree>
      <p:nvGrpSpPr>
        <p:cNvPr id="1" name=""/>
        <p:cNvGrpSpPr/>
        <p:nvPr/>
      </p:nvGrpSpPr>
      <p:grpSpPr>
        <a:xfrm>
          <a:off x="0" y="0"/>
          <a:ext cx="0" cy="0"/>
          <a:chOff x="0" y="0"/>
          <a:chExt cx="0" cy="0"/>
        </a:xfrm>
      </p:grpSpPr>
      <p:pic>
        <p:nvPicPr>
          <p:cNvPr id="2" name="Image 0" descr="/home/user/hopper-tessarakt/site/assets/warehouse.jpg">    </p:cNvPr>
          <p:cNvPicPr>
            <a:picLocks noChangeAspect="1"/>
          </p:cNvPicPr>
          <p:nvPr/>
        </p:nvPicPr>
        <p:blipFill>
          <a:blip r:embed="rId1"/>
          <a:srcRect l="0" r="0" t="0" b="0"/>
          <a:stretch/>
        </p:blipFill>
        <p:spPr>
          <a:xfrm>
            <a:off x="0" y="0"/>
            <a:ext cx="12191695" cy="6858000"/>
          </a:xfrm>
          <a:prstGeom prst="rect">
            <a:avLst/>
          </a:prstGeom>
        </p:spPr>
      </p:pic>
      <p:pic>
        <p:nvPicPr>
          <p:cNvPr id="3" name="Image 1" descr="/home/user/hopper-tessarakt/site/assets/veil-h.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home/user/hopper-tessarakt/site/assets/logo.png">    </p:cNvPr>
          <p:cNvPicPr>
            <a:picLocks noChangeAspect="1"/>
          </p:cNvPicPr>
          <p:nvPr/>
        </p:nvPicPr>
        <p:blipFill>
          <a:blip r:embed="rId3"/>
          <a:stretch>
            <a:fillRect/>
          </a:stretch>
        </p:blipFill>
        <p:spPr>
          <a:xfrm>
            <a:off x="10317175" y="457200"/>
            <a:ext cx="1371600" cy="502920"/>
          </a:xfrm>
          <a:prstGeom prst="rect">
            <a:avLst/>
          </a:prstGeom>
        </p:spPr>
      </p:pic>
      <p:sp>
        <p:nvSpPr>
          <p:cNvPr id="5" name="Shape 0"/>
          <p:cNvSpPr/>
          <p:nvPr/>
        </p:nvSpPr>
        <p:spPr>
          <a:xfrm>
            <a:off x="502920" y="3127248"/>
            <a:ext cx="1263701" cy="274320"/>
          </a:xfrm>
          <a:prstGeom prst="roundRect">
            <a:avLst>
              <a:gd name="adj" fmla="val 23333"/>
            </a:avLst>
          </a:prstGeom>
          <a:solidFill>
            <a:srgbClr val="5FC28C"/>
          </a:solidFill>
          <a:ln w="12700">
            <a:solidFill>
              <a:srgbClr val="333333"/>
            </a:solidFill>
            <a:prstDash val="solid"/>
          </a:ln>
        </p:spPr>
      </p:sp>
      <p:sp>
        <p:nvSpPr>
          <p:cNvPr id="6" name="Text 1"/>
          <p:cNvSpPr/>
          <p:nvPr/>
        </p:nvSpPr>
        <p:spPr>
          <a:xfrm>
            <a:off x="502920" y="3127248"/>
            <a:ext cx="1263701" cy="274320"/>
          </a:xfrm>
          <a:prstGeom prst="rect">
            <a:avLst/>
          </a:prstGeom>
          <a:noFill/>
          <a:ln/>
        </p:spPr>
        <p:txBody>
          <a:bodyPr wrap="square" lIns="0" tIns="0" rIns="0" bIns="0" rtlCol="0" anchor="ctr"/>
          <a:lstStyle/>
          <a:p>
            <a:pPr algn="ctr" indent="0" marL="0">
              <a:buNone/>
            </a:pPr>
            <a:r>
              <a:rPr lang="en-US" sz="900" b="1" spc="160" kern="0" dirty="0">
                <a:solidFill>
                  <a:srgbClr val="0C1A2B"/>
                </a:solidFill>
                <a:latin typeface="Nunito Sans" pitchFamily="34" charset="0"/>
                <a:ea typeface="Nunito Sans" pitchFamily="34" charset="-122"/>
                <a:cs typeface="Nunito Sans" pitchFamily="34" charset="-120"/>
              </a:rPr>
              <a:t>WAREHOUSE</a:t>
            </a:r>
            <a:endParaRPr lang="en-US" sz="900" dirty="0"/>
          </a:p>
        </p:txBody>
      </p:sp>
      <p:sp>
        <p:nvSpPr>
          <p:cNvPr id="7" name="Text 2"/>
          <p:cNvSpPr/>
          <p:nvPr/>
        </p:nvSpPr>
        <p:spPr>
          <a:xfrm>
            <a:off x="502920" y="3547872"/>
            <a:ext cx="9326880" cy="1371600"/>
          </a:xfrm>
          <a:prstGeom prst="rect">
            <a:avLst/>
          </a:prstGeom>
          <a:noFill/>
          <a:ln/>
        </p:spPr>
        <p:txBody>
          <a:bodyPr wrap="square" lIns="0" tIns="0" rIns="0" bIns="0" rtlCol="0" anchor="t"/>
          <a:lstStyle/>
          <a:p>
            <a:pPr indent="0" marL="0">
              <a:lnSpc>
                <a:spcPct val="104000"/>
              </a:lnSpc>
              <a:buNone/>
            </a:pPr>
            <a:r>
              <a:rPr lang="en-US" sz="3600" dirty="0">
                <a:solidFill>
                  <a:srgbClr val="FFFFFF"/>
                </a:solidFill>
                <a:latin typeface="Archivo Black" pitchFamily="34" charset="0"/>
                <a:ea typeface="Archivo Black" pitchFamily="34" charset="-122"/>
                <a:cs typeface="Archivo Black" pitchFamily="34" charset="-120"/>
              </a:rPr>
              <a:t>Laying the Foundation For Growth over the next 5 years</a:t>
            </a:r>
            <a:endParaRPr lang="en-US" sz="3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2070202"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2070202"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INTERNAL DIAGNOSIS</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300" dirty="0">
                <a:solidFill>
                  <a:srgbClr val="0C1A2B"/>
                </a:solidFill>
                <a:latin typeface="Archivo Black" pitchFamily="34" charset="0"/>
                <a:ea typeface="Archivo Black" pitchFamily="34" charset="-122"/>
                <a:cs typeface="Archivo Black" pitchFamily="34" charset="-120"/>
              </a:rPr>
              <a:t>DHFs Strategy says accessible - premium food brand. Portfolio says commodities.</a:t>
            </a:r>
            <a:endParaRPr lang="en-US" sz="2300" dirty="0"/>
          </a:p>
        </p:txBody>
      </p:sp>
      <p:sp>
        <p:nvSpPr>
          <p:cNvPr id="6" name="Shape 3"/>
          <p:cNvSpPr/>
          <p:nvPr/>
        </p:nvSpPr>
        <p:spPr>
          <a:xfrm>
            <a:off x="502920" y="1463040"/>
            <a:ext cx="2618156" cy="0"/>
          </a:xfrm>
          <a:prstGeom prst="line">
            <a:avLst/>
          </a:prstGeom>
          <a:noFill/>
          <a:ln w="25400">
            <a:solidFill>
              <a:srgbClr val="3A5D97"/>
            </a:solidFill>
            <a:prstDash val="solid"/>
          </a:ln>
        </p:spPr>
      </p:sp>
      <p:sp>
        <p:nvSpPr>
          <p:cNvPr id="7" name="Text 4"/>
          <p:cNvSpPr/>
          <p:nvPr/>
        </p:nvSpPr>
        <p:spPr>
          <a:xfrm>
            <a:off x="502920" y="1609344"/>
            <a:ext cx="2618156" cy="430276"/>
          </a:xfrm>
          <a:prstGeom prst="rect">
            <a:avLst/>
          </a:prstGeom>
          <a:noFill/>
          <a:ln/>
        </p:spPr>
        <p:txBody>
          <a:bodyPr wrap="square" lIns="0" tIns="0" rIns="0" bIns="0" rtlCol="0" anchor="t"/>
          <a:lstStyle/>
          <a:p>
            <a:pPr indent="0" marL="0">
              <a:buNone/>
            </a:pPr>
            <a:r>
              <a:rPr lang="en-US" sz="2500" dirty="0">
                <a:solidFill>
                  <a:srgbClr val="3A5D97"/>
                </a:solidFill>
                <a:latin typeface="Archivo Black" pitchFamily="34" charset="0"/>
                <a:ea typeface="Archivo Black" pitchFamily="34" charset="-122"/>
                <a:cs typeface="Archivo Black" pitchFamily="34" charset="-120"/>
              </a:rPr>
              <a:t>₹90.9 Cr</a:t>
            </a:r>
            <a:endParaRPr lang="en-US" sz="2500" dirty="0"/>
          </a:p>
        </p:txBody>
      </p:sp>
      <p:sp>
        <p:nvSpPr>
          <p:cNvPr id="8" name="Text 5"/>
          <p:cNvSpPr/>
          <p:nvPr/>
        </p:nvSpPr>
        <p:spPr>
          <a:xfrm>
            <a:off x="502920" y="2076196"/>
            <a:ext cx="2480996" cy="538988"/>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Cumulative revenue audited across eight half-years; FY26 ≈ ₹53 Cr, up ~30% YoY</a:t>
            </a:r>
            <a:endParaRPr lang="en-US" sz="850" dirty="0"/>
          </a:p>
        </p:txBody>
      </p:sp>
      <p:sp>
        <p:nvSpPr>
          <p:cNvPr id="9" name="Shape 6"/>
          <p:cNvSpPr/>
          <p:nvPr/>
        </p:nvSpPr>
        <p:spPr>
          <a:xfrm>
            <a:off x="3358820" y="1463040"/>
            <a:ext cx="2618156" cy="0"/>
          </a:xfrm>
          <a:prstGeom prst="line">
            <a:avLst/>
          </a:prstGeom>
          <a:noFill/>
          <a:ln w="25400">
            <a:solidFill>
              <a:srgbClr val="177A46"/>
            </a:solidFill>
            <a:prstDash val="solid"/>
          </a:ln>
        </p:spPr>
      </p:sp>
      <p:sp>
        <p:nvSpPr>
          <p:cNvPr id="10" name="Text 7"/>
          <p:cNvSpPr/>
          <p:nvPr/>
        </p:nvSpPr>
        <p:spPr>
          <a:xfrm>
            <a:off x="3358820" y="1609344"/>
            <a:ext cx="2618156" cy="430276"/>
          </a:xfrm>
          <a:prstGeom prst="rect">
            <a:avLst/>
          </a:prstGeom>
          <a:noFill/>
          <a:ln/>
        </p:spPr>
        <p:txBody>
          <a:bodyPr wrap="square" lIns="0" tIns="0" rIns="0" bIns="0" rtlCol="0" anchor="t"/>
          <a:lstStyle/>
          <a:p>
            <a:pPr indent="0" marL="0">
              <a:buNone/>
            </a:pPr>
            <a:r>
              <a:rPr lang="en-US" sz="2500" dirty="0">
                <a:solidFill>
                  <a:srgbClr val="177A46"/>
                </a:solidFill>
                <a:latin typeface="Archivo Black" pitchFamily="34" charset="0"/>
                <a:ea typeface="Archivo Black" pitchFamily="34" charset="-122"/>
                <a:cs typeface="Archivo Black" pitchFamily="34" charset="-120"/>
              </a:rPr>
              <a:t>+219%</a:t>
            </a:r>
            <a:endParaRPr lang="en-US" sz="2500" dirty="0"/>
          </a:p>
        </p:txBody>
      </p:sp>
      <p:sp>
        <p:nvSpPr>
          <p:cNvPr id="11" name="Text 8"/>
          <p:cNvSpPr/>
          <p:nvPr/>
        </p:nvSpPr>
        <p:spPr>
          <a:xfrm>
            <a:off x="3358820" y="2076196"/>
            <a:ext cx="2480996" cy="538988"/>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Growth of the value-added block (makhana, jaggery, honey) = 29% of revenue, the real engine</a:t>
            </a:r>
            <a:endParaRPr lang="en-US" sz="850" dirty="0"/>
          </a:p>
        </p:txBody>
      </p:sp>
      <p:sp>
        <p:nvSpPr>
          <p:cNvPr id="12" name="Shape 9"/>
          <p:cNvSpPr/>
          <p:nvPr/>
        </p:nvSpPr>
        <p:spPr>
          <a:xfrm>
            <a:off x="6214720" y="1463040"/>
            <a:ext cx="2618156" cy="0"/>
          </a:xfrm>
          <a:prstGeom prst="line">
            <a:avLst/>
          </a:prstGeom>
          <a:noFill/>
          <a:ln w="25400">
            <a:solidFill>
              <a:srgbClr val="9E3A24"/>
            </a:solidFill>
            <a:prstDash val="solid"/>
          </a:ln>
        </p:spPr>
      </p:sp>
      <p:sp>
        <p:nvSpPr>
          <p:cNvPr id="13" name="Text 10"/>
          <p:cNvSpPr/>
          <p:nvPr/>
        </p:nvSpPr>
        <p:spPr>
          <a:xfrm>
            <a:off x="6214720" y="1609344"/>
            <a:ext cx="2618156" cy="430276"/>
          </a:xfrm>
          <a:prstGeom prst="rect">
            <a:avLst/>
          </a:prstGeom>
          <a:noFill/>
          <a:ln/>
        </p:spPr>
        <p:txBody>
          <a:bodyPr wrap="square" lIns="0" tIns="0" rIns="0" bIns="0" rtlCol="0" anchor="t"/>
          <a:lstStyle/>
          <a:p>
            <a:pPr indent="0" marL="0">
              <a:buNone/>
            </a:pPr>
            <a:r>
              <a:rPr lang="en-US" sz="2500" dirty="0">
                <a:solidFill>
                  <a:srgbClr val="9E3A24"/>
                </a:solidFill>
                <a:latin typeface="Archivo Black" pitchFamily="34" charset="0"/>
                <a:ea typeface="Archivo Black" pitchFamily="34" charset="-122"/>
                <a:cs typeface="Archivo Black" pitchFamily="34" charset="-120"/>
              </a:rPr>
              <a:t>24%</a:t>
            </a:r>
            <a:endParaRPr lang="en-US" sz="2500" dirty="0"/>
          </a:p>
        </p:txBody>
      </p:sp>
      <p:sp>
        <p:nvSpPr>
          <p:cNvPr id="14" name="Text 11"/>
          <p:cNvSpPr/>
          <p:nvPr/>
        </p:nvSpPr>
        <p:spPr>
          <a:xfrm>
            <a:off x="6214720" y="2076196"/>
            <a:ext cx="2480996" cy="538988"/>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Of revenue from a single account, Zepto — and one rupee in four is at platform mercy</a:t>
            </a:r>
            <a:endParaRPr lang="en-US" sz="850" dirty="0"/>
          </a:p>
        </p:txBody>
      </p:sp>
      <p:sp>
        <p:nvSpPr>
          <p:cNvPr id="15" name="Shape 12"/>
          <p:cNvSpPr/>
          <p:nvPr/>
        </p:nvSpPr>
        <p:spPr>
          <a:xfrm>
            <a:off x="9070619" y="1463040"/>
            <a:ext cx="2618156" cy="0"/>
          </a:xfrm>
          <a:prstGeom prst="line">
            <a:avLst/>
          </a:prstGeom>
          <a:noFill/>
          <a:ln w="25400">
            <a:solidFill>
              <a:srgbClr val="9E3A24"/>
            </a:solidFill>
            <a:prstDash val="solid"/>
          </a:ln>
        </p:spPr>
      </p:sp>
      <p:sp>
        <p:nvSpPr>
          <p:cNvPr id="16" name="Text 13"/>
          <p:cNvSpPr/>
          <p:nvPr/>
        </p:nvSpPr>
        <p:spPr>
          <a:xfrm>
            <a:off x="9070619" y="1609344"/>
            <a:ext cx="2618156" cy="430276"/>
          </a:xfrm>
          <a:prstGeom prst="rect">
            <a:avLst/>
          </a:prstGeom>
          <a:noFill/>
          <a:ln/>
        </p:spPr>
        <p:txBody>
          <a:bodyPr wrap="square" lIns="0" tIns="0" rIns="0" bIns="0" rtlCol="0" anchor="t"/>
          <a:lstStyle/>
          <a:p>
            <a:pPr indent="0" marL="0">
              <a:buNone/>
            </a:pPr>
            <a:r>
              <a:rPr lang="en-US" sz="2500" dirty="0">
                <a:solidFill>
                  <a:srgbClr val="9E3A24"/>
                </a:solidFill>
                <a:latin typeface="Archivo Black" pitchFamily="34" charset="0"/>
                <a:ea typeface="Archivo Black" pitchFamily="34" charset="-122"/>
                <a:cs typeface="Archivo Black" pitchFamily="34" charset="-120"/>
              </a:rPr>
              <a:t>~33%</a:t>
            </a:r>
            <a:endParaRPr lang="en-US" sz="2500" dirty="0"/>
          </a:p>
        </p:txBody>
      </p:sp>
      <p:sp>
        <p:nvSpPr>
          <p:cNvPr id="17" name="Text 14"/>
          <p:cNvSpPr/>
          <p:nvPr/>
        </p:nvSpPr>
        <p:spPr>
          <a:xfrm>
            <a:off x="9070619" y="2076196"/>
            <a:ext cx="2480996" cy="538988"/>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Of revenue (≈₹30 Cr) has no channel attribution at all</a:t>
            </a:r>
            <a:endParaRPr lang="en-US" sz="850" dirty="0"/>
          </a:p>
        </p:txBody>
      </p:sp>
      <p:sp>
        <p:nvSpPr>
          <p:cNvPr id="18" name="Shape 15"/>
          <p:cNvSpPr/>
          <p:nvPr/>
        </p:nvSpPr>
        <p:spPr>
          <a:xfrm>
            <a:off x="502920" y="2834640"/>
            <a:ext cx="6035040" cy="0"/>
          </a:xfrm>
          <a:prstGeom prst="line">
            <a:avLst/>
          </a:prstGeom>
          <a:noFill/>
          <a:ln w="12700">
            <a:solidFill>
              <a:srgbClr val="3A5D97"/>
            </a:solidFill>
            <a:prstDash val="solid"/>
          </a:ln>
        </p:spPr>
      </p:sp>
      <p:sp>
        <p:nvSpPr>
          <p:cNvPr id="19" name="Text 16"/>
          <p:cNvSpPr/>
          <p:nvPr/>
        </p:nvSpPr>
        <p:spPr>
          <a:xfrm>
            <a:off x="502920" y="2880360"/>
            <a:ext cx="6035040"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PORTFOLIO MIX VS PORTFOLIO GROWTH  (CUMULATIVE ₹ CR, GROWTH %)</a:t>
            </a:r>
            <a:endParaRPr lang="en-US" sz="900" dirty="0"/>
          </a:p>
        </p:txBody>
      </p:sp>
      <p:sp>
        <p:nvSpPr>
          <p:cNvPr id="20" name="Shape 17"/>
          <p:cNvSpPr/>
          <p:nvPr/>
        </p:nvSpPr>
        <p:spPr>
          <a:xfrm>
            <a:off x="502920" y="3127248"/>
            <a:ext cx="6035040" cy="2487168"/>
          </a:xfrm>
          <a:prstGeom prst="roundRect">
            <a:avLst>
              <a:gd name="adj" fmla="val 3676"/>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21" name="Text 18"/>
          <p:cNvSpPr/>
          <p:nvPr/>
        </p:nvSpPr>
        <p:spPr>
          <a:xfrm>
            <a:off x="777240" y="3328416"/>
            <a:ext cx="374904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Pulses  ·  56% of revenue</a:t>
            </a:r>
            <a:endParaRPr lang="en-US" sz="950" dirty="0"/>
          </a:p>
        </p:txBody>
      </p:sp>
      <p:sp>
        <p:nvSpPr>
          <p:cNvPr id="22" name="Text 19"/>
          <p:cNvSpPr/>
          <p:nvPr/>
        </p:nvSpPr>
        <p:spPr>
          <a:xfrm>
            <a:off x="4526280" y="3328416"/>
            <a:ext cx="1737360" cy="201168"/>
          </a:xfrm>
          <a:prstGeom prst="rect">
            <a:avLst/>
          </a:prstGeom>
          <a:noFill/>
          <a:ln/>
        </p:spPr>
        <p:txBody>
          <a:bodyPr wrap="square" lIns="0" tIns="0" rIns="0" bIns="0" rtlCol="0" anchor="ctr"/>
          <a:lstStyle/>
          <a:p>
            <a:pPr algn="r" indent="0" marL="0">
              <a:buNone/>
            </a:pPr>
            <a:r>
              <a:rPr lang="en-US" sz="1000" b="1" dirty="0">
                <a:solidFill>
                  <a:srgbClr val="3A5D97"/>
                </a:solidFill>
                <a:latin typeface="Nunito Sans" pitchFamily="34" charset="0"/>
                <a:ea typeface="Nunito Sans" pitchFamily="34" charset="-122"/>
                <a:cs typeface="Nunito Sans" pitchFamily="34" charset="-120"/>
              </a:rPr>
              <a:t>₹50.4 Cr · +113%</a:t>
            </a:r>
            <a:endParaRPr lang="en-US" sz="1000" dirty="0"/>
          </a:p>
        </p:txBody>
      </p:sp>
      <p:sp>
        <p:nvSpPr>
          <p:cNvPr id="23" name="Shape 20"/>
          <p:cNvSpPr/>
          <p:nvPr/>
        </p:nvSpPr>
        <p:spPr>
          <a:xfrm>
            <a:off x="777240" y="3547872"/>
            <a:ext cx="5486400" cy="146304"/>
          </a:xfrm>
          <a:prstGeom prst="roundRect">
            <a:avLst>
              <a:gd name="adj" fmla="val 50000"/>
            </a:avLst>
          </a:prstGeom>
          <a:solidFill>
            <a:srgbClr val="EDE4D4"/>
          </a:solidFill>
          <a:ln w="12700">
            <a:solidFill>
              <a:srgbClr val="333333"/>
            </a:solidFill>
            <a:prstDash val="solid"/>
          </a:ln>
        </p:spPr>
      </p:sp>
      <p:sp>
        <p:nvSpPr>
          <p:cNvPr id="24" name="Shape 21"/>
          <p:cNvSpPr/>
          <p:nvPr/>
        </p:nvSpPr>
        <p:spPr>
          <a:xfrm>
            <a:off x="777240" y="3547872"/>
            <a:ext cx="4937760" cy="146304"/>
          </a:xfrm>
          <a:prstGeom prst="roundRect">
            <a:avLst>
              <a:gd name="adj" fmla="val 50000"/>
            </a:avLst>
          </a:prstGeom>
          <a:solidFill>
            <a:srgbClr val="3A5D97"/>
          </a:solidFill>
          <a:ln w="12700">
            <a:solidFill>
              <a:srgbClr val="333333"/>
            </a:solidFill>
            <a:prstDash val="solid"/>
          </a:ln>
        </p:spPr>
      </p:sp>
      <p:sp>
        <p:nvSpPr>
          <p:cNvPr id="25" name="Text 22"/>
          <p:cNvSpPr/>
          <p:nvPr/>
        </p:nvSpPr>
        <p:spPr>
          <a:xfrm>
            <a:off x="777240" y="3858768"/>
            <a:ext cx="374904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Value-Added  ·  29%</a:t>
            </a:r>
            <a:endParaRPr lang="en-US" sz="950" dirty="0"/>
          </a:p>
        </p:txBody>
      </p:sp>
      <p:sp>
        <p:nvSpPr>
          <p:cNvPr id="26" name="Text 23"/>
          <p:cNvSpPr/>
          <p:nvPr/>
        </p:nvSpPr>
        <p:spPr>
          <a:xfrm>
            <a:off x="4526280" y="3858768"/>
            <a:ext cx="1737360" cy="201168"/>
          </a:xfrm>
          <a:prstGeom prst="rect">
            <a:avLst/>
          </a:prstGeom>
          <a:noFill/>
          <a:ln/>
        </p:spPr>
        <p:txBody>
          <a:bodyPr wrap="square" lIns="0" tIns="0" rIns="0" bIns="0" rtlCol="0" anchor="ctr"/>
          <a:lstStyle/>
          <a:p>
            <a:pPr algn="r" indent="0" marL="0">
              <a:buNone/>
            </a:pPr>
            <a:r>
              <a:rPr lang="en-US" sz="1000" b="1" dirty="0">
                <a:solidFill>
                  <a:srgbClr val="177A46"/>
                </a:solidFill>
                <a:latin typeface="Nunito Sans" pitchFamily="34" charset="0"/>
                <a:ea typeface="Nunito Sans" pitchFamily="34" charset="-122"/>
                <a:cs typeface="Nunito Sans" pitchFamily="34" charset="-120"/>
              </a:rPr>
              <a:t>₹26.0 Cr · +219%</a:t>
            </a:r>
            <a:endParaRPr lang="en-US" sz="1000" dirty="0"/>
          </a:p>
        </p:txBody>
      </p:sp>
      <p:sp>
        <p:nvSpPr>
          <p:cNvPr id="27" name="Shape 24"/>
          <p:cNvSpPr/>
          <p:nvPr/>
        </p:nvSpPr>
        <p:spPr>
          <a:xfrm>
            <a:off x="777240" y="4078224"/>
            <a:ext cx="5486400" cy="146304"/>
          </a:xfrm>
          <a:prstGeom prst="roundRect">
            <a:avLst>
              <a:gd name="adj" fmla="val 50000"/>
            </a:avLst>
          </a:prstGeom>
          <a:solidFill>
            <a:srgbClr val="EDE4D4"/>
          </a:solidFill>
          <a:ln w="12700">
            <a:solidFill>
              <a:srgbClr val="333333"/>
            </a:solidFill>
            <a:prstDash val="solid"/>
          </a:ln>
        </p:spPr>
      </p:sp>
      <p:sp>
        <p:nvSpPr>
          <p:cNvPr id="28" name="Shape 25"/>
          <p:cNvSpPr/>
          <p:nvPr/>
        </p:nvSpPr>
        <p:spPr>
          <a:xfrm>
            <a:off x="777240" y="4078224"/>
            <a:ext cx="2547257" cy="146304"/>
          </a:xfrm>
          <a:prstGeom prst="roundRect">
            <a:avLst>
              <a:gd name="adj" fmla="val 50000"/>
            </a:avLst>
          </a:prstGeom>
          <a:solidFill>
            <a:srgbClr val="177A46"/>
          </a:solidFill>
          <a:ln w="12700">
            <a:solidFill>
              <a:srgbClr val="333333"/>
            </a:solidFill>
            <a:prstDash val="solid"/>
          </a:ln>
        </p:spPr>
      </p:sp>
      <p:sp>
        <p:nvSpPr>
          <p:cNvPr id="29" name="Text 26"/>
          <p:cNvSpPr/>
          <p:nvPr/>
        </p:nvSpPr>
        <p:spPr>
          <a:xfrm>
            <a:off x="777240" y="4389120"/>
            <a:ext cx="374904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Spices  ·  12%</a:t>
            </a:r>
            <a:endParaRPr lang="en-US" sz="950" dirty="0"/>
          </a:p>
        </p:txBody>
      </p:sp>
      <p:sp>
        <p:nvSpPr>
          <p:cNvPr id="30" name="Text 27"/>
          <p:cNvSpPr/>
          <p:nvPr/>
        </p:nvSpPr>
        <p:spPr>
          <a:xfrm>
            <a:off x="4526280" y="4389120"/>
            <a:ext cx="1737360" cy="201168"/>
          </a:xfrm>
          <a:prstGeom prst="rect">
            <a:avLst/>
          </a:prstGeom>
          <a:noFill/>
          <a:ln/>
        </p:spPr>
        <p:txBody>
          <a:bodyPr wrap="square" lIns="0" tIns="0" rIns="0" bIns="0" rtlCol="0" anchor="ctr"/>
          <a:lstStyle/>
          <a:p>
            <a:pPr algn="r" indent="0" marL="0">
              <a:buNone/>
            </a:pPr>
            <a:r>
              <a:rPr lang="en-US" sz="1000" b="1" dirty="0">
                <a:solidFill>
                  <a:srgbClr val="C8922E"/>
                </a:solidFill>
                <a:latin typeface="Nunito Sans" pitchFamily="34" charset="0"/>
                <a:ea typeface="Nunito Sans" pitchFamily="34" charset="-122"/>
                <a:cs typeface="Nunito Sans" pitchFamily="34" charset="-120"/>
              </a:rPr>
              <a:t>₹10.9 Cr · +185%</a:t>
            </a:r>
            <a:endParaRPr lang="en-US" sz="1000" dirty="0"/>
          </a:p>
        </p:txBody>
      </p:sp>
      <p:sp>
        <p:nvSpPr>
          <p:cNvPr id="31" name="Shape 28"/>
          <p:cNvSpPr/>
          <p:nvPr/>
        </p:nvSpPr>
        <p:spPr>
          <a:xfrm>
            <a:off x="777240" y="4608576"/>
            <a:ext cx="5486400" cy="146304"/>
          </a:xfrm>
          <a:prstGeom prst="roundRect">
            <a:avLst>
              <a:gd name="adj" fmla="val 50000"/>
            </a:avLst>
          </a:prstGeom>
          <a:solidFill>
            <a:srgbClr val="EDE4D4"/>
          </a:solidFill>
          <a:ln w="12700">
            <a:solidFill>
              <a:srgbClr val="333333"/>
            </a:solidFill>
            <a:prstDash val="solid"/>
          </a:ln>
        </p:spPr>
      </p:sp>
      <p:sp>
        <p:nvSpPr>
          <p:cNvPr id="32" name="Shape 29"/>
          <p:cNvSpPr/>
          <p:nvPr/>
        </p:nvSpPr>
        <p:spPr>
          <a:xfrm>
            <a:off x="777240" y="4608576"/>
            <a:ext cx="1067889" cy="146304"/>
          </a:xfrm>
          <a:prstGeom prst="roundRect">
            <a:avLst>
              <a:gd name="adj" fmla="val 50000"/>
            </a:avLst>
          </a:prstGeom>
          <a:solidFill>
            <a:srgbClr val="C8922E"/>
          </a:solidFill>
          <a:ln w="12700">
            <a:solidFill>
              <a:srgbClr val="333333"/>
            </a:solidFill>
            <a:prstDash val="solid"/>
          </a:ln>
        </p:spPr>
      </p:sp>
      <p:sp>
        <p:nvSpPr>
          <p:cNvPr id="33" name="Text 30"/>
          <p:cNvSpPr/>
          <p:nvPr/>
        </p:nvSpPr>
        <p:spPr>
          <a:xfrm>
            <a:off x="777240" y="4919472"/>
            <a:ext cx="374904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Oil &amp; Ghee  ·  1%</a:t>
            </a:r>
            <a:endParaRPr lang="en-US" sz="950" dirty="0"/>
          </a:p>
        </p:txBody>
      </p:sp>
      <p:sp>
        <p:nvSpPr>
          <p:cNvPr id="34" name="Text 31"/>
          <p:cNvSpPr/>
          <p:nvPr/>
        </p:nvSpPr>
        <p:spPr>
          <a:xfrm>
            <a:off x="4526280" y="4919472"/>
            <a:ext cx="1737360" cy="201168"/>
          </a:xfrm>
          <a:prstGeom prst="rect">
            <a:avLst/>
          </a:prstGeom>
          <a:noFill/>
          <a:ln/>
        </p:spPr>
        <p:txBody>
          <a:bodyPr wrap="square" lIns="0" tIns="0" rIns="0" bIns="0" rtlCol="0" anchor="ctr"/>
          <a:lstStyle/>
          <a:p>
            <a:pPr algn="r" indent="0" marL="0">
              <a:buNone/>
            </a:pPr>
            <a:r>
              <a:rPr lang="en-US" sz="1000" b="1" dirty="0">
                <a:solidFill>
                  <a:srgbClr val="B5AD9C"/>
                </a:solidFill>
                <a:latin typeface="Nunito Sans" pitchFamily="34" charset="0"/>
                <a:ea typeface="Nunito Sans" pitchFamily="34" charset="-122"/>
                <a:cs typeface="Nunito Sans" pitchFamily="34" charset="-120"/>
              </a:rPr>
              <a:t>₹0.8 Cr · NPD</a:t>
            </a:r>
            <a:endParaRPr lang="en-US" sz="1000" dirty="0"/>
          </a:p>
        </p:txBody>
      </p:sp>
      <p:sp>
        <p:nvSpPr>
          <p:cNvPr id="35" name="Shape 32"/>
          <p:cNvSpPr/>
          <p:nvPr/>
        </p:nvSpPr>
        <p:spPr>
          <a:xfrm>
            <a:off x="777240" y="5138928"/>
            <a:ext cx="5486400" cy="146304"/>
          </a:xfrm>
          <a:prstGeom prst="roundRect">
            <a:avLst>
              <a:gd name="adj" fmla="val 50000"/>
            </a:avLst>
          </a:prstGeom>
          <a:solidFill>
            <a:srgbClr val="EDE4D4"/>
          </a:solidFill>
          <a:ln w="12700">
            <a:solidFill>
              <a:srgbClr val="333333"/>
            </a:solidFill>
            <a:prstDash val="solid"/>
          </a:ln>
        </p:spPr>
      </p:sp>
      <p:sp>
        <p:nvSpPr>
          <p:cNvPr id="36" name="Shape 33"/>
          <p:cNvSpPr/>
          <p:nvPr/>
        </p:nvSpPr>
        <p:spPr>
          <a:xfrm>
            <a:off x="777240" y="5138928"/>
            <a:ext cx="78377" cy="146304"/>
          </a:xfrm>
          <a:prstGeom prst="roundRect">
            <a:avLst>
              <a:gd name="adj" fmla="val 93334"/>
            </a:avLst>
          </a:prstGeom>
          <a:solidFill>
            <a:srgbClr val="B5AD9C"/>
          </a:solidFill>
          <a:ln w="12700">
            <a:solidFill>
              <a:srgbClr val="333333"/>
            </a:solidFill>
            <a:prstDash val="solid"/>
          </a:ln>
        </p:spPr>
      </p:sp>
      <p:sp>
        <p:nvSpPr>
          <p:cNvPr id="37" name="Shape 34"/>
          <p:cNvSpPr/>
          <p:nvPr/>
        </p:nvSpPr>
        <p:spPr>
          <a:xfrm>
            <a:off x="6812280" y="2834640"/>
            <a:ext cx="4876495" cy="0"/>
          </a:xfrm>
          <a:prstGeom prst="line">
            <a:avLst/>
          </a:prstGeom>
          <a:noFill/>
          <a:ln w="12700">
            <a:solidFill>
              <a:srgbClr val="3A5D97"/>
            </a:solidFill>
            <a:prstDash val="solid"/>
          </a:ln>
        </p:spPr>
      </p:sp>
      <p:sp>
        <p:nvSpPr>
          <p:cNvPr id="38" name="Text 35"/>
          <p:cNvSpPr/>
          <p:nvPr/>
        </p:nvSpPr>
        <p:spPr>
          <a:xfrm>
            <a:off x="6812280" y="2880360"/>
            <a:ext cx="4876495"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THREE TENSION POINTS THAT DECIDE THE STRATEGY</a:t>
            </a:r>
            <a:endParaRPr lang="en-US" sz="900" dirty="0"/>
          </a:p>
        </p:txBody>
      </p:sp>
      <p:sp>
        <p:nvSpPr>
          <p:cNvPr id="39" name="Shape 36"/>
          <p:cNvSpPr/>
          <p:nvPr/>
        </p:nvSpPr>
        <p:spPr>
          <a:xfrm>
            <a:off x="6812280" y="3127248"/>
            <a:ext cx="4876495" cy="768096"/>
          </a:xfrm>
          <a:prstGeom prst="roundRect">
            <a:avLst>
              <a:gd name="adj" fmla="val 5952"/>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40" name="Shape 37"/>
          <p:cNvSpPr/>
          <p:nvPr/>
        </p:nvSpPr>
        <p:spPr>
          <a:xfrm>
            <a:off x="6812280" y="3127248"/>
            <a:ext cx="41148" cy="768096"/>
          </a:xfrm>
          <a:prstGeom prst="rect">
            <a:avLst/>
          </a:prstGeom>
          <a:solidFill>
            <a:srgbClr val="9E3A24"/>
          </a:solidFill>
          <a:ln w="5080">
            <a:solidFill>
              <a:srgbClr val="9E3A24"/>
            </a:solidFill>
            <a:prstDash val="solid"/>
          </a:ln>
        </p:spPr>
      </p:sp>
      <p:sp>
        <p:nvSpPr>
          <p:cNvPr id="41" name="Text 38"/>
          <p:cNvSpPr/>
          <p:nvPr/>
        </p:nvSpPr>
        <p:spPr>
          <a:xfrm>
            <a:off x="6995160" y="3200400"/>
            <a:ext cx="4510735" cy="329184"/>
          </a:xfrm>
          <a:prstGeom prst="rect">
            <a:avLst/>
          </a:prstGeom>
          <a:noFill/>
          <a:ln/>
        </p:spPr>
        <p:txBody>
          <a:bodyPr wrap="square" lIns="0" tIns="0" rIns="0" bIns="0" rtlCol="0" anchor="t"/>
          <a:lstStyle/>
          <a:p>
            <a:pPr indent="0" marL="0">
              <a:lnSpc>
                <a:spcPct val="102000"/>
              </a:lnSpc>
              <a:buNone/>
            </a:pPr>
            <a:r>
              <a:rPr lang="en-US" sz="950" b="1" dirty="0">
                <a:solidFill>
                  <a:srgbClr val="0C1A2B"/>
                </a:solidFill>
                <a:latin typeface="Nunito Sans" pitchFamily="34" charset="0"/>
                <a:ea typeface="Nunito Sans" pitchFamily="34" charset="-122"/>
                <a:cs typeface="Nunito Sans" pitchFamily="34" charset="-120"/>
              </a:rPr>
              <a:t>01   Revenue is anchored in the slowest-growing, lowest-margin block.</a:t>
            </a:r>
            <a:endParaRPr lang="en-US" sz="950" dirty="0"/>
          </a:p>
        </p:txBody>
      </p:sp>
      <p:sp>
        <p:nvSpPr>
          <p:cNvPr id="42" name="Text 39"/>
          <p:cNvSpPr/>
          <p:nvPr/>
        </p:nvSpPr>
        <p:spPr>
          <a:xfrm>
            <a:off x="6995160" y="3547872"/>
            <a:ext cx="4510735" cy="310896"/>
          </a:xfrm>
          <a:prstGeom prst="rect">
            <a:avLst/>
          </a:prstGeom>
          <a:noFill/>
          <a:ln/>
        </p:spPr>
        <p:txBody>
          <a:bodyPr wrap="square" lIns="0" tIns="0" rIns="0" bIns="0" rtlCol="0" anchor="t"/>
          <a:lstStyle/>
          <a:p>
            <a:pPr indent="0" marL="0">
              <a:lnSpc>
                <a:spcPct val="106000"/>
              </a:lnSpc>
              <a:buNone/>
            </a:pPr>
            <a:r>
              <a:rPr lang="en-US" sz="850" dirty="0">
                <a:solidFill>
                  <a:srgbClr val="54606F"/>
                </a:solidFill>
                <a:latin typeface="Nunito Sans" pitchFamily="34" charset="0"/>
                <a:ea typeface="Nunito Sans" pitchFamily="34" charset="-122"/>
                <a:cs typeface="Nunito Sans" pitchFamily="34" charset="-120"/>
              </a:rPr>
              <a:t>Pulses are 56% of revenue and grow below the portfolio average.</a:t>
            </a:r>
            <a:endParaRPr lang="en-US" sz="850" dirty="0"/>
          </a:p>
        </p:txBody>
      </p:sp>
      <p:sp>
        <p:nvSpPr>
          <p:cNvPr id="43" name="Shape 40"/>
          <p:cNvSpPr/>
          <p:nvPr/>
        </p:nvSpPr>
        <p:spPr>
          <a:xfrm>
            <a:off x="6812280" y="3986784"/>
            <a:ext cx="4876495" cy="768096"/>
          </a:xfrm>
          <a:prstGeom prst="roundRect">
            <a:avLst>
              <a:gd name="adj" fmla="val 5952"/>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44" name="Shape 41"/>
          <p:cNvSpPr/>
          <p:nvPr/>
        </p:nvSpPr>
        <p:spPr>
          <a:xfrm>
            <a:off x="6812280" y="3986784"/>
            <a:ext cx="41148" cy="768096"/>
          </a:xfrm>
          <a:prstGeom prst="rect">
            <a:avLst/>
          </a:prstGeom>
          <a:solidFill>
            <a:srgbClr val="9E3A24"/>
          </a:solidFill>
          <a:ln w="5080">
            <a:solidFill>
              <a:srgbClr val="9E3A24"/>
            </a:solidFill>
            <a:prstDash val="solid"/>
          </a:ln>
        </p:spPr>
      </p:sp>
      <p:sp>
        <p:nvSpPr>
          <p:cNvPr id="45" name="Text 42"/>
          <p:cNvSpPr/>
          <p:nvPr/>
        </p:nvSpPr>
        <p:spPr>
          <a:xfrm>
            <a:off x="6995160" y="4059936"/>
            <a:ext cx="4510735" cy="329184"/>
          </a:xfrm>
          <a:prstGeom prst="rect">
            <a:avLst/>
          </a:prstGeom>
          <a:noFill/>
          <a:ln/>
        </p:spPr>
        <p:txBody>
          <a:bodyPr wrap="square" lIns="0" tIns="0" rIns="0" bIns="0" rtlCol="0" anchor="t"/>
          <a:lstStyle/>
          <a:p>
            <a:pPr indent="0" marL="0">
              <a:lnSpc>
                <a:spcPct val="102000"/>
              </a:lnSpc>
              <a:buNone/>
            </a:pPr>
            <a:r>
              <a:rPr lang="en-US" sz="950" b="1" dirty="0">
                <a:solidFill>
                  <a:srgbClr val="0C1A2B"/>
                </a:solidFill>
                <a:latin typeface="Nunito Sans" pitchFamily="34" charset="0"/>
                <a:ea typeface="Nunito Sans" pitchFamily="34" charset="-122"/>
                <a:cs typeface="Nunito Sans" pitchFamily="34" charset="-120"/>
              </a:rPr>
              <a:t>02   Realization is falling while volume rises.</a:t>
            </a:r>
            <a:endParaRPr lang="en-US" sz="950" dirty="0"/>
          </a:p>
        </p:txBody>
      </p:sp>
      <p:sp>
        <p:nvSpPr>
          <p:cNvPr id="46" name="Text 43"/>
          <p:cNvSpPr/>
          <p:nvPr/>
        </p:nvSpPr>
        <p:spPr>
          <a:xfrm>
            <a:off x="6995160" y="4407408"/>
            <a:ext cx="4510735" cy="310896"/>
          </a:xfrm>
          <a:prstGeom prst="rect">
            <a:avLst/>
          </a:prstGeom>
          <a:noFill/>
          <a:ln/>
        </p:spPr>
        <p:txBody>
          <a:bodyPr wrap="square" lIns="0" tIns="0" rIns="0" bIns="0" rtlCol="0" anchor="t"/>
          <a:lstStyle/>
          <a:p>
            <a:pPr indent="0" marL="0">
              <a:lnSpc>
                <a:spcPct val="106000"/>
              </a:lnSpc>
              <a:buNone/>
            </a:pPr>
            <a:r>
              <a:rPr lang="en-US" sz="850" dirty="0">
                <a:solidFill>
                  <a:srgbClr val="54606F"/>
                </a:solidFill>
                <a:latin typeface="Nunito Sans" pitchFamily="34" charset="0"/>
                <a:ea typeface="Nunito Sans" pitchFamily="34" charset="-122"/>
                <a:cs typeface="Nunito Sans" pitchFamily="34" charset="-120"/>
              </a:rPr>
              <a:t>Revenue per MT fell 4.3% in FY26-H2; a margin warning masked by tonnage.</a:t>
            </a:r>
            <a:endParaRPr lang="en-US" sz="850" dirty="0"/>
          </a:p>
        </p:txBody>
      </p:sp>
      <p:sp>
        <p:nvSpPr>
          <p:cNvPr id="47" name="Shape 44"/>
          <p:cNvSpPr/>
          <p:nvPr/>
        </p:nvSpPr>
        <p:spPr>
          <a:xfrm>
            <a:off x="6812280" y="4846320"/>
            <a:ext cx="4876495" cy="768096"/>
          </a:xfrm>
          <a:prstGeom prst="roundRect">
            <a:avLst>
              <a:gd name="adj" fmla="val 5952"/>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48" name="Shape 45"/>
          <p:cNvSpPr/>
          <p:nvPr/>
        </p:nvSpPr>
        <p:spPr>
          <a:xfrm>
            <a:off x="6812280" y="4846320"/>
            <a:ext cx="41148" cy="768096"/>
          </a:xfrm>
          <a:prstGeom prst="rect">
            <a:avLst/>
          </a:prstGeom>
          <a:solidFill>
            <a:srgbClr val="9E3A24"/>
          </a:solidFill>
          <a:ln w="5080">
            <a:solidFill>
              <a:srgbClr val="9E3A24"/>
            </a:solidFill>
            <a:prstDash val="solid"/>
          </a:ln>
        </p:spPr>
      </p:sp>
      <p:sp>
        <p:nvSpPr>
          <p:cNvPr id="49" name="Text 46"/>
          <p:cNvSpPr/>
          <p:nvPr/>
        </p:nvSpPr>
        <p:spPr>
          <a:xfrm>
            <a:off x="6995160" y="4919472"/>
            <a:ext cx="4510735" cy="329184"/>
          </a:xfrm>
          <a:prstGeom prst="rect">
            <a:avLst/>
          </a:prstGeom>
          <a:noFill/>
          <a:ln/>
        </p:spPr>
        <p:txBody>
          <a:bodyPr wrap="square" lIns="0" tIns="0" rIns="0" bIns="0" rtlCol="0" anchor="t"/>
          <a:lstStyle/>
          <a:p>
            <a:pPr indent="0" marL="0">
              <a:lnSpc>
                <a:spcPct val="102000"/>
              </a:lnSpc>
              <a:buNone/>
            </a:pPr>
            <a:r>
              <a:rPr lang="en-US" sz="950" b="1" dirty="0">
                <a:solidFill>
                  <a:srgbClr val="0C1A2B"/>
                </a:solidFill>
                <a:latin typeface="Nunito Sans" pitchFamily="34" charset="0"/>
                <a:ea typeface="Nunito Sans" pitchFamily="34" charset="-122"/>
                <a:cs typeface="Nunito Sans" pitchFamily="34" charset="-120"/>
              </a:rPr>
              <a:t>03   Proof is asserted, not demonstrated.</a:t>
            </a:r>
            <a:endParaRPr lang="en-US" sz="950" dirty="0"/>
          </a:p>
        </p:txBody>
      </p:sp>
      <p:sp>
        <p:nvSpPr>
          <p:cNvPr id="50" name="Text 47"/>
          <p:cNvSpPr/>
          <p:nvPr/>
        </p:nvSpPr>
        <p:spPr>
          <a:xfrm>
            <a:off x="6995160" y="5266944"/>
            <a:ext cx="4510735" cy="310896"/>
          </a:xfrm>
          <a:prstGeom prst="rect">
            <a:avLst/>
          </a:prstGeom>
          <a:noFill/>
          <a:ln/>
        </p:spPr>
        <p:txBody>
          <a:bodyPr wrap="square" lIns="0" tIns="0" rIns="0" bIns="0" rtlCol="0" anchor="t"/>
          <a:lstStyle/>
          <a:p>
            <a:pPr indent="0" marL="0">
              <a:lnSpc>
                <a:spcPct val="106000"/>
              </a:lnSpc>
              <a:buNone/>
            </a:pPr>
            <a:r>
              <a:rPr lang="en-US" sz="850" dirty="0">
                <a:solidFill>
                  <a:srgbClr val="54606F"/>
                </a:solidFill>
                <a:latin typeface="Nunito Sans" pitchFamily="34" charset="0"/>
                <a:ea typeface="Nunito Sans" pitchFamily="34" charset="-122"/>
                <a:cs typeface="Nunito Sans" pitchFamily="34" charset="-120"/>
              </a:rPr>
              <a:t>Seven simultaneous taglines, no hierarchy, and "230+ quality checks" stated but never explained.</a:t>
            </a:r>
            <a:endParaRPr lang="en-US" sz="850" dirty="0"/>
          </a:p>
        </p:txBody>
      </p:sp>
      <p:sp>
        <p:nvSpPr>
          <p:cNvPr id="51" name="Shape 48"/>
          <p:cNvSpPr/>
          <p:nvPr/>
        </p:nvSpPr>
        <p:spPr>
          <a:xfrm>
            <a:off x="502920" y="6492240"/>
            <a:ext cx="11185855" cy="0"/>
          </a:xfrm>
          <a:prstGeom prst="line">
            <a:avLst/>
          </a:prstGeom>
          <a:noFill/>
          <a:ln w="9525">
            <a:solidFill>
              <a:srgbClr val="E5DCCB"/>
            </a:solidFill>
            <a:prstDash val="solid"/>
          </a:ln>
        </p:spPr>
      </p:sp>
      <p:sp>
        <p:nvSpPr>
          <p:cNvPr id="52" name="Text 49"/>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THE GROWTH ENGINE</a:t>
            </a:r>
            <a:endParaRPr lang="en-US" sz="800" dirty="0"/>
          </a:p>
        </p:txBody>
      </p:sp>
      <p:sp>
        <p:nvSpPr>
          <p:cNvPr id="53" name="Text 50"/>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20</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2159813"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2159813"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THE GROWTH AMBITION</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500" dirty="0">
                <a:solidFill>
                  <a:srgbClr val="0C1A2B"/>
                </a:solidFill>
                <a:latin typeface="Archivo Black" pitchFamily="34" charset="0"/>
                <a:ea typeface="Archivo Black" pitchFamily="34" charset="-122"/>
                <a:cs typeface="Archivo Black" pitchFamily="34" charset="-120"/>
              </a:rPr>
              <a:t>₹53 Cr today. ₹748 Cr by FY31.</a:t>
            </a:r>
            <a:endParaRPr lang="en-US" sz="2500" dirty="0"/>
          </a:p>
        </p:txBody>
      </p:sp>
      <p:sp>
        <p:nvSpPr>
          <p:cNvPr id="6" name="Text 3"/>
          <p:cNvSpPr/>
          <p:nvPr/>
        </p:nvSpPr>
        <p:spPr>
          <a:xfrm>
            <a:off x="502920" y="1408176"/>
            <a:ext cx="9692640" cy="292608"/>
          </a:xfrm>
          <a:prstGeom prst="rect">
            <a:avLst/>
          </a:prstGeom>
          <a:noFill/>
          <a:ln/>
        </p:spPr>
        <p:txBody>
          <a:bodyPr wrap="square" lIns="0" tIns="0" rIns="0" bIns="0" rtlCol="0" anchor="t"/>
          <a:lstStyle/>
          <a:p>
            <a:pPr indent="0" marL="0">
              <a:lnSpc>
                <a:spcPct val="114000"/>
              </a:lnSpc>
              <a:buNone/>
            </a:pPr>
            <a:r>
              <a:rPr lang="en-US" sz="1100" dirty="0">
                <a:solidFill>
                  <a:srgbClr val="54606F"/>
                </a:solidFill>
                <a:latin typeface="Nunito Sans" pitchFamily="34" charset="0"/>
                <a:ea typeface="Nunito Sans" pitchFamily="34" charset="-122"/>
                <a:cs typeface="Nunito Sans" pitchFamily="34" charset="-120"/>
              </a:rPr>
              <a:t>Where to sell it. What to sell. What it costs.</a:t>
            </a:r>
            <a:endParaRPr lang="en-US" sz="1100" dirty="0"/>
          </a:p>
        </p:txBody>
      </p:sp>
      <p:sp>
        <p:nvSpPr>
          <p:cNvPr id="7" name="Shape 4"/>
          <p:cNvSpPr/>
          <p:nvPr/>
        </p:nvSpPr>
        <p:spPr>
          <a:xfrm>
            <a:off x="502920" y="1810512"/>
            <a:ext cx="7498080" cy="4553712"/>
          </a:xfrm>
          <a:prstGeom prst="roundRect">
            <a:avLst>
              <a:gd name="adj" fmla="val 2008"/>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8" name="Text 5"/>
          <p:cNvSpPr/>
          <p:nvPr/>
        </p:nvSpPr>
        <p:spPr>
          <a:xfrm>
            <a:off x="777240" y="1993392"/>
            <a:ext cx="4572000" cy="219456"/>
          </a:xfrm>
          <a:prstGeom prst="rect">
            <a:avLst/>
          </a:prstGeom>
          <a:noFill/>
          <a:ln/>
        </p:spPr>
        <p:txBody>
          <a:bodyPr wrap="square" lIns="0" tIns="0" rIns="0" bIns="0" rtlCol="0" anchor="ctr"/>
          <a:lstStyle/>
          <a:p>
            <a:pPr indent="0" marL="0">
              <a:buNone/>
            </a:pPr>
            <a:r>
              <a:rPr lang="en-US" sz="950" b="1" spc="180" kern="0" dirty="0">
                <a:solidFill>
                  <a:srgbClr val="3A5D97"/>
                </a:solidFill>
                <a:latin typeface="Nunito Sans" pitchFamily="34" charset="0"/>
                <a:ea typeface="Nunito Sans" pitchFamily="34" charset="-122"/>
                <a:cs typeface="Nunito Sans" pitchFamily="34" charset="-120"/>
              </a:rPr>
              <a:t>NET REVENUE, ₹ CR</a:t>
            </a:r>
            <a:endParaRPr lang="en-US" sz="950" dirty="0"/>
          </a:p>
        </p:txBody>
      </p:sp>
      <p:sp>
        <p:nvSpPr>
          <p:cNvPr id="9" name="Shape 6"/>
          <p:cNvSpPr/>
          <p:nvPr/>
        </p:nvSpPr>
        <p:spPr>
          <a:xfrm>
            <a:off x="868680" y="5033772"/>
            <a:ext cx="6766560" cy="0"/>
          </a:xfrm>
          <a:prstGeom prst="line">
            <a:avLst/>
          </a:prstGeom>
          <a:noFill/>
          <a:ln w="6350">
            <a:solidFill>
              <a:srgbClr val="E5DCCB"/>
            </a:solidFill>
            <a:prstDash val="sysDot"/>
          </a:ln>
        </p:spPr>
      </p:sp>
      <p:sp>
        <p:nvSpPr>
          <p:cNvPr id="10" name="Shape 7"/>
          <p:cNvSpPr/>
          <p:nvPr/>
        </p:nvSpPr>
        <p:spPr>
          <a:xfrm>
            <a:off x="868680" y="4233672"/>
            <a:ext cx="6766560" cy="0"/>
          </a:xfrm>
          <a:prstGeom prst="line">
            <a:avLst/>
          </a:prstGeom>
          <a:noFill/>
          <a:ln w="6350">
            <a:solidFill>
              <a:srgbClr val="E5DCCB"/>
            </a:solidFill>
            <a:prstDash val="sysDot"/>
          </a:ln>
        </p:spPr>
      </p:sp>
      <p:sp>
        <p:nvSpPr>
          <p:cNvPr id="11" name="Shape 8"/>
          <p:cNvSpPr/>
          <p:nvPr/>
        </p:nvSpPr>
        <p:spPr>
          <a:xfrm>
            <a:off x="868680" y="3433572"/>
            <a:ext cx="6766560" cy="0"/>
          </a:xfrm>
          <a:prstGeom prst="line">
            <a:avLst/>
          </a:prstGeom>
          <a:noFill/>
          <a:ln w="6350">
            <a:solidFill>
              <a:srgbClr val="E5DCCB"/>
            </a:solidFill>
            <a:prstDash val="sysDot"/>
          </a:ln>
        </p:spPr>
      </p:sp>
      <p:sp>
        <p:nvSpPr>
          <p:cNvPr id="12" name="Shape 9"/>
          <p:cNvSpPr/>
          <p:nvPr/>
        </p:nvSpPr>
        <p:spPr>
          <a:xfrm>
            <a:off x="868680" y="2633472"/>
            <a:ext cx="6766560" cy="0"/>
          </a:xfrm>
          <a:prstGeom prst="line">
            <a:avLst/>
          </a:prstGeom>
          <a:noFill/>
          <a:ln w="6350">
            <a:solidFill>
              <a:srgbClr val="E5DCCB"/>
            </a:solidFill>
            <a:prstDash val="sysDot"/>
          </a:ln>
        </p:spPr>
      </p:sp>
      <p:sp>
        <p:nvSpPr>
          <p:cNvPr id="13" name="Shape 10"/>
          <p:cNvSpPr/>
          <p:nvPr/>
        </p:nvSpPr>
        <p:spPr>
          <a:xfrm>
            <a:off x="868680" y="5833872"/>
            <a:ext cx="6766560" cy="0"/>
          </a:xfrm>
          <a:prstGeom prst="line">
            <a:avLst/>
          </a:prstGeom>
          <a:noFill/>
          <a:ln w="12700">
            <a:solidFill>
              <a:srgbClr val="E5DCCB"/>
            </a:solidFill>
            <a:prstDash val="solid"/>
          </a:ln>
        </p:spPr>
      </p:sp>
      <p:sp>
        <p:nvSpPr>
          <p:cNvPr id="14" name="Shape 11"/>
          <p:cNvSpPr/>
          <p:nvPr/>
        </p:nvSpPr>
        <p:spPr>
          <a:xfrm>
            <a:off x="868680" y="5629509"/>
            <a:ext cx="899160" cy="204363"/>
          </a:xfrm>
          <a:prstGeom prst="roundRect">
            <a:avLst>
              <a:gd name="adj" fmla="val 22372"/>
            </a:avLst>
          </a:prstGeom>
          <a:solidFill>
            <a:srgbClr val="6688BE"/>
          </a:solidFill>
          <a:ln w="12700">
            <a:solidFill>
              <a:srgbClr val="333333"/>
            </a:solidFill>
            <a:prstDash val="solid"/>
          </a:ln>
        </p:spPr>
      </p:sp>
      <p:sp>
        <p:nvSpPr>
          <p:cNvPr id="15" name="Text 12"/>
          <p:cNvSpPr/>
          <p:nvPr/>
        </p:nvSpPr>
        <p:spPr>
          <a:xfrm>
            <a:off x="822960" y="5355189"/>
            <a:ext cx="990600" cy="237744"/>
          </a:xfrm>
          <a:prstGeom prst="rect">
            <a:avLst/>
          </a:prstGeom>
          <a:noFill/>
          <a:ln/>
        </p:spPr>
        <p:txBody>
          <a:bodyPr wrap="square" lIns="0" tIns="0" rIns="0" bIns="0" rtlCol="0" anchor="b"/>
          <a:lstStyle/>
          <a:p>
            <a:pPr algn="ctr" indent="0" marL="0">
              <a:buNone/>
            </a:pPr>
            <a:r>
              <a:rPr lang="en-US" sz="1050" b="1" dirty="0">
                <a:solidFill>
                  <a:srgbClr val="0C1A2B"/>
                </a:solidFill>
                <a:latin typeface="Nunito Sans" pitchFamily="34" charset="0"/>
                <a:ea typeface="Nunito Sans" pitchFamily="34" charset="-122"/>
                <a:cs typeface="Nunito Sans" pitchFamily="34" charset="-120"/>
              </a:rPr>
              <a:t>₹53</a:t>
            </a:r>
            <a:endParaRPr lang="en-US" sz="1050" dirty="0"/>
          </a:p>
        </p:txBody>
      </p:sp>
      <p:sp>
        <p:nvSpPr>
          <p:cNvPr id="16" name="Text 13"/>
          <p:cNvSpPr/>
          <p:nvPr/>
        </p:nvSpPr>
        <p:spPr>
          <a:xfrm>
            <a:off x="822960" y="5870448"/>
            <a:ext cx="990600" cy="274320"/>
          </a:xfrm>
          <a:prstGeom prst="rect">
            <a:avLst/>
          </a:prstGeom>
          <a:noFill/>
          <a:ln/>
        </p:spPr>
        <p:txBody>
          <a:bodyPr wrap="square" lIns="0" tIns="0" rIns="0" bIns="0" rtlCol="0" anchor="t"/>
          <a:lstStyle/>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FY26</a:t>
            </a:r>
            <a:endParaRPr lang="en-US" sz="850" dirty="0"/>
          </a:p>
        </p:txBody>
      </p:sp>
      <p:sp>
        <p:nvSpPr>
          <p:cNvPr id="17" name="Shape 14"/>
          <p:cNvSpPr/>
          <p:nvPr/>
        </p:nvSpPr>
        <p:spPr>
          <a:xfrm>
            <a:off x="2042160" y="5432858"/>
            <a:ext cx="899160" cy="401014"/>
          </a:xfrm>
          <a:prstGeom prst="roundRect">
            <a:avLst>
              <a:gd name="adj" fmla="val 11401"/>
            </a:avLst>
          </a:prstGeom>
          <a:solidFill>
            <a:srgbClr val="6688BE"/>
          </a:solidFill>
          <a:ln w="12700">
            <a:solidFill>
              <a:srgbClr val="333333"/>
            </a:solidFill>
            <a:prstDash val="solid"/>
          </a:ln>
        </p:spPr>
      </p:sp>
      <p:sp>
        <p:nvSpPr>
          <p:cNvPr id="18" name="Text 15"/>
          <p:cNvSpPr/>
          <p:nvPr/>
        </p:nvSpPr>
        <p:spPr>
          <a:xfrm>
            <a:off x="1996440" y="5158538"/>
            <a:ext cx="990600" cy="237744"/>
          </a:xfrm>
          <a:prstGeom prst="rect">
            <a:avLst/>
          </a:prstGeom>
          <a:noFill/>
          <a:ln/>
        </p:spPr>
        <p:txBody>
          <a:bodyPr wrap="square" lIns="0" tIns="0" rIns="0" bIns="0" rtlCol="0" anchor="b"/>
          <a:lstStyle/>
          <a:p>
            <a:pPr algn="ctr" indent="0" marL="0">
              <a:buNone/>
            </a:pPr>
            <a:r>
              <a:rPr lang="en-US" sz="1050" b="1" dirty="0">
                <a:solidFill>
                  <a:srgbClr val="0C1A2B"/>
                </a:solidFill>
                <a:latin typeface="Nunito Sans" pitchFamily="34" charset="0"/>
                <a:ea typeface="Nunito Sans" pitchFamily="34" charset="-122"/>
                <a:cs typeface="Nunito Sans" pitchFamily="34" charset="-120"/>
              </a:rPr>
              <a:t>₹104</a:t>
            </a:r>
            <a:endParaRPr lang="en-US" sz="1050" dirty="0"/>
          </a:p>
        </p:txBody>
      </p:sp>
      <p:sp>
        <p:nvSpPr>
          <p:cNvPr id="19" name="Text 16"/>
          <p:cNvSpPr/>
          <p:nvPr/>
        </p:nvSpPr>
        <p:spPr>
          <a:xfrm>
            <a:off x="1996440" y="5870448"/>
            <a:ext cx="990600" cy="274320"/>
          </a:xfrm>
          <a:prstGeom prst="rect">
            <a:avLst/>
          </a:prstGeom>
          <a:noFill/>
          <a:ln/>
        </p:spPr>
        <p:txBody>
          <a:bodyPr wrap="square" lIns="0" tIns="0" rIns="0" bIns="0" rtlCol="0" anchor="t"/>
          <a:lstStyle/>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FY27</a:t>
            </a:r>
            <a:endParaRPr lang="en-US" sz="850" dirty="0"/>
          </a:p>
        </p:txBody>
      </p:sp>
      <p:sp>
        <p:nvSpPr>
          <p:cNvPr id="20" name="Shape 17"/>
          <p:cNvSpPr/>
          <p:nvPr/>
        </p:nvSpPr>
        <p:spPr>
          <a:xfrm>
            <a:off x="3215640" y="5186080"/>
            <a:ext cx="899160" cy="647792"/>
          </a:xfrm>
          <a:prstGeom prst="roundRect">
            <a:avLst>
              <a:gd name="adj" fmla="val 7058"/>
            </a:avLst>
          </a:prstGeom>
          <a:solidFill>
            <a:srgbClr val="3A5D97"/>
          </a:solidFill>
          <a:ln w="12700">
            <a:solidFill>
              <a:srgbClr val="333333"/>
            </a:solidFill>
            <a:prstDash val="solid"/>
          </a:ln>
        </p:spPr>
      </p:sp>
      <p:sp>
        <p:nvSpPr>
          <p:cNvPr id="21" name="Text 18"/>
          <p:cNvSpPr/>
          <p:nvPr/>
        </p:nvSpPr>
        <p:spPr>
          <a:xfrm>
            <a:off x="3169920" y="4911760"/>
            <a:ext cx="990600" cy="237744"/>
          </a:xfrm>
          <a:prstGeom prst="rect">
            <a:avLst/>
          </a:prstGeom>
          <a:noFill/>
          <a:ln/>
        </p:spPr>
        <p:txBody>
          <a:bodyPr wrap="square" lIns="0" tIns="0" rIns="0" bIns="0" rtlCol="0" anchor="b"/>
          <a:lstStyle/>
          <a:p>
            <a:pPr algn="ctr" indent="0" marL="0">
              <a:buNone/>
            </a:pPr>
            <a:r>
              <a:rPr lang="en-US" sz="1050" b="1" dirty="0">
                <a:solidFill>
                  <a:srgbClr val="0C1A2B"/>
                </a:solidFill>
                <a:latin typeface="Nunito Sans" pitchFamily="34" charset="0"/>
                <a:ea typeface="Nunito Sans" pitchFamily="34" charset="-122"/>
                <a:cs typeface="Nunito Sans" pitchFamily="34" charset="-120"/>
              </a:rPr>
              <a:t>₹168</a:t>
            </a:r>
            <a:endParaRPr lang="en-US" sz="1050" dirty="0"/>
          </a:p>
        </p:txBody>
      </p:sp>
      <p:sp>
        <p:nvSpPr>
          <p:cNvPr id="22" name="Text 19"/>
          <p:cNvSpPr/>
          <p:nvPr/>
        </p:nvSpPr>
        <p:spPr>
          <a:xfrm>
            <a:off x="3169920" y="5870448"/>
            <a:ext cx="990600" cy="274320"/>
          </a:xfrm>
          <a:prstGeom prst="rect">
            <a:avLst/>
          </a:prstGeom>
          <a:noFill/>
          <a:ln/>
        </p:spPr>
        <p:txBody>
          <a:bodyPr wrap="square" lIns="0" tIns="0" rIns="0" bIns="0" rtlCol="0" anchor="t"/>
          <a:lstStyle/>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FY28</a:t>
            </a:r>
            <a:endParaRPr lang="en-US" sz="850" dirty="0"/>
          </a:p>
        </p:txBody>
      </p:sp>
      <p:sp>
        <p:nvSpPr>
          <p:cNvPr id="23" name="Shape 20"/>
          <p:cNvSpPr/>
          <p:nvPr/>
        </p:nvSpPr>
        <p:spPr>
          <a:xfrm>
            <a:off x="4389120" y="4777354"/>
            <a:ext cx="899160" cy="1056518"/>
          </a:xfrm>
          <a:prstGeom prst="roundRect">
            <a:avLst>
              <a:gd name="adj" fmla="val 5085"/>
            </a:avLst>
          </a:prstGeom>
          <a:solidFill>
            <a:srgbClr val="2FA362"/>
          </a:solidFill>
          <a:ln w="12700">
            <a:solidFill>
              <a:srgbClr val="333333"/>
            </a:solidFill>
            <a:prstDash val="solid"/>
          </a:ln>
        </p:spPr>
      </p:sp>
      <p:sp>
        <p:nvSpPr>
          <p:cNvPr id="24" name="Text 21"/>
          <p:cNvSpPr/>
          <p:nvPr/>
        </p:nvSpPr>
        <p:spPr>
          <a:xfrm>
            <a:off x="4343400" y="4503034"/>
            <a:ext cx="990600" cy="237744"/>
          </a:xfrm>
          <a:prstGeom prst="rect">
            <a:avLst/>
          </a:prstGeom>
          <a:noFill/>
          <a:ln/>
        </p:spPr>
        <p:txBody>
          <a:bodyPr wrap="square" lIns="0" tIns="0" rIns="0" bIns="0" rtlCol="0" anchor="b"/>
          <a:lstStyle/>
          <a:p>
            <a:pPr algn="ctr" indent="0" marL="0">
              <a:buNone/>
            </a:pPr>
            <a:r>
              <a:rPr lang="en-US" sz="1050" b="1" dirty="0">
                <a:solidFill>
                  <a:srgbClr val="0C1A2B"/>
                </a:solidFill>
                <a:latin typeface="Nunito Sans" pitchFamily="34" charset="0"/>
                <a:ea typeface="Nunito Sans" pitchFamily="34" charset="-122"/>
                <a:cs typeface="Nunito Sans" pitchFamily="34" charset="-120"/>
              </a:rPr>
              <a:t>₹274</a:t>
            </a:r>
            <a:endParaRPr lang="en-US" sz="1050" dirty="0"/>
          </a:p>
        </p:txBody>
      </p:sp>
      <p:sp>
        <p:nvSpPr>
          <p:cNvPr id="25" name="Text 22"/>
          <p:cNvSpPr/>
          <p:nvPr/>
        </p:nvSpPr>
        <p:spPr>
          <a:xfrm>
            <a:off x="4343400" y="5870448"/>
            <a:ext cx="990600" cy="274320"/>
          </a:xfrm>
          <a:prstGeom prst="rect">
            <a:avLst/>
          </a:prstGeom>
          <a:noFill/>
          <a:ln/>
        </p:spPr>
        <p:txBody>
          <a:bodyPr wrap="square" lIns="0" tIns="0" rIns="0" bIns="0" rtlCol="0" anchor="t"/>
          <a:lstStyle/>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FY29</a:t>
            </a:r>
            <a:endParaRPr lang="en-US" sz="850" dirty="0"/>
          </a:p>
        </p:txBody>
      </p:sp>
      <p:sp>
        <p:nvSpPr>
          <p:cNvPr id="26" name="Shape 23"/>
          <p:cNvSpPr/>
          <p:nvPr/>
        </p:nvSpPr>
        <p:spPr>
          <a:xfrm>
            <a:off x="5562600" y="4098715"/>
            <a:ext cx="899160" cy="1735157"/>
          </a:xfrm>
          <a:prstGeom prst="roundRect">
            <a:avLst>
              <a:gd name="adj" fmla="val 5085"/>
            </a:avLst>
          </a:prstGeom>
          <a:solidFill>
            <a:srgbClr val="2FA362"/>
          </a:solidFill>
          <a:ln w="12700">
            <a:solidFill>
              <a:srgbClr val="333333"/>
            </a:solidFill>
            <a:prstDash val="solid"/>
          </a:ln>
        </p:spPr>
      </p:sp>
      <p:sp>
        <p:nvSpPr>
          <p:cNvPr id="27" name="Text 24"/>
          <p:cNvSpPr/>
          <p:nvPr/>
        </p:nvSpPr>
        <p:spPr>
          <a:xfrm>
            <a:off x="5516880" y="3824395"/>
            <a:ext cx="990600" cy="237744"/>
          </a:xfrm>
          <a:prstGeom prst="rect">
            <a:avLst/>
          </a:prstGeom>
          <a:noFill/>
          <a:ln/>
        </p:spPr>
        <p:txBody>
          <a:bodyPr wrap="square" lIns="0" tIns="0" rIns="0" bIns="0" rtlCol="0" anchor="b"/>
          <a:lstStyle/>
          <a:p>
            <a:pPr algn="ctr" indent="0" marL="0">
              <a:buNone/>
            </a:pPr>
            <a:r>
              <a:rPr lang="en-US" sz="1050" b="1" dirty="0">
                <a:solidFill>
                  <a:srgbClr val="0C1A2B"/>
                </a:solidFill>
                <a:latin typeface="Nunito Sans" pitchFamily="34" charset="0"/>
                <a:ea typeface="Nunito Sans" pitchFamily="34" charset="-122"/>
                <a:cs typeface="Nunito Sans" pitchFamily="34" charset="-120"/>
              </a:rPr>
              <a:t>₹450</a:t>
            </a:r>
            <a:endParaRPr lang="en-US" sz="1050" dirty="0"/>
          </a:p>
        </p:txBody>
      </p:sp>
      <p:sp>
        <p:nvSpPr>
          <p:cNvPr id="28" name="Text 25"/>
          <p:cNvSpPr/>
          <p:nvPr/>
        </p:nvSpPr>
        <p:spPr>
          <a:xfrm>
            <a:off x="5516880" y="5870448"/>
            <a:ext cx="990600" cy="274320"/>
          </a:xfrm>
          <a:prstGeom prst="rect">
            <a:avLst/>
          </a:prstGeom>
          <a:noFill/>
          <a:ln/>
        </p:spPr>
        <p:txBody>
          <a:bodyPr wrap="square" lIns="0" tIns="0" rIns="0" bIns="0" rtlCol="0" anchor="t"/>
          <a:lstStyle/>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FY30</a:t>
            </a:r>
            <a:endParaRPr lang="en-US" sz="850" dirty="0"/>
          </a:p>
        </p:txBody>
      </p:sp>
      <p:sp>
        <p:nvSpPr>
          <p:cNvPr id="29" name="Shape 26"/>
          <p:cNvSpPr/>
          <p:nvPr/>
        </p:nvSpPr>
        <p:spPr>
          <a:xfrm>
            <a:off x="6736080" y="2949656"/>
            <a:ext cx="899160" cy="2884216"/>
          </a:xfrm>
          <a:prstGeom prst="roundRect">
            <a:avLst>
              <a:gd name="adj" fmla="val 5085"/>
            </a:avLst>
          </a:prstGeom>
          <a:solidFill>
            <a:srgbClr val="177A46"/>
          </a:solidFill>
          <a:ln w="12700">
            <a:solidFill>
              <a:srgbClr val="333333"/>
            </a:solidFill>
            <a:prstDash val="solid"/>
          </a:ln>
        </p:spPr>
      </p:sp>
      <p:sp>
        <p:nvSpPr>
          <p:cNvPr id="30" name="Text 27"/>
          <p:cNvSpPr/>
          <p:nvPr/>
        </p:nvSpPr>
        <p:spPr>
          <a:xfrm>
            <a:off x="6690360" y="2675336"/>
            <a:ext cx="990600" cy="237744"/>
          </a:xfrm>
          <a:prstGeom prst="rect">
            <a:avLst/>
          </a:prstGeom>
          <a:noFill/>
          <a:ln/>
        </p:spPr>
        <p:txBody>
          <a:bodyPr wrap="square" lIns="0" tIns="0" rIns="0" bIns="0" rtlCol="0" anchor="b"/>
          <a:lstStyle/>
          <a:p>
            <a:pPr algn="ctr" indent="0" marL="0">
              <a:buNone/>
            </a:pPr>
            <a:r>
              <a:rPr lang="en-US" sz="1050" b="1" dirty="0">
                <a:solidFill>
                  <a:srgbClr val="0C1A2B"/>
                </a:solidFill>
                <a:latin typeface="Nunito Sans" pitchFamily="34" charset="0"/>
                <a:ea typeface="Nunito Sans" pitchFamily="34" charset="-122"/>
                <a:cs typeface="Nunito Sans" pitchFamily="34" charset="-120"/>
              </a:rPr>
              <a:t>₹748</a:t>
            </a:r>
            <a:endParaRPr lang="en-US" sz="1050" dirty="0"/>
          </a:p>
        </p:txBody>
      </p:sp>
      <p:sp>
        <p:nvSpPr>
          <p:cNvPr id="31" name="Text 28"/>
          <p:cNvSpPr/>
          <p:nvPr/>
        </p:nvSpPr>
        <p:spPr>
          <a:xfrm>
            <a:off x="6690360" y="5870448"/>
            <a:ext cx="990600" cy="274320"/>
          </a:xfrm>
          <a:prstGeom prst="rect">
            <a:avLst/>
          </a:prstGeom>
          <a:noFill/>
          <a:ln/>
        </p:spPr>
        <p:txBody>
          <a:bodyPr wrap="square" lIns="0" tIns="0" rIns="0" bIns="0" rtlCol="0" anchor="t"/>
          <a:lstStyle/>
          <a:p>
            <a:pPr algn="ctr" indent="0" marL="0">
              <a:lnSpc>
                <a:spcPct val="100000"/>
              </a:lnSpc>
              <a:buNone/>
            </a:pPr>
            <a:r>
              <a:rPr lang="en-US" sz="850" dirty="0">
                <a:solidFill>
                  <a:srgbClr val="54606F"/>
                </a:solidFill>
                <a:latin typeface="Nunito Sans" pitchFamily="34" charset="0"/>
                <a:ea typeface="Nunito Sans" pitchFamily="34" charset="-122"/>
                <a:cs typeface="Nunito Sans" pitchFamily="34" charset="-120"/>
              </a:rPr>
              <a:t>FY31</a:t>
            </a:r>
            <a:endParaRPr lang="en-US" sz="850" dirty="0"/>
          </a:p>
        </p:txBody>
      </p:sp>
      <p:sp>
        <p:nvSpPr>
          <p:cNvPr id="32" name="Shape 29"/>
          <p:cNvSpPr/>
          <p:nvPr/>
        </p:nvSpPr>
        <p:spPr>
          <a:xfrm>
            <a:off x="8275320" y="1810512"/>
            <a:ext cx="3413455" cy="0"/>
          </a:xfrm>
          <a:prstGeom prst="line">
            <a:avLst/>
          </a:prstGeom>
          <a:noFill/>
          <a:ln w="25400">
            <a:solidFill>
              <a:srgbClr val="177A46"/>
            </a:solidFill>
            <a:prstDash val="solid"/>
          </a:ln>
        </p:spPr>
      </p:sp>
      <p:sp>
        <p:nvSpPr>
          <p:cNvPr id="33" name="Text 30"/>
          <p:cNvSpPr/>
          <p:nvPr/>
        </p:nvSpPr>
        <p:spPr>
          <a:xfrm>
            <a:off x="8275320" y="1956816"/>
            <a:ext cx="3413455" cy="383032"/>
          </a:xfrm>
          <a:prstGeom prst="rect">
            <a:avLst/>
          </a:prstGeom>
          <a:noFill/>
          <a:ln/>
        </p:spPr>
        <p:txBody>
          <a:bodyPr wrap="square" lIns="0" tIns="0" rIns="0" bIns="0" rtlCol="0" anchor="t"/>
          <a:lstStyle/>
          <a:p>
            <a:pPr indent="0" marL="0">
              <a:buNone/>
            </a:pPr>
            <a:r>
              <a:rPr lang="en-US" sz="2200" dirty="0">
                <a:solidFill>
                  <a:srgbClr val="177A46"/>
                </a:solidFill>
                <a:latin typeface="Archivo Black" pitchFamily="34" charset="0"/>
                <a:ea typeface="Archivo Black" pitchFamily="34" charset="-122"/>
                <a:cs typeface="Archivo Black" pitchFamily="34" charset="-120"/>
              </a:rPr>
              <a:t>14.1×</a:t>
            </a:r>
            <a:endParaRPr lang="en-US" sz="2200" dirty="0"/>
          </a:p>
        </p:txBody>
      </p:sp>
      <p:sp>
        <p:nvSpPr>
          <p:cNvPr id="34" name="Text 31"/>
          <p:cNvSpPr/>
          <p:nvPr/>
        </p:nvSpPr>
        <p:spPr>
          <a:xfrm>
            <a:off x="8275320" y="2376424"/>
            <a:ext cx="3276295" cy="385064"/>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On the FY26 base of ₹53 cr</a:t>
            </a:r>
            <a:endParaRPr lang="en-US" sz="850" dirty="0"/>
          </a:p>
        </p:txBody>
      </p:sp>
      <p:sp>
        <p:nvSpPr>
          <p:cNvPr id="35" name="Shape 32"/>
          <p:cNvSpPr/>
          <p:nvPr/>
        </p:nvSpPr>
        <p:spPr>
          <a:xfrm>
            <a:off x="8275320" y="2944368"/>
            <a:ext cx="3413455" cy="0"/>
          </a:xfrm>
          <a:prstGeom prst="line">
            <a:avLst/>
          </a:prstGeom>
          <a:noFill/>
          <a:ln w="25400">
            <a:solidFill>
              <a:srgbClr val="177A46"/>
            </a:solidFill>
            <a:prstDash val="solid"/>
          </a:ln>
        </p:spPr>
      </p:sp>
      <p:sp>
        <p:nvSpPr>
          <p:cNvPr id="36" name="Text 33"/>
          <p:cNvSpPr/>
          <p:nvPr/>
        </p:nvSpPr>
        <p:spPr>
          <a:xfrm>
            <a:off x="8275320" y="3090672"/>
            <a:ext cx="3413455" cy="383032"/>
          </a:xfrm>
          <a:prstGeom prst="rect">
            <a:avLst/>
          </a:prstGeom>
          <a:noFill/>
          <a:ln/>
        </p:spPr>
        <p:txBody>
          <a:bodyPr wrap="square" lIns="0" tIns="0" rIns="0" bIns="0" rtlCol="0" anchor="t"/>
          <a:lstStyle/>
          <a:p>
            <a:pPr indent="0" marL="0">
              <a:buNone/>
            </a:pPr>
            <a:r>
              <a:rPr lang="en-US" sz="2200" dirty="0">
                <a:solidFill>
                  <a:srgbClr val="177A46"/>
                </a:solidFill>
                <a:latin typeface="Archivo Black" pitchFamily="34" charset="0"/>
                <a:ea typeface="Archivo Black" pitchFamily="34" charset="-122"/>
                <a:cs typeface="Archivo Black" pitchFamily="34" charset="-120"/>
              </a:rPr>
              <a:t>64%</a:t>
            </a:r>
            <a:endParaRPr lang="en-US" sz="2200" dirty="0"/>
          </a:p>
        </p:txBody>
      </p:sp>
      <p:sp>
        <p:nvSpPr>
          <p:cNvPr id="37" name="Text 34"/>
          <p:cNvSpPr/>
          <p:nvPr/>
        </p:nvSpPr>
        <p:spPr>
          <a:xfrm>
            <a:off x="8275320" y="3510280"/>
            <a:ext cx="3276295" cy="385064"/>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Net revenue CAGR, FY27 to FY31</a:t>
            </a:r>
            <a:endParaRPr lang="en-US" sz="850" dirty="0"/>
          </a:p>
        </p:txBody>
      </p:sp>
      <p:sp>
        <p:nvSpPr>
          <p:cNvPr id="38" name="Shape 35"/>
          <p:cNvSpPr/>
          <p:nvPr/>
        </p:nvSpPr>
        <p:spPr>
          <a:xfrm>
            <a:off x="8275320" y="4078224"/>
            <a:ext cx="3413455" cy="0"/>
          </a:xfrm>
          <a:prstGeom prst="line">
            <a:avLst/>
          </a:prstGeom>
          <a:noFill/>
          <a:ln w="25400">
            <a:solidFill>
              <a:srgbClr val="177A46"/>
            </a:solidFill>
            <a:prstDash val="solid"/>
          </a:ln>
        </p:spPr>
      </p:sp>
      <p:sp>
        <p:nvSpPr>
          <p:cNvPr id="39" name="Text 36"/>
          <p:cNvSpPr/>
          <p:nvPr/>
        </p:nvSpPr>
        <p:spPr>
          <a:xfrm>
            <a:off x="8275320" y="4224528"/>
            <a:ext cx="3413455" cy="383032"/>
          </a:xfrm>
          <a:prstGeom prst="rect">
            <a:avLst/>
          </a:prstGeom>
          <a:noFill/>
          <a:ln/>
        </p:spPr>
        <p:txBody>
          <a:bodyPr wrap="square" lIns="0" tIns="0" rIns="0" bIns="0" rtlCol="0" anchor="t"/>
          <a:lstStyle/>
          <a:p>
            <a:pPr indent="0" marL="0">
              <a:buNone/>
            </a:pPr>
            <a:r>
              <a:rPr lang="en-US" sz="2200" dirty="0">
                <a:solidFill>
                  <a:srgbClr val="177A46"/>
                </a:solidFill>
                <a:latin typeface="Archivo Black" pitchFamily="34" charset="0"/>
                <a:ea typeface="Archivo Black" pitchFamily="34" charset="-122"/>
                <a:cs typeface="Archivo Black" pitchFamily="34" charset="-120"/>
              </a:rPr>
              <a:t>+5.8pp</a:t>
            </a:r>
            <a:endParaRPr lang="en-US" sz="2200" dirty="0"/>
          </a:p>
        </p:txBody>
      </p:sp>
      <p:sp>
        <p:nvSpPr>
          <p:cNvPr id="40" name="Text 37"/>
          <p:cNvSpPr/>
          <p:nvPr/>
        </p:nvSpPr>
        <p:spPr>
          <a:xfrm>
            <a:off x="8275320" y="4644136"/>
            <a:ext cx="3276295" cy="385064"/>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Gross margin, 37.5% → 43.3%</a:t>
            </a:r>
            <a:endParaRPr lang="en-US" sz="850" dirty="0"/>
          </a:p>
        </p:txBody>
      </p:sp>
      <p:pic>
        <p:nvPicPr>
          <p:cNvPr id="41" name="Image 1" descr="/home/user/hopper-tessarakt/site/assets/value-added.jpg">    </p:cNvPr>
          <p:cNvPicPr>
            <a:picLocks noChangeAspect="1"/>
          </p:cNvPicPr>
          <p:nvPr/>
        </p:nvPicPr>
        <p:blipFill>
          <a:blip r:embed="rId2"/>
          <a:srcRect l="0" r="0" t="0" b="0"/>
          <a:stretch/>
        </p:blipFill>
        <p:spPr>
          <a:xfrm>
            <a:off x="8275320" y="5266944"/>
            <a:ext cx="3413455" cy="1097280"/>
          </a:xfrm>
          <a:prstGeom prst="rect">
            <a:avLst/>
          </a:prstGeom>
        </p:spPr>
      </p:pic>
      <p:sp>
        <p:nvSpPr>
          <p:cNvPr id="42" name="Shape 38"/>
          <p:cNvSpPr/>
          <p:nvPr/>
        </p:nvSpPr>
        <p:spPr>
          <a:xfrm>
            <a:off x="502920" y="6492240"/>
            <a:ext cx="11185855" cy="0"/>
          </a:xfrm>
          <a:prstGeom prst="line">
            <a:avLst/>
          </a:prstGeom>
          <a:noFill/>
          <a:ln w="9525">
            <a:solidFill>
              <a:srgbClr val="E5DCCB"/>
            </a:solidFill>
            <a:prstDash val="solid"/>
          </a:ln>
        </p:spPr>
      </p:sp>
      <p:sp>
        <p:nvSpPr>
          <p:cNvPr id="43" name="Text 39"/>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THE GROWTH ENGINE</a:t>
            </a:r>
            <a:endParaRPr lang="en-US" sz="800" dirty="0"/>
          </a:p>
        </p:txBody>
      </p:sp>
      <p:sp>
        <p:nvSpPr>
          <p:cNvPr id="44" name="Text 40"/>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21</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1890979"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1890979"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PORTFOLIO DESIGN</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500" dirty="0">
                <a:solidFill>
                  <a:srgbClr val="0C1A2B"/>
                </a:solidFill>
                <a:latin typeface="Archivo Black" pitchFamily="34" charset="0"/>
                <a:ea typeface="Archivo Black" pitchFamily="34" charset="-122"/>
                <a:cs typeface="Archivo Black" pitchFamily="34" charset="-120"/>
              </a:rPr>
              <a:t>Spices carry the margin.</a:t>
            </a:r>
            <a:endParaRPr lang="en-US" sz="2500" dirty="0"/>
          </a:p>
        </p:txBody>
      </p:sp>
      <p:sp>
        <p:nvSpPr>
          <p:cNvPr id="6" name="Shape 3"/>
          <p:cNvSpPr/>
          <p:nvPr/>
        </p:nvSpPr>
        <p:spPr>
          <a:xfrm>
            <a:off x="502920" y="1463040"/>
            <a:ext cx="7223760" cy="4553712"/>
          </a:xfrm>
          <a:prstGeom prst="roundRect">
            <a:avLst>
              <a:gd name="adj" fmla="val 2008"/>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7" name="Text 4"/>
          <p:cNvSpPr/>
          <p:nvPr/>
        </p:nvSpPr>
        <p:spPr>
          <a:xfrm>
            <a:off x="777240" y="1645920"/>
            <a:ext cx="5486400" cy="219456"/>
          </a:xfrm>
          <a:prstGeom prst="rect">
            <a:avLst/>
          </a:prstGeom>
          <a:noFill/>
          <a:ln/>
        </p:spPr>
        <p:txBody>
          <a:bodyPr wrap="square" lIns="0" tIns="0" rIns="0" bIns="0" rtlCol="0" anchor="ctr"/>
          <a:lstStyle/>
          <a:p>
            <a:pPr indent="0" marL="0">
              <a:buNone/>
            </a:pPr>
            <a:r>
              <a:rPr lang="en-US" sz="950" b="1" spc="180" kern="0" dirty="0">
                <a:solidFill>
                  <a:srgbClr val="3A5D97"/>
                </a:solidFill>
                <a:latin typeface="Nunito Sans" pitchFamily="34" charset="0"/>
                <a:ea typeface="Nunito Sans" pitchFamily="34" charset="-122"/>
                <a:cs typeface="Nunito Sans" pitchFamily="34" charset="-120"/>
              </a:rPr>
              <a:t>REVENUE BY CATEGORY, ₹ CR — FY27 VS FY31</a:t>
            </a:r>
            <a:endParaRPr lang="en-US" sz="950" dirty="0"/>
          </a:p>
        </p:txBody>
      </p:sp>
      <p:sp>
        <p:nvSpPr>
          <p:cNvPr id="8" name="Shape 5"/>
          <p:cNvSpPr/>
          <p:nvPr/>
        </p:nvSpPr>
        <p:spPr>
          <a:xfrm>
            <a:off x="914400" y="5376672"/>
            <a:ext cx="6492240" cy="0"/>
          </a:xfrm>
          <a:prstGeom prst="line">
            <a:avLst/>
          </a:prstGeom>
          <a:noFill/>
          <a:ln w="9525">
            <a:solidFill>
              <a:srgbClr val="E5DCCB"/>
            </a:solidFill>
            <a:prstDash val="solid"/>
          </a:ln>
        </p:spPr>
      </p:sp>
      <p:sp>
        <p:nvSpPr>
          <p:cNvPr id="9" name="Shape 6"/>
          <p:cNvSpPr/>
          <p:nvPr/>
        </p:nvSpPr>
        <p:spPr>
          <a:xfrm>
            <a:off x="1005840" y="4797893"/>
            <a:ext cx="493776" cy="578779"/>
          </a:xfrm>
          <a:prstGeom prst="roundRect">
            <a:avLst>
              <a:gd name="adj" fmla="val 9259"/>
            </a:avLst>
          </a:prstGeom>
          <a:solidFill>
            <a:srgbClr val="6688BE"/>
          </a:solidFill>
          <a:ln w="5080">
            <a:solidFill>
              <a:srgbClr val="6688BE"/>
            </a:solidFill>
            <a:prstDash val="solid"/>
          </a:ln>
        </p:spPr>
      </p:sp>
      <p:sp>
        <p:nvSpPr>
          <p:cNvPr id="10" name="Text 7"/>
          <p:cNvSpPr/>
          <p:nvPr/>
        </p:nvSpPr>
        <p:spPr>
          <a:xfrm>
            <a:off x="914400" y="4560149"/>
            <a:ext cx="676656" cy="219456"/>
          </a:xfrm>
          <a:prstGeom prst="rect">
            <a:avLst/>
          </a:prstGeom>
          <a:noFill/>
          <a:ln/>
        </p:spPr>
        <p:txBody>
          <a:bodyPr wrap="square" lIns="0" tIns="0" rIns="0" bIns="0" rtlCol="0" anchor="b"/>
          <a:lstStyle/>
          <a:p>
            <a:pPr algn="ctr" indent="0" marL="0">
              <a:buNone/>
            </a:pPr>
            <a:r>
              <a:rPr lang="en-US" sz="850" b="1" dirty="0">
                <a:solidFill>
                  <a:srgbClr val="0C1A2B"/>
                </a:solidFill>
                <a:latin typeface="Nunito Sans" pitchFamily="34" charset="0"/>
                <a:ea typeface="Nunito Sans" pitchFamily="34" charset="-122"/>
                <a:cs typeface="Nunito Sans" pitchFamily="34" charset="-120"/>
              </a:rPr>
              <a:t>₹43</a:t>
            </a:r>
            <a:endParaRPr lang="en-US" sz="850" dirty="0"/>
          </a:p>
        </p:txBody>
      </p:sp>
      <p:sp>
        <p:nvSpPr>
          <p:cNvPr id="11" name="Shape 8"/>
          <p:cNvSpPr/>
          <p:nvPr/>
        </p:nvSpPr>
        <p:spPr>
          <a:xfrm>
            <a:off x="1609344" y="2307799"/>
            <a:ext cx="493776" cy="3068873"/>
          </a:xfrm>
          <a:prstGeom prst="roundRect">
            <a:avLst>
              <a:gd name="adj" fmla="val 9259"/>
            </a:avLst>
          </a:prstGeom>
          <a:solidFill>
            <a:srgbClr val="177A46"/>
          </a:solidFill>
          <a:ln w="5080">
            <a:solidFill>
              <a:srgbClr val="177A46"/>
            </a:solidFill>
            <a:prstDash val="solid"/>
          </a:ln>
        </p:spPr>
      </p:sp>
      <p:sp>
        <p:nvSpPr>
          <p:cNvPr id="12" name="Text 9"/>
          <p:cNvSpPr/>
          <p:nvPr/>
        </p:nvSpPr>
        <p:spPr>
          <a:xfrm>
            <a:off x="1517904" y="2070055"/>
            <a:ext cx="676656" cy="219456"/>
          </a:xfrm>
          <a:prstGeom prst="rect">
            <a:avLst/>
          </a:prstGeom>
          <a:noFill/>
          <a:ln/>
        </p:spPr>
        <p:txBody>
          <a:bodyPr wrap="square" lIns="0" tIns="0" rIns="0" bIns="0" rtlCol="0" anchor="b"/>
          <a:lstStyle/>
          <a:p>
            <a:pPr algn="ctr" indent="0" marL="0">
              <a:buNone/>
            </a:pPr>
            <a:r>
              <a:rPr lang="en-US" sz="850" b="1" dirty="0">
                <a:solidFill>
                  <a:srgbClr val="0C1A2B"/>
                </a:solidFill>
                <a:latin typeface="Nunito Sans" pitchFamily="34" charset="0"/>
                <a:ea typeface="Nunito Sans" pitchFamily="34" charset="-122"/>
                <a:cs typeface="Nunito Sans" pitchFamily="34" charset="-120"/>
              </a:rPr>
              <a:t>₹228</a:t>
            </a:r>
            <a:endParaRPr lang="en-US" sz="850" dirty="0"/>
          </a:p>
        </p:txBody>
      </p:sp>
      <p:sp>
        <p:nvSpPr>
          <p:cNvPr id="13" name="Text 10"/>
          <p:cNvSpPr/>
          <p:nvPr/>
        </p:nvSpPr>
        <p:spPr>
          <a:xfrm>
            <a:off x="914400" y="5431536"/>
            <a:ext cx="1298448" cy="237744"/>
          </a:xfrm>
          <a:prstGeom prst="rect">
            <a:avLst/>
          </a:prstGeom>
          <a:noFill/>
          <a:ln/>
        </p:spPr>
        <p:txBody>
          <a:bodyPr wrap="square" lIns="0" tIns="0" rIns="0" bIns="0" rtlCol="0" anchor="t"/>
          <a:lstStyle/>
          <a:p>
            <a:pPr algn="ctr" indent="0" marL="0">
              <a:buNone/>
            </a:pPr>
            <a:r>
              <a:rPr lang="en-US" sz="850" dirty="0">
                <a:solidFill>
                  <a:srgbClr val="54606F"/>
                </a:solidFill>
                <a:latin typeface="Nunito Sans" pitchFamily="34" charset="0"/>
                <a:ea typeface="Nunito Sans" pitchFamily="34" charset="-122"/>
                <a:cs typeface="Nunito Sans" pitchFamily="34" charset="-120"/>
              </a:rPr>
              <a:t>Pulses</a:t>
            </a:r>
            <a:endParaRPr lang="en-US" sz="850" dirty="0"/>
          </a:p>
        </p:txBody>
      </p:sp>
      <p:sp>
        <p:nvSpPr>
          <p:cNvPr id="14" name="Shape 11"/>
          <p:cNvSpPr/>
          <p:nvPr/>
        </p:nvSpPr>
        <p:spPr>
          <a:xfrm>
            <a:off x="2304288" y="5134393"/>
            <a:ext cx="493776" cy="242279"/>
          </a:xfrm>
          <a:prstGeom prst="roundRect">
            <a:avLst>
              <a:gd name="adj" fmla="val 18871"/>
            </a:avLst>
          </a:prstGeom>
          <a:solidFill>
            <a:srgbClr val="6688BE"/>
          </a:solidFill>
          <a:ln w="5080">
            <a:solidFill>
              <a:srgbClr val="6688BE"/>
            </a:solidFill>
            <a:prstDash val="solid"/>
          </a:ln>
        </p:spPr>
      </p:sp>
      <p:sp>
        <p:nvSpPr>
          <p:cNvPr id="15" name="Text 12"/>
          <p:cNvSpPr/>
          <p:nvPr/>
        </p:nvSpPr>
        <p:spPr>
          <a:xfrm>
            <a:off x="2212848" y="4896649"/>
            <a:ext cx="676656" cy="219456"/>
          </a:xfrm>
          <a:prstGeom prst="rect">
            <a:avLst/>
          </a:prstGeom>
          <a:noFill/>
          <a:ln/>
        </p:spPr>
        <p:txBody>
          <a:bodyPr wrap="square" lIns="0" tIns="0" rIns="0" bIns="0" rtlCol="0" anchor="b"/>
          <a:lstStyle/>
          <a:p>
            <a:pPr algn="ctr" indent="0" marL="0">
              <a:buNone/>
            </a:pPr>
            <a:r>
              <a:rPr lang="en-US" sz="850" b="1" dirty="0">
                <a:solidFill>
                  <a:srgbClr val="0C1A2B"/>
                </a:solidFill>
                <a:latin typeface="Nunito Sans" pitchFamily="34" charset="0"/>
                <a:ea typeface="Nunito Sans" pitchFamily="34" charset="-122"/>
                <a:cs typeface="Nunito Sans" pitchFamily="34" charset="-120"/>
              </a:rPr>
              <a:t>₹18</a:t>
            </a:r>
            <a:endParaRPr lang="en-US" sz="850" dirty="0"/>
          </a:p>
        </p:txBody>
      </p:sp>
      <p:sp>
        <p:nvSpPr>
          <p:cNvPr id="16" name="Shape 13"/>
          <p:cNvSpPr/>
          <p:nvPr/>
        </p:nvSpPr>
        <p:spPr>
          <a:xfrm>
            <a:off x="2907792" y="2657758"/>
            <a:ext cx="493776" cy="2718914"/>
          </a:xfrm>
          <a:prstGeom prst="roundRect">
            <a:avLst>
              <a:gd name="adj" fmla="val 9259"/>
            </a:avLst>
          </a:prstGeom>
          <a:solidFill>
            <a:srgbClr val="177A46"/>
          </a:solidFill>
          <a:ln w="5080">
            <a:solidFill>
              <a:srgbClr val="177A46"/>
            </a:solidFill>
            <a:prstDash val="solid"/>
          </a:ln>
        </p:spPr>
      </p:sp>
      <p:sp>
        <p:nvSpPr>
          <p:cNvPr id="17" name="Text 14"/>
          <p:cNvSpPr/>
          <p:nvPr/>
        </p:nvSpPr>
        <p:spPr>
          <a:xfrm>
            <a:off x="2816352" y="2420014"/>
            <a:ext cx="676656" cy="219456"/>
          </a:xfrm>
          <a:prstGeom prst="rect">
            <a:avLst/>
          </a:prstGeom>
          <a:noFill/>
          <a:ln/>
        </p:spPr>
        <p:txBody>
          <a:bodyPr wrap="square" lIns="0" tIns="0" rIns="0" bIns="0" rtlCol="0" anchor="b"/>
          <a:lstStyle/>
          <a:p>
            <a:pPr algn="ctr" indent="0" marL="0">
              <a:buNone/>
            </a:pPr>
            <a:r>
              <a:rPr lang="en-US" sz="850" b="1" dirty="0">
                <a:solidFill>
                  <a:srgbClr val="0C1A2B"/>
                </a:solidFill>
                <a:latin typeface="Nunito Sans" pitchFamily="34" charset="0"/>
                <a:ea typeface="Nunito Sans" pitchFamily="34" charset="-122"/>
                <a:cs typeface="Nunito Sans" pitchFamily="34" charset="-120"/>
              </a:rPr>
              <a:t>₹202</a:t>
            </a:r>
            <a:endParaRPr lang="en-US" sz="850" dirty="0"/>
          </a:p>
        </p:txBody>
      </p:sp>
      <p:sp>
        <p:nvSpPr>
          <p:cNvPr id="18" name="Text 15"/>
          <p:cNvSpPr/>
          <p:nvPr/>
        </p:nvSpPr>
        <p:spPr>
          <a:xfrm>
            <a:off x="2212848" y="5431536"/>
            <a:ext cx="1298448" cy="237744"/>
          </a:xfrm>
          <a:prstGeom prst="rect">
            <a:avLst/>
          </a:prstGeom>
          <a:noFill/>
          <a:ln/>
        </p:spPr>
        <p:txBody>
          <a:bodyPr wrap="square" lIns="0" tIns="0" rIns="0" bIns="0" rtlCol="0" anchor="t"/>
          <a:lstStyle/>
          <a:p>
            <a:pPr algn="ctr" indent="0" marL="0">
              <a:buNone/>
            </a:pPr>
            <a:r>
              <a:rPr lang="en-US" sz="850" dirty="0">
                <a:solidFill>
                  <a:srgbClr val="54606F"/>
                </a:solidFill>
                <a:latin typeface="Nunito Sans" pitchFamily="34" charset="0"/>
                <a:ea typeface="Nunito Sans" pitchFamily="34" charset="-122"/>
                <a:cs typeface="Nunito Sans" pitchFamily="34" charset="-120"/>
              </a:rPr>
              <a:t>Spices</a:t>
            </a:r>
            <a:endParaRPr lang="en-US" sz="850" dirty="0"/>
          </a:p>
        </p:txBody>
      </p:sp>
      <p:sp>
        <p:nvSpPr>
          <p:cNvPr id="19" name="Shape 16"/>
          <p:cNvSpPr/>
          <p:nvPr/>
        </p:nvSpPr>
        <p:spPr>
          <a:xfrm>
            <a:off x="3602736" y="4945953"/>
            <a:ext cx="493776" cy="430719"/>
          </a:xfrm>
          <a:prstGeom prst="roundRect">
            <a:avLst>
              <a:gd name="adj" fmla="val 10615"/>
            </a:avLst>
          </a:prstGeom>
          <a:solidFill>
            <a:srgbClr val="6688BE"/>
          </a:solidFill>
          <a:ln w="5080">
            <a:solidFill>
              <a:srgbClr val="6688BE"/>
            </a:solidFill>
            <a:prstDash val="solid"/>
          </a:ln>
        </p:spPr>
      </p:sp>
      <p:sp>
        <p:nvSpPr>
          <p:cNvPr id="20" name="Text 17"/>
          <p:cNvSpPr/>
          <p:nvPr/>
        </p:nvSpPr>
        <p:spPr>
          <a:xfrm>
            <a:off x="3511296" y="4708209"/>
            <a:ext cx="676656" cy="219456"/>
          </a:xfrm>
          <a:prstGeom prst="rect">
            <a:avLst/>
          </a:prstGeom>
          <a:noFill/>
          <a:ln/>
        </p:spPr>
        <p:txBody>
          <a:bodyPr wrap="square" lIns="0" tIns="0" rIns="0" bIns="0" rtlCol="0" anchor="b"/>
          <a:lstStyle/>
          <a:p>
            <a:pPr algn="ctr" indent="0" marL="0">
              <a:buNone/>
            </a:pPr>
            <a:r>
              <a:rPr lang="en-US" sz="850" b="1" dirty="0">
                <a:solidFill>
                  <a:srgbClr val="0C1A2B"/>
                </a:solidFill>
                <a:latin typeface="Nunito Sans" pitchFamily="34" charset="0"/>
                <a:ea typeface="Nunito Sans" pitchFamily="34" charset="-122"/>
                <a:cs typeface="Nunito Sans" pitchFamily="34" charset="-120"/>
              </a:rPr>
              <a:t>₹32</a:t>
            </a:r>
            <a:endParaRPr lang="en-US" sz="850" dirty="0"/>
          </a:p>
        </p:txBody>
      </p:sp>
      <p:sp>
        <p:nvSpPr>
          <p:cNvPr id="21" name="Shape 18"/>
          <p:cNvSpPr/>
          <p:nvPr/>
        </p:nvSpPr>
        <p:spPr>
          <a:xfrm>
            <a:off x="4206240" y="3101937"/>
            <a:ext cx="493776" cy="2274735"/>
          </a:xfrm>
          <a:prstGeom prst="roundRect">
            <a:avLst>
              <a:gd name="adj" fmla="val 9259"/>
            </a:avLst>
          </a:prstGeom>
          <a:solidFill>
            <a:srgbClr val="177A46"/>
          </a:solidFill>
          <a:ln w="5080">
            <a:solidFill>
              <a:srgbClr val="177A46"/>
            </a:solidFill>
            <a:prstDash val="solid"/>
          </a:ln>
        </p:spPr>
      </p:sp>
      <p:sp>
        <p:nvSpPr>
          <p:cNvPr id="22" name="Text 19"/>
          <p:cNvSpPr/>
          <p:nvPr/>
        </p:nvSpPr>
        <p:spPr>
          <a:xfrm>
            <a:off x="4114800" y="2864193"/>
            <a:ext cx="676656" cy="219456"/>
          </a:xfrm>
          <a:prstGeom prst="rect">
            <a:avLst/>
          </a:prstGeom>
          <a:noFill/>
          <a:ln/>
        </p:spPr>
        <p:txBody>
          <a:bodyPr wrap="square" lIns="0" tIns="0" rIns="0" bIns="0" rtlCol="0" anchor="b"/>
          <a:lstStyle/>
          <a:p>
            <a:pPr algn="ctr" indent="0" marL="0">
              <a:buNone/>
            </a:pPr>
            <a:r>
              <a:rPr lang="en-US" sz="850" b="1" dirty="0">
                <a:solidFill>
                  <a:srgbClr val="0C1A2B"/>
                </a:solidFill>
                <a:latin typeface="Nunito Sans" pitchFamily="34" charset="0"/>
                <a:ea typeface="Nunito Sans" pitchFamily="34" charset="-122"/>
                <a:cs typeface="Nunito Sans" pitchFamily="34" charset="-120"/>
              </a:rPr>
              <a:t>₹169</a:t>
            </a:r>
            <a:endParaRPr lang="en-US" sz="850" dirty="0"/>
          </a:p>
        </p:txBody>
      </p:sp>
      <p:sp>
        <p:nvSpPr>
          <p:cNvPr id="23" name="Text 20"/>
          <p:cNvSpPr/>
          <p:nvPr/>
        </p:nvSpPr>
        <p:spPr>
          <a:xfrm>
            <a:off x="3511296" y="5431536"/>
            <a:ext cx="1298448" cy="237744"/>
          </a:xfrm>
          <a:prstGeom prst="rect">
            <a:avLst/>
          </a:prstGeom>
          <a:noFill/>
          <a:ln/>
        </p:spPr>
        <p:txBody>
          <a:bodyPr wrap="square" lIns="0" tIns="0" rIns="0" bIns="0" rtlCol="0" anchor="t"/>
          <a:lstStyle/>
          <a:p>
            <a:pPr algn="ctr" indent="0" marL="0">
              <a:buNone/>
            </a:pPr>
            <a:r>
              <a:rPr lang="en-US" sz="850" dirty="0">
                <a:solidFill>
                  <a:srgbClr val="54606F"/>
                </a:solidFill>
                <a:latin typeface="Nunito Sans" pitchFamily="34" charset="0"/>
                <a:ea typeface="Nunito Sans" pitchFamily="34" charset="-122"/>
                <a:cs typeface="Nunito Sans" pitchFamily="34" charset="-120"/>
              </a:rPr>
              <a:t>Value-Added</a:t>
            </a:r>
            <a:endParaRPr lang="en-US" sz="850" dirty="0"/>
          </a:p>
        </p:txBody>
      </p:sp>
      <p:sp>
        <p:nvSpPr>
          <p:cNvPr id="24" name="Shape 21"/>
          <p:cNvSpPr/>
          <p:nvPr/>
        </p:nvSpPr>
        <p:spPr>
          <a:xfrm>
            <a:off x="4901184" y="5255532"/>
            <a:ext cx="493776" cy="121140"/>
          </a:xfrm>
          <a:prstGeom prst="roundRect">
            <a:avLst>
              <a:gd name="adj" fmla="val 37741"/>
            </a:avLst>
          </a:prstGeom>
          <a:solidFill>
            <a:srgbClr val="6688BE"/>
          </a:solidFill>
          <a:ln w="5080">
            <a:solidFill>
              <a:srgbClr val="6688BE"/>
            </a:solidFill>
            <a:prstDash val="solid"/>
          </a:ln>
        </p:spPr>
      </p:sp>
      <p:sp>
        <p:nvSpPr>
          <p:cNvPr id="25" name="Text 22"/>
          <p:cNvSpPr/>
          <p:nvPr/>
        </p:nvSpPr>
        <p:spPr>
          <a:xfrm>
            <a:off x="4809744" y="5017788"/>
            <a:ext cx="676656" cy="219456"/>
          </a:xfrm>
          <a:prstGeom prst="rect">
            <a:avLst/>
          </a:prstGeom>
          <a:noFill/>
          <a:ln/>
        </p:spPr>
        <p:txBody>
          <a:bodyPr wrap="square" lIns="0" tIns="0" rIns="0" bIns="0" rtlCol="0" anchor="b"/>
          <a:lstStyle/>
          <a:p>
            <a:pPr algn="ctr" indent="0" marL="0">
              <a:buNone/>
            </a:pPr>
            <a:r>
              <a:rPr lang="en-US" sz="850" b="1" dirty="0">
                <a:solidFill>
                  <a:srgbClr val="0C1A2B"/>
                </a:solidFill>
                <a:latin typeface="Nunito Sans" pitchFamily="34" charset="0"/>
                <a:ea typeface="Nunito Sans" pitchFamily="34" charset="-122"/>
                <a:cs typeface="Nunito Sans" pitchFamily="34" charset="-120"/>
              </a:rPr>
              <a:t>₹9</a:t>
            </a:r>
            <a:endParaRPr lang="en-US" sz="850" dirty="0"/>
          </a:p>
        </p:txBody>
      </p:sp>
      <p:sp>
        <p:nvSpPr>
          <p:cNvPr id="26" name="Shape 23"/>
          <p:cNvSpPr/>
          <p:nvPr/>
        </p:nvSpPr>
        <p:spPr>
          <a:xfrm>
            <a:off x="5504688" y="3761476"/>
            <a:ext cx="493776" cy="1615196"/>
          </a:xfrm>
          <a:prstGeom prst="roundRect">
            <a:avLst>
              <a:gd name="adj" fmla="val 9259"/>
            </a:avLst>
          </a:prstGeom>
          <a:solidFill>
            <a:srgbClr val="177A46"/>
          </a:solidFill>
          <a:ln w="5080">
            <a:solidFill>
              <a:srgbClr val="177A46"/>
            </a:solidFill>
            <a:prstDash val="solid"/>
          </a:ln>
        </p:spPr>
      </p:sp>
      <p:sp>
        <p:nvSpPr>
          <p:cNvPr id="27" name="Text 24"/>
          <p:cNvSpPr/>
          <p:nvPr/>
        </p:nvSpPr>
        <p:spPr>
          <a:xfrm>
            <a:off x="5413248" y="3523732"/>
            <a:ext cx="676656" cy="219456"/>
          </a:xfrm>
          <a:prstGeom prst="rect">
            <a:avLst/>
          </a:prstGeom>
          <a:noFill/>
          <a:ln/>
        </p:spPr>
        <p:txBody>
          <a:bodyPr wrap="square" lIns="0" tIns="0" rIns="0" bIns="0" rtlCol="0" anchor="b"/>
          <a:lstStyle/>
          <a:p>
            <a:pPr algn="ctr" indent="0" marL="0">
              <a:buNone/>
            </a:pPr>
            <a:r>
              <a:rPr lang="en-US" sz="850" b="1" dirty="0">
                <a:solidFill>
                  <a:srgbClr val="0C1A2B"/>
                </a:solidFill>
                <a:latin typeface="Nunito Sans" pitchFamily="34" charset="0"/>
                <a:ea typeface="Nunito Sans" pitchFamily="34" charset="-122"/>
                <a:cs typeface="Nunito Sans" pitchFamily="34" charset="-120"/>
              </a:rPr>
              <a:t>₹120</a:t>
            </a:r>
            <a:endParaRPr lang="en-US" sz="850" dirty="0"/>
          </a:p>
        </p:txBody>
      </p:sp>
      <p:sp>
        <p:nvSpPr>
          <p:cNvPr id="28" name="Text 25"/>
          <p:cNvSpPr/>
          <p:nvPr/>
        </p:nvSpPr>
        <p:spPr>
          <a:xfrm>
            <a:off x="4809744" y="5431536"/>
            <a:ext cx="1298448" cy="237744"/>
          </a:xfrm>
          <a:prstGeom prst="rect">
            <a:avLst/>
          </a:prstGeom>
          <a:noFill/>
          <a:ln/>
        </p:spPr>
        <p:txBody>
          <a:bodyPr wrap="square" lIns="0" tIns="0" rIns="0" bIns="0" rtlCol="0" anchor="t"/>
          <a:lstStyle/>
          <a:p>
            <a:pPr algn="ctr" indent="0" marL="0">
              <a:buNone/>
            </a:pPr>
            <a:r>
              <a:rPr lang="en-US" sz="850" dirty="0">
                <a:solidFill>
                  <a:srgbClr val="54606F"/>
                </a:solidFill>
                <a:latin typeface="Nunito Sans" pitchFamily="34" charset="0"/>
                <a:ea typeface="Nunito Sans" pitchFamily="34" charset="-122"/>
                <a:cs typeface="Nunito Sans" pitchFamily="34" charset="-120"/>
              </a:rPr>
              <a:t>Oil &amp; Ghee</a:t>
            </a:r>
            <a:endParaRPr lang="en-US" sz="850" dirty="0"/>
          </a:p>
        </p:txBody>
      </p:sp>
      <p:sp>
        <p:nvSpPr>
          <p:cNvPr id="29" name="Shape 26"/>
          <p:cNvSpPr/>
          <p:nvPr/>
        </p:nvSpPr>
        <p:spPr>
          <a:xfrm>
            <a:off x="6199632" y="5340096"/>
            <a:ext cx="493776" cy="36576"/>
          </a:xfrm>
          <a:prstGeom prst="roundRect">
            <a:avLst>
              <a:gd name="adj" fmla="val 125000"/>
            </a:avLst>
          </a:prstGeom>
          <a:solidFill>
            <a:srgbClr val="6688BE"/>
          </a:solidFill>
          <a:ln w="5080">
            <a:solidFill>
              <a:srgbClr val="6688BE"/>
            </a:solidFill>
            <a:prstDash val="solid"/>
          </a:ln>
        </p:spPr>
      </p:sp>
      <p:sp>
        <p:nvSpPr>
          <p:cNvPr id="30" name="Text 27"/>
          <p:cNvSpPr/>
          <p:nvPr/>
        </p:nvSpPr>
        <p:spPr>
          <a:xfrm>
            <a:off x="6108192" y="5102352"/>
            <a:ext cx="676656" cy="219456"/>
          </a:xfrm>
          <a:prstGeom prst="rect">
            <a:avLst/>
          </a:prstGeom>
          <a:noFill/>
          <a:ln/>
        </p:spPr>
        <p:txBody>
          <a:bodyPr wrap="square" lIns="0" tIns="0" rIns="0" bIns="0" rtlCol="0" anchor="b"/>
          <a:lstStyle/>
          <a:p>
            <a:pPr algn="ctr" indent="0" marL="0">
              <a:buNone/>
            </a:pPr>
            <a:r>
              <a:rPr lang="en-US" sz="850" b="1" dirty="0">
                <a:solidFill>
                  <a:srgbClr val="0C1A2B"/>
                </a:solidFill>
                <a:latin typeface="Nunito Sans" pitchFamily="34" charset="0"/>
                <a:ea typeface="Nunito Sans" pitchFamily="34" charset="-122"/>
                <a:cs typeface="Nunito Sans" pitchFamily="34" charset="-120"/>
              </a:rPr>
              <a:t>₹2</a:t>
            </a:r>
            <a:endParaRPr lang="en-US" sz="850" dirty="0"/>
          </a:p>
        </p:txBody>
      </p:sp>
      <p:sp>
        <p:nvSpPr>
          <p:cNvPr id="31" name="Shape 28"/>
          <p:cNvSpPr/>
          <p:nvPr/>
        </p:nvSpPr>
        <p:spPr>
          <a:xfrm>
            <a:off x="6803136" y="4972873"/>
            <a:ext cx="493776" cy="403799"/>
          </a:xfrm>
          <a:prstGeom prst="roundRect">
            <a:avLst>
              <a:gd name="adj" fmla="val 11322"/>
            </a:avLst>
          </a:prstGeom>
          <a:solidFill>
            <a:srgbClr val="177A46"/>
          </a:solidFill>
          <a:ln w="5080">
            <a:solidFill>
              <a:srgbClr val="177A46"/>
            </a:solidFill>
            <a:prstDash val="solid"/>
          </a:ln>
        </p:spPr>
      </p:sp>
      <p:sp>
        <p:nvSpPr>
          <p:cNvPr id="32" name="Text 29"/>
          <p:cNvSpPr/>
          <p:nvPr/>
        </p:nvSpPr>
        <p:spPr>
          <a:xfrm>
            <a:off x="6711696" y="4735129"/>
            <a:ext cx="676656" cy="219456"/>
          </a:xfrm>
          <a:prstGeom prst="rect">
            <a:avLst/>
          </a:prstGeom>
          <a:noFill/>
          <a:ln/>
        </p:spPr>
        <p:txBody>
          <a:bodyPr wrap="square" lIns="0" tIns="0" rIns="0" bIns="0" rtlCol="0" anchor="b"/>
          <a:lstStyle/>
          <a:p>
            <a:pPr algn="ctr" indent="0" marL="0">
              <a:buNone/>
            </a:pPr>
            <a:r>
              <a:rPr lang="en-US" sz="850" b="1" dirty="0">
                <a:solidFill>
                  <a:srgbClr val="0C1A2B"/>
                </a:solidFill>
                <a:latin typeface="Nunito Sans" pitchFamily="34" charset="0"/>
                <a:ea typeface="Nunito Sans" pitchFamily="34" charset="-122"/>
                <a:cs typeface="Nunito Sans" pitchFamily="34" charset="-120"/>
              </a:rPr>
              <a:t>₹30</a:t>
            </a:r>
            <a:endParaRPr lang="en-US" sz="850" dirty="0"/>
          </a:p>
        </p:txBody>
      </p:sp>
      <p:sp>
        <p:nvSpPr>
          <p:cNvPr id="33" name="Text 30"/>
          <p:cNvSpPr/>
          <p:nvPr/>
        </p:nvSpPr>
        <p:spPr>
          <a:xfrm>
            <a:off x="6108192" y="5431536"/>
            <a:ext cx="1298448" cy="237744"/>
          </a:xfrm>
          <a:prstGeom prst="rect">
            <a:avLst/>
          </a:prstGeom>
          <a:noFill/>
          <a:ln/>
        </p:spPr>
        <p:txBody>
          <a:bodyPr wrap="square" lIns="0" tIns="0" rIns="0" bIns="0" rtlCol="0" anchor="t"/>
          <a:lstStyle/>
          <a:p>
            <a:pPr algn="ctr" indent="0" marL="0">
              <a:buNone/>
            </a:pPr>
            <a:r>
              <a:rPr lang="en-US" sz="850" dirty="0">
                <a:solidFill>
                  <a:srgbClr val="54606F"/>
                </a:solidFill>
                <a:latin typeface="Nunito Sans" pitchFamily="34" charset="0"/>
                <a:ea typeface="Nunito Sans" pitchFamily="34" charset="-122"/>
                <a:cs typeface="Nunito Sans" pitchFamily="34" charset="-120"/>
              </a:rPr>
              <a:t>Processed</a:t>
            </a:r>
            <a:endParaRPr lang="en-US" sz="850" dirty="0"/>
          </a:p>
        </p:txBody>
      </p:sp>
      <p:sp>
        <p:nvSpPr>
          <p:cNvPr id="34" name="Shape 31"/>
          <p:cNvSpPr/>
          <p:nvPr/>
        </p:nvSpPr>
        <p:spPr>
          <a:xfrm>
            <a:off x="914400" y="5760720"/>
            <a:ext cx="146304" cy="146304"/>
          </a:xfrm>
          <a:prstGeom prst="rect">
            <a:avLst/>
          </a:prstGeom>
          <a:solidFill>
            <a:srgbClr val="6688BE"/>
          </a:solidFill>
          <a:ln w="5080">
            <a:solidFill>
              <a:srgbClr val="6688BE"/>
            </a:solidFill>
            <a:prstDash val="solid"/>
          </a:ln>
        </p:spPr>
      </p:sp>
      <p:sp>
        <p:nvSpPr>
          <p:cNvPr id="35" name="Text 32"/>
          <p:cNvSpPr/>
          <p:nvPr/>
        </p:nvSpPr>
        <p:spPr>
          <a:xfrm>
            <a:off x="1133856" y="5724144"/>
            <a:ext cx="640080" cy="219456"/>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FY27</a:t>
            </a:r>
            <a:endParaRPr lang="en-US" sz="850" dirty="0"/>
          </a:p>
        </p:txBody>
      </p:sp>
      <p:sp>
        <p:nvSpPr>
          <p:cNvPr id="36" name="Shape 33"/>
          <p:cNvSpPr/>
          <p:nvPr/>
        </p:nvSpPr>
        <p:spPr>
          <a:xfrm>
            <a:off x="1874520" y="5760720"/>
            <a:ext cx="146304" cy="146304"/>
          </a:xfrm>
          <a:prstGeom prst="rect">
            <a:avLst/>
          </a:prstGeom>
          <a:solidFill>
            <a:srgbClr val="177A46"/>
          </a:solidFill>
          <a:ln w="5080">
            <a:solidFill>
              <a:srgbClr val="177A46"/>
            </a:solidFill>
            <a:prstDash val="solid"/>
          </a:ln>
        </p:spPr>
      </p:sp>
      <p:sp>
        <p:nvSpPr>
          <p:cNvPr id="37" name="Text 34"/>
          <p:cNvSpPr/>
          <p:nvPr/>
        </p:nvSpPr>
        <p:spPr>
          <a:xfrm>
            <a:off x="2093976" y="5724144"/>
            <a:ext cx="640080" cy="219456"/>
          </a:xfrm>
          <a:prstGeom prst="rect">
            <a:avLst/>
          </a:prstGeom>
          <a:noFill/>
          <a:ln/>
        </p:spPr>
        <p:txBody>
          <a:bodyPr wrap="square" lIns="0" tIns="0" rIns="0" bIns="0" rtlCol="0" anchor="ctr"/>
          <a:lstStyle/>
          <a:p>
            <a:pPr indent="0" marL="0">
              <a:buNone/>
            </a:pPr>
            <a:r>
              <a:rPr lang="en-US" sz="850" dirty="0">
                <a:solidFill>
                  <a:srgbClr val="54606F"/>
                </a:solidFill>
                <a:latin typeface="Nunito Sans" pitchFamily="34" charset="0"/>
                <a:ea typeface="Nunito Sans" pitchFamily="34" charset="-122"/>
                <a:cs typeface="Nunito Sans" pitchFamily="34" charset="-120"/>
              </a:rPr>
              <a:t>FY31</a:t>
            </a:r>
            <a:endParaRPr lang="en-US" sz="850" dirty="0"/>
          </a:p>
        </p:txBody>
      </p:sp>
      <p:sp>
        <p:nvSpPr>
          <p:cNvPr id="38" name="Shape 35"/>
          <p:cNvSpPr/>
          <p:nvPr/>
        </p:nvSpPr>
        <p:spPr>
          <a:xfrm>
            <a:off x="8001000" y="1463040"/>
            <a:ext cx="3687775" cy="0"/>
          </a:xfrm>
          <a:prstGeom prst="line">
            <a:avLst/>
          </a:prstGeom>
          <a:noFill/>
          <a:ln w="25400">
            <a:solidFill>
              <a:srgbClr val="177A46"/>
            </a:solidFill>
            <a:prstDash val="solid"/>
          </a:ln>
        </p:spPr>
      </p:sp>
      <p:sp>
        <p:nvSpPr>
          <p:cNvPr id="39" name="Text 36"/>
          <p:cNvSpPr/>
          <p:nvPr/>
        </p:nvSpPr>
        <p:spPr>
          <a:xfrm>
            <a:off x="8001000" y="1609344"/>
            <a:ext cx="3687775" cy="367284"/>
          </a:xfrm>
          <a:prstGeom prst="rect">
            <a:avLst/>
          </a:prstGeom>
          <a:noFill/>
          <a:ln/>
        </p:spPr>
        <p:txBody>
          <a:bodyPr wrap="square" lIns="0" tIns="0" rIns="0" bIns="0" rtlCol="0" anchor="t"/>
          <a:lstStyle/>
          <a:p>
            <a:pPr indent="0" marL="0">
              <a:buNone/>
            </a:pPr>
            <a:r>
              <a:rPr lang="en-US" sz="2100" dirty="0">
                <a:solidFill>
                  <a:srgbClr val="177A46"/>
                </a:solidFill>
                <a:latin typeface="Archivo Black" pitchFamily="34" charset="0"/>
                <a:ea typeface="Archivo Black" pitchFamily="34" charset="-122"/>
                <a:cs typeface="Archivo Black" pitchFamily="34" charset="-120"/>
              </a:rPr>
              <a:t>11.2×</a:t>
            </a:r>
            <a:endParaRPr lang="en-US" sz="2100" dirty="0"/>
          </a:p>
        </p:txBody>
      </p:sp>
      <p:sp>
        <p:nvSpPr>
          <p:cNvPr id="40" name="Text 37"/>
          <p:cNvSpPr/>
          <p:nvPr/>
        </p:nvSpPr>
        <p:spPr>
          <a:xfrm>
            <a:off x="8001000" y="2013204"/>
            <a:ext cx="3550615" cy="473964"/>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Spices, FY27 → FY31. Mix moves from 17% to 27% of revenue, at 51–58% gross margin.</a:t>
            </a:r>
            <a:endParaRPr lang="en-US" sz="850" dirty="0"/>
          </a:p>
        </p:txBody>
      </p:sp>
      <p:sp>
        <p:nvSpPr>
          <p:cNvPr id="41" name="Shape 38"/>
          <p:cNvSpPr/>
          <p:nvPr/>
        </p:nvSpPr>
        <p:spPr>
          <a:xfrm>
            <a:off x="8001000" y="2651760"/>
            <a:ext cx="3687775" cy="0"/>
          </a:xfrm>
          <a:prstGeom prst="line">
            <a:avLst/>
          </a:prstGeom>
          <a:noFill/>
          <a:ln w="25400">
            <a:solidFill>
              <a:srgbClr val="177A46"/>
            </a:solidFill>
            <a:prstDash val="solid"/>
          </a:ln>
        </p:spPr>
      </p:sp>
      <p:sp>
        <p:nvSpPr>
          <p:cNvPr id="42" name="Text 39"/>
          <p:cNvSpPr/>
          <p:nvPr/>
        </p:nvSpPr>
        <p:spPr>
          <a:xfrm>
            <a:off x="8001000" y="2798064"/>
            <a:ext cx="3687775" cy="367284"/>
          </a:xfrm>
          <a:prstGeom prst="rect">
            <a:avLst/>
          </a:prstGeom>
          <a:noFill/>
          <a:ln/>
        </p:spPr>
        <p:txBody>
          <a:bodyPr wrap="square" lIns="0" tIns="0" rIns="0" bIns="0" rtlCol="0" anchor="t"/>
          <a:lstStyle/>
          <a:p>
            <a:pPr indent="0" marL="0">
              <a:buNone/>
            </a:pPr>
            <a:r>
              <a:rPr lang="en-US" sz="2100" dirty="0">
                <a:solidFill>
                  <a:srgbClr val="177A46"/>
                </a:solidFill>
                <a:latin typeface="Archivo Black" pitchFamily="34" charset="0"/>
                <a:ea typeface="Archivo Black" pitchFamily="34" charset="-122"/>
                <a:cs typeface="Archivo Black" pitchFamily="34" charset="-120"/>
              </a:rPr>
              <a:t>₹99.9 Cr</a:t>
            </a:r>
            <a:endParaRPr lang="en-US" sz="2100" dirty="0"/>
          </a:p>
        </p:txBody>
      </p:sp>
      <p:sp>
        <p:nvSpPr>
          <p:cNvPr id="43" name="Text 40"/>
          <p:cNvSpPr/>
          <p:nvPr/>
        </p:nvSpPr>
        <p:spPr>
          <a:xfrm>
            <a:off x="8001000" y="3201924"/>
            <a:ext cx="3550615" cy="473964"/>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Makhana — the single largest SKU in the FY31 plan, and a realisation play, not a tonnage play.</a:t>
            </a:r>
            <a:endParaRPr lang="en-US" sz="850" dirty="0"/>
          </a:p>
        </p:txBody>
      </p:sp>
      <p:sp>
        <p:nvSpPr>
          <p:cNvPr id="44" name="Shape 41"/>
          <p:cNvSpPr/>
          <p:nvPr/>
        </p:nvSpPr>
        <p:spPr>
          <a:xfrm>
            <a:off x="8001000" y="3840480"/>
            <a:ext cx="3687775" cy="0"/>
          </a:xfrm>
          <a:prstGeom prst="line">
            <a:avLst/>
          </a:prstGeom>
          <a:noFill/>
          <a:ln w="25400">
            <a:solidFill>
              <a:srgbClr val="177A46"/>
            </a:solidFill>
            <a:prstDash val="solid"/>
          </a:ln>
        </p:spPr>
      </p:sp>
      <p:sp>
        <p:nvSpPr>
          <p:cNvPr id="45" name="Text 42"/>
          <p:cNvSpPr/>
          <p:nvPr/>
        </p:nvSpPr>
        <p:spPr>
          <a:xfrm>
            <a:off x="8001000" y="3986784"/>
            <a:ext cx="3687775" cy="367284"/>
          </a:xfrm>
          <a:prstGeom prst="rect">
            <a:avLst/>
          </a:prstGeom>
          <a:noFill/>
          <a:ln/>
        </p:spPr>
        <p:txBody>
          <a:bodyPr wrap="square" lIns="0" tIns="0" rIns="0" bIns="0" rtlCol="0" anchor="t"/>
          <a:lstStyle/>
          <a:p>
            <a:pPr indent="0" marL="0">
              <a:buNone/>
            </a:pPr>
            <a:r>
              <a:rPr lang="en-US" sz="2100" dirty="0">
                <a:solidFill>
                  <a:srgbClr val="177A46"/>
                </a:solidFill>
                <a:latin typeface="Archivo Black" pitchFamily="34" charset="0"/>
                <a:ea typeface="Archivo Black" pitchFamily="34" charset="-122"/>
                <a:cs typeface="Archivo Black" pitchFamily="34" charset="-120"/>
              </a:rPr>
              <a:t>₹95.5 Cr</a:t>
            </a:r>
            <a:endParaRPr lang="en-US" sz="2100" dirty="0"/>
          </a:p>
        </p:txBody>
      </p:sp>
      <p:sp>
        <p:nvSpPr>
          <p:cNvPr id="46" name="Text 43"/>
          <p:cNvSpPr/>
          <p:nvPr/>
        </p:nvSpPr>
        <p:spPr>
          <a:xfrm>
            <a:off x="8001000" y="4390644"/>
            <a:ext cx="3550615" cy="473964"/>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From four ground spice powders that do not exist today. Pure NPD, from a zero base.</a:t>
            </a:r>
            <a:endParaRPr lang="en-US" sz="850" dirty="0"/>
          </a:p>
        </p:txBody>
      </p:sp>
      <p:sp>
        <p:nvSpPr>
          <p:cNvPr id="47" name="Shape 44"/>
          <p:cNvSpPr/>
          <p:nvPr/>
        </p:nvSpPr>
        <p:spPr>
          <a:xfrm>
            <a:off x="8001000" y="5084064"/>
            <a:ext cx="3687775" cy="1298448"/>
          </a:xfrm>
          <a:prstGeom prst="roundRect">
            <a:avLst>
              <a:gd name="adj" fmla="val 7042"/>
            </a:avLst>
          </a:prstGeom>
          <a:solidFill>
            <a:srgbClr val="FBE9E3"/>
          </a:solidFill>
          <a:ln w="6350">
            <a:solidFill>
              <a:srgbClr val="FBE9E3"/>
            </a:solidFill>
            <a:prstDash val="solid"/>
          </a:ln>
        </p:spPr>
      </p:sp>
      <p:sp>
        <p:nvSpPr>
          <p:cNvPr id="48" name="Text 45"/>
          <p:cNvSpPr/>
          <p:nvPr/>
        </p:nvSpPr>
        <p:spPr>
          <a:xfrm>
            <a:off x="8202168" y="5202936"/>
            <a:ext cx="3285439" cy="1088136"/>
          </a:xfrm>
          <a:prstGeom prst="rect">
            <a:avLst/>
          </a:prstGeom>
          <a:noFill/>
          <a:ln/>
        </p:spPr>
        <p:txBody>
          <a:bodyPr wrap="square" lIns="0" tIns="0" rIns="0" bIns="0" rtlCol="0" anchor="t"/>
          <a:lstStyle/>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Pulses hold the volume base. Spices deliver the entire +5.8pp of margin expansion. So, a slipped spice launch is a slipped P&amp;L.</a:t>
            </a:r>
            <a:endParaRPr lang="en-US" sz="900" dirty="0"/>
          </a:p>
        </p:txBody>
      </p:sp>
      <p:sp>
        <p:nvSpPr>
          <p:cNvPr id="49" name="Shape 46"/>
          <p:cNvSpPr/>
          <p:nvPr/>
        </p:nvSpPr>
        <p:spPr>
          <a:xfrm>
            <a:off x="502920" y="6492240"/>
            <a:ext cx="11185855" cy="0"/>
          </a:xfrm>
          <a:prstGeom prst="line">
            <a:avLst/>
          </a:prstGeom>
          <a:noFill/>
          <a:ln w="9525">
            <a:solidFill>
              <a:srgbClr val="E5DCCB"/>
            </a:solidFill>
            <a:prstDash val="solid"/>
          </a:ln>
        </p:spPr>
      </p:sp>
      <p:sp>
        <p:nvSpPr>
          <p:cNvPr id="50" name="Text 47"/>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THE GROWTH ENGINE</a:t>
            </a:r>
            <a:endParaRPr lang="en-US" sz="800" dirty="0"/>
          </a:p>
        </p:txBody>
      </p:sp>
      <p:sp>
        <p:nvSpPr>
          <p:cNvPr id="51" name="Text 48"/>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22</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2607869"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2607869"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THE DISTRIBUTION ROADMAP</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500" dirty="0">
                <a:solidFill>
                  <a:srgbClr val="0C1A2B"/>
                </a:solidFill>
                <a:latin typeface="Archivo Black" pitchFamily="34" charset="0"/>
                <a:ea typeface="Archivo Black" pitchFamily="34" charset="-122"/>
                <a:cs typeface="Archivo Black" pitchFamily="34" charset="-120"/>
              </a:rPr>
              <a:t>Earn the shelf. Then densify it.</a:t>
            </a:r>
            <a:endParaRPr lang="en-US" sz="2500" dirty="0"/>
          </a:p>
        </p:txBody>
      </p:sp>
      <p:sp>
        <p:nvSpPr>
          <p:cNvPr id="6" name="Shape 3"/>
          <p:cNvSpPr/>
          <p:nvPr/>
        </p:nvSpPr>
        <p:spPr>
          <a:xfrm>
            <a:off x="502920" y="1463040"/>
            <a:ext cx="3545738" cy="0"/>
          </a:xfrm>
          <a:prstGeom prst="line">
            <a:avLst/>
          </a:prstGeom>
          <a:noFill/>
          <a:ln w="25400">
            <a:solidFill>
              <a:srgbClr val="3A5D97"/>
            </a:solidFill>
            <a:prstDash val="solid"/>
          </a:ln>
        </p:spPr>
      </p:sp>
      <p:sp>
        <p:nvSpPr>
          <p:cNvPr id="7" name="Text 4"/>
          <p:cNvSpPr/>
          <p:nvPr/>
        </p:nvSpPr>
        <p:spPr>
          <a:xfrm>
            <a:off x="502920" y="1609344"/>
            <a:ext cx="3545738" cy="430276"/>
          </a:xfrm>
          <a:prstGeom prst="rect">
            <a:avLst/>
          </a:prstGeom>
          <a:noFill/>
          <a:ln/>
        </p:spPr>
        <p:txBody>
          <a:bodyPr wrap="square" lIns="0" tIns="0" rIns="0" bIns="0" rtlCol="0" anchor="t"/>
          <a:lstStyle/>
          <a:p>
            <a:pPr indent="0" marL="0">
              <a:buNone/>
            </a:pPr>
            <a:r>
              <a:rPr lang="en-US" sz="2500" dirty="0">
                <a:solidFill>
                  <a:srgbClr val="3A5D97"/>
                </a:solidFill>
                <a:latin typeface="Archivo Black" pitchFamily="34" charset="0"/>
                <a:ea typeface="Archivo Black" pitchFamily="34" charset="-122"/>
                <a:cs typeface="Archivo Black" pitchFamily="34" charset="-120"/>
              </a:rPr>
              <a:t>22,628</a:t>
            </a:r>
            <a:endParaRPr lang="en-US" sz="2500" dirty="0"/>
          </a:p>
        </p:txBody>
      </p:sp>
      <p:sp>
        <p:nvSpPr>
          <p:cNvPr id="8" name="Text 5"/>
          <p:cNvSpPr/>
          <p:nvPr/>
        </p:nvSpPr>
        <p:spPr>
          <a:xfrm>
            <a:off x="502920" y="2076196"/>
            <a:ext cx="3408578" cy="337820"/>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selling points by FY31, from 1,672 today</a:t>
            </a:r>
            <a:endParaRPr lang="en-US" sz="850" dirty="0"/>
          </a:p>
        </p:txBody>
      </p:sp>
      <p:sp>
        <p:nvSpPr>
          <p:cNvPr id="9" name="Shape 6"/>
          <p:cNvSpPr/>
          <p:nvPr/>
        </p:nvSpPr>
        <p:spPr>
          <a:xfrm>
            <a:off x="4322978" y="1463040"/>
            <a:ext cx="3545738" cy="0"/>
          </a:xfrm>
          <a:prstGeom prst="line">
            <a:avLst/>
          </a:prstGeom>
          <a:noFill/>
          <a:ln w="25400">
            <a:solidFill>
              <a:srgbClr val="3A5D97"/>
            </a:solidFill>
            <a:prstDash val="solid"/>
          </a:ln>
        </p:spPr>
      </p:sp>
      <p:sp>
        <p:nvSpPr>
          <p:cNvPr id="10" name="Text 7"/>
          <p:cNvSpPr/>
          <p:nvPr/>
        </p:nvSpPr>
        <p:spPr>
          <a:xfrm>
            <a:off x="4322978" y="1609344"/>
            <a:ext cx="3545738" cy="430276"/>
          </a:xfrm>
          <a:prstGeom prst="rect">
            <a:avLst/>
          </a:prstGeom>
          <a:noFill/>
          <a:ln/>
        </p:spPr>
        <p:txBody>
          <a:bodyPr wrap="square" lIns="0" tIns="0" rIns="0" bIns="0" rtlCol="0" anchor="t"/>
          <a:lstStyle/>
          <a:p>
            <a:pPr indent="0" marL="0">
              <a:buNone/>
            </a:pPr>
            <a:r>
              <a:rPr lang="en-US" sz="2500" dirty="0">
                <a:solidFill>
                  <a:srgbClr val="3A5D97"/>
                </a:solidFill>
                <a:latin typeface="Archivo Black" pitchFamily="34" charset="0"/>
                <a:ea typeface="Archivo Black" pitchFamily="34" charset="-122"/>
                <a:cs typeface="Archivo Black" pitchFamily="34" charset="-120"/>
              </a:rPr>
              <a:t>110</a:t>
            </a:r>
            <a:endParaRPr lang="en-US" sz="2500" dirty="0"/>
          </a:p>
        </p:txBody>
      </p:sp>
      <p:sp>
        <p:nvSpPr>
          <p:cNvPr id="11" name="Text 8"/>
          <p:cNvSpPr/>
          <p:nvPr/>
        </p:nvSpPr>
        <p:spPr>
          <a:xfrm>
            <a:off x="4322978" y="2076196"/>
            <a:ext cx="3408578" cy="337820"/>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offline cities, from 22 today</a:t>
            </a:r>
            <a:endParaRPr lang="en-US" sz="850" dirty="0"/>
          </a:p>
        </p:txBody>
      </p:sp>
      <p:sp>
        <p:nvSpPr>
          <p:cNvPr id="12" name="Shape 9"/>
          <p:cNvSpPr/>
          <p:nvPr/>
        </p:nvSpPr>
        <p:spPr>
          <a:xfrm>
            <a:off x="8143037" y="1463040"/>
            <a:ext cx="3545738" cy="0"/>
          </a:xfrm>
          <a:prstGeom prst="line">
            <a:avLst/>
          </a:prstGeom>
          <a:noFill/>
          <a:ln w="25400">
            <a:solidFill>
              <a:srgbClr val="3A5D97"/>
            </a:solidFill>
            <a:prstDash val="solid"/>
          </a:ln>
        </p:spPr>
      </p:sp>
      <p:sp>
        <p:nvSpPr>
          <p:cNvPr id="13" name="Text 10"/>
          <p:cNvSpPr/>
          <p:nvPr/>
        </p:nvSpPr>
        <p:spPr>
          <a:xfrm>
            <a:off x="8143037" y="1609344"/>
            <a:ext cx="3545738" cy="430276"/>
          </a:xfrm>
          <a:prstGeom prst="rect">
            <a:avLst/>
          </a:prstGeom>
          <a:noFill/>
          <a:ln/>
        </p:spPr>
        <p:txBody>
          <a:bodyPr wrap="square" lIns="0" tIns="0" rIns="0" bIns="0" rtlCol="0" anchor="t"/>
          <a:lstStyle/>
          <a:p>
            <a:pPr indent="0" marL="0">
              <a:buNone/>
            </a:pPr>
            <a:r>
              <a:rPr lang="en-US" sz="2500" dirty="0">
                <a:solidFill>
                  <a:srgbClr val="3A5D97"/>
                </a:solidFill>
                <a:latin typeface="Archivo Black" pitchFamily="34" charset="0"/>
                <a:ea typeface="Archivo Black" pitchFamily="34" charset="-122"/>
                <a:cs typeface="Archivo Black" pitchFamily="34" charset="-120"/>
              </a:rPr>
              <a:t>40%</a:t>
            </a:r>
            <a:endParaRPr lang="en-US" sz="2500" dirty="0"/>
          </a:p>
        </p:txBody>
      </p:sp>
      <p:sp>
        <p:nvSpPr>
          <p:cNvPr id="14" name="Text 11"/>
          <p:cNvSpPr/>
          <p:nvPr/>
        </p:nvSpPr>
        <p:spPr>
          <a:xfrm>
            <a:off x="8143037" y="2076196"/>
            <a:ext cx="3408578" cy="337820"/>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the ceiling on any single channel's share of revenue</a:t>
            </a:r>
            <a:endParaRPr lang="en-US" sz="850" dirty="0"/>
          </a:p>
        </p:txBody>
      </p:sp>
      <p:sp>
        <p:nvSpPr>
          <p:cNvPr id="15" name="Shape 12"/>
          <p:cNvSpPr/>
          <p:nvPr/>
        </p:nvSpPr>
        <p:spPr>
          <a:xfrm>
            <a:off x="502920" y="2633472"/>
            <a:ext cx="6035040" cy="0"/>
          </a:xfrm>
          <a:prstGeom prst="line">
            <a:avLst/>
          </a:prstGeom>
          <a:noFill/>
          <a:ln w="12700">
            <a:solidFill>
              <a:srgbClr val="3A5D97"/>
            </a:solidFill>
            <a:prstDash val="solid"/>
          </a:ln>
        </p:spPr>
      </p:sp>
      <p:sp>
        <p:nvSpPr>
          <p:cNvPr id="16" name="Text 13"/>
          <p:cNvSpPr/>
          <p:nvPr/>
        </p:nvSpPr>
        <p:spPr>
          <a:xfrm>
            <a:off x="502920" y="2679192"/>
            <a:ext cx="6035040"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CHANNEL MIX AT FY31, ₹ CR</a:t>
            </a:r>
            <a:endParaRPr lang="en-US" sz="900" dirty="0"/>
          </a:p>
        </p:txBody>
      </p:sp>
      <p:sp>
        <p:nvSpPr>
          <p:cNvPr id="17" name="Shape 14"/>
          <p:cNvSpPr/>
          <p:nvPr/>
        </p:nvSpPr>
        <p:spPr>
          <a:xfrm>
            <a:off x="502920" y="2926080"/>
            <a:ext cx="6035040" cy="2377440"/>
          </a:xfrm>
          <a:prstGeom prst="roundRect">
            <a:avLst>
              <a:gd name="adj" fmla="val 3846"/>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8" name="Text 15"/>
          <p:cNvSpPr/>
          <p:nvPr/>
        </p:nvSpPr>
        <p:spPr>
          <a:xfrm>
            <a:off x="777240" y="3127248"/>
            <a:ext cx="374904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E-commerce &amp; quick commerce</a:t>
            </a:r>
            <a:endParaRPr lang="en-US" sz="950" dirty="0"/>
          </a:p>
        </p:txBody>
      </p:sp>
      <p:sp>
        <p:nvSpPr>
          <p:cNvPr id="19" name="Text 16"/>
          <p:cNvSpPr/>
          <p:nvPr/>
        </p:nvSpPr>
        <p:spPr>
          <a:xfrm>
            <a:off x="4526280" y="3127248"/>
            <a:ext cx="1737360" cy="201168"/>
          </a:xfrm>
          <a:prstGeom prst="rect">
            <a:avLst/>
          </a:prstGeom>
          <a:noFill/>
          <a:ln/>
        </p:spPr>
        <p:txBody>
          <a:bodyPr wrap="square" lIns="0" tIns="0" rIns="0" bIns="0" rtlCol="0" anchor="ctr"/>
          <a:lstStyle/>
          <a:p>
            <a:pPr algn="r" indent="0" marL="0">
              <a:buNone/>
            </a:pPr>
            <a:r>
              <a:rPr lang="en-US" sz="1000" b="1" dirty="0">
                <a:solidFill>
                  <a:srgbClr val="3A5D97"/>
                </a:solidFill>
                <a:latin typeface="Nunito Sans" pitchFamily="34" charset="0"/>
                <a:ea typeface="Nunito Sans" pitchFamily="34" charset="-122"/>
                <a:cs typeface="Nunito Sans" pitchFamily="34" charset="-120"/>
              </a:rPr>
              <a:t>₹304 Cr</a:t>
            </a:r>
            <a:endParaRPr lang="en-US" sz="1000" dirty="0"/>
          </a:p>
        </p:txBody>
      </p:sp>
      <p:sp>
        <p:nvSpPr>
          <p:cNvPr id="20" name="Shape 17"/>
          <p:cNvSpPr/>
          <p:nvPr/>
        </p:nvSpPr>
        <p:spPr>
          <a:xfrm>
            <a:off x="777240" y="3346704"/>
            <a:ext cx="5486400" cy="146304"/>
          </a:xfrm>
          <a:prstGeom prst="roundRect">
            <a:avLst>
              <a:gd name="adj" fmla="val 50000"/>
            </a:avLst>
          </a:prstGeom>
          <a:solidFill>
            <a:srgbClr val="EDE4D4"/>
          </a:solidFill>
          <a:ln w="12700">
            <a:solidFill>
              <a:srgbClr val="333333"/>
            </a:solidFill>
            <a:prstDash val="solid"/>
          </a:ln>
        </p:spPr>
      </p:sp>
      <p:sp>
        <p:nvSpPr>
          <p:cNvPr id="21" name="Shape 18"/>
          <p:cNvSpPr/>
          <p:nvPr/>
        </p:nvSpPr>
        <p:spPr>
          <a:xfrm>
            <a:off x="777240" y="3346704"/>
            <a:ext cx="4905487" cy="146304"/>
          </a:xfrm>
          <a:prstGeom prst="roundRect">
            <a:avLst>
              <a:gd name="adj" fmla="val 50000"/>
            </a:avLst>
          </a:prstGeom>
          <a:solidFill>
            <a:srgbClr val="3A5D97"/>
          </a:solidFill>
          <a:ln w="12700">
            <a:solidFill>
              <a:srgbClr val="333333"/>
            </a:solidFill>
            <a:prstDash val="solid"/>
          </a:ln>
        </p:spPr>
      </p:sp>
      <p:sp>
        <p:nvSpPr>
          <p:cNvPr id="22" name="Text 19"/>
          <p:cNvSpPr/>
          <p:nvPr/>
        </p:nvSpPr>
        <p:spPr>
          <a:xfrm>
            <a:off x="777240" y="3630168"/>
            <a:ext cx="374904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Regional &amp; premium offline</a:t>
            </a:r>
            <a:endParaRPr lang="en-US" sz="950" dirty="0"/>
          </a:p>
        </p:txBody>
      </p:sp>
      <p:sp>
        <p:nvSpPr>
          <p:cNvPr id="23" name="Text 20"/>
          <p:cNvSpPr/>
          <p:nvPr/>
        </p:nvSpPr>
        <p:spPr>
          <a:xfrm>
            <a:off x="4526280" y="3630168"/>
            <a:ext cx="1737360" cy="201168"/>
          </a:xfrm>
          <a:prstGeom prst="rect">
            <a:avLst/>
          </a:prstGeom>
          <a:noFill/>
          <a:ln/>
        </p:spPr>
        <p:txBody>
          <a:bodyPr wrap="square" lIns="0" tIns="0" rIns="0" bIns="0" rtlCol="0" anchor="ctr"/>
          <a:lstStyle/>
          <a:p>
            <a:pPr algn="r" indent="0" marL="0">
              <a:buNone/>
            </a:pPr>
            <a:r>
              <a:rPr lang="en-US" sz="1000" b="1" dirty="0">
                <a:solidFill>
                  <a:srgbClr val="177A46"/>
                </a:solidFill>
                <a:latin typeface="Nunito Sans" pitchFamily="34" charset="0"/>
                <a:ea typeface="Nunito Sans" pitchFamily="34" charset="-122"/>
                <a:cs typeface="Nunito Sans" pitchFamily="34" charset="-120"/>
              </a:rPr>
              <a:t>₹263 Cr</a:t>
            </a:r>
            <a:endParaRPr lang="en-US" sz="1000" dirty="0"/>
          </a:p>
        </p:txBody>
      </p:sp>
      <p:sp>
        <p:nvSpPr>
          <p:cNvPr id="24" name="Shape 21"/>
          <p:cNvSpPr/>
          <p:nvPr/>
        </p:nvSpPr>
        <p:spPr>
          <a:xfrm>
            <a:off x="777240" y="3849624"/>
            <a:ext cx="5486400" cy="146304"/>
          </a:xfrm>
          <a:prstGeom prst="roundRect">
            <a:avLst>
              <a:gd name="adj" fmla="val 50000"/>
            </a:avLst>
          </a:prstGeom>
          <a:solidFill>
            <a:srgbClr val="EDE4D4"/>
          </a:solidFill>
          <a:ln w="12700">
            <a:solidFill>
              <a:srgbClr val="333333"/>
            </a:solidFill>
            <a:prstDash val="solid"/>
          </a:ln>
        </p:spPr>
      </p:sp>
      <p:sp>
        <p:nvSpPr>
          <p:cNvPr id="25" name="Shape 22"/>
          <p:cNvSpPr/>
          <p:nvPr/>
        </p:nvSpPr>
        <p:spPr>
          <a:xfrm>
            <a:off x="777240" y="3849624"/>
            <a:ext cx="4243892" cy="146304"/>
          </a:xfrm>
          <a:prstGeom prst="roundRect">
            <a:avLst>
              <a:gd name="adj" fmla="val 50000"/>
            </a:avLst>
          </a:prstGeom>
          <a:solidFill>
            <a:srgbClr val="177A46"/>
          </a:solidFill>
          <a:ln w="12700">
            <a:solidFill>
              <a:srgbClr val="333333"/>
            </a:solidFill>
            <a:prstDash val="solid"/>
          </a:ln>
        </p:spPr>
      </p:sp>
      <p:sp>
        <p:nvSpPr>
          <p:cNvPr id="26" name="Text 23"/>
          <p:cNvSpPr/>
          <p:nvPr/>
        </p:nvSpPr>
        <p:spPr>
          <a:xfrm>
            <a:off x="777240" y="4133088"/>
            <a:ext cx="374904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National modern trade</a:t>
            </a:r>
            <a:endParaRPr lang="en-US" sz="950" dirty="0"/>
          </a:p>
        </p:txBody>
      </p:sp>
      <p:sp>
        <p:nvSpPr>
          <p:cNvPr id="27" name="Text 24"/>
          <p:cNvSpPr/>
          <p:nvPr/>
        </p:nvSpPr>
        <p:spPr>
          <a:xfrm>
            <a:off x="4526280" y="4133088"/>
            <a:ext cx="1737360" cy="201168"/>
          </a:xfrm>
          <a:prstGeom prst="rect">
            <a:avLst/>
          </a:prstGeom>
          <a:noFill/>
          <a:ln/>
        </p:spPr>
        <p:txBody>
          <a:bodyPr wrap="square" lIns="0" tIns="0" rIns="0" bIns="0" rtlCol="0" anchor="ctr"/>
          <a:lstStyle/>
          <a:p>
            <a:pPr algn="r" indent="0" marL="0">
              <a:buNone/>
            </a:pPr>
            <a:r>
              <a:rPr lang="en-US" sz="1000" b="1" dirty="0">
                <a:solidFill>
                  <a:srgbClr val="6688BE"/>
                </a:solidFill>
                <a:latin typeface="Nunito Sans" pitchFamily="34" charset="0"/>
                <a:ea typeface="Nunito Sans" pitchFamily="34" charset="-122"/>
                <a:cs typeface="Nunito Sans" pitchFamily="34" charset="-120"/>
              </a:rPr>
              <a:t>₹129 Cr</a:t>
            </a:r>
            <a:endParaRPr lang="en-US" sz="1000" dirty="0"/>
          </a:p>
        </p:txBody>
      </p:sp>
      <p:sp>
        <p:nvSpPr>
          <p:cNvPr id="28" name="Shape 25"/>
          <p:cNvSpPr/>
          <p:nvPr/>
        </p:nvSpPr>
        <p:spPr>
          <a:xfrm>
            <a:off x="777240" y="4352544"/>
            <a:ext cx="5486400" cy="146304"/>
          </a:xfrm>
          <a:prstGeom prst="roundRect">
            <a:avLst>
              <a:gd name="adj" fmla="val 50000"/>
            </a:avLst>
          </a:prstGeom>
          <a:solidFill>
            <a:srgbClr val="EDE4D4"/>
          </a:solidFill>
          <a:ln w="12700">
            <a:solidFill>
              <a:srgbClr val="333333"/>
            </a:solidFill>
            <a:prstDash val="solid"/>
          </a:ln>
        </p:spPr>
      </p:sp>
      <p:sp>
        <p:nvSpPr>
          <p:cNvPr id="29" name="Shape 26"/>
          <p:cNvSpPr/>
          <p:nvPr/>
        </p:nvSpPr>
        <p:spPr>
          <a:xfrm>
            <a:off x="777240" y="4352544"/>
            <a:ext cx="2081605" cy="146304"/>
          </a:xfrm>
          <a:prstGeom prst="roundRect">
            <a:avLst>
              <a:gd name="adj" fmla="val 50000"/>
            </a:avLst>
          </a:prstGeom>
          <a:solidFill>
            <a:srgbClr val="6688BE"/>
          </a:solidFill>
          <a:ln w="12700">
            <a:solidFill>
              <a:srgbClr val="333333"/>
            </a:solidFill>
            <a:prstDash val="solid"/>
          </a:ln>
        </p:spPr>
      </p:sp>
      <p:sp>
        <p:nvSpPr>
          <p:cNvPr id="30" name="Text 27"/>
          <p:cNvSpPr/>
          <p:nvPr/>
        </p:nvSpPr>
        <p:spPr>
          <a:xfrm>
            <a:off x="777240" y="4636008"/>
            <a:ext cx="3749040" cy="201168"/>
          </a:xfrm>
          <a:prstGeom prst="rect">
            <a:avLst/>
          </a:prstGeom>
          <a:noFill/>
          <a:ln/>
        </p:spPr>
        <p:txBody>
          <a:bodyPr wrap="square" lIns="0" tIns="0" rIns="0" bIns="0" rtlCol="0" anchor="ctr"/>
          <a:lstStyle/>
          <a:p>
            <a:pPr indent="0" marL="0">
              <a:buNone/>
            </a:pPr>
            <a:r>
              <a:rPr lang="en-US" sz="950" dirty="0">
                <a:solidFill>
                  <a:srgbClr val="54606F"/>
                </a:solidFill>
                <a:latin typeface="Nunito Sans" pitchFamily="34" charset="0"/>
                <a:ea typeface="Nunito Sans" pitchFamily="34" charset="-122"/>
                <a:cs typeface="Nunito Sans" pitchFamily="34" charset="-120"/>
              </a:rPr>
              <a:t>Exports</a:t>
            </a:r>
            <a:endParaRPr lang="en-US" sz="950" dirty="0"/>
          </a:p>
        </p:txBody>
      </p:sp>
      <p:sp>
        <p:nvSpPr>
          <p:cNvPr id="31" name="Text 28"/>
          <p:cNvSpPr/>
          <p:nvPr/>
        </p:nvSpPr>
        <p:spPr>
          <a:xfrm>
            <a:off x="4526280" y="4636008"/>
            <a:ext cx="1737360" cy="201168"/>
          </a:xfrm>
          <a:prstGeom prst="rect">
            <a:avLst/>
          </a:prstGeom>
          <a:noFill/>
          <a:ln/>
        </p:spPr>
        <p:txBody>
          <a:bodyPr wrap="square" lIns="0" tIns="0" rIns="0" bIns="0" rtlCol="0" anchor="ctr"/>
          <a:lstStyle/>
          <a:p>
            <a:pPr algn="r" indent="0" marL="0">
              <a:buNone/>
            </a:pPr>
            <a:r>
              <a:rPr lang="en-US" sz="1000" b="1" dirty="0">
                <a:solidFill>
                  <a:srgbClr val="C8922E"/>
                </a:solidFill>
                <a:latin typeface="Nunito Sans" pitchFamily="34" charset="0"/>
                <a:ea typeface="Nunito Sans" pitchFamily="34" charset="-122"/>
                <a:cs typeface="Nunito Sans" pitchFamily="34" charset="-120"/>
              </a:rPr>
              <a:t>₹54 Cr</a:t>
            </a:r>
            <a:endParaRPr lang="en-US" sz="1000" dirty="0"/>
          </a:p>
        </p:txBody>
      </p:sp>
      <p:sp>
        <p:nvSpPr>
          <p:cNvPr id="32" name="Shape 29"/>
          <p:cNvSpPr/>
          <p:nvPr/>
        </p:nvSpPr>
        <p:spPr>
          <a:xfrm>
            <a:off x="777240" y="4855464"/>
            <a:ext cx="5486400" cy="146304"/>
          </a:xfrm>
          <a:prstGeom prst="roundRect">
            <a:avLst>
              <a:gd name="adj" fmla="val 50000"/>
            </a:avLst>
          </a:prstGeom>
          <a:solidFill>
            <a:srgbClr val="EDE4D4"/>
          </a:solidFill>
          <a:ln w="12700">
            <a:solidFill>
              <a:srgbClr val="333333"/>
            </a:solidFill>
            <a:prstDash val="solid"/>
          </a:ln>
        </p:spPr>
      </p:sp>
      <p:sp>
        <p:nvSpPr>
          <p:cNvPr id="33" name="Shape 30"/>
          <p:cNvSpPr/>
          <p:nvPr/>
        </p:nvSpPr>
        <p:spPr>
          <a:xfrm>
            <a:off x="777240" y="4855464"/>
            <a:ext cx="871369" cy="146304"/>
          </a:xfrm>
          <a:prstGeom prst="roundRect">
            <a:avLst>
              <a:gd name="adj" fmla="val 50000"/>
            </a:avLst>
          </a:prstGeom>
          <a:solidFill>
            <a:srgbClr val="C8922E"/>
          </a:solidFill>
          <a:ln w="12700">
            <a:solidFill>
              <a:srgbClr val="333333"/>
            </a:solidFill>
            <a:prstDash val="solid"/>
          </a:ln>
        </p:spPr>
      </p:sp>
      <p:sp>
        <p:nvSpPr>
          <p:cNvPr id="34" name="Shape 31"/>
          <p:cNvSpPr/>
          <p:nvPr/>
        </p:nvSpPr>
        <p:spPr>
          <a:xfrm>
            <a:off x="502920" y="5413248"/>
            <a:ext cx="6035040" cy="749808"/>
          </a:xfrm>
          <a:prstGeom prst="roundRect">
            <a:avLst>
              <a:gd name="adj" fmla="val 12195"/>
            </a:avLst>
          </a:prstGeom>
          <a:solidFill>
            <a:srgbClr val="EAF0F8"/>
          </a:solidFill>
          <a:ln w="6350">
            <a:solidFill>
              <a:srgbClr val="EAF0F8"/>
            </a:solidFill>
            <a:prstDash val="solid"/>
          </a:ln>
        </p:spPr>
      </p:sp>
      <p:sp>
        <p:nvSpPr>
          <p:cNvPr id="35" name="Text 32"/>
          <p:cNvSpPr/>
          <p:nvPr/>
        </p:nvSpPr>
        <p:spPr>
          <a:xfrm>
            <a:off x="704088" y="5532120"/>
            <a:ext cx="5632704" cy="539496"/>
          </a:xfrm>
          <a:prstGeom prst="rect">
            <a:avLst/>
          </a:prstGeom>
          <a:noFill/>
          <a:ln/>
        </p:spPr>
        <p:txBody>
          <a:bodyPr wrap="square" lIns="0" tIns="0" rIns="0" bIns="0" rtlCol="0" anchor="t"/>
          <a:lstStyle/>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No single channel above 40% — the ceiling is what stops the plan becoming a bet on one platform.</a:t>
            </a:r>
            <a:endParaRPr lang="en-US" sz="900" dirty="0"/>
          </a:p>
        </p:txBody>
      </p:sp>
      <p:sp>
        <p:nvSpPr>
          <p:cNvPr id="36" name="Shape 33"/>
          <p:cNvSpPr/>
          <p:nvPr/>
        </p:nvSpPr>
        <p:spPr>
          <a:xfrm>
            <a:off x="6812280" y="2633472"/>
            <a:ext cx="4876495" cy="0"/>
          </a:xfrm>
          <a:prstGeom prst="line">
            <a:avLst/>
          </a:prstGeom>
          <a:noFill/>
          <a:ln w="12700">
            <a:solidFill>
              <a:srgbClr val="3A5D97"/>
            </a:solidFill>
            <a:prstDash val="solid"/>
          </a:ln>
        </p:spPr>
      </p:sp>
      <p:sp>
        <p:nvSpPr>
          <p:cNvPr id="37" name="Text 34"/>
          <p:cNvSpPr/>
          <p:nvPr/>
        </p:nvSpPr>
        <p:spPr>
          <a:xfrm>
            <a:off x="6812280" y="2679192"/>
            <a:ext cx="4876495"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THE SEQUENCE</a:t>
            </a:r>
            <a:endParaRPr lang="en-US" sz="900" dirty="0"/>
          </a:p>
        </p:txBody>
      </p:sp>
      <p:sp>
        <p:nvSpPr>
          <p:cNvPr id="38" name="Shape 35"/>
          <p:cNvSpPr/>
          <p:nvPr/>
        </p:nvSpPr>
        <p:spPr>
          <a:xfrm>
            <a:off x="6812280" y="2926080"/>
            <a:ext cx="4876495" cy="566928"/>
          </a:xfrm>
          <a:prstGeom prst="roundRect">
            <a:avLst>
              <a:gd name="adj" fmla="val 16129"/>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39" name="Shape 36"/>
          <p:cNvSpPr/>
          <p:nvPr/>
        </p:nvSpPr>
        <p:spPr>
          <a:xfrm>
            <a:off x="6995160" y="3026664"/>
            <a:ext cx="365760" cy="365760"/>
          </a:xfrm>
          <a:prstGeom prst="ellipse">
            <a:avLst/>
          </a:prstGeom>
          <a:solidFill>
            <a:srgbClr val="3A5D97"/>
          </a:solidFill>
          <a:ln w="5080">
            <a:solidFill>
              <a:srgbClr val="3A5D97"/>
            </a:solidFill>
            <a:prstDash val="solid"/>
          </a:ln>
        </p:spPr>
      </p:sp>
      <p:sp>
        <p:nvSpPr>
          <p:cNvPr id="40" name="Text 37"/>
          <p:cNvSpPr/>
          <p:nvPr/>
        </p:nvSpPr>
        <p:spPr>
          <a:xfrm>
            <a:off x="6995160" y="3026664"/>
            <a:ext cx="365760" cy="365760"/>
          </a:xfrm>
          <a:prstGeom prst="rect">
            <a:avLst/>
          </a:prstGeom>
          <a:noFill/>
          <a:ln/>
        </p:spPr>
        <p:txBody>
          <a:bodyPr wrap="square" lIns="0" tIns="0" rIns="0" bIns="0" rtlCol="0" anchor="ctr"/>
          <a:lstStyle/>
          <a:p>
            <a:pPr algn="ctr" indent="0" marL="0">
              <a:buNone/>
            </a:pPr>
            <a:r>
              <a:rPr lang="en-US" sz="1000" dirty="0">
                <a:solidFill>
                  <a:srgbClr val="FFFFFF"/>
                </a:solidFill>
                <a:latin typeface="Archivo Black" pitchFamily="34" charset="0"/>
                <a:ea typeface="Archivo Black" pitchFamily="34" charset="-122"/>
                <a:cs typeface="Archivo Black" pitchFamily="34" charset="-120"/>
              </a:rPr>
              <a:t>1</a:t>
            </a:r>
            <a:endParaRPr lang="en-US" sz="1000" dirty="0"/>
          </a:p>
        </p:txBody>
      </p:sp>
      <p:sp>
        <p:nvSpPr>
          <p:cNvPr id="41" name="Text 38"/>
          <p:cNvSpPr/>
          <p:nvPr/>
        </p:nvSpPr>
        <p:spPr>
          <a:xfrm>
            <a:off x="7470648" y="2926080"/>
            <a:ext cx="4035247" cy="566928"/>
          </a:xfrm>
          <a:prstGeom prst="rect">
            <a:avLst/>
          </a:prstGeom>
          <a:noFill/>
          <a:ln/>
        </p:spPr>
        <p:txBody>
          <a:bodyPr wrap="square" lIns="0" tIns="0" rIns="0" bIns="0" rtlCol="0" anchor="ctr"/>
          <a:lstStyle/>
          <a:p>
            <a:pPr indent="0" marL="0">
              <a:buNone/>
            </a:pPr>
            <a:r>
              <a:rPr lang="en-US" sz="1050" b="1" dirty="0">
                <a:solidFill>
                  <a:srgbClr val="0C1A2B"/>
                </a:solidFill>
                <a:latin typeface="Nunito Sans" pitchFamily="34" charset="0"/>
                <a:ea typeface="Nunito Sans" pitchFamily="34" charset="-122"/>
                <a:cs typeface="Nunito Sans" pitchFamily="34" charset="-120"/>
              </a:rPr>
              <a:t>Earn the metro shelf</a:t>
            </a:r>
            <a:endParaRPr lang="en-US" sz="1050" dirty="0"/>
          </a:p>
        </p:txBody>
      </p:sp>
      <p:sp>
        <p:nvSpPr>
          <p:cNvPr id="42" name="Shape 39"/>
          <p:cNvSpPr/>
          <p:nvPr/>
        </p:nvSpPr>
        <p:spPr>
          <a:xfrm>
            <a:off x="6812280" y="3584448"/>
            <a:ext cx="4876495" cy="566928"/>
          </a:xfrm>
          <a:prstGeom prst="roundRect">
            <a:avLst>
              <a:gd name="adj" fmla="val 16129"/>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43" name="Shape 40"/>
          <p:cNvSpPr/>
          <p:nvPr/>
        </p:nvSpPr>
        <p:spPr>
          <a:xfrm>
            <a:off x="6995160" y="3685032"/>
            <a:ext cx="365760" cy="365760"/>
          </a:xfrm>
          <a:prstGeom prst="ellipse">
            <a:avLst/>
          </a:prstGeom>
          <a:solidFill>
            <a:srgbClr val="3A5D97"/>
          </a:solidFill>
          <a:ln w="5080">
            <a:solidFill>
              <a:srgbClr val="3A5D97"/>
            </a:solidFill>
            <a:prstDash val="solid"/>
          </a:ln>
        </p:spPr>
      </p:sp>
      <p:sp>
        <p:nvSpPr>
          <p:cNvPr id="44" name="Text 41"/>
          <p:cNvSpPr/>
          <p:nvPr/>
        </p:nvSpPr>
        <p:spPr>
          <a:xfrm>
            <a:off x="6995160" y="3685032"/>
            <a:ext cx="365760" cy="365760"/>
          </a:xfrm>
          <a:prstGeom prst="rect">
            <a:avLst/>
          </a:prstGeom>
          <a:noFill/>
          <a:ln/>
        </p:spPr>
        <p:txBody>
          <a:bodyPr wrap="square" lIns="0" tIns="0" rIns="0" bIns="0" rtlCol="0" anchor="ctr"/>
          <a:lstStyle/>
          <a:p>
            <a:pPr algn="ctr" indent="0" marL="0">
              <a:buNone/>
            </a:pPr>
            <a:r>
              <a:rPr lang="en-US" sz="1000" dirty="0">
                <a:solidFill>
                  <a:srgbClr val="FFFFFF"/>
                </a:solidFill>
                <a:latin typeface="Archivo Black" pitchFamily="34" charset="0"/>
                <a:ea typeface="Archivo Black" pitchFamily="34" charset="-122"/>
                <a:cs typeface="Archivo Black" pitchFamily="34" charset="-120"/>
              </a:rPr>
              <a:t>2</a:t>
            </a:r>
            <a:endParaRPr lang="en-US" sz="1000" dirty="0"/>
          </a:p>
        </p:txBody>
      </p:sp>
      <p:sp>
        <p:nvSpPr>
          <p:cNvPr id="45" name="Text 42"/>
          <p:cNvSpPr/>
          <p:nvPr/>
        </p:nvSpPr>
        <p:spPr>
          <a:xfrm>
            <a:off x="7470648" y="3584448"/>
            <a:ext cx="4035247" cy="566928"/>
          </a:xfrm>
          <a:prstGeom prst="rect">
            <a:avLst/>
          </a:prstGeom>
          <a:noFill/>
          <a:ln/>
        </p:spPr>
        <p:txBody>
          <a:bodyPr wrap="square" lIns="0" tIns="0" rIns="0" bIns="0" rtlCol="0" anchor="ctr"/>
          <a:lstStyle/>
          <a:p>
            <a:pPr indent="0" marL="0">
              <a:buNone/>
            </a:pPr>
            <a:r>
              <a:rPr lang="en-US" sz="1050" b="1" dirty="0">
                <a:solidFill>
                  <a:srgbClr val="0C1A2B"/>
                </a:solidFill>
                <a:latin typeface="Nunito Sans" pitchFamily="34" charset="0"/>
                <a:ea typeface="Nunito Sans" pitchFamily="34" charset="-122"/>
                <a:cs typeface="Nunito Sans" pitchFamily="34" charset="-120"/>
              </a:rPr>
              <a:t>Ride quick commerce into Tier 2 &amp; 3</a:t>
            </a:r>
            <a:endParaRPr lang="en-US" sz="1050" dirty="0"/>
          </a:p>
        </p:txBody>
      </p:sp>
      <p:sp>
        <p:nvSpPr>
          <p:cNvPr id="46" name="Shape 43"/>
          <p:cNvSpPr/>
          <p:nvPr/>
        </p:nvSpPr>
        <p:spPr>
          <a:xfrm>
            <a:off x="6812280" y="4242816"/>
            <a:ext cx="4876495" cy="566928"/>
          </a:xfrm>
          <a:prstGeom prst="roundRect">
            <a:avLst>
              <a:gd name="adj" fmla="val 16129"/>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47" name="Shape 44"/>
          <p:cNvSpPr/>
          <p:nvPr/>
        </p:nvSpPr>
        <p:spPr>
          <a:xfrm>
            <a:off x="6995160" y="4343400"/>
            <a:ext cx="365760" cy="365760"/>
          </a:xfrm>
          <a:prstGeom prst="ellipse">
            <a:avLst/>
          </a:prstGeom>
          <a:solidFill>
            <a:srgbClr val="3A5D97"/>
          </a:solidFill>
          <a:ln w="5080">
            <a:solidFill>
              <a:srgbClr val="3A5D97"/>
            </a:solidFill>
            <a:prstDash val="solid"/>
          </a:ln>
        </p:spPr>
      </p:sp>
      <p:sp>
        <p:nvSpPr>
          <p:cNvPr id="48" name="Text 45"/>
          <p:cNvSpPr/>
          <p:nvPr/>
        </p:nvSpPr>
        <p:spPr>
          <a:xfrm>
            <a:off x="6995160" y="4343400"/>
            <a:ext cx="365760" cy="365760"/>
          </a:xfrm>
          <a:prstGeom prst="rect">
            <a:avLst/>
          </a:prstGeom>
          <a:noFill/>
          <a:ln/>
        </p:spPr>
        <p:txBody>
          <a:bodyPr wrap="square" lIns="0" tIns="0" rIns="0" bIns="0" rtlCol="0" anchor="ctr"/>
          <a:lstStyle/>
          <a:p>
            <a:pPr algn="ctr" indent="0" marL="0">
              <a:buNone/>
            </a:pPr>
            <a:r>
              <a:rPr lang="en-US" sz="1000" dirty="0">
                <a:solidFill>
                  <a:srgbClr val="FFFFFF"/>
                </a:solidFill>
                <a:latin typeface="Archivo Black" pitchFamily="34" charset="0"/>
                <a:ea typeface="Archivo Black" pitchFamily="34" charset="-122"/>
                <a:cs typeface="Archivo Black" pitchFamily="34" charset="-120"/>
              </a:rPr>
              <a:t>3</a:t>
            </a:r>
            <a:endParaRPr lang="en-US" sz="1000" dirty="0"/>
          </a:p>
        </p:txBody>
      </p:sp>
      <p:sp>
        <p:nvSpPr>
          <p:cNvPr id="49" name="Text 46"/>
          <p:cNvSpPr/>
          <p:nvPr/>
        </p:nvSpPr>
        <p:spPr>
          <a:xfrm>
            <a:off x="7470648" y="4242816"/>
            <a:ext cx="4035247" cy="566928"/>
          </a:xfrm>
          <a:prstGeom prst="rect">
            <a:avLst/>
          </a:prstGeom>
          <a:noFill/>
          <a:ln/>
        </p:spPr>
        <p:txBody>
          <a:bodyPr wrap="square" lIns="0" tIns="0" rIns="0" bIns="0" rtlCol="0" anchor="ctr"/>
          <a:lstStyle/>
          <a:p>
            <a:pPr indent="0" marL="0">
              <a:buNone/>
            </a:pPr>
            <a:r>
              <a:rPr lang="en-US" sz="1050" b="1" dirty="0">
                <a:solidFill>
                  <a:srgbClr val="0C1A2B"/>
                </a:solidFill>
                <a:latin typeface="Nunito Sans" pitchFamily="34" charset="0"/>
                <a:ea typeface="Nunito Sans" pitchFamily="34" charset="-122"/>
                <a:cs typeface="Nunito Sans" pitchFamily="34" charset="-120"/>
              </a:rPr>
              <a:t>Convert regional chains, state by state</a:t>
            </a:r>
            <a:endParaRPr lang="en-US" sz="1050" dirty="0"/>
          </a:p>
        </p:txBody>
      </p:sp>
      <p:sp>
        <p:nvSpPr>
          <p:cNvPr id="50" name="Shape 47"/>
          <p:cNvSpPr/>
          <p:nvPr/>
        </p:nvSpPr>
        <p:spPr>
          <a:xfrm>
            <a:off x="6812280" y="4901184"/>
            <a:ext cx="4876495" cy="566928"/>
          </a:xfrm>
          <a:prstGeom prst="roundRect">
            <a:avLst>
              <a:gd name="adj" fmla="val 16129"/>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51" name="Shape 48"/>
          <p:cNvSpPr/>
          <p:nvPr/>
        </p:nvSpPr>
        <p:spPr>
          <a:xfrm>
            <a:off x="6995160" y="5001768"/>
            <a:ext cx="365760" cy="365760"/>
          </a:xfrm>
          <a:prstGeom prst="ellipse">
            <a:avLst/>
          </a:prstGeom>
          <a:solidFill>
            <a:srgbClr val="3A5D97"/>
          </a:solidFill>
          <a:ln w="5080">
            <a:solidFill>
              <a:srgbClr val="3A5D97"/>
            </a:solidFill>
            <a:prstDash val="solid"/>
          </a:ln>
        </p:spPr>
      </p:sp>
      <p:sp>
        <p:nvSpPr>
          <p:cNvPr id="52" name="Text 49"/>
          <p:cNvSpPr/>
          <p:nvPr/>
        </p:nvSpPr>
        <p:spPr>
          <a:xfrm>
            <a:off x="6995160" y="5001768"/>
            <a:ext cx="365760" cy="365760"/>
          </a:xfrm>
          <a:prstGeom prst="rect">
            <a:avLst/>
          </a:prstGeom>
          <a:noFill/>
          <a:ln/>
        </p:spPr>
        <p:txBody>
          <a:bodyPr wrap="square" lIns="0" tIns="0" rIns="0" bIns="0" rtlCol="0" anchor="ctr"/>
          <a:lstStyle/>
          <a:p>
            <a:pPr algn="ctr" indent="0" marL="0">
              <a:buNone/>
            </a:pPr>
            <a:r>
              <a:rPr lang="en-US" sz="1000" dirty="0">
                <a:solidFill>
                  <a:srgbClr val="FFFFFF"/>
                </a:solidFill>
                <a:latin typeface="Archivo Black" pitchFamily="34" charset="0"/>
                <a:ea typeface="Archivo Black" pitchFamily="34" charset="-122"/>
                <a:cs typeface="Archivo Black" pitchFamily="34" charset="-120"/>
              </a:rPr>
              <a:t>4</a:t>
            </a:r>
            <a:endParaRPr lang="en-US" sz="1000" dirty="0"/>
          </a:p>
        </p:txBody>
      </p:sp>
      <p:sp>
        <p:nvSpPr>
          <p:cNvPr id="53" name="Text 50"/>
          <p:cNvSpPr/>
          <p:nvPr/>
        </p:nvSpPr>
        <p:spPr>
          <a:xfrm>
            <a:off x="7470648" y="4901184"/>
            <a:ext cx="4035247" cy="566928"/>
          </a:xfrm>
          <a:prstGeom prst="rect">
            <a:avLst/>
          </a:prstGeom>
          <a:noFill/>
          <a:ln/>
        </p:spPr>
        <p:txBody>
          <a:bodyPr wrap="square" lIns="0" tIns="0" rIns="0" bIns="0" rtlCol="0" anchor="ctr"/>
          <a:lstStyle/>
          <a:p>
            <a:pPr indent="0" marL="0">
              <a:buNone/>
            </a:pPr>
            <a:r>
              <a:rPr lang="en-US" sz="1050" b="1" dirty="0">
                <a:solidFill>
                  <a:srgbClr val="0C1A2B"/>
                </a:solidFill>
                <a:latin typeface="Nunito Sans" pitchFamily="34" charset="0"/>
                <a:ea typeface="Nunito Sans" pitchFamily="34" charset="-122"/>
                <a:cs typeface="Nunito Sans" pitchFamily="34" charset="-120"/>
              </a:rPr>
              <a:t>Densify what is already open</a:t>
            </a:r>
            <a:endParaRPr lang="en-US" sz="1050" dirty="0"/>
          </a:p>
        </p:txBody>
      </p:sp>
      <p:sp>
        <p:nvSpPr>
          <p:cNvPr id="54" name="Shape 51"/>
          <p:cNvSpPr/>
          <p:nvPr/>
        </p:nvSpPr>
        <p:spPr>
          <a:xfrm>
            <a:off x="6812280" y="5687568"/>
            <a:ext cx="4876495" cy="676656"/>
          </a:xfrm>
          <a:prstGeom prst="roundRect">
            <a:avLst>
              <a:gd name="adj" fmla="val 13514"/>
            </a:avLst>
          </a:prstGeom>
          <a:solidFill>
            <a:srgbClr val="FAF0DA"/>
          </a:solidFill>
          <a:ln w="6350">
            <a:solidFill>
              <a:srgbClr val="FAF0DA"/>
            </a:solidFill>
            <a:prstDash val="solid"/>
          </a:ln>
        </p:spPr>
      </p:sp>
      <p:sp>
        <p:nvSpPr>
          <p:cNvPr id="55" name="Text 52"/>
          <p:cNvSpPr/>
          <p:nvPr/>
        </p:nvSpPr>
        <p:spPr>
          <a:xfrm>
            <a:off x="7013448" y="5806440"/>
            <a:ext cx="4474159" cy="466344"/>
          </a:xfrm>
          <a:prstGeom prst="rect">
            <a:avLst/>
          </a:prstGeom>
          <a:noFill/>
          <a:ln/>
        </p:spPr>
        <p:txBody>
          <a:bodyPr wrap="square" lIns="0" tIns="0" rIns="0" bIns="0" rtlCol="0" anchor="t"/>
          <a:lstStyle/>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13.5× the selling points at 5× the revenue. The plan does not need better stores, it needs more of them, faster than the dilution.</a:t>
            </a:r>
            <a:endParaRPr lang="en-US" sz="900" dirty="0"/>
          </a:p>
        </p:txBody>
      </p:sp>
      <p:sp>
        <p:nvSpPr>
          <p:cNvPr id="56" name="Shape 53"/>
          <p:cNvSpPr/>
          <p:nvPr/>
        </p:nvSpPr>
        <p:spPr>
          <a:xfrm>
            <a:off x="502920" y="6492240"/>
            <a:ext cx="11185855" cy="0"/>
          </a:xfrm>
          <a:prstGeom prst="line">
            <a:avLst/>
          </a:prstGeom>
          <a:noFill/>
          <a:ln w="9525">
            <a:solidFill>
              <a:srgbClr val="E5DCCB"/>
            </a:solidFill>
            <a:prstDash val="solid"/>
          </a:ln>
        </p:spPr>
      </p:sp>
      <p:sp>
        <p:nvSpPr>
          <p:cNvPr id="57" name="Text 54"/>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THE GROWTH ENGINE</a:t>
            </a:r>
            <a:endParaRPr lang="en-US" sz="800" dirty="0"/>
          </a:p>
        </p:txBody>
      </p:sp>
      <p:sp>
        <p:nvSpPr>
          <p:cNvPr id="58" name="Text 55"/>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23</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2159813"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2159813"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COMPETITIVE DEFENCE</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500" dirty="0">
                <a:solidFill>
                  <a:srgbClr val="0C1A2B"/>
                </a:solidFill>
                <a:latin typeface="Archivo Black" pitchFamily="34" charset="0"/>
                <a:ea typeface="Archivo Black" pitchFamily="34" charset="-122"/>
                <a:cs typeface="Archivo Black" pitchFamily="34" charset="-120"/>
              </a:rPr>
              <a:t>What DHF controls, and how defensible it is.</a:t>
            </a:r>
            <a:endParaRPr lang="en-US" sz="2500" dirty="0"/>
          </a:p>
        </p:txBody>
      </p:sp>
      <p:sp>
        <p:nvSpPr>
          <p:cNvPr id="6" name="Shape 3"/>
          <p:cNvSpPr/>
          <p:nvPr/>
        </p:nvSpPr>
        <p:spPr>
          <a:xfrm>
            <a:off x="502920" y="1463040"/>
            <a:ext cx="2005584" cy="0"/>
          </a:xfrm>
          <a:prstGeom prst="line">
            <a:avLst/>
          </a:prstGeom>
          <a:noFill/>
          <a:ln w="25400">
            <a:solidFill>
              <a:srgbClr val="177A46"/>
            </a:solidFill>
            <a:prstDash val="solid"/>
          </a:ln>
        </p:spPr>
      </p:sp>
      <p:sp>
        <p:nvSpPr>
          <p:cNvPr id="7" name="Text 4"/>
          <p:cNvSpPr/>
          <p:nvPr/>
        </p:nvSpPr>
        <p:spPr>
          <a:xfrm>
            <a:off x="502920" y="1609344"/>
            <a:ext cx="2005584" cy="383032"/>
          </a:xfrm>
          <a:prstGeom prst="rect">
            <a:avLst/>
          </a:prstGeom>
          <a:noFill/>
          <a:ln/>
        </p:spPr>
        <p:txBody>
          <a:bodyPr wrap="square" lIns="0" tIns="0" rIns="0" bIns="0" rtlCol="0" anchor="t"/>
          <a:lstStyle/>
          <a:p>
            <a:pPr indent="0" marL="0">
              <a:buNone/>
            </a:pPr>
            <a:r>
              <a:rPr lang="en-US" sz="2200" dirty="0">
                <a:solidFill>
                  <a:srgbClr val="177A46"/>
                </a:solidFill>
                <a:latin typeface="Archivo Black" pitchFamily="34" charset="0"/>
                <a:ea typeface="Archivo Black" pitchFamily="34" charset="-122"/>
                <a:cs typeface="Archivo Black" pitchFamily="34" charset="-120"/>
              </a:rPr>
              <a:t>10 Mn+</a:t>
            </a:r>
            <a:endParaRPr lang="en-US" sz="2200" dirty="0"/>
          </a:p>
        </p:txBody>
      </p:sp>
      <p:sp>
        <p:nvSpPr>
          <p:cNvPr id="8" name="Text 5"/>
          <p:cNvSpPr/>
          <p:nvPr/>
        </p:nvSpPr>
        <p:spPr>
          <a:xfrm>
            <a:off x="502920" y="2028952"/>
            <a:ext cx="1868424" cy="293624"/>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Farmers on the</a:t>
            </a:r>
            <a:endParaRPr lang="en-US" sz="850" dirty="0"/>
          </a:p>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Dehaat network</a:t>
            </a:r>
            <a:endParaRPr lang="en-US" sz="850" dirty="0"/>
          </a:p>
        </p:txBody>
      </p:sp>
      <p:sp>
        <p:nvSpPr>
          <p:cNvPr id="9" name="Shape 6"/>
          <p:cNvSpPr/>
          <p:nvPr/>
        </p:nvSpPr>
        <p:spPr>
          <a:xfrm>
            <a:off x="2746248" y="1463040"/>
            <a:ext cx="2005584" cy="0"/>
          </a:xfrm>
          <a:prstGeom prst="line">
            <a:avLst/>
          </a:prstGeom>
          <a:noFill/>
          <a:ln w="25400">
            <a:solidFill>
              <a:srgbClr val="177A46"/>
            </a:solidFill>
            <a:prstDash val="solid"/>
          </a:ln>
        </p:spPr>
      </p:sp>
      <p:sp>
        <p:nvSpPr>
          <p:cNvPr id="10" name="Text 7"/>
          <p:cNvSpPr/>
          <p:nvPr/>
        </p:nvSpPr>
        <p:spPr>
          <a:xfrm>
            <a:off x="2746248" y="1609344"/>
            <a:ext cx="2005584" cy="383032"/>
          </a:xfrm>
          <a:prstGeom prst="rect">
            <a:avLst/>
          </a:prstGeom>
          <a:noFill/>
          <a:ln/>
        </p:spPr>
        <p:txBody>
          <a:bodyPr wrap="square" lIns="0" tIns="0" rIns="0" bIns="0" rtlCol="0" anchor="t"/>
          <a:lstStyle/>
          <a:p>
            <a:pPr indent="0" marL="0">
              <a:buNone/>
            </a:pPr>
            <a:r>
              <a:rPr lang="en-US" sz="2200" dirty="0">
                <a:solidFill>
                  <a:srgbClr val="177A46"/>
                </a:solidFill>
                <a:latin typeface="Archivo Black" pitchFamily="34" charset="0"/>
                <a:ea typeface="Archivo Black" pitchFamily="34" charset="-122"/>
                <a:cs typeface="Archivo Black" pitchFamily="34" charset="-120"/>
              </a:rPr>
              <a:t>8</a:t>
            </a:r>
            <a:endParaRPr lang="en-US" sz="2200" dirty="0"/>
          </a:p>
        </p:txBody>
      </p:sp>
      <p:sp>
        <p:nvSpPr>
          <p:cNvPr id="11" name="Text 8"/>
          <p:cNvSpPr/>
          <p:nvPr/>
        </p:nvSpPr>
        <p:spPr>
          <a:xfrm>
            <a:off x="2746248" y="2028952"/>
            <a:ext cx="1868424" cy="293624"/>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Sourcing clusters</a:t>
            </a:r>
            <a:endParaRPr lang="en-US" sz="850" dirty="0"/>
          </a:p>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owned end to end</a:t>
            </a:r>
            <a:endParaRPr lang="en-US" sz="850" dirty="0"/>
          </a:p>
        </p:txBody>
      </p:sp>
      <p:sp>
        <p:nvSpPr>
          <p:cNvPr id="12" name="Shape 9"/>
          <p:cNvSpPr/>
          <p:nvPr/>
        </p:nvSpPr>
        <p:spPr>
          <a:xfrm>
            <a:off x="4989576" y="1463040"/>
            <a:ext cx="2005584" cy="0"/>
          </a:xfrm>
          <a:prstGeom prst="line">
            <a:avLst/>
          </a:prstGeom>
          <a:noFill/>
          <a:ln w="25400">
            <a:solidFill>
              <a:srgbClr val="177A46"/>
            </a:solidFill>
            <a:prstDash val="solid"/>
          </a:ln>
        </p:spPr>
      </p:sp>
      <p:sp>
        <p:nvSpPr>
          <p:cNvPr id="13" name="Text 10"/>
          <p:cNvSpPr/>
          <p:nvPr/>
        </p:nvSpPr>
        <p:spPr>
          <a:xfrm>
            <a:off x="4989576" y="1609344"/>
            <a:ext cx="2005584" cy="383032"/>
          </a:xfrm>
          <a:prstGeom prst="rect">
            <a:avLst/>
          </a:prstGeom>
          <a:noFill/>
          <a:ln/>
        </p:spPr>
        <p:txBody>
          <a:bodyPr wrap="square" lIns="0" tIns="0" rIns="0" bIns="0" rtlCol="0" anchor="t"/>
          <a:lstStyle/>
          <a:p>
            <a:pPr indent="0" marL="0">
              <a:buNone/>
            </a:pPr>
            <a:r>
              <a:rPr lang="en-US" sz="2200" dirty="0">
                <a:solidFill>
                  <a:srgbClr val="177A46"/>
                </a:solidFill>
                <a:latin typeface="Archivo Black" pitchFamily="34" charset="0"/>
                <a:ea typeface="Archivo Black" pitchFamily="34" charset="-122"/>
                <a:cs typeface="Archivo Black" pitchFamily="34" charset="-120"/>
              </a:rPr>
              <a:t>230+</a:t>
            </a:r>
            <a:endParaRPr lang="en-US" sz="2200" dirty="0"/>
          </a:p>
        </p:txBody>
      </p:sp>
      <p:sp>
        <p:nvSpPr>
          <p:cNvPr id="14" name="Text 11"/>
          <p:cNvSpPr/>
          <p:nvPr/>
        </p:nvSpPr>
        <p:spPr>
          <a:xfrm>
            <a:off x="4989576" y="2028952"/>
            <a:ext cx="1868424" cy="293624"/>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Pesticide checks</a:t>
            </a:r>
            <a:endParaRPr lang="en-US" sz="850" dirty="0"/>
          </a:p>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On every batch</a:t>
            </a:r>
            <a:endParaRPr lang="en-US" sz="850" dirty="0"/>
          </a:p>
        </p:txBody>
      </p:sp>
      <p:sp>
        <p:nvSpPr>
          <p:cNvPr id="15" name="Text 12"/>
          <p:cNvSpPr/>
          <p:nvPr/>
        </p:nvSpPr>
        <p:spPr>
          <a:xfrm>
            <a:off x="502920" y="2505456"/>
            <a:ext cx="6492240" cy="402336"/>
          </a:xfrm>
          <a:prstGeom prst="rect">
            <a:avLst/>
          </a:prstGeom>
          <a:noFill/>
          <a:ln/>
        </p:spPr>
        <p:txBody>
          <a:bodyPr wrap="square" lIns="0" tIns="0" rIns="0" bIns="0" rtlCol="0" anchor="ctr"/>
          <a:lstStyle/>
          <a:p>
            <a:pPr indent="0" marL="0">
              <a:buNone/>
            </a:pPr>
            <a:r>
              <a:rPr lang="en-US" sz="1600" dirty="0">
                <a:solidFill>
                  <a:srgbClr val="0C1A2B"/>
                </a:solidFill>
                <a:latin typeface="Archivo Black" pitchFamily="34" charset="0"/>
                <a:ea typeface="Archivo Black" pitchFamily="34" charset="-122"/>
                <a:cs typeface="Archivo Black" pitchFamily="34" charset="-120"/>
              </a:rPr>
              <a:t>We don't test the harvest. We control the input.</a:t>
            </a:r>
            <a:endParaRPr lang="en-US" sz="1600" dirty="0"/>
          </a:p>
        </p:txBody>
      </p:sp>
      <p:sp>
        <p:nvSpPr>
          <p:cNvPr id="16" name="Shape 13"/>
          <p:cNvSpPr/>
          <p:nvPr/>
        </p:nvSpPr>
        <p:spPr>
          <a:xfrm>
            <a:off x="502920" y="2980944"/>
            <a:ext cx="6492240" cy="0"/>
          </a:xfrm>
          <a:prstGeom prst="line">
            <a:avLst/>
          </a:prstGeom>
          <a:noFill/>
          <a:ln w="12700">
            <a:solidFill>
              <a:srgbClr val="3A5D97"/>
            </a:solidFill>
            <a:prstDash val="solid"/>
          </a:ln>
        </p:spPr>
      </p:sp>
      <p:sp>
        <p:nvSpPr>
          <p:cNvPr id="17" name="Text 14"/>
          <p:cNvSpPr/>
          <p:nvPr/>
        </p:nvSpPr>
        <p:spPr>
          <a:xfrm>
            <a:off x="502920" y="3026664"/>
            <a:ext cx="6492240"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THE FIVE STEPS BEHIND THE CLAIM</a:t>
            </a:r>
            <a:endParaRPr lang="en-US" sz="900" dirty="0"/>
          </a:p>
        </p:txBody>
      </p:sp>
      <p:sp>
        <p:nvSpPr>
          <p:cNvPr id="18" name="Shape 15"/>
          <p:cNvSpPr/>
          <p:nvPr/>
        </p:nvSpPr>
        <p:spPr>
          <a:xfrm>
            <a:off x="502920" y="3273552"/>
            <a:ext cx="1152144" cy="1005840"/>
          </a:xfrm>
          <a:prstGeom prst="roundRect">
            <a:avLst>
              <a:gd name="adj" fmla="val 9091"/>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9" name="Shape 16"/>
          <p:cNvSpPr/>
          <p:nvPr/>
        </p:nvSpPr>
        <p:spPr>
          <a:xfrm>
            <a:off x="914400" y="3383280"/>
            <a:ext cx="329184" cy="329184"/>
          </a:xfrm>
          <a:prstGeom prst="ellipse">
            <a:avLst/>
          </a:prstGeom>
          <a:solidFill>
            <a:srgbClr val="E4F2EA"/>
          </a:solidFill>
          <a:ln w="5080">
            <a:solidFill>
              <a:srgbClr val="E4F2EA"/>
            </a:solidFill>
            <a:prstDash val="solid"/>
          </a:ln>
        </p:spPr>
      </p:sp>
      <p:sp>
        <p:nvSpPr>
          <p:cNvPr id="20" name="Text 17"/>
          <p:cNvSpPr/>
          <p:nvPr/>
        </p:nvSpPr>
        <p:spPr>
          <a:xfrm>
            <a:off x="914400" y="3383280"/>
            <a:ext cx="329184" cy="329184"/>
          </a:xfrm>
          <a:prstGeom prst="rect">
            <a:avLst/>
          </a:prstGeom>
          <a:noFill/>
          <a:ln/>
        </p:spPr>
        <p:txBody>
          <a:bodyPr wrap="square" lIns="0" tIns="0" rIns="0" bIns="0" rtlCol="0" anchor="ctr"/>
          <a:lstStyle/>
          <a:p>
            <a:pPr algn="ctr" indent="0" marL="0">
              <a:buNone/>
            </a:pPr>
            <a:r>
              <a:rPr lang="en-US" sz="900" dirty="0">
                <a:solidFill>
                  <a:srgbClr val="177A46"/>
                </a:solidFill>
                <a:latin typeface="Archivo Black" pitchFamily="34" charset="0"/>
                <a:ea typeface="Archivo Black" pitchFamily="34" charset="-122"/>
                <a:cs typeface="Archivo Black" pitchFamily="34" charset="-120"/>
              </a:rPr>
              <a:t>1</a:t>
            </a:r>
            <a:endParaRPr lang="en-US" sz="900" dirty="0"/>
          </a:p>
        </p:txBody>
      </p:sp>
      <p:sp>
        <p:nvSpPr>
          <p:cNvPr id="21" name="Text 18"/>
          <p:cNvSpPr/>
          <p:nvPr/>
        </p:nvSpPr>
        <p:spPr>
          <a:xfrm>
            <a:off x="557784" y="3767328"/>
            <a:ext cx="1042416" cy="438912"/>
          </a:xfrm>
          <a:prstGeom prst="rect">
            <a:avLst/>
          </a:prstGeom>
          <a:noFill/>
          <a:ln/>
        </p:spPr>
        <p:txBody>
          <a:bodyPr wrap="square" lIns="0" tIns="0" rIns="0" bIns="0" rtlCol="0" anchor="t"/>
          <a:lstStyle/>
          <a:p>
            <a:pPr algn="ctr" indent="0" marL="0">
              <a:lnSpc>
                <a:spcPct val="106000"/>
              </a:lnSpc>
              <a:buNone/>
            </a:pPr>
            <a:r>
              <a:rPr lang="en-US" sz="850" b="1" dirty="0">
                <a:solidFill>
                  <a:srgbClr val="16202D"/>
                </a:solidFill>
                <a:latin typeface="Nunito Sans" pitchFamily="34" charset="0"/>
                <a:ea typeface="Nunito Sans" pitchFamily="34" charset="-122"/>
                <a:cs typeface="Nunito Sans" pitchFamily="34" charset="-120"/>
              </a:rPr>
              <a:t>Clean</a:t>
            </a:r>
            <a:endParaRPr lang="en-US" sz="850" dirty="0"/>
          </a:p>
          <a:p>
            <a:pPr algn="ctr" indent="0" marL="0">
              <a:lnSpc>
                <a:spcPct val="106000"/>
              </a:lnSpc>
              <a:buNone/>
            </a:pPr>
            <a:r>
              <a:rPr lang="en-US" sz="850" b="1" dirty="0">
                <a:solidFill>
                  <a:srgbClr val="16202D"/>
                </a:solidFill>
                <a:latin typeface="Nunito Sans" pitchFamily="34" charset="0"/>
                <a:ea typeface="Nunito Sans" pitchFamily="34" charset="-122"/>
                <a:cs typeface="Nunito Sans" pitchFamily="34" charset="-120"/>
              </a:rPr>
              <a:t>cultivation</a:t>
            </a:r>
            <a:endParaRPr lang="en-US" sz="850" dirty="0"/>
          </a:p>
        </p:txBody>
      </p:sp>
      <p:sp>
        <p:nvSpPr>
          <p:cNvPr id="22" name="Shape 19"/>
          <p:cNvSpPr/>
          <p:nvPr/>
        </p:nvSpPr>
        <p:spPr>
          <a:xfrm>
            <a:off x="1837944" y="3273552"/>
            <a:ext cx="1152144" cy="1005840"/>
          </a:xfrm>
          <a:prstGeom prst="roundRect">
            <a:avLst>
              <a:gd name="adj" fmla="val 9091"/>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23" name="Shape 20"/>
          <p:cNvSpPr/>
          <p:nvPr/>
        </p:nvSpPr>
        <p:spPr>
          <a:xfrm>
            <a:off x="2249424" y="3383280"/>
            <a:ext cx="329184" cy="329184"/>
          </a:xfrm>
          <a:prstGeom prst="ellipse">
            <a:avLst/>
          </a:prstGeom>
          <a:solidFill>
            <a:srgbClr val="E4F2EA"/>
          </a:solidFill>
          <a:ln w="5080">
            <a:solidFill>
              <a:srgbClr val="E4F2EA"/>
            </a:solidFill>
            <a:prstDash val="solid"/>
          </a:ln>
        </p:spPr>
      </p:sp>
      <p:sp>
        <p:nvSpPr>
          <p:cNvPr id="24" name="Text 21"/>
          <p:cNvSpPr/>
          <p:nvPr/>
        </p:nvSpPr>
        <p:spPr>
          <a:xfrm>
            <a:off x="2249424" y="3383280"/>
            <a:ext cx="329184" cy="329184"/>
          </a:xfrm>
          <a:prstGeom prst="rect">
            <a:avLst/>
          </a:prstGeom>
          <a:noFill/>
          <a:ln/>
        </p:spPr>
        <p:txBody>
          <a:bodyPr wrap="square" lIns="0" tIns="0" rIns="0" bIns="0" rtlCol="0" anchor="ctr"/>
          <a:lstStyle/>
          <a:p>
            <a:pPr algn="ctr" indent="0" marL="0">
              <a:buNone/>
            </a:pPr>
            <a:r>
              <a:rPr lang="en-US" sz="900" dirty="0">
                <a:solidFill>
                  <a:srgbClr val="177A46"/>
                </a:solidFill>
                <a:latin typeface="Archivo Black" pitchFamily="34" charset="0"/>
                <a:ea typeface="Archivo Black" pitchFamily="34" charset="-122"/>
                <a:cs typeface="Archivo Black" pitchFamily="34" charset="-120"/>
              </a:rPr>
              <a:t>2</a:t>
            </a:r>
            <a:endParaRPr lang="en-US" sz="900" dirty="0"/>
          </a:p>
        </p:txBody>
      </p:sp>
      <p:sp>
        <p:nvSpPr>
          <p:cNvPr id="25" name="Text 22"/>
          <p:cNvSpPr/>
          <p:nvPr/>
        </p:nvSpPr>
        <p:spPr>
          <a:xfrm>
            <a:off x="1892808" y="3767328"/>
            <a:ext cx="1042416" cy="438912"/>
          </a:xfrm>
          <a:prstGeom prst="rect">
            <a:avLst/>
          </a:prstGeom>
          <a:noFill/>
          <a:ln/>
        </p:spPr>
        <p:txBody>
          <a:bodyPr wrap="square" lIns="0" tIns="0" rIns="0" bIns="0" rtlCol="0" anchor="t"/>
          <a:lstStyle/>
          <a:p>
            <a:pPr algn="ctr" indent="0" marL="0">
              <a:lnSpc>
                <a:spcPct val="106000"/>
              </a:lnSpc>
              <a:buNone/>
            </a:pPr>
            <a:r>
              <a:rPr lang="en-US" sz="850" b="1" dirty="0">
                <a:solidFill>
                  <a:srgbClr val="16202D"/>
                </a:solidFill>
                <a:latin typeface="Nunito Sans" pitchFamily="34" charset="0"/>
                <a:ea typeface="Nunito Sans" pitchFamily="34" charset="-122"/>
                <a:cs typeface="Nunito Sans" pitchFamily="34" charset="-120"/>
              </a:rPr>
              <a:t>Direct</a:t>
            </a:r>
            <a:endParaRPr lang="en-US" sz="850" dirty="0"/>
          </a:p>
          <a:p>
            <a:pPr algn="ctr" indent="0" marL="0">
              <a:lnSpc>
                <a:spcPct val="106000"/>
              </a:lnSpc>
              <a:buNone/>
            </a:pPr>
            <a:r>
              <a:rPr lang="en-US" sz="850" b="1" dirty="0">
                <a:solidFill>
                  <a:srgbClr val="16202D"/>
                </a:solidFill>
                <a:latin typeface="Nunito Sans" pitchFamily="34" charset="0"/>
                <a:ea typeface="Nunito Sans" pitchFamily="34" charset="-122"/>
                <a:cs typeface="Nunito Sans" pitchFamily="34" charset="-120"/>
              </a:rPr>
              <a:t>sourcing</a:t>
            </a:r>
            <a:endParaRPr lang="en-US" sz="850" dirty="0"/>
          </a:p>
        </p:txBody>
      </p:sp>
      <p:sp>
        <p:nvSpPr>
          <p:cNvPr id="26" name="Shape 23"/>
          <p:cNvSpPr/>
          <p:nvPr/>
        </p:nvSpPr>
        <p:spPr>
          <a:xfrm>
            <a:off x="3172968" y="3273552"/>
            <a:ext cx="1152144" cy="1005840"/>
          </a:xfrm>
          <a:prstGeom prst="roundRect">
            <a:avLst>
              <a:gd name="adj" fmla="val 9091"/>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27" name="Shape 24"/>
          <p:cNvSpPr/>
          <p:nvPr/>
        </p:nvSpPr>
        <p:spPr>
          <a:xfrm>
            <a:off x="3584448" y="3383280"/>
            <a:ext cx="329184" cy="329184"/>
          </a:xfrm>
          <a:prstGeom prst="ellipse">
            <a:avLst/>
          </a:prstGeom>
          <a:solidFill>
            <a:srgbClr val="E4F2EA"/>
          </a:solidFill>
          <a:ln w="5080">
            <a:solidFill>
              <a:srgbClr val="E4F2EA"/>
            </a:solidFill>
            <a:prstDash val="solid"/>
          </a:ln>
        </p:spPr>
      </p:sp>
      <p:sp>
        <p:nvSpPr>
          <p:cNvPr id="28" name="Text 25"/>
          <p:cNvSpPr/>
          <p:nvPr/>
        </p:nvSpPr>
        <p:spPr>
          <a:xfrm>
            <a:off x="3584448" y="3383280"/>
            <a:ext cx="329184" cy="329184"/>
          </a:xfrm>
          <a:prstGeom prst="rect">
            <a:avLst/>
          </a:prstGeom>
          <a:noFill/>
          <a:ln/>
        </p:spPr>
        <p:txBody>
          <a:bodyPr wrap="square" lIns="0" tIns="0" rIns="0" bIns="0" rtlCol="0" anchor="ctr"/>
          <a:lstStyle/>
          <a:p>
            <a:pPr algn="ctr" indent="0" marL="0">
              <a:buNone/>
            </a:pPr>
            <a:r>
              <a:rPr lang="en-US" sz="900" dirty="0">
                <a:solidFill>
                  <a:srgbClr val="177A46"/>
                </a:solidFill>
                <a:latin typeface="Archivo Black" pitchFamily="34" charset="0"/>
                <a:ea typeface="Archivo Black" pitchFamily="34" charset="-122"/>
                <a:cs typeface="Archivo Black" pitchFamily="34" charset="-120"/>
              </a:rPr>
              <a:t>3</a:t>
            </a:r>
            <a:endParaRPr lang="en-US" sz="900" dirty="0"/>
          </a:p>
        </p:txBody>
      </p:sp>
      <p:sp>
        <p:nvSpPr>
          <p:cNvPr id="29" name="Text 26"/>
          <p:cNvSpPr/>
          <p:nvPr/>
        </p:nvSpPr>
        <p:spPr>
          <a:xfrm>
            <a:off x="3227832" y="3767328"/>
            <a:ext cx="1042416" cy="438912"/>
          </a:xfrm>
          <a:prstGeom prst="rect">
            <a:avLst/>
          </a:prstGeom>
          <a:noFill/>
          <a:ln/>
        </p:spPr>
        <p:txBody>
          <a:bodyPr wrap="square" lIns="0" tIns="0" rIns="0" bIns="0" rtlCol="0" anchor="t"/>
          <a:lstStyle/>
          <a:p>
            <a:pPr algn="ctr" indent="0" marL="0">
              <a:lnSpc>
                <a:spcPct val="106000"/>
              </a:lnSpc>
              <a:buNone/>
            </a:pPr>
            <a:r>
              <a:rPr lang="en-US" sz="850" b="1" dirty="0">
                <a:solidFill>
                  <a:srgbClr val="16202D"/>
                </a:solidFill>
                <a:latin typeface="Nunito Sans" pitchFamily="34" charset="0"/>
                <a:ea typeface="Nunito Sans" pitchFamily="34" charset="-122"/>
                <a:cs typeface="Nunito Sans" pitchFamily="34" charset="-120"/>
              </a:rPr>
              <a:t>230+</a:t>
            </a:r>
            <a:endParaRPr lang="en-US" sz="850" dirty="0"/>
          </a:p>
          <a:p>
            <a:pPr algn="ctr" indent="0" marL="0">
              <a:lnSpc>
                <a:spcPct val="106000"/>
              </a:lnSpc>
              <a:buNone/>
            </a:pPr>
            <a:r>
              <a:rPr lang="en-US" sz="850" b="1" dirty="0">
                <a:solidFill>
                  <a:srgbClr val="16202D"/>
                </a:solidFill>
                <a:latin typeface="Nunito Sans" pitchFamily="34" charset="0"/>
                <a:ea typeface="Nunito Sans" pitchFamily="34" charset="-122"/>
                <a:cs typeface="Nunito Sans" pitchFamily="34" charset="-120"/>
              </a:rPr>
              <a:t>checks</a:t>
            </a:r>
            <a:endParaRPr lang="en-US" sz="850" dirty="0"/>
          </a:p>
        </p:txBody>
      </p:sp>
      <p:sp>
        <p:nvSpPr>
          <p:cNvPr id="30" name="Shape 27"/>
          <p:cNvSpPr/>
          <p:nvPr/>
        </p:nvSpPr>
        <p:spPr>
          <a:xfrm>
            <a:off x="4507992" y="3273552"/>
            <a:ext cx="1152144" cy="1005840"/>
          </a:xfrm>
          <a:prstGeom prst="roundRect">
            <a:avLst>
              <a:gd name="adj" fmla="val 9091"/>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31" name="Shape 28"/>
          <p:cNvSpPr/>
          <p:nvPr/>
        </p:nvSpPr>
        <p:spPr>
          <a:xfrm>
            <a:off x="4919472" y="3383280"/>
            <a:ext cx="329184" cy="329184"/>
          </a:xfrm>
          <a:prstGeom prst="ellipse">
            <a:avLst/>
          </a:prstGeom>
          <a:solidFill>
            <a:srgbClr val="E4F2EA"/>
          </a:solidFill>
          <a:ln w="5080">
            <a:solidFill>
              <a:srgbClr val="E4F2EA"/>
            </a:solidFill>
            <a:prstDash val="solid"/>
          </a:ln>
        </p:spPr>
      </p:sp>
      <p:sp>
        <p:nvSpPr>
          <p:cNvPr id="32" name="Text 29"/>
          <p:cNvSpPr/>
          <p:nvPr/>
        </p:nvSpPr>
        <p:spPr>
          <a:xfrm>
            <a:off x="4919472" y="3383280"/>
            <a:ext cx="329184" cy="329184"/>
          </a:xfrm>
          <a:prstGeom prst="rect">
            <a:avLst/>
          </a:prstGeom>
          <a:noFill/>
          <a:ln/>
        </p:spPr>
        <p:txBody>
          <a:bodyPr wrap="square" lIns="0" tIns="0" rIns="0" bIns="0" rtlCol="0" anchor="ctr"/>
          <a:lstStyle/>
          <a:p>
            <a:pPr algn="ctr" indent="0" marL="0">
              <a:buNone/>
            </a:pPr>
            <a:r>
              <a:rPr lang="en-US" sz="900" dirty="0">
                <a:solidFill>
                  <a:srgbClr val="177A46"/>
                </a:solidFill>
                <a:latin typeface="Archivo Black" pitchFamily="34" charset="0"/>
                <a:ea typeface="Archivo Black" pitchFamily="34" charset="-122"/>
                <a:cs typeface="Archivo Black" pitchFamily="34" charset="-120"/>
              </a:rPr>
              <a:t>4</a:t>
            </a:r>
            <a:endParaRPr lang="en-US" sz="900" dirty="0"/>
          </a:p>
        </p:txBody>
      </p:sp>
      <p:sp>
        <p:nvSpPr>
          <p:cNvPr id="33" name="Text 30"/>
          <p:cNvSpPr/>
          <p:nvPr/>
        </p:nvSpPr>
        <p:spPr>
          <a:xfrm>
            <a:off x="4562856" y="3767328"/>
            <a:ext cx="1042416" cy="438912"/>
          </a:xfrm>
          <a:prstGeom prst="rect">
            <a:avLst/>
          </a:prstGeom>
          <a:noFill/>
          <a:ln/>
        </p:spPr>
        <p:txBody>
          <a:bodyPr wrap="square" lIns="0" tIns="0" rIns="0" bIns="0" rtlCol="0" anchor="t"/>
          <a:lstStyle/>
          <a:p>
            <a:pPr algn="ctr" indent="0" marL="0">
              <a:lnSpc>
                <a:spcPct val="106000"/>
              </a:lnSpc>
              <a:buNone/>
            </a:pPr>
            <a:r>
              <a:rPr lang="en-US" sz="850" b="1" dirty="0">
                <a:solidFill>
                  <a:srgbClr val="16202D"/>
                </a:solidFill>
                <a:latin typeface="Nunito Sans" pitchFamily="34" charset="0"/>
                <a:ea typeface="Nunito Sans" pitchFamily="34" charset="-122"/>
                <a:cs typeface="Nunito Sans" pitchFamily="34" charset="-120"/>
              </a:rPr>
              <a:t>Controlled</a:t>
            </a:r>
            <a:endParaRPr lang="en-US" sz="850" dirty="0"/>
          </a:p>
          <a:p>
            <a:pPr algn="ctr" indent="0" marL="0">
              <a:lnSpc>
                <a:spcPct val="106000"/>
              </a:lnSpc>
              <a:buNone/>
            </a:pPr>
            <a:r>
              <a:rPr lang="en-US" sz="850" b="1" dirty="0">
                <a:solidFill>
                  <a:srgbClr val="16202D"/>
                </a:solidFill>
                <a:latin typeface="Nunito Sans" pitchFamily="34" charset="0"/>
                <a:ea typeface="Nunito Sans" pitchFamily="34" charset="-122"/>
                <a:cs typeface="Nunito Sans" pitchFamily="34" charset="-120"/>
              </a:rPr>
              <a:t>processing</a:t>
            </a:r>
            <a:endParaRPr lang="en-US" sz="850" dirty="0"/>
          </a:p>
        </p:txBody>
      </p:sp>
      <p:sp>
        <p:nvSpPr>
          <p:cNvPr id="34" name="Shape 31"/>
          <p:cNvSpPr/>
          <p:nvPr/>
        </p:nvSpPr>
        <p:spPr>
          <a:xfrm>
            <a:off x="5843016" y="3273552"/>
            <a:ext cx="1152144" cy="1005840"/>
          </a:xfrm>
          <a:prstGeom prst="roundRect">
            <a:avLst>
              <a:gd name="adj" fmla="val 9091"/>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35" name="Shape 32"/>
          <p:cNvSpPr/>
          <p:nvPr/>
        </p:nvSpPr>
        <p:spPr>
          <a:xfrm>
            <a:off x="6254496" y="3383280"/>
            <a:ext cx="329184" cy="329184"/>
          </a:xfrm>
          <a:prstGeom prst="ellipse">
            <a:avLst/>
          </a:prstGeom>
          <a:solidFill>
            <a:srgbClr val="E4F2EA"/>
          </a:solidFill>
          <a:ln w="5080">
            <a:solidFill>
              <a:srgbClr val="E4F2EA"/>
            </a:solidFill>
            <a:prstDash val="solid"/>
          </a:ln>
        </p:spPr>
      </p:sp>
      <p:sp>
        <p:nvSpPr>
          <p:cNvPr id="36" name="Text 33"/>
          <p:cNvSpPr/>
          <p:nvPr/>
        </p:nvSpPr>
        <p:spPr>
          <a:xfrm>
            <a:off x="6254496" y="3383280"/>
            <a:ext cx="329184" cy="329184"/>
          </a:xfrm>
          <a:prstGeom prst="rect">
            <a:avLst/>
          </a:prstGeom>
          <a:noFill/>
          <a:ln/>
        </p:spPr>
        <p:txBody>
          <a:bodyPr wrap="square" lIns="0" tIns="0" rIns="0" bIns="0" rtlCol="0" anchor="ctr"/>
          <a:lstStyle/>
          <a:p>
            <a:pPr algn="ctr" indent="0" marL="0">
              <a:buNone/>
            </a:pPr>
            <a:r>
              <a:rPr lang="en-US" sz="900" dirty="0">
                <a:solidFill>
                  <a:srgbClr val="177A46"/>
                </a:solidFill>
                <a:latin typeface="Archivo Black" pitchFamily="34" charset="0"/>
                <a:ea typeface="Archivo Black" pitchFamily="34" charset="-122"/>
                <a:cs typeface="Archivo Black" pitchFamily="34" charset="-120"/>
              </a:rPr>
              <a:t>5</a:t>
            </a:r>
            <a:endParaRPr lang="en-US" sz="900" dirty="0"/>
          </a:p>
        </p:txBody>
      </p:sp>
      <p:sp>
        <p:nvSpPr>
          <p:cNvPr id="37" name="Text 34"/>
          <p:cNvSpPr/>
          <p:nvPr/>
        </p:nvSpPr>
        <p:spPr>
          <a:xfrm>
            <a:off x="5897880" y="3767328"/>
            <a:ext cx="1042416" cy="438912"/>
          </a:xfrm>
          <a:prstGeom prst="rect">
            <a:avLst/>
          </a:prstGeom>
          <a:noFill/>
          <a:ln/>
        </p:spPr>
        <p:txBody>
          <a:bodyPr wrap="square" lIns="0" tIns="0" rIns="0" bIns="0" rtlCol="0" anchor="t"/>
          <a:lstStyle/>
          <a:p>
            <a:pPr algn="ctr" indent="0" marL="0">
              <a:lnSpc>
                <a:spcPct val="106000"/>
              </a:lnSpc>
              <a:buNone/>
            </a:pPr>
            <a:r>
              <a:rPr lang="en-US" sz="850" b="1" dirty="0">
                <a:solidFill>
                  <a:srgbClr val="16202D"/>
                </a:solidFill>
                <a:latin typeface="Nunito Sans" pitchFamily="34" charset="0"/>
                <a:ea typeface="Nunito Sans" pitchFamily="34" charset="-122"/>
                <a:cs typeface="Nunito Sans" pitchFamily="34" charset="-120"/>
              </a:rPr>
              <a:t>Traceable</a:t>
            </a:r>
            <a:endParaRPr lang="en-US" sz="850" dirty="0"/>
          </a:p>
          <a:p>
            <a:pPr algn="ctr" indent="0" marL="0">
              <a:lnSpc>
                <a:spcPct val="106000"/>
              </a:lnSpc>
              <a:buNone/>
            </a:pPr>
            <a:r>
              <a:rPr lang="en-US" sz="850" b="1" dirty="0">
                <a:solidFill>
                  <a:srgbClr val="16202D"/>
                </a:solidFill>
                <a:latin typeface="Nunito Sans" pitchFamily="34" charset="0"/>
                <a:ea typeface="Nunito Sans" pitchFamily="34" charset="-122"/>
                <a:cs typeface="Nunito Sans" pitchFamily="34" charset="-120"/>
              </a:rPr>
              <a:t>to source</a:t>
            </a:r>
            <a:endParaRPr lang="en-US" sz="850" dirty="0"/>
          </a:p>
        </p:txBody>
      </p:sp>
      <p:sp>
        <p:nvSpPr>
          <p:cNvPr id="38" name="Text 35"/>
          <p:cNvSpPr/>
          <p:nvPr/>
        </p:nvSpPr>
        <p:spPr>
          <a:xfrm>
            <a:off x="502920" y="4370832"/>
            <a:ext cx="6492240" cy="274320"/>
          </a:xfrm>
          <a:prstGeom prst="rect">
            <a:avLst/>
          </a:prstGeom>
          <a:noFill/>
          <a:ln/>
        </p:spPr>
        <p:txBody>
          <a:bodyPr wrap="square" lIns="0" tIns="0" rIns="0" bIns="0" rtlCol="0" anchor="ctr"/>
          <a:lstStyle/>
          <a:p>
            <a:pPr indent="0" marL="0">
              <a:buNone/>
            </a:pPr>
            <a:r>
              <a:rPr lang="en-US" sz="800" b="1" spc="70" kern="0" dirty="0">
                <a:solidFill>
                  <a:srgbClr val="8B95A2"/>
                </a:solidFill>
                <a:latin typeface="Nunito Sans" pitchFamily="34" charset="0"/>
                <a:ea typeface="Nunito Sans" pitchFamily="34" charset="-122"/>
                <a:cs typeface="Nunito Sans" pitchFamily="34" charset="-120"/>
              </a:rPr>
              <a:t>BIHAR MAKHANA · UTTARAKHAND JAGGERY · GUJARAT JAVA PEANUT · AND FIVE MORE, OWNED END-TO-END</a:t>
            </a:r>
            <a:endParaRPr lang="en-US" sz="800" dirty="0"/>
          </a:p>
        </p:txBody>
      </p:sp>
      <p:pic>
        <p:nvPicPr>
          <p:cNvPr id="39" name="Image 1" descr="/home/user/hopper-tessarakt/site/assets/factory.jpg">    </p:cNvPr>
          <p:cNvPicPr>
            <a:picLocks noChangeAspect="1"/>
          </p:cNvPicPr>
          <p:nvPr/>
        </p:nvPicPr>
        <p:blipFill>
          <a:blip r:embed="rId2"/>
          <a:srcRect l="0" r="0" t="0" b="0"/>
          <a:stretch/>
        </p:blipFill>
        <p:spPr>
          <a:xfrm>
            <a:off x="502920" y="4718304"/>
            <a:ext cx="6492240" cy="1572768"/>
          </a:xfrm>
          <a:prstGeom prst="rect">
            <a:avLst/>
          </a:prstGeom>
        </p:spPr>
      </p:pic>
      <p:sp>
        <p:nvSpPr>
          <p:cNvPr id="40" name="Shape 36"/>
          <p:cNvSpPr/>
          <p:nvPr/>
        </p:nvSpPr>
        <p:spPr>
          <a:xfrm>
            <a:off x="7315200" y="1463040"/>
            <a:ext cx="4373575" cy="0"/>
          </a:xfrm>
          <a:prstGeom prst="line">
            <a:avLst/>
          </a:prstGeom>
          <a:noFill/>
          <a:ln w="12700">
            <a:solidFill>
              <a:srgbClr val="3A5D97"/>
            </a:solidFill>
            <a:prstDash val="solid"/>
          </a:ln>
        </p:spPr>
      </p:sp>
      <p:sp>
        <p:nvSpPr>
          <p:cNvPr id="41" name="Text 37"/>
          <p:cNvSpPr/>
          <p:nvPr/>
        </p:nvSpPr>
        <p:spPr>
          <a:xfrm>
            <a:off x="7315200" y="1508760"/>
            <a:ext cx="4373575"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THE MOAT HAS TO BE VISIBLE BY FY29</a:t>
            </a:r>
            <a:endParaRPr lang="en-US" sz="900" dirty="0"/>
          </a:p>
        </p:txBody>
      </p:sp>
      <p:sp>
        <p:nvSpPr>
          <p:cNvPr id="42" name="Shape 38"/>
          <p:cNvSpPr/>
          <p:nvPr/>
        </p:nvSpPr>
        <p:spPr>
          <a:xfrm>
            <a:off x="7315200" y="1755648"/>
            <a:ext cx="4373575" cy="493776"/>
          </a:xfrm>
          <a:prstGeom prst="roundRect">
            <a:avLst>
              <a:gd name="adj" fmla="val 9259"/>
            </a:avLst>
          </a:prstGeom>
          <a:solidFill>
            <a:srgbClr val="E4F2EA"/>
          </a:solidFill>
          <a:ln w="9525">
            <a:solidFill>
              <a:srgbClr val="E5DCCB"/>
            </a:solidFill>
            <a:prstDash val="solid"/>
          </a:ln>
          <a:effectLst>
            <a:outerShdw sx="100000" sy="100000" kx="0" ky="0" algn="bl" rotWithShape="0" blurRad="228600" dist="25400" dir="5400000">
              <a:srgbClr val="0C1A2B">
                <a:alpha val="7000"/>
              </a:srgbClr>
            </a:outerShdw>
          </a:effectLst>
        </p:spPr>
      </p:sp>
      <p:sp>
        <p:nvSpPr>
          <p:cNvPr id="43" name="Text 39"/>
          <p:cNvSpPr/>
          <p:nvPr/>
        </p:nvSpPr>
        <p:spPr>
          <a:xfrm>
            <a:off x="7479792" y="1755648"/>
            <a:ext cx="502920" cy="493776"/>
          </a:xfrm>
          <a:prstGeom prst="rect">
            <a:avLst/>
          </a:prstGeom>
          <a:noFill/>
          <a:ln/>
        </p:spPr>
        <p:txBody>
          <a:bodyPr wrap="square" lIns="0" tIns="0" rIns="0" bIns="0" rtlCol="0" anchor="ctr"/>
          <a:lstStyle/>
          <a:p>
            <a:pPr indent="0" marL="0">
              <a:buNone/>
            </a:pPr>
            <a:r>
              <a:rPr lang="en-US" sz="1200" dirty="0">
                <a:solidFill>
                  <a:srgbClr val="177A46"/>
                </a:solidFill>
                <a:latin typeface="Archivo Black" pitchFamily="34" charset="0"/>
                <a:ea typeface="Archivo Black" pitchFamily="34" charset="-122"/>
                <a:cs typeface="Archivo Black" pitchFamily="34" charset="-120"/>
              </a:rPr>
              <a:t>L4</a:t>
            </a:r>
            <a:endParaRPr lang="en-US" sz="1200" dirty="0"/>
          </a:p>
        </p:txBody>
      </p:sp>
      <p:sp>
        <p:nvSpPr>
          <p:cNvPr id="44" name="Text 40"/>
          <p:cNvSpPr/>
          <p:nvPr/>
        </p:nvSpPr>
        <p:spPr>
          <a:xfrm>
            <a:off x="8046720" y="1755648"/>
            <a:ext cx="2286000" cy="493776"/>
          </a:xfrm>
          <a:prstGeom prst="rect">
            <a:avLst/>
          </a:prstGeom>
          <a:noFill/>
          <a:ln/>
        </p:spPr>
        <p:txBody>
          <a:bodyPr wrap="square" lIns="0" tIns="0" rIns="0" bIns="0" rtlCol="0" anchor="ctr"/>
          <a:lstStyle/>
          <a:p>
            <a:pPr indent="0" marL="0">
              <a:buNone/>
            </a:pPr>
            <a:r>
              <a:rPr lang="en-US" sz="950" b="1" dirty="0">
                <a:solidFill>
                  <a:srgbClr val="0C1A2B"/>
                </a:solidFill>
                <a:latin typeface="Nunito Sans" pitchFamily="34" charset="0"/>
                <a:ea typeface="Nunito Sans" pitchFamily="34" charset="-122"/>
                <a:cs typeface="Nunito Sans" pitchFamily="34" charset="-120"/>
              </a:rPr>
              <a:t>Farmer-direct transparency</a:t>
            </a:r>
            <a:endParaRPr lang="en-US" sz="950" dirty="0"/>
          </a:p>
        </p:txBody>
      </p:sp>
      <p:sp>
        <p:nvSpPr>
          <p:cNvPr id="45" name="Text 41"/>
          <p:cNvSpPr/>
          <p:nvPr/>
        </p:nvSpPr>
        <p:spPr>
          <a:xfrm>
            <a:off x="10332720" y="1755648"/>
            <a:ext cx="1173175" cy="493776"/>
          </a:xfrm>
          <a:prstGeom prst="rect">
            <a:avLst/>
          </a:prstGeom>
          <a:noFill/>
          <a:ln/>
        </p:spPr>
        <p:txBody>
          <a:bodyPr wrap="square" lIns="0" tIns="0" rIns="0" bIns="0" rtlCol="0" anchor="ctr"/>
          <a:lstStyle/>
          <a:p>
            <a:pPr algn="r" indent="0" marL="0">
              <a:buNone/>
            </a:pPr>
            <a:r>
              <a:rPr lang="en-US" sz="800" b="1" spc="60" kern="0" dirty="0">
                <a:solidFill>
                  <a:srgbClr val="177A46"/>
                </a:solidFill>
                <a:latin typeface="Nunito Sans" pitchFamily="34" charset="0"/>
                <a:ea typeface="Nunito Sans" pitchFamily="34" charset="-122"/>
                <a:cs typeface="Nunito Sans" pitchFamily="34" charset="-120"/>
              </a:rPr>
              <a:t>STRUCTURAL</a:t>
            </a:r>
            <a:endParaRPr lang="en-US" sz="800" dirty="0"/>
          </a:p>
        </p:txBody>
      </p:sp>
      <p:sp>
        <p:nvSpPr>
          <p:cNvPr id="46" name="Shape 42"/>
          <p:cNvSpPr/>
          <p:nvPr/>
        </p:nvSpPr>
        <p:spPr>
          <a:xfrm>
            <a:off x="7315200" y="2322576"/>
            <a:ext cx="4373575" cy="493776"/>
          </a:xfrm>
          <a:prstGeom prst="roundRect">
            <a:avLst>
              <a:gd name="adj" fmla="val 9259"/>
            </a:avLst>
          </a:prstGeom>
          <a:solidFill>
            <a:srgbClr val="FFFFFF"/>
          </a:solidFill>
          <a:ln w="9525">
            <a:solidFill>
              <a:srgbClr val="E5DCCB"/>
            </a:solidFill>
            <a:prstDash val="solid"/>
          </a:ln>
          <a:effectLst>
            <a:outerShdw sx="100000" sy="100000" kx="0" ky="0" algn="bl" rotWithShape="0" blurRad="228600" dist="25400" dir="5400000">
              <a:srgbClr val="0C1A2B">
                <a:alpha val="7000"/>
              </a:srgbClr>
            </a:outerShdw>
          </a:effectLst>
        </p:spPr>
      </p:sp>
      <p:sp>
        <p:nvSpPr>
          <p:cNvPr id="47" name="Text 43"/>
          <p:cNvSpPr/>
          <p:nvPr/>
        </p:nvSpPr>
        <p:spPr>
          <a:xfrm>
            <a:off x="7479792" y="2322576"/>
            <a:ext cx="502920" cy="493776"/>
          </a:xfrm>
          <a:prstGeom prst="rect">
            <a:avLst/>
          </a:prstGeom>
          <a:noFill/>
          <a:ln/>
        </p:spPr>
        <p:txBody>
          <a:bodyPr wrap="square" lIns="0" tIns="0" rIns="0" bIns="0" rtlCol="0" anchor="ctr"/>
          <a:lstStyle/>
          <a:p>
            <a:pPr indent="0" marL="0">
              <a:buNone/>
            </a:pPr>
            <a:r>
              <a:rPr lang="en-US" sz="1200" dirty="0">
                <a:solidFill>
                  <a:srgbClr val="2C7A3F"/>
                </a:solidFill>
                <a:latin typeface="Archivo Black" pitchFamily="34" charset="0"/>
                <a:ea typeface="Archivo Black" pitchFamily="34" charset="-122"/>
                <a:cs typeface="Archivo Black" pitchFamily="34" charset="-120"/>
              </a:rPr>
              <a:t>L3</a:t>
            </a:r>
            <a:endParaRPr lang="en-US" sz="1200" dirty="0"/>
          </a:p>
        </p:txBody>
      </p:sp>
      <p:sp>
        <p:nvSpPr>
          <p:cNvPr id="48" name="Text 44"/>
          <p:cNvSpPr/>
          <p:nvPr/>
        </p:nvSpPr>
        <p:spPr>
          <a:xfrm>
            <a:off x="8046720" y="2322576"/>
            <a:ext cx="2286000" cy="493776"/>
          </a:xfrm>
          <a:prstGeom prst="rect">
            <a:avLst/>
          </a:prstGeom>
          <a:noFill/>
          <a:ln/>
        </p:spPr>
        <p:txBody>
          <a:bodyPr wrap="square" lIns="0" tIns="0" rIns="0" bIns="0" rtlCol="0" anchor="ctr"/>
          <a:lstStyle/>
          <a:p>
            <a:pPr indent="0" marL="0">
              <a:buNone/>
            </a:pPr>
            <a:r>
              <a:rPr lang="en-US" sz="950" b="1" dirty="0">
                <a:solidFill>
                  <a:srgbClr val="0C1A2B"/>
                </a:solidFill>
                <a:latin typeface="Nunito Sans" pitchFamily="34" charset="0"/>
                <a:ea typeface="Nunito Sans" pitchFamily="34" charset="-122"/>
                <a:cs typeface="Nunito Sans" pitchFamily="34" charset="-120"/>
              </a:rPr>
              <a:t>DeHaat input control</a:t>
            </a:r>
            <a:endParaRPr lang="en-US" sz="950" dirty="0"/>
          </a:p>
        </p:txBody>
      </p:sp>
      <p:sp>
        <p:nvSpPr>
          <p:cNvPr id="49" name="Text 45"/>
          <p:cNvSpPr/>
          <p:nvPr/>
        </p:nvSpPr>
        <p:spPr>
          <a:xfrm>
            <a:off x="10332720" y="2322576"/>
            <a:ext cx="1173175" cy="493776"/>
          </a:xfrm>
          <a:prstGeom prst="rect">
            <a:avLst/>
          </a:prstGeom>
          <a:noFill/>
          <a:ln/>
        </p:spPr>
        <p:txBody>
          <a:bodyPr wrap="square" lIns="0" tIns="0" rIns="0" bIns="0" rtlCol="0" anchor="ctr"/>
          <a:lstStyle/>
          <a:p>
            <a:pPr algn="r" indent="0" marL="0">
              <a:buNone/>
            </a:pPr>
            <a:r>
              <a:rPr lang="en-US" sz="800" b="1" spc="60" kern="0" dirty="0">
                <a:solidFill>
                  <a:srgbClr val="2C7A3F"/>
                </a:solidFill>
                <a:latin typeface="Nunito Sans" pitchFamily="34" charset="0"/>
                <a:ea typeface="Nunito Sans" pitchFamily="34" charset="-122"/>
                <a:cs typeface="Nunito Sans" pitchFamily="34" charset="-120"/>
              </a:rPr>
              <a:t>5.5 YRS TO COPY</a:t>
            </a:r>
            <a:endParaRPr lang="en-US" sz="800" dirty="0"/>
          </a:p>
        </p:txBody>
      </p:sp>
      <p:sp>
        <p:nvSpPr>
          <p:cNvPr id="50" name="Shape 46"/>
          <p:cNvSpPr/>
          <p:nvPr/>
        </p:nvSpPr>
        <p:spPr>
          <a:xfrm>
            <a:off x="7315200" y="2889504"/>
            <a:ext cx="4373575" cy="493776"/>
          </a:xfrm>
          <a:prstGeom prst="roundRect">
            <a:avLst>
              <a:gd name="adj" fmla="val 9259"/>
            </a:avLst>
          </a:prstGeom>
          <a:solidFill>
            <a:srgbClr val="FFFFFF"/>
          </a:solidFill>
          <a:ln w="9525">
            <a:solidFill>
              <a:srgbClr val="E5DCCB"/>
            </a:solidFill>
            <a:prstDash val="solid"/>
          </a:ln>
          <a:effectLst>
            <a:outerShdw sx="100000" sy="100000" kx="0" ky="0" algn="bl" rotWithShape="0" blurRad="228600" dist="25400" dir="5400000">
              <a:srgbClr val="0C1A2B">
                <a:alpha val="7000"/>
              </a:srgbClr>
            </a:outerShdw>
          </a:effectLst>
        </p:spPr>
      </p:sp>
      <p:sp>
        <p:nvSpPr>
          <p:cNvPr id="51" name="Text 47"/>
          <p:cNvSpPr/>
          <p:nvPr/>
        </p:nvSpPr>
        <p:spPr>
          <a:xfrm>
            <a:off x="7479792" y="2889504"/>
            <a:ext cx="502920" cy="493776"/>
          </a:xfrm>
          <a:prstGeom prst="rect">
            <a:avLst/>
          </a:prstGeom>
          <a:noFill/>
          <a:ln/>
        </p:spPr>
        <p:txBody>
          <a:bodyPr wrap="square" lIns="0" tIns="0" rIns="0" bIns="0" rtlCol="0" anchor="ctr"/>
          <a:lstStyle/>
          <a:p>
            <a:pPr indent="0" marL="0">
              <a:buNone/>
            </a:pPr>
            <a:r>
              <a:rPr lang="en-US" sz="1200" dirty="0">
                <a:solidFill>
                  <a:srgbClr val="8B95A2"/>
                </a:solidFill>
                <a:latin typeface="Archivo Black" pitchFamily="34" charset="0"/>
                <a:ea typeface="Archivo Black" pitchFamily="34" charset="-122"/>
                <a:cs typeface="Archivo Black" pitchFamily="34" charset="-120"/>
              </a:rPr>
              <a:t>L2</a:t>
            </a:r>
            <a:endParaRPr lang="en-US" sz="1200" dirty="0"/>
          </a:p>
        </p:txBody>
      </p:sp>
      <p:sp>
        <p:nvSpPr>
          <p:cNvPr id="52" name="Text 48"/>
          <p:cNvSpPr/>
          <p:nvPr/>
        </p:nvSpPr>
        <p:spPr>
          <a:xfrm>
            <a:off x="8046720" y="2889504"/>
            <a:ext cx="2286000" cy="493776"/>
          </a:xfrm>
          <a:prstGeom prst="rect">
            <a:avLst/>
          </a:prstGeom>
          <a:noFill/>
          <a:ln/>
        </p:spPr>
        <p:txBody>
          <a:bodyPr wrap="square" lIns="0" tIns="0" rIns="0" bIns="0" rtlCol="0" anchor="ctr"/>
          <a:lstStyle/>
          <a:p>
            <a:pPr indent="0" marL="0">
              <a:buNone/>
            </a:pPr>
            <a:r>
              <a:rPr lang="en-US" sz="950" b="1" dirty="0">
                <a:solidFill>
                  <a:srgbClr val="0C1A2B"/>
                </a:solidFill>
                <a:latin typeface="Nunito Sans" pitchFamily="34" charset="0"/>
                <a:ea typeface="Nunito Sans" pitchFamily="34" charset="-122"/>
                <a:cs typeface="Nunito Sans" pitchFamily="34" charset="-120"/>
              </a:rPr>
              <a:t>NPOP certification</a:t>
            </a:r>
            <a:endParaRPr lang="en-US" sz="950" dirty="0"/>
          </a:p>
        </p:txBody>
      </p:sp>
      <p:sp>
        <p:nvSpPr>
          <p:cNvPr id="53" name="Text 49"/>
          <p:cNvSpPr/>
          <p:nvPr/>
        </p:nvSpPr>
        <p:spPr>
          <a:xfrm>
            <a:off x="10332720" y="2889504"/>
            <a:ext cx="1173175" cy="493776"/>
          </a:xfrm>
          <a:prstGeom prst="rect">
            <a:avLst/>
          </a:prstGeom>
          <a:noFill/>
          <a:ln/>
        </p:spPr>
        <p:txBody>
          <a:bodyPr wrap="square" lIns="0" tIns="0" rIns="0" bIns="0" rtlCol="0" anchor="ctr"/>
          <a:lstStyle/>
          <a:p>
            <a:pPr algn="r" indent="0" marL="0">
              <a:buNone/>
            </a:pPr>
            <a:r>
              <a:rPr lang="en-US" sz="800" b="1" spc="60" kern="0" dirty="0">
                <a:solidFill>
                  <a:srgbClr val="8B95A2"/>
                </a:solidFill>
                <a:latin typeface="Nunito Sans" pitchFamily="34" charset="0"/>
                <a:ea typeface="Nunito Sans" pitchFamily="34" charset="-122"/>
                <a:cs typeface="Nunito Sans" pitchFamily="34" charset="-120"/>
              </a:rPr>
              <a:t>PARITY</a:t>
            </a:r>
            <a:endParaRPr lang="en-US" sz="800" dirty="0"/>
          </a:p>
        </p:txBody>
      </p:sp>
      <p:sp>
        <p:nvSpPr>
          <p:cNvPr id="54" name="Shape 50"/>
          <p:cNvSpPr/>
          <p:nvPr/>
        </p:nvSpPr>
        <p:spPr>
          <a:xfrm>
            <a:off x="7315200" y="3456432"/>
            <a:ext cx="4373575" cy="493776"/>
          </a:xfrm>
          <a:prstGeom prst="roundRect">
            <a:avLst>
              <a:gd name="adj" fmla="val 9259"/>
            </a:avLst>
          </a:prstGeom>
          <a:solidFill>
            <a:srgbClr val="EAF0F8"/>
          </a:solidFill>
          <a:ln w="19050">
            <a:solidFill>
              <a:srgbClr val="3A5D97"/>
            </a:solidFill>
            <a:prstDash val="solid"/>
          </a:ln>
          <a:effectLst>
            <a:outerShdw sx="100000" sy="100000" kx="0" ky="0" algn="bl" rotWithShape="0" blurRad="228600" dist="25400" dir="5400000">
              <a:srgbClr val="0C1A2B">
                <a:alpha val="7000"/>
              </a:srgbClr>
            </a:outerShdw>
          </a:effectLst>
        </p:spPr>
      </p:sp>
      <p:sp>
        <p:nvSpPr>
          <p:cNvPr id="55" name="Text 51"/>
          <p:cNvSpPr/>
          <p:nvPr/>
        </p:nvSpPr>
        <p:spPr>
          <a:xfrm>
            <a:off x="7479792" y="3456432"/>
            <a:ext cx="502920" cy="493776"/>
          </a:xfrm>
          <a:prstGeom prst="rect">
            <a:avLst/>
          </a:prstGeom>
          <a:noFill/>
          <a:ln/>
        </p:spPr>
        <p:txBody>
          <a:bodyPr wrap="square" lIns="0" tIns="0" rIns="0" bIns="0" rtlCol="0" anchor="ctr"/>
          <a:lstStyle/>
          <a:p>
            <a:pPr indent="0" marL="0">
              <a:buNone/>
            </a:pPr>
            <a:r>
              <a:rPr lang="en-US" sz="1200" dirty="0">
                <a:solidFill>
                  <a:srgbClr val="3A5D97"/>
                </a:solidFill>
                <a:latin typeface="Archivo Black" pitchFamily="34" charset="0"/>
                <a:ea typeface="Archivo Black" pitchFamily="34" charset="-122"/>
                <a:cs typeface="Archivo Black" pitchFamily="34" charset="-120"/>
              </a:rPr>
              <a:t>L1</a:t>
            </a:r>
            <a:endParaRPr lang="en-US" sz="1200" dirty="0"/>
          </a:p>
        </p:txBody>
      </p:sp>
      <p:sp>
        <p:nvSpPr>
          <p:cNvPr id="56" name="Text 52"/>
          <p:cNvSpPr/>
          <p:nvPr/>
        </p:nvSpPr>
        <p:spPr>
          <a:xfrm>
            <a:off x="8046720" y="3456432"/>
            <a:ext cx="2286000" cy="493776"/>
          </a:xfrm>
          <a:prstGeom prst="rect">
            <a:avLst/>
          </a:prstGeom>
          <a:noFill/>
          <a:ln/>
        </p:spPr>
        <p:txBody>
          <a:bodyPr wrap="square" lIns="0" tIns="0" rIns="0" bIns="0" rtlCol="0" anchor="ctr"/>
          <a:lstStyle/>
          <a:p>
            <a:pPr indent="0" marL="0">
              <a:buNone/>
            </a:pPr>
            <a:r>
              <a:rPr lang="en-US" sz="950" b="1" dirty="0">
                <a:solidFill>
                  <a:srgbClr val="0C1A2B"/>
                </a:solidFill>
                <a:latin typeface="Nunito Sans" pitchFamily="34" charset="0"/>
                <a:ea typeface="Nunito Sans" pitchFamily="34" charset="-122"/>
                <a:cs typeface="Nunito Sans" pitchFamily="34" charset="-120"/>
              </a:rPr>
              <a:t>QR to the batch lab report</a:t>
            </a:r>
            <a:endParaRPr lang="en-US" sz="950" dirty="0"/>
          </a:p>
        </p:txBody>
      </p:sp>
      <p:sp>
        <p:nvSpPr>
          <p:cNvPr id="57" name="Text 53"/>
          <p:cNvSpPr/>
          <p:nvPr/>
        </p:nvSpPr>
        <p:spPr>
          <a:xfrm>
            <a:off x="10332720" y="3456432"/>
            <a:ext cx="1173175" cy="493776"/>
          </a:xfrm>
          <a:prstGeom prst="rect">
            <a:avLst/>
          </a:prstGeom>
          <a:noFill/>
          <a:ln/>
        </p:spPr>
        <p:txBody>
          <a:bodyPr wrap="square" lIns="0" tIns="0" rIns="0" bIns="0" rtlCol="0" anchor="ctr"/>
          <a:lstStyle/>
          <a:p>
            <a:pPr algn="r" indent="0" marL="0">
              <a:buNone/>
            </a:pPr>
            <a:r>
              <a:rPr lang="en-US" sz="800" b="1" spc="60" kern="0" dirty="0">
                <a:solidFill>
                  <a:srgbClr val="3A5D97"/>
                </a:solidFill>
                <a:latin typeface="Nunito Sans" pitchFamily="34" charset="0"/>
                <a:ea typeface="Nunito Sans" pitchFamily="34" charset="-122"/>
                <a:cs typeface="Nunito Sans" pitchFamily="34" charset="-120"/>
              </a:rPr>
              <a:t>1.2 YRS TO COPY</a:t>
            </a:r>
            <a:endParaRPr lang="en-US" sz="800" dirty="0"/>
          </a:p>
        </p:txBody>
      </p:sp>
      <p:sp>
        <p:nvSpPr>
          <p:cNvPr id="58" name="Shape 54"/>
          <p:cNvSpPr/>
          <p:nvPr/>
        </p:nvSpPr>
        <p:spPr>
          <a:xfrm>
            <a:off x="7315200" y="4023360"/>
            <a:ext cx="4373575" cy="493776"/>
          </a:xfrm>
          <a:prstGeom prst="roundRect">
            <a:avLst>
              <a:gd name="adj" fmla="val 9259"/>
            </a:avLst>
          </a:prstGeom>
          <a:solidFill>
            <a:srgbClr val="FFFFFF"/>
          </a:solidFill>
          <a:ln w="9525">
            <a:solidFill>
              <a:srgbClr val="E5DCCB"/>
            </a:solidFill>
            <a:prstDash val="solid"/>
          </a:ln>
          <a:effectLst>
            <a:outerShdw sx="100000" sy="100000" kx="0" ky="0" algn="bl" rotWithShape="0" blurRad="228600" dist="25400" dir="5400000">
              <a:srgbClr val="0C1A2B">
                <a:alpha val="7000"/>
              </a:srgbClr>
            </a:outerShdw>
          </a:effectLst>
        </p:spPr>
      </p:sp>
      <p:sp>
        <p:nvSpPr>
          <p:cNvPr id="59" name="Text 55"/>
          <p:cNvSpPr/>
          <p:nvPr/>
        </p:nvSpPr>
        <p:spPr>
          <a:xfrm>
            <a:off x="7479792" y="4023360"/>
            <a:ext cx="502920" cy="493776"/>
          </a:xfrm>
          <a:prstGeom prst="rect">
            <a:avLst/>
          </a:prstGeom>
          <a:noFill/>
          <a:ln/>
        </p:spPr>
        <p:txBody>
          <a:bodyPr wrap="square" lIns="0" tIns="0" rIns="0" bIns="0" rtlCol="0" anchor="ctr"/>
          <a:lstStyle/>
          <a:p>
            <a:pPr indent="0" marL="0">
              <a:buNone/>
            </a:pPr>
            <a:r>
              <a:rPr lang="en-US" sz="1200" dirty="0">
                <a:solidFill>
                  <a:srgbClr val="9E3A24"/>
                </a:solidFill>
                <a:latin typeface="Archivo Black" pitchFamily="34" charset="0"/>
                <a:ea typeface="Archivo Black" pitchFamily="34" charset="-122"/>
                <a:cs typeface="Archivo Black" pitchFamily="34" charset="-120"/>
              </a:rPr>
              <a:t>L0</a:t>
            </a:r>
            <a:endParaRPr lang="en-US" sz="1200" dirty="0"/>
          </a:p>
        </p:txBody>
      </p:sp>
      <p:sp>
        <p:nvSpPr>
          <p:cNvPr id="60" name="Text 56"/>
          <p:cNvSpPr/>
          <p:nvPr/>
        </p:nvSpPr>
        <p:spPr>
          <a:xfrm>
            <a:off x="8046720" y="4023360"/>
            <a:ext cx="2286000" cy="493776"/>
          </a:xfrm>
          <a:prstGeom prst="rect">
            <a:avLst/>
          </a:prstGeom>
          <a:noFill/>
          <a:ln/>
        </p:spPr>
        <p:txBody>
          <a:bodyPr wrap="square" lIns="0" tIns="0" rIns="0" bIns="0" rtlCol="0" anchor="ctr"/>
          <a:lstStyle/>
          <a:p>
            <a:pPr indent="0" marL="0">
              <a:buNone/>
            </a:pPr>
            <a:r>
              <a:rPr lang="en-US" sz="950" b="1" dirty="0">
                <a:solidFill>
                  <a:srgbClr val="0C1A2B"/>
                </a:solidFill>
                <a:latin typeface="Nunito Sans" pitchFamily="34" charset="0"/>
                <a:ea typeface="Nunito Sans" pitchFamily="34" charset="-122"/>
                <a:cs typeface="Nunito Sans" pitchFamily="34" charset="-120"/>
              </a:rPr>
              <a:t>A label claim</a:t>
            </a:r>
            <a:endParaRPr lang="en-US" sz="950" dirty="0"/>
          </a:p>
        </p:txBody>
      </p:sp>
      <p:sp>
        <p:nvSpPr>
          <p:cNvPr id="61" name="Text 57"/>
          <p:cNvSpPr/>
          <p:nvPr/>
        </p:nvSpPr>
        <p:spPr>
          <a:xfrm>
            <a:off x="10332720" y="4023360"/>
            <a:ext cx="1173175" cy="493776"/>
          </a:xfrm>
          <a:prstGeom prst="rect">
            <a:avLst/>
          </a:prstGeom>
          <a:noFill/>
          <a:ln/>
        </p:spPr>
        <p:txBody>
          <a:bodyPr wrap="square" lIns="0" tIns="0" rIns="0" bIns="0" rtlCol="0" anchor="ctr"/>
          <a:lstStyle/>
          <a:p>
            <a:pPr algn="r" indent="0" marL="0">
              <a:buNone/>
            </a:pPr>
            <a:r>
              <a:rPr lang="en-US" sz="800" b="1" spc="60" kern="0" dirty="0">
                <a:solidFill>
                  <a:srgbClr val="9E3A24"/>
                </a:solidFill>
                <a:latin typeface="Nunito Sans" pitchFamily="34" charset="0"/>
                <a:ea typeface="Nunito Sans" pitchFamily="34" charset="-122"/>
                <a:cs typeface="Nunito Sans" pitchFamily="34" charset="-120"/>
              </a:rPr>
              <a:t>0.3 YRS TO COPY</a:t>
            </a:r>
            <a:endParaRPr lang="en-US" sz="800" dirty="0"/>
          </a:p>
        </p:txBody>
      </p:sp>
      <p:sp>
        <p:nvSpPr>
          <p:cNvPr id="62" name="Text 58"/>
          <p:cNvSpPr/>
          <p:nvPr/>
        </p:nvSpPr>
        <p:spPr>
          <a:xfrm>
            <a:off x="7315200" y="4645152"/>
            <a:ext cx="4373575" cy="274320"/>
          </a:xfrm>
          <a:prstGeom prst="rect">
            <a:avLst/>
          </a:prstGeom>
          <a:noFill/>
          <a:ln/>
        </p:spPr>
        <p:txBody>
          <a:bodyPr wrap="square" lIns="0" tIns="0" rIns="0" bIns="0" rtlCol="0" anchor="ctr"/>
          <a:lstStyle/>
          <a:p>
            <a:pPr indent="0" marL="0">
              <a:buNone/>
            </a:pPr>
            <a:r>
              <a:rPr lang="en-US" sz="1000" b="1" dirty="0">
                <a:solidFill>
                  <a:srgbClr val="0C1A2B"/>
                </a:solidFill>
                <a:latin typeface="Nunito Sans" pitchFamily="34" charset="0"/>
                <a:ea typeface="Nunito Sans" pitchFamily="34" charset="-122"/>
                <a:cs typeface="Nunito Sans" pitchFamily="34" charset="-120"/>
              </a:rPr>
              <a:t>DHF sits at L1. Only L3 and L4 survive imitation.</a:t>
            </a:r>
            <a:endParaRPr lang="en-US" sz="1000" dirty="0"/>
          </a:p>
        </p:txBody>
      </p:sp>
      <p:sp>
        <p:nvSpPr>
          <p:cNvPr id="63" name="Shape 59"/>
          <p:cNvSpPr/>
          <p:nvPr/>
        </p:nvSpPr>
        <p:spPr>
          <a:xfrm>
            <a:off x="7315200" y="4992624"/>
            <a:ext cx="4373575" cy="1371600"/>
          </a:xfrm>
          <a:prstGeom prst="roundRect">
            <a:avLst>
              <a:gd name="adj" fmla="val 6667"/>
            </a:avLst>
          </a:prstGeom>
          <a:solidFill>
            <a:srgbClr val="E4F2EA"/>
          </a:solidFill>
          <a:ln w="6350">
            <a:solidFill>
              <a:srgbClr val="E4F2EA"/>
            </a:solidFill>
            <a:prstDash val="solid"/>
          </a:ln>
        </p:spPr>
      </p:sp>
      <p:sp>
        <p:nvSpPr>
          <p:cNvPr id="64" name="Text 60"/>
          <p:cNvSpPr/>
          <p:nvPr/>
        </p:nvSpPr>
        <p:spPr>
          <a:xfrm>
            <a:off x="7516368" y="5111496"/>
            <a:ext cx="3971239" cy="1161288"/>
          </a:xfrm>
          <a:prstGeom prst="rect">
            <a:avLst/>
          </a:prstGeom>
          <a:noFill/>
          <a:ln/>
        </p:spPr>
        <p:txBody>
          <a:bodyPr wrap="square" lIns="0" tIns="0" rIns="0" bIns="0" rtlCol="0" anchor="t"/>
          <a:lstStyle/>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The only asset that cannot be bought inside five years. ITC bought 24 Mantra; Wingreens bought Safe Harvest — DHF has roughly two years to build, certify and make this moat consumer-visible before ₹274 Cr makes it worth attacking.</a:t>
            </a:r>
            <a:endParaRPr lang="en-US" sz="900" dirty="0"/>
          </a:p>
        </p:txBody>
      </p:sp>
      <p:sp>
        <p:nvSpPr>
          <p:cNvPr id="65" name="Shape 61"/>
          <p:cNvSpPr/>
          <p:nvPr/>
        </p:nvSpPr>
        <p:spPr>
          <a:xfrm>
            <a:off x="502920" y="6492240"/>
            <a:ext cx="11185855" cy="0"/>
          </a:xfrm>
          <a:prstGeom prst="line">
            <a:avLst/>
          </a:prstGeom>
          <a:noFill/>
          <a:ln w="9525">
            <a:solidFill>
              <a:srgbClr val="E5DCCB"/>
            </a:solidFill>
            <a:prstDash val="solid"/>
          </a:ln>
        </p:spPr>
      </p:sp>
      <p:sp>
        <p:nvSpPr>
          <p:cNvPr id="66" name="Text 62"/>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THE MOAT &amp; THE ASK</a:t>
            </a:r>
            <a:endParaRPr lang="en-US" sz="800" dirty="0"/>
          </a:p>
        </p:txBody>
      </p:sp>
      <p:sp>
        <p:nvSpPr>
          <p:cNvPr id="67" name="Text 63"/>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24</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2159813"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2159813"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THE SCALE BLUEPRINT</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500" dirty="0">
                <a:solidFill>
                  <a:srgbClr val="0C1A2B"/>
                </a:solidFill>
                <a:latin typeface="Archivo Black" pitchFamily="34" charset="0"/>
                <a:ea typeface="Archivo Black" pitchFamily="34" charset="-122"/>
                <a:cs typeface="Archivo Black" pitchFamily="34" charset="-120"/>
              </a:rPr>
              <a:t>₹105 Cr buys breakeven by FY29</a:t>
            </a:r>
            <a:endParaRPr lang="en-US" sz="2500" dirty="0"/>
          </a:p>
        </p:txBody>
      </p:sp>
      <p:sp>
        <p:nvSpPr>
          <p:cNvPr id="6" name="Shape 3"/>
          <p:cNvSpPr/>
          <p:nvPr/>
        </p:nvSpPr>
        <p:spPr>
          <a:xfrm>
            <a:off x="502920" y="1463040"/>
            <a:ext cx="5943600" cy="621792"/>
          </a:xfrm>
          <a:prstGeom prst="rect">
            <a:avLst/>
          </a:prstGeom>
          <a:solidFill>
            <a:srgbClr val="F3ECE0"/>
          </a:solidFill>
          <a:ln w="5080">
            <a:solidFill>
              <a:srgbClr val="F3ECE0"/>
            </a:solidFill>
            <a:prstDash val="solid"/>
          </a:ln>
        </p:spPr>
      </p:sp>
      <p:sp>
        <p:nvSpPr>
          <p:cNvPr id="7" name="Text 4"/>
          <p:cNvSpPr/>
          <p:nvPr/>
        </p:nvSpPr>
        <p:spPr>
          <a:xfrm>
            <a:off x="640080" y="1463040"/>
            <a:ext cx="2148840" cy="621792"/>
          </a:xfrm>
          <a:prstGeom prst="rect">
            <a:avLst/>
          </a:prstGeom>
          <a:noFill/>
          <a:ln/>
        </p:spPr>
        <p:txBody>
          <a:bodyPr wrap="square" lIns="0" tIns="0" rIns="0" bIns="0" rtlCol="0" anchor="ctr"/>
          <a:lstStyle/>
          <a:p>
            <a:pPr algn="l" indent="0" marL="0">
              <a:buNone/>
            </a:pPr>
            <a:endParaRPr lang="en-US" sz="900" dirty="0"/>
          </a:p>
        </p:txBody>
      </p:sp>
      <p:sp>
        <p:nvSpPr>
          <p:cNvPr id="8" name="Text 5"/>
          <p:cNvSpPr/>
          <p:nvPr/>
        </p:nvSpPr>
        <p:spPr>
          <a:xfrm>
            <a:off x="3017520" y="1463040"/>
            <a:ext cx="960120" cy="621792"/>
          </a:xfrm>
          <a:prstGeom prst="rect">
            <a:avLst/>
          </a:prstGeom>
          <a:noFill/>
          <a:ln/>
        </p:spPr>
        <p:txBody>
          <a:bodyPr wrap="square" lIns="0" tIns="0" rIns="0" bIns="0" rtlCol="0" anchor="ctr"/>
          <a:lstStyle/>
          <a:p>
            <a:pPr algn="r" indent="0" marL="0">
              <a:buNone/>
            </a:pPr>
            <a:r>
              <a:rPr lang="en-US" sz="900" b="1" dirty="0">
                <a:solidFill>
                  <a:srgbClr val="8B95A2"/>
                </a:solidFill>
                <a:latin typeface="Nunito Sans" pitchFamily="34" charset="0"/>
                <a:ea typeface="Nunito Sans" pitchFamily="34" charset="-122"/>
                <a:cs typeface="Nunito Sans" pitchFamily="34" charset="-120"/>
              </a:rPr>
              <a:t>FY27</a:t>
            </a:r>
            <a:endParaRPr lang="en-US" sz="900" dirty="0"/>
          </a:p>
        </p:txBody>
      </p:sp>
      <p:sp>
        <p:nvSpPr>
          <p:cNvPr id="9" name="Text 6"/>
          <p:cNvSpPr/>
          <p:nvPr/>
        </p:nvSpPr>
        <p:spPr>
          <a:xfrm>
            <a:off x="4206240" y="1463040"/>
            <a:ext cx="960120" cy="621792"/>
          </a:xfrm>
          <a:prstGeom prst="rect">
            <a:avLst/>
          </a:prstGeom>
          <a:noFill/>
          <a:ln/>
        </p:spPr>
        <p:txBody>
          <a:bodyPr wrap="square" lIns="0" tIns="0" rIns="0" bIns="0" rtlCol="0" anchor="ctr"/>
          <a:lstStyle/>
          <a:p>
            <a:pPr algn="r" indent="0" marL="0">
              <a:buNone/>
            </a:pPr>
            <a:r>
              <a:rPr lang="en-US" sz="900" b="1" dirty="0">
                <a:solidFill>
                  <a:srgbClr val="8B95A2"/>
                </a:solidFill>
                <a:latin typeface="Nunito Sans" pitchFamily="34" charset="0"/>
                <a:ea typeface="Nunito Sans" pitchFamily="34" charset="-122"/>
                <a:cs typeface="Nunito Sans" pitchFamily="34" charset="-120"/>
              </a:rPr>
              <a:t>FY28</a:t>
            </a:r>
            <a:endParaRPr lang="en-US" sz="900" dirty="0"/>
          </a:p>
        </p:txBody>
      </p:sp>
      <p:sp>
        <p:nvSpPr>
          <p:cNvPr id="10" name="Text 7"/>
          <p:cNvSpPr/>
          <p:nvPr/>
        </p:nvSpPr>
        <p:spPr>
          <a:xfrm>
            <a:off x="5394960" y="1463040"/>
            <a:ext cx="960120" cy="621792"/>
          </a:xfrm>
          <a:prstGeom prst="rect">
            <a:avLst/>
          </a:prstGeom>
          <a:noFill/>
          <a:ln/>
        </p:spPr>
        <p:txBody>
          <a:bodyPr wrap="square" lIns="0" tIns="0" rIns="0" bIns="0" rtlCol="0" anchor="ctr"/>
          <a:lstStyle/>
          <a:p>
            <a:pPr algn="r" indent="0" marL="0">
              <a:buNone/>
            </a:pPr>
            <a:r>
              <a:rPr lang="en-US" sz="900" b="1" dirty="0">
                <a:solidFill>
                  <a:srgbClr val="8B95A2"/>
                </a:solidFill>
                <a:latin typeface="Nunito Sans" pitchFamily="34" charset="0"/>
                <a:ea typeface="Nunito Sans" pitchFamily="34" charset="-122"/>
                <a:cs typeface="Nunito Sans" pitchFamily="34" charset="-120"/>
              </a:rPr>
              <a:t>FY29</a:t>
            </a:r>
            <a:endParaRPr lang="en-US" sz="900" dirty="0"/>
          </a:p>
        </p:txBody>
      </p:sp>
      <p:sp>
        <p:nvSpPr>
          <p:cNvPr id="11" name="Text 8"/>
          <p:cNvSpPr/>
          <p:nvPr/>
        </p:nvSpPr>
        <p:spPr>
          <a:xfrm>
            <a:off x="640080" y="2084832"/>
            <a:ext cx="2148840" cy="621792"/>
          </a:xfrm>
          <a:prstGeom prst="rect">
            <a:avLst/>
          </a:prstGeom>
          <a:noFill/>
          <a:ln/>
        </p:spPr>
        <p:txBody>
          <a:bodyPr wrap="square" lIns="0" tIns="0" rIns="0" bIns="0" rtlCol="0" anchor="ctr"/>
          <a:lstStyle/>
          <a:p>
            <a:pPr algn="l" indent="0" marL="0">
              <a:buNone/>
            </a:pPr>
            <a:r>
              <a:rPr lang="en-US" sz="850" b="1" spc="80" kern="0" dirty="0">
                <a:solidFill>
                  <a:srgbClr val="8B95A2"/>
                </a:solidFill>
                <a:latin typeface="Nunito Sans" pitchFamily="34" charset="0"/>
                <a:ea typeface="Nunito Sans" pitchFamily="34" charset="-122"/>
                <a:cs typeface="Nunito Sans" pitchFamily="34" charset="-120"/>
              </a:rPr>
              <a:t>REVENUE</a:t>
            </a:r>
            <a:endParaRPr lang="en-US" sz="850" dirty="0"/>
          </a:p>
        </p:txBody>
      </p:sp>
      <p:sp>
        <p:nvSpPr>
          <p:cNvPr id="12" name="Text 9"/>
          <p:cNvSpPr/>
          <p:nvPr/>
        </p:nvSpPr>
        <p:spPr>
          <a:xfrm>
            <a:off x="3017520" y="2084832"/>
            <a:ext cx="960120" cy="621792"/>
          </a:xfrm>
          <a:prstGeom prst="rect">
            <a:avLst/>
          </a:prstGeom>
          <a:noFill/>
          <a:ln/>
        </p:spPr>
        <p:txBody>
          <a:bodyPr wrap="square" lIns="0" tIns="0" rIns="0" bIns="0" rtlCol="0" anchor="ctr"/>
          <a:lstStyle/>
          <a:p>
            <a:pPr algn="r" indent="0" marL="0">
              <a:buNone/>
            </a:pPr>
            <a:r>
              <a:rPr lang="en-US" sz="1600" b="1" dirty="0">
                <a:solidFill>
                  <a:srgbClr val="0C1A2B"/>
                </a:solidFill>
                <a:latin typeface="Archivo Black" pitchFamily="34" charset="0"/>
                <a:ea typeface="Archivo Black" pitchFamily="34" charset="-122"/>
                <a:cs typeface="Archivo Black" pitchFamily="34" charset="-120"/>
              </a:rPr>
              <a:t>104</a:t>
            </a:r>
            <a:endParaRPr lang="en-US" sz="1600" dirty="0"/>
          </a:p>
        </p:txBody>
      </p:sp>
      <p:sp>
        <p:nvSpPr>
          <p:cNvPr id="13" name="Text 10"/>
          <p:cNvSpPr/>
          <p:nvPr/>
        </p:nvSpPr>
        <p:spPr>
          <a:xfrm>
            <a:off x="4206240" y="2084832"/>
            <a:ext cx="960120" cy="621792"/>
          </a:xfrm>
          <a:prstGeom prst="rect">
            <a:avLst/>
          </a:prstGeom>
          <a:noFill/>
          <a:ln/>
        </p:spPr>
        <p:txBody>
          <a:bodyPr wrap="square" lIns="0" tIns="0" rIns="0" bIns="0" rtlCol="0" anchor="ctr"/>
          <a:lstStyle/>
          <a:p>
            <a:pPr algn="r" indent="0" marL="0">
              <a:buNone/>
            </a:pPr>
            <a:r>
              <a:rPr lang="en-US" sz="1600" b="1" dirty="0">
                <a:solidFill>
                  <a:srgbClr val="0C1A2B"/>
                </a:solidFill>
                <a:latin typeface="Archivo Black" pitchFamily="34" charset="0"/>
                <a:ea typeface="Archivo Black" pitchFamily="34" charset="-122"/>
                <a:cs typeface="Archivo Black" pitchFamily="34" charset="-120"/>
              </a:rPr>
              <a:t>168</a:t>
            </a:r>
            <a:endParaRPr lang="en-US" sz="1600" dirty="0"/>
          </a:p>
        </p:txBody>
      </p:sp>
      <p:sp>
        <p:nvSpPr>
          <p:cNvPr id="14" name="Text 11"/>
          <p:cNvSpPr/>
          <p:nvPr/>
        </p:nvSpPr>
        <p:spPr>
          <a:xfrm>
            <a:off x="5394960" y="2084832"/>
            <a:ext cx="960120" cy="621792"/>
          </a:xfrm>
          <a:prstGeom prst="rect">
            <a:avLst/>
          </a:prstGeom>
          <a:noFill/>
          <a:ln/>
        </p:spPr>
        <p:txBody>
          <a:bodyPr wrap="square" lIns="0" tIns="0" rIns="0" bIns="0" rtlCol="0" anchor="ctr"/>
          <a:lstStyle/>
          <a:p>
            <a:pPr algn="r" indent="0" marL="0">
              <a:buNone/>
            </a:pPr>
            <a:r>
              <a:rPr lang="en-US" sz="1600" b="1" dirty="0">
                <a:solidFill>
                  <a:srgbClr val="0C1A2B"/>
                </a:solidFill>
                <a:latin typeface="Archivo Black" pitchFamily="34" charset="0"/>
                <a:ea typeface="Archivo Black" pitchFamily="34" charset="-122"/>
                <a:cs typeface="Archivo Black" pitchFamily="34" charset="-120"/>
              </a:rPr>
              <a:t>274</a:t>
            </a:r>
            <a:endParaRPr lang="en-US" sz="1600" dirty="0"/>
          </a:p>
        </p:txBody>
      </p:sp>
      <p:sp>
        <p:nvSpPr>
          <p:cNvPr id="15" name="Shape 12"/>
          <p:cNvSpPr/>
          <p:nvPr/>
        </p:nvSpPr>
        <p:spPr>
          <a:xfrm>
            <a:off x="502920" y="2706624"/>
            <a:ext cx="5943600" cy="0"/>
          </a:xfrm>
          <a:prstGeom prst="line">
            <a:avLst/>
          </a:prstGeom>
          <a:noFill/>
          <a:ln w="6350">
            <a:solidFill>
              <a:srgbClr val="E5DCCB"/>
            </a:solidFill>
            <a:prstDash val="solid"/>
          </a:ln>
        </p:spPr>
      </p:sp>
      <p:sp>
        <p:nvSpPr>
          <p:cNvPr id="16" name="Text 13"/>
          <p:cNvSpPr/>
          <p:nvPr/>
        </p:nvSpPr>
        <p:spPr>
          <a:xfrm>
            <a:off x="640080" y="2706624"/>
            <a:ext cx="2148840" cy="621792"/>
          </a:xfrm>
          <a:prstGeom prst="rect">
            <a:avLst/>
          </a:prstGeom>
          <a:noFill/>
          <a:ln/>
        </p:spPr>
        <p:txBody>
          <a:bodyPr wrap="square" lIns="0" tIns="0" rIns="0" bIns="0" rtlCol="0" anchor="ctr"/>
          <a:lstStyle/>
          <a:p>
            <a:pPr algn="l" indent="0" marL="0">
              <a:buNone/>
            </a:pPr>
            <a:r>
              <a:rPr lang="en-US" sz="850" b="1" spc="80" kern="0" dirty="0">
                <a:solidFill>
                  <a:srgbClr val="8B95A2"/>
                </a:solidFill>
                <a:latin typeface="Nunito Sans" pitchFamily="34" charset="0"/>
                <a:ea typeface="Nunito Sans" pitchFamily="34" charset="-122"/>
                <a:cs typeface="Nunito Sans" pitchFamily="34" charset="-120"/>
              </a:rPr>
              <a:t>INVESTABLE MARGIN</a:t>
            </a:r>
            <a:endParaRPr lang="en-US" sz="850" dirty="0"/>
          </a:p>
        </p:txBody>
      </p:sp>
      <p:sp>
        <p:nvSpPr>
          <p:cNvPr id="17" name="Text 14"/>
          <p:cNvSpPr/>
          <p:nvPr/>
        </p:nvSpPr>
        <p:spPr>
          <a:xfrm>
            <a:off x="3017520" y="2706624"/>
            <a:ext cx="960120" cy="621792"/>
          </a:xfrm>
          <a:prstGeom prst="rect">
            <a:avLst/>
          </a:prstGeom>
          <a:noFill/>
          <a:ln/>
        </p:spPr>
        <p:txBody>
          <a:bodyPr wrap="square" lIns="0" tIns="0" rIns="0" bIns="0" rtlCol="0" anchor="ctr"/>
          <a:lstStyle/>
          <a:p>
            <a:pPr algn="r" indent="0" marL="0">
              <a:buNone/>
            </a:pPr>
            <a:r>
              <a:rPr lang="en-US" sz="1600" b="1" dirty="0">
                <a:solidFill>
                  <a:srgbClr val="0C1A2B"/>
                </a:solidFill>
                <a:latin typeface="Archivo Black" pitchFamily="34" charset="0"/>
                <a:ea typeface="Archivo Black" pitchFamily="34" charset="-122"/>
                <a:cs typeface="Archivo Black" pitchFamily="34" charset="-120"/>
              </a:rPr>
              <a:t>27.6</a:t>
            </a:r>
            <a:endParaRPr lang="en-US" sz="1600" dirty="0"/>
          </a:p>
        </p:txBody>
      </p:sp>
      <p:sp>
        <p:nvSpPr>
          <p:cNvPr id="18" name="Text 15"/>
          <p:cNvSpPr/>
          <p:nvPr/>
        </p:nvSpPr>
        <p:spPr>
          <a:xfrm>
            <a:off x="4206240" y="2706624"/>
            <a:ext cx="960120" cy="621792"/>
          </a:xfrm>
          <a:prstGeom prst="rect">
            <a:avLst/>
          </a:prstGeom>
          <a:noFill/>
          <a:ln/>
        </p:spPr>
        <p:txBody>
          <a:bodyPr wrap="square" lIns="0" tIns="0" rIns="0" bIns="0" rtlCol="0" anchor="ctr"/>
          <a:lstStyle/>
          <a:p>
            <a:pPr algn="r" indent="0" marL="0">
              <a:buNone/>
            </a:pPr>
            <a:r>
              <a:rPr lang="en-US" sz="1600" b="1" dirty="0">
                <a:solidFill>
                  <a:srgbClr val="0C1A2B"/>
                </a:solidFill>
                <a:latin typeface="Archivo Black" pitchFamily="34" charset="0"/>
                <a:ea typeface="Archivo Black" pitchFamily="34" charset="-122"/>
                <a:cs typeface="Archivo Black" pitchFamily="34" charset="-120"/>
              </a:rPr>
              <a:t>50.2</a:t>
            </a:r>
            <a:endParaRPr lang="en-US" sz="1600" dirty="0"/>
          </a:p>
        </p:txBody>
      </p:sp>
      <p:sp>
        <p:nvSpPr>
          <p:cNvPr id="19" name="Text 16"/>
          <p:cNvSpPr/>
          <p:nvPr/>
        </p:nvSpPr>
        <p:spPr>
          <a:xfrm>
            <a:off x="5394960" y="2706624"/>
            <a:ext cx="960120" cy="621792"/>
          </a:xfrm>
          <a:prstGeom prst="rect">
            <a:avLst/>
          </a:prstGeom>
          <a:noFill/>
          <a:ln/>
        </p:spPr>
        <p:txBody>
          <a:bodyPr wrap="square" lIns="0" tIns="0" rIns="0" bIns="0" rtlCol="0" anchor="ctr"/>
          <a:lstStyle/>
          <a:p>
            <a:pPr algn="r" indent="0" marL="0">
              <a:buNone/>
            </a:pPr>
            <a:r>
              <a:rPr lang="en-US" sz="1600" b="1" dirty="0">
                <a:solidFill>
                  <a:srgbClr val="0C1A2B"/>
                </a:solidFill>
                <a:latin typeface="Archivo Black" pitchFamily="34" charset="0"/>
                <a:ea typeface="Archivo Black" pitchFamily="34" charset="-122"/>
                <a:cs typeface="Archivo Black" pitchFamily="34" charset="-120"/>
              </a:rPr>
              <a:t>86.6</a:t>
            </a:r>
            <a:endParaRPr lang="en-US" sz="1600" dirty="0"/>
          </a:p>
        </p:txBody>
      </p:sp>
      <p:sp>
        <p:nvSpPr>
          <p:cNvPr id="20" name="Shape 17"/>
          <p:cNvSpPr/>
          <p:nvPr/>
        </p:nvSpPr>
        <p:spPr>
          <a:xfrm>
            <a:off x="502920" y="3328416"/>
            <a:ext cx="5943600" cy="0"/>
          </a:xfrm>
          <a:prstGeom prst="line">
            <a:avLst/>
          </a:prstGeom>
          <a:noFill/>
          <a:ln w="6350">
            <a:solidFill>
              <a:srgbClr val="E5DCCB"/>
            </a:solidFill>
            <a:prstDash val="solid"/>
          </a:ln>
        </p:spPr>
      </p:sp>
      <p:sp>
        <p:nvSpPr>
          <p:cNvPr id="21" name="Text 18"/>
          <p:cNvSpPr/>
          <p:nvPr/>
        </p:nvSpPr>
        <p:spPr>
          <a:xfrm>
            <a:off x="640080" y="3328416"/>
            <a:ext cx="2148840" cy="621792"/>
          </a:xfrm>
          <a:prstGeom prst="rect">
            <a:avLst/>
          </a:prstGeom>
          <a:noFill/>
          <a:ln/>
        </p:spPr>
        <p:txBody>
          <a:bodyPr wrap="square" lIns="0" tIns="0" rIns="0" bIns="0" rtlCol="0" anchor="ctr"/>
          <a:lstStyle/>
          <a:p>
            <a:pPr algn="l" indent="0" marL="0">
              <a:buNone/>
            </a:pPr>
            <a:r>
              <a:rPr lang="en-US" sz="850" b="1" spc="80" kern="0" dirty="0">
                <a:solidFill>
                  <a:srgbClr val="8B95A2"/>
                </a:solidFill>
                <a:latin typeface="Nunito Sans" pitchFamily="34" charset="0"/>
                <a:ea typeface="Nunito Sans" pitchFamily="34" charset="-122"/>
                <a:cs typeface="Nunito Sans" pitchFamily="34" charset="-120"/>
              </a:rPr>
              <a:t>EBITDA</a:t>
            </a:r>
            <a:endParaRPr lang="en-US" sz="850" dirty="0"/>
          </a:p>
        </p:txBody>
      </p:sp>
      <p:sp>
        <p:nvSpPr>
          <p:cNvPr id="22" name="Text 19"/>
          <p:cNvSpPr/>
          <p:nvPr/>
        </p:nvSpPr>
        <p:spPr>
          <a:xfrm>
            <a:off x="3017520" y="3328416"/>
            <a:ext cx="960120" cy="621792"/>
          </a:xfrm>
          <a:prstGeom prst="rect">
            <a:avLst/>
          </a:prstGeom>
          <a:noFill/>
          <a:ln/>
        </p:spPr>
        <p:txBody>
          <a:bodyPr wrap="square" lIns="0" tIns="0" rIns="0" bIns="0" rtlCol="0" anchor="ctr"/>
          <a:lstStyle/>
          <a:p>
            <a:pPr algn="r" indent="0" marL="0">
              <a:buNone/>
            </a:pPr>
            <a:r>
              <a:rPr lang="en-US" sz="1600" b="1" dirty="0">
                <a:solidFill>
                  <a:srgbClr val="9E3A24"/>
                </a:solidFill>
                <a:latin typeface="Archivo Black" pitchFamily="34" charset="0"/>
                <a:ea typeface="Archivo Black" pitchFamily="34" charset="-122"/>
                <a:cs typeface="Archivo Black" pitchFamily="34" charset="-120"/>
              </a:rPr>
              <a:t>−12.4</a:t>
            </a:r>
            <a:endParaRPr lang="en-US" sz="1600" dirty="0"/>
          </a:p>
        </p:txBody>
      </p:sp>
      <p:sp>
        <p:nvSpPr>
          <p:cNvPr id="23" name="Text 20"/>
          <p:cNvSpPr/>
          <p:nvPr/>
        </p:nvSpPr>
        <p:spPr>
          <a:xfrm>
            <a:off x="4206240" y="3328416"/>
            <a:ext cx="960120" cy="621792"/>
          </a:xfrm>
          <a:prstGeom prst="rect">
            <a:avLst/>
          </a:prstGeom>
          <a:noFill/>
          <a:ln/>
        </p:spPr>
        <p:txBody>
          <a:bodyPr wrap="square" lIns="0" tIns="0" rIns="0" bIns="0" rtlCol="0" anchor="ctr"/>
          <a:lstStyle/>
          <a:p>
            <a:pPr algn="r" indent="0" marL="0">
              <a:buNone/>
            </a:pPr>
            <a:r>
              <a:rPr lang="en-US" sz="1600" b="1" dirty="0">
                <a:solidFill>
                  <a:srgbClr val="9E3A24"/>
                </a:solidFill>
                <a:latin typeface="Archivo Black" pitchFamily="34" charset="0"/>
                <a:ea typeface="Archivo Black" pitchFamily="34" charset="-122"/>
                <a:cs typeface="Archivo Black" pitchFamily="34" charset="-120"/>
              </a:rPr>
              <a:t>−7.9</a:t>
            </a:r>
            <a:endParaRPr lang="en-US" sz="1600" dirty="0"/>
          </a:p>
        </p:txBody>
      </p:sp>
      <p:sp>
        <p:nvSpPr>
          <p:cNvPr id="24" name="Text 21"/>
          <p:cNvSpPr/>
          <p:nvPr/>
        </p:nvSpPr>
        <p:spPr>
          <a:xfrm>
            <a:off x="5394960" y="3328416"/>
            <a:ext cx="960120" cy="621792"/>
          </a:xfrm>
          <a:prstGeom prst="rect">
            <a:avLst/>
          </a:prstGeom>
          <a:noFill/>
          <a:ln/>
        </p:spPr>
        <p:txBody>
          <a:bodyPr wrap="square" lIns="0" tIns="0" rIns="0" bIns="0" rtlCol="0" anchor="ctr"/>
          <a:lstStyle/>
          <a:p>
            <a:pPr algn="r" indent="0" marL="0">
              <a:buNone/>
            </a:pPr>
            <a:r>
              <a:rPr lang="en-US" sz="1600" b="1" dirty="0">
                <a:solidFill>
                  <a:srgbClr val="177A46"/>
                </a:solidFill>
                <a:latin typeface="Archivo Black" pitchFamily="34" charset="0"/>
                <a:ea typeface="Archivo Black" pitchFamily="34" charset="-122"/>
                <a:cs typeface="Archivo Black" pitchFamily="34" charset="-120"/>
              </a:rPr>
              <a:t>+4.7</a:t>
            </a:r>
            <a:endParaRPr lang="en-US" sz="1600" dirty="0"/>
          </a:p>
        </p:txBody>
      </p:sp>
      <p:sp>
        <p:nvSpPr>
          <p:cNvPr id="25" name="Shape 22"/>
          <p:cNvSpPr/>
          <p:nvPr/>
        </p:nvSpPr>
        <p:spPr>
          <a:xfrm>
            <a:off x="502920" y="3950208"/>
            <a:ext cx="5943600" cy="0"/>
          </a:xfrm>
          <a:prstGeom prst="line">
            <a:avLst/>
          </a:prstGeom>
          <a:noFill/>
          <a:ln w="6350">
            <a:solidFill>
              <a:srgbClr val="E5DCCB"/>
            </a:solidFill>
            <a:prstDash val="solid"/>
          </a:ln>
        </p:spPr>
      </p:sp>
      <p:sp>
        <p:nvSpPr>
          <p:cNvPr id="26" name="Text 23"/>
          <p:cNvSpPr/>
          <p:nvPr/>
        </p:nvSpPr>
        <p:spPr>
          <a:xfrm>
            <a:off x="502920" y="4078224"/>
            <a:ext cx="5943600" cy="402336"/>
          </a:xfrm>
          <a:prstGeom prst="rect">
            <a:avLst/>
          </a:prstGeom>
          <a:noFill/>
          <a:ln/>
        </p:spPr>
        <p:txBody>
          <a:bodyPr wrap="square" lIns="0" tIns="0" rIns="0" bIns="0" rtlCol="0" anchor="t"/>
          <a:lstStyle/>
          <a:p>
            <a:pPr indent="0" marL="0">
              <a:lnSpc>
                <a:spcPct val="108000"/>
              </a:lnSpc>
              <a:buNone/>
            </a:pPr>
            <a:r>
              <a:rPr lang="en-US" sz="950" dirty="0">
                <a:solidFill>
                  <a:srgbClr val="54606F"/>
                </a:solidFill>
                <a:latin typeface="Nunito Sans" pitchFamily="34" charset="0"/>
                <a:ea typeface="Nunito Sans" pitchFamily="34" charset="-122"/>
                <a:cs typeface="Nunito Sans" pitchFamily="34" charset="-120"/>
              </a:rPr>
              <a:t>Investment intensity falls from 38% to 30% of revenue. Breakeven is not efficiency — it is the same rupees over more revenue.</a:t>
            </a:r>
            <a:endParaRPr lang="en-US" sz="950" dirty="0"/>
          </a:p>
        </p:txBody>
      </p:sp>
      <p:sp>
        <p:nvSpPr>
          <p:cNvPr id="27" name="Shape 24"/>
          <p:cNvSpPr/>
          <p:nvPr/>
        </p:nvSpPr>
        <p:spPr>
          <a:xfrm>
            <a:off x="502920" y="4608576"/>
            <a:ext cx="5943600" cy="1463040"/>
          </a:xfrm>
          <a:prstGeom prst="roundRect">
            <a:avLst>
              <a:gd name="adj" fmla="val 6250"/>
            </a:avLst>
          </a:prstGeom>
          <a:solidFill>
            <a:srgbClr val="FAF0DA"/>
          </a:solidFill>
          <a:ln w="6350">
            <a:solidFill>
              <a:srgbClr val="FAF0DA"/>
            </a:solidFill>
            <a:prstDash val="solid"/>
          </a:ln>
        </p:spPr>
      </p:sp>
      <p:sp>
        <p:nvSpPr>
          <p:cNvPr id="28" name="Text 25"/>
          <p:cNvSpPr/>
          <p:nvPr/>
        </p:nvSpPr>
        <p:spPr>
          <a:xfrm>
            <a:off x="704088" y="4727448"/>
            <a:ext cx="5541264" cy="1252728"/>
          </a:xfrm>
          <a:prstGeom prst="rect">
            <a:avLst/>
          </a:prstGeom>
          <a:noFill/>
          <a:ln/>
        </p:spPr>
        <p:txBody>
          <a:bodyPr wrap="square" lIns="0" tIns="0" rIns="0" bIns="0" rtlCol="0" anchor="t"/>
          <a:lstStyle/>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DHF clears breakeven at ₹274 Cr only because a 43.1% gross margin buys ₹38 Cr that Farmley's 29% does not.</a:t>
            </a:r>
            <a:endParaRPr lang="en-US" sz="900" dirty="0"/>
          </a:p>
          <a:p>
            <a:pPr indent="0" marL="0">
              <a:lnSpc>
                <a:spcPct val="110000"/>
              </a:lnSpc>
              <a:buNone/>
            </a:pPr>
            <a:r>
              <a:rPr lang="en-US" sz="900" dirty="0">
                <a:solidFill>
                  <a:srgbClr val="54606F"/>
                </a:solidFill>
                <a:latin typeface="Nunito Sans" pitchFamily="34" charset="0"/>
                <a:ea typeface="Nunito Sans" pitchFamily="34" charset="-122"/>
                <a:cs typeface="Nunito Sans" pitchFamily="34" charset="-120"/>
              </a:rPr>
              <a:t>No Indian clean-label brand between ₹75 and ₹400 Cr is EBITDA-positive today.</a:t>
            </a:r>
            <a:endParaRPr lang="en-US" sz="900" dirty="0"/>
          </a:p>
        </p:txBody>
      </p:sp>
      <p:sp>
        <p:nvSpPr>
          <p:cNvPr id="29" name="Shape 26"/>
          <p:cNvSpPr/>
          <p:nvPr/>
        </p:nvSpPr>
        <p:spPr>
          <a:xfrm>
            <a:off x="6720840" y="1463040"/>
            <a:ext cx="4967935" cy="3291840"/>
          </a:xfrm>
          <a:prstGeom prst="roundRect">
            <a:avLst>
              <a:gd name="adj" fmla="val 2778"/>
            </a:avLst>
          </a:prstGeom>
          <a:solidFill>
            <a:srgbClr val="0C1A2B"/>
          </a:solidFill>
          <a:ln w="15875">
            <a:solidFill>
              <a:srgbClr val="0C1A2B"/>
            </a:solidFill>
            <a:prstDash val="solid"/>
          </a:ln>
          <a:effectLst>
            <a:outerShdw sx="100000" sy="100000" kx="0" ky="0" algn="bl" rotWithShape="0" blurRad="228600" dist="25400" dir="5400000">
              <a:srgbClr val="0C1A2B">
                <a:alpha val="7000"/>
              </a:srgbClr>
            </a:outerShdw>
          </a:effectLst>
        </p:spPr>
      </p:sp>
      <p:sp>
        <p:nvSpPr>
          <p:cNvPr id="30" name="Text 27"/>
          <p:cNvSpPr/>
          <p:nvPr/>
        </p:nvSpPr>
        <p:spPr>
          <a:xfrm>
            <a:off x="6949440" y="1627632"/>
            <a:ext cx="3657600" cy="219456"/>
          </a:xfrm>
          <a:prstGeom prst="rect">
            <a:avLst/>
          </a:prstGeom>
          <a:noFill/>
          <a:ln/>
        </p:spPr>
        <p:txBody>
          <a:bodyPr wrap="square" lIns="0" tIns="0" rIns="0" bIns="0" rtlCol="0" anchor="ctr"/>
          <a:lstStyle/>
          <a:p>
            <a:pPr indent="0" marL="0">
              <a:buNone/>
            </a:pPr>
            <a:r>
              <a:rPr lang="en-US" sz="950" b="1" spc="180" kern="0" dirty="0">
                <a:solidFill>
                  <a:srgbClr val="5FC28C"/>
                </a:solidFill>
                <a:latin typeface="Nunito Sans" pitchFamily="34" charset="0"/>
                <a:ea typeface="Nunito Sans" pitchFamily="34" charset="-122"/>
                <a:cs typeface="Nunito Sans" pitchFamily="34" charset="-120"/>
              </a:rPr>
              <a:t>THE FUNDING ASK</a:t>
            </a:r>
            <a:endParaRPr lang="en-US" sz="950" dirty="0"/>
          </a:p>
        </p:txBody>
      </p:sp>
      <p:sp>
        <p:nvSpPr>
          <p:cNvPr id="31" name="Text 28"/>
          <p:cNvSpPr/>
          <p:nvPr/>
        </p:nvSpPr>
        <p:spPr>
          <a:xfrm>
            <a:off x="6949440" y="1865376"/>
            <a:ext cx="4510735" cy="676656"/>
          </a:xfrm>
          <a:prstGeom prst="rect">
            <a:avLst/>
          </a:prstGeom>
          <a:noFill/>
          <a:ln/>
        </p:spPr>
        <p:txBody>
          <a:bodyPr wrap="square" lIns="0" tIns="0" rIns="0" bIns="0" rtlCol="0" anchor="t"/>
          <a:lstStyle/>
          <a:p>
            <a:pPr indent="0" marL="0">
              <a:buNone/>
            </a:pPr>
            <a:r>
              <a:rPr lang="en-US" sz="3200" dirty="0">
                <a:solidFill>
                  <a:srgbClr val="FFFFFF"/>
                </a:solidFill>
                <a:latin typeface="Archivo Black" pitchFamily="34" charset="0"/>
                <a:ea typeface="Archivo Black" pitchFamily="34" charset="-122"/>
                <a:cs typeface="Archivo Black" pitchFamily="34" charset="-120"/>
              </a:rPr>
              <a:t>₹105 Cr</a:t>
            </a:r>
            <a:endParaRPr lang="en-US" sz="3200" dirty="0"/>
          </a:p>
        </p:txBody>
      </p:sp>
      <p:sp>
        <p:nvSpPr>
          <p:cNvPr id="32" name="Text 29"/>
          <p:cNvSpPr/>
          <p:nvPr/>
        </p:nvSpPr>
        <p:spPr>
          <a:xfrm>
            <a:off x="6949440" y="2779776"/>
            <a:ext cx="2560320" cy="274320"/>
          </a:xfrm>
          <a:prstGeom prst="rect">
            <a:avLst/>
          </a:prstGeom>
          <a:noFill/>
          <a:ln/>
        </p:spPr>
        <p:txBody>
          <a:bodyPr wrap="square" lIns="0" tIns="0" rIns="0" bIns="0" rtlCol="0" anchor="ctr"/>
          <a:lstStyle/>
          <a:p>
            <a:pPr indent="0" marL="0">
              <a:buNone/>
            </a:pPr>
            <a:r>
              <a:rPr lang="en-US" sz="950" dirty="0">
                <a:solidFill>
                  <a:srgbClr val="A9B6C7"/>
                </a:solidFill>
                <a:latin typeface="Nunito Sans" pitchFamily="34" charset="0"/>
                <a:ea typeface="Nunito Sans" pitchFamily="34" charset="-122"/>
                <a:cs typeface="Nunito Sans" pitchFamily="34" charset="-120"/>
              </a:rPr>
              <a:t>Operating losses</a:t>
            </a:r>
            <a:endParaRPr lang="en-US" sz="950" dirty="0"/>
          </a:p>
        </p:txBody>
      </p:sp>
      <p:sp>
        <p:nvSpPr>
          <p:cNvPr id="33" name="Text 30"/>
          <p:cNvSpPr/>
          <p:nvPr/>
        </p:nvSpPr>
        <p:spPr>
          <a:xfrm>
            <a:off x="10225735" y="2779776"/>
            <a:ext cx="1234440" cy="274320"/>
          </a:xfrm>
          <a:prstGeom prst="rect">
            <a:avLst/>
          </a:prstGeom>
          <a:noFill/>
          <a:ln/>
        </p:spPr>
        <p:txBody>
          <a:bodyPr wrap="square" lIns="0" tIns="0" rIns="0" bIns="0" rtlCol="0" anchor="ctr"/>
          <a:lstStyle/>
          <a:p>
            <a:pPr algn="r" indent="0" marL="0">
              <a:buNone/>
            </a:pPr>
            <a:r>
              <a:rPr lang="en-US" sz="1000" b="1" dirty="0">
                <a:solidFill>
                  <a:srgbClr val="FFFFFF"/>
                </a:solidFill>
                <a:latin typeface="Nunito Sans" pitchFamily="34" charset="0"/>
                <a:ea typeface="Nunito Sans" pitchFamily="34" charset="-122"/>
                <a:cs typeface="Nunito Sans" pitchFamily="34" charset="-120"/>
              </a:rPr>
              <a:t>20.3</a:t>
            </a:r>
            <a:endParaRPr lang="en-US" sz="1000" dirty="0"/>
          </a:p>
        </p:txBody>
      </p:sp>
      <p:sp>
        <p:nvSpPr>
          <p:cNvPr id="34" name="Shape 31"/>
          <p:cNvSpPr/>
          <p:nvPr/>
        </p:nvSpPr>
        <p:spPr>
          <a:xfrm>
            <a:off x="6949440" y="3054096"/>
            <a:ext cx="4510735" cy="0"/>
          </a:xfrm>
          <a:prstGeom prst="line">
            <a:avLst/>
          </a:prstGeom>
          <a:noFill/>
          <a:ln w="6350">
            <a:solidFill>
              <a:srgbClr val="FFFFFF">
                <a:alpha val="16000"/>
              </a:srgbClr>
            </a:solidFill>
            <a:prstDash val="solid"/>
          </a:ln>
        </p:spPr>
      </p:sp>
      <p:sp>
        <p:nvSpPr>
          <p:cNvPr id="35" name="Text 32"/>
          <p:cNvSpPr/>
          <p:nvPr/>
        </p:nvSpPr>
        <p:spPr>
          <a:xfrm>
            <a:off x="6949440" y="3182112"/>
            <a:ext cx="2560320" cy="274320"/>
          </a:xfrm>
          <a:prstGeom prst="rect">
            <a:avLst/>
          </a:prstGeom>
          <a:noFill/>
          <a:ln/>
        </p:spPr>
        <p:txBody>
          <a:bodyPr wrap="square" lIns="0" tIns="0" rIns="0" bIns="0" rtlCol="0" anchor="ctr"/>
          <a:lstStyle/>
          <a:p>
            <a:pPr indent="0" marL="0">
              <a:buNone/>
            </a:pPr>
            <a:r>
              <a:rPr lang="en-US" sz="950" dirty="0">
                <a:solidFill>
                  <a:srgbClr val="A9B6C7"/>
                </a:solidFill>
                <a:latin typeface="Nunito Sans" pitchFamily="34" charset="0"/>
                <a:ea typeface="Nunito Sans" pitchFamily="34" charset="-122"/>
                <a:cs typeface="Nunito Sans" pitchFamily="34" charset="-120"/>
              </a:rPr>
              <a:t>Capex</a:t>
            </a:r>
            <a:endParaRPr lang="en-US" sz="950" dirty="0"/>
          </a:p>
        </p:txBody>
      </p:sp>
      <p:sp>
        <p:nvSpPr>
          <p:cNvPr id="36" name="Text 33"/>
          <p:cNvSpPr/>
          <p:nvPr/>
        </p:nvSpPr>
        <p:spPr>
          <a:xfrm>
            <a:off x="10225735" y="3182112"/>
            <a:ext cx="1234440" cy="274320"/>
          </a:xfrm>
          <a:prstGeom prst="rect">
            <a:avLst/>
          </a:prstGeom>
          <a:noFill/>
          <a:ln/>
        </p:spPr>
        <p:txBody>
          <a:bodyPr wrap="square" lIns="0" tIns="0" rIns="0" bIns="0" rtlCol="0" anchor="ctr"/>
          <a:lstStyle/>
          <a:p>
            <a:pPr algn="r" indent="0" marL="0">
              <a:buNone/>
            </a:pPr>
            <a:r>
              <a:rPr lang="en-US" sz="1000" b="1" dirty="0">
                <a:solidFill>
                  <a:srgbClr val="FFFFFF"/>
                </a:solidFill>
                <a:latin typeface="Nunito Sans" pitchFamily="34" charset="0"/>
                <a:ea typeface="Nunito Sans" pitchFamily="34" charset="-122"/>
                <a:cs typeface="Nunito Sans" pitchFamily="34" charset="-120"/>
              </a:rPr>
              <a:t>29.5</a:t>
            </a:r>
            <a:endParaRPr lang="en-US" sz="1000" dirty="0"/>
          </a:p>
        </p:txBody>
      </p:sp>
      <p:sp>
        <p:nvSpPr>
          <p:cNvPr id="37" name="Shape 34"/>
          <p:cNvSpPr/>
          <p:nvPr/>
        </p:nvSpPr>
        <p:spPr>
          <a:xfrm>
            <a:off x="6949440" y="3456432"/>
            <a:ext cx="4510735" cy="0"/>
          </a:xfrm>
          <a:prstGeom prst="line">
            <a:avLst/>
          </a:prstGeom>
          <a:noFill/>
          <a:ln w="6350">
            <a:solidFill>
              <a:srgbClr val="FFFFFF">
                <a:alpha val="16000"/>
              </a:srgbClr>
            </a:solidFill>
            <a:prstDash val="solid"/>
          </a:ln>
        </p:spPr>
      </p:sp>
      <p:sp>
        <p:nvSpPr>
          <p:cNvPr id="38" name="Text 35"/>
          <p:cNvSpPr/>
          <p:nvPr/>
        </p:nvSpPr>
        <p:spPr>
          <a:xfrm>
            <a:off x="6949440" y="3584448"/>
            <a:ext cx="2560320" cy="274320"/>
          </a:xfrm>
          <a:prstGeom prst="rect">
            <a:avLst/>
          </a:prstGeom>
          <a:noFill/>
          <a:ln/>
        </p:spPr>
        <p:txBody>
          <a:bodyPr wrap="square" lIns="0" tIns="0" rIns="0" bIns="0" rtlCol="0" anchor="ctr"/>
          <a:lstStyle/>
          <a:p>
            <a:pPr indent="0" marL="0">
              <a:buNone/>
            </a:pPr>
            <a:r>
              <a:rPr lang="en-US" sz="950" dirty="0">
                <a:solidFill>
                  <a:srgbClr val="A9B6C7"/>
                </a:solidFill>
                <a:latin typeface="Nunito Sans" pitchFamily="34" charset="0"/>
                <a:ea typeface="Nunito Sans" pitchFamily="34" charset="-122"/>
                <a:cs typeface="Nunito Sans" pitchFamily="34" charset="-120"/>
              </a:rPr>
              <a:t>Working capital</a:t>
            </a:r>
            <a:endParaRPr lang="en-US" sz="950" dirty="0"/>
          </a:p>
        </p:txBody>
      </p:sp>
      <p:sp>
        <p:nvSpPr>
          <p:cNvPr id="39" name="Text 36"/>
          <p:cNvSpPr/>
          <p:nvPr/>
        </p:nvSpPr>
        <p:spPr>
          <a:xfrm>
            <a:off x="10225735" y="3584448"/>
            <a:ext cx="1234440" cy="274320"/>
          </a:xfrm>
          <a:prstGeom prst="rect">
            <a:avLst/>
          </a:prstGeom>
          <a:noFill/>
          <a:ln/>
        </p:spPr>
        <p:txBody>
          <a:bodyPr wrap="square" lIns="0" tIns="0" rIns="0" bIns="0" rtlCol="0" anchor="ctr"/>
          <a:lstStyle/>
          <a:p>
            <a:pPr algn="r" indent="0" marL="0">
              <a:buNone/>
            </a:pPr>
            <a:r>
              <a:rPr lang="en-US" sz="1000" b="1" dirty="0">
                <a:solidFill>
                  <a:srgbClr val="FFFFFF"/>
                </a:solidFill>
                <a:latin typeface="Nunito Sans" pitchFamily="34" charset="0"/>
                <a:ea typeface="Nunito Sans" pitchFamily="34" charset="-122"/>
                <a:cs typeface="Nunito Sans" pitchFamily="34" charset="-120"/>
              </a:rPr>
              <a:t>37.3</a:t>
            </a:r>
            <a:endParaRPr lang="en-US" sz="1000" dirty="0"/>
          </a:p>
        </p:txBody>
      </p:sp>
      <p:sp>
        <p:nvSpPr>
          <p:cNvPr id="40" name="Shape 37"/>
          <p:cNvSpPr/>
          <p:nvPr/>
        </p:nvSpPr>
        <p:spPr>
          <a:xfrm>
            <a:off x="6949440" y="3858768"/>
            <a:ext cx="4510735" cy="0"/>
          </a:xfrm>
          <a:prstGeom prst="line">
            <a:avLst/>
          </a:prstGeom>
          <a:noFill/>
          <a:ln w="6350">
            <a:solidFill>
              <a:srgbClr val="FFFFFF">
                <a:alpha val="16000"/>
              </a:srgbClr>
            </a:solidFill>
            <a:prstDash val="solid"/>
          </a:ln>
        </p:spPr>
      </p:sp>
      <p:sp>
        <p:nvSpPr>
          <p:cNvPr id="41" name="Text 38"/>
          <p:cNvSpPr/>
          <p:nvPr/>
        </p:nvSpPr>
        <p:spPr>
          <a:xfrm>
            <a:off x="6949440" y="3986784"/>
            <a:ext cx="2560320" cy="274320"/>
          </a:xfrm>
          <a:prstGeom prst="rect">
            <a:avLst/>
          </a:prstGeom>
          <a:noFill/>
          <a:ln/>
        </p:spPr>
        <p:txBody>
          <a:bodyPr wrap="square" lIns="0" tIns="0" rIns="0" bIns="0" rtlCol="0" anchor="ctr"/>
          <a:lstStyle/>
          <a:p>
            <a:pPr indent="0" marL="0">
              <a:buNone/>
            </a:pPr>
            <a:r>
              <a:rPr lang="en-US" sz="950" dirty="0">
                <a:solidFill>
                  <a:srgbClr val="A9B6C7"/>
                </a:solidFill>
                <a:latin typeface="Nunito Sans" pitchFamily="34" charset="0"/>
                <a:ea typeface="Nunito Sans" pitchFamily="34" charset="-122"/>
                <a:cs typeface="Nunito Sans" pitchFamily="34" charset="-120"/>
              </a:rPr>
              <a:t>Contingency</a:t>
            </a:r>
            <a:endParaRPr lang="en-US" sz="950" dirty="0"/>
          </a:p>
        </p:txBody>
      </p:sp>
      <p:sp>
        <p:nvSpPr>
          <p:cNvPr id="42" name="Text 39"/>
          <p:cNvSpPr/>
          <p:nvPr/>
        </p:nvSpPr>
        <p:spPr>
          <a:xfrm>
            <a:off x="10225735" y="3986784"/>
            <a:ext cx="1234440" cy="274320"/>
          </a:xfrm>
          <a:prstGeom prst="rect">
            <a:avLst/>
          </a:prstGeom>
          <a:noFill/>
          <a:ln/>
        </p:spPr>
        <p:txBody>
          <a:bodyPr wrap="square" lIns="0" tIns="0" rIns="0" bIns="0" rtlCol="0" anchor="ctr"/>
          <a:lstStyle/>
          <a:p>
            <a:pPr algn="r" indent="0" marL="0">
              <a:buNone/>
            </a:pPr>
            <a:r>
              <a:rPr lang="en-US" sz="1000" b="1" dirty="0">
                <a:solidFill>
                  <a:srgbClr val="FFFFFF"/>
                </a:solidFill>
                <a:latin typeface="Nunito Sans" pitchFamily="34" charset="0"/>
                <a:ea typeface="Nunito Sans" pitchFamily="34" charset="-122"/>
                <a:cs typeface="Nunito Sans" pitchFamily="34" charset="-120"/>
              </a:rPr>
              <a:t>17.4</a:t>
            </a:r>
            <a:endParaRPr lang="en-US" sz="1000" dirty="0"/>
          </a:p>
        </p:txBody>
      </p:sp>
      <p:sp>
        <p:nvSpPr>
          <p:cNvPr id="43" name="Shape 40"/>
          <p:cNvSpPr/>
          <p:nvPr/>
        </p:nvSpPr>
        <p:spPr>
          <a:xfrm>
            <a:off x="6949440" y="4261104"/>
            <a:ext cx="4510735" cy="0"/>
          </a:xfrm>
          <a:prstGeom prst="line">
            <a:avLst/>
          </a:prstGeom>
          <a:noFill/>
          <a:ln w="6350">
            <a:solidFill>
              <a:srgbClr val="FFFFFF">
                <a:alpha val="16000"/>
              </a:srgbClr>
            </a:solidFill>
            <a:prstDash val="solid"/>
          </a:ln>
        </p:spPr>
      </p:sp>
      <p:sp>
        <p:nvSpPr>
          <p:cNvPr id="44" name="Text 41"/>
          <p:cNvSpPr/>
          <p:nvPr/>
        </p:nvSpPr>
        <p:spPr>
          <a:xfrm>
            <a:off x="6949440" y="4425696"/>
            <a:ext cx="4510735" cy="237744"/>
          </a:xfrm>
          <a:prstGeom prst="rect">
            <a:avLst/>
          </a:prstGeom>
          <a:noFill/>
          <a:ln/>
        </p:spPr>
        <p:txBody>
          <a:bodyPr wrap="square" lIns="0" tIns="0" rIns="0" bIns="0" rtlCol="0" anchor="ctr"/>
          <a:lstStyle/>
          <a:p>
            <a:pPr indent="0" marL="0">
              <a:buNone/>
            </a:pPr>
            <a:r>
              <a:rPr lang="en-US" sz="850" i="1" dirty="0">
                <a:solidFill>
                  <a:srgbClr val="A9B6C7"/>
                </a:solidFill>
                <a:latin typeface="Nunito Sans" pitchFamily="34" charset="0"/>
                <a:ea typeface="Nunito Sans" pitchFamily="34" charset="-122"/>
                <a:cs typeface="Nunito Sans" pitchFamily="34" charset="-120"/>
              </a:rPr>
              <a:t>Below every comparable in the set.</a:t>
            </a:r>
            <a:endParaRPr lang="en-US" sz="850" dirty="0"/>
          </a:p>
        </p:txBody>
      </p:sp>
      <p:sp>
        <p:nvSpPr>
          <p:cNvPr id="45" name="Shape 42"/>
          <p:cNvSpPr/>
          <p:nvPr/>
        </p:nvSpPr>
        <p:spPr>
          <a:xfrm>
            <a:off x="6720840" y="4992624"/>
            <a:ext cx="4967935" cy="0"/>
          </a:xfrm>
          <a:prstGeom prst="line">
            <a:avLst/>
          </a:prstGeom>
          <a:noFill/>
          <a:ln w="25400">
            <a:solidFill>
              <a:srgbClr val="3A5D97"/>
            </a:solidFill>
            <a:prstDash val="solid"/>
          </a:ln>
        </p:spPr>
      </p:sp>
      <p:sp>
        <p:nvSpPr>
          <p:cNvPr id="46" name="Text 43"/>
          <p:cNvSpPr/>
          <p:nvPr/>
        </p:nvSpPr>
        <p:spPr>
          <a:xfrm>
            <a:off x="6720840" y="5138928"/>
            <a:ext cx="4967935" cy="414528"/>
          </a:xfrm>
          <a:prstGeom prst="rect">
            <a:avLst/>
          </a:prstGeom>
          <a:noFill/>
          <a:ln/>
        </p:spPr>
        <p:txBody>
          <a:bodyPr wrap="square" lIns="0" tIns="0" rIns="0" bIns="0" rtlCol="0" anchor="t"/>
          <a:lstStyle/>
          <a:p>
            <a:pPr indent="0" marL="0">
              <a:buNone/>
            </a:pPr>
            <a:r>
              <a:rPr lang="en-US" sz="2400" dirty="0">
                <a:solidFill>
                  <a:srgbClr val="3A5D97"/>
                </a:solidFill>
                <a:latin typeface="Archivo Black" pitchFamily="34" charset="0"/>
                <a:ea typeface="Archivo Black" pitchFamily="34" charset="-122"/>
                <a:cs typeface="Archivo Black" pitchFamily="34" charset="-120"/>
              </a:rPr>
              <a:t>22 → 98</a:t>
            </a:r>
            <a:endParaRPr lang="en-US" sz="2400" dirty="0"/>
          </a:p>
        </p:txBody>
      </p:sp>
      <p:sp>
        <p:nvSpPr>
          <p:cNvPr id="47" name="Text 44"/>
          <p:cNvSpPr/>
          <p:nvPr/>
        </p:nvSpPr>
        <p:spPr>
          <a:xfrm>
            <a:off x="6720840" y="5590032"/>
            <a:ext cx="4830775" cy="426720"/>
          </a:xfrm>
          <a:prstGeom prst="rect">
            <a:avLst/>
          </a:prstGeom>
          <a:noFill/>
          <a:ln/>
        </p:spPr>
        <p:txBody>
          <a:bodyPr wrap="square" lIns="0" tIns="0" rIns="0" bIns="0" rtlCol="0" anchor="t"/>
          <a:lstStyle/>
          <a:p>
            <a:pPr indent="0" marL="0">
              <a:lnSpc>
                <a:spcPct val="114000"/>
              </a:lnSpc>
              <a:buNone/>
            </a:pPr>
            <a:r>
              <a:rPr lang="en-US" sz="850" dirty="0">
                <a:solidFill>
                  <a:srgbClr val="54606F"/>
                </a:solidFill>
                <a:latin typeface="Nunito Sans" pitchFamily="34" charset="0"/>
                <a:ea typeface="Nunito Sans" pitchFamily="34" charset="-122"/>
                <a:cs typeface="Nunito Sans" pitchFamily="34" charset="-120"/>
              </a:rPr>
              <a:t>People, FY26 to FY29, across six functions. Revenue per head reaches ₹2.80 cr.</a:t>
            </a:r>
            <a:endParaRPr lang="en-US" sz="850" dirty="0"/>
          </a:p>
        </p:txBody>
      </p:sp>
      <p:sp>
        <p:nvSpPr>
          <p:cNvPr id="48" name="Shape 45"/>
          <p:cNvSpPr/>
          <p:nvPr/>
        </p:nvSpPr>
        <p:spPr>
          <a:xfrm>
            <a:off x="502920" y="6492240"/>
            <a:ext cx="11185855" cy="0"/>
          </a:xfrm>
          <a:prstGeom prst="line">
            <a:avLst/>
          </a:prstGeom>
          <a:noFill/>
          <a:ln w="9525">
            <a:solidFill>
              <a:srgbClr val="E5DCCB"/>
            </a:solidFill>
            <a:prstDash val="solid"/>
          </a:ln>
        </p:spPr>
      </p:sp>
      <p:sp>
        <p:nvSpPr>
          <p:cNvPr id="49" name="Text 46"/>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THE MOAT &amp; THE ASK</a:t>
            </a:r>
            <a:endParaRPr lang="en-US" sz="800" dirty="0"/>
          </a:p>
        </p:txBody>
      </p:sp>
      <p:sp>
        <p:nvSpPr>
          <p:cNvPr id="50" name="Text 47"/>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25</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502920" y="256032"/>
            <a:ext cx="2159813" cy="274320"/>
          </a:xfrm>
          <a:prstGeom prst="roundRect">
            <a:avLst>
              <a:gd name="adj" fmla="val 23333"/>
            </a:avLst>
          </a:prstGeom>
          <a:solidFill>
            <a:srgbClr val="3A5D97"/>
          </a:solidFill>
          <a:ln w="12700">
            <a:solidFill>
              <a:srgbClr val="333333"/>
            </a:solidFill>
            <a:prstDash val="solid"/>
          </a:ln>
        </p:spPr>
      </p:sp>
      <p:sp>
        <p:nvSpPr>
          <p:cNvPr id="3" name="Text 1"/>
          <p:cNvSpPr/>
          <p:nvPr/>
        </p:nvSpPr>
        <p:spPr>
          <a:xfrm>
            <a:off x="502920" y="256032"/>
            <a:ext cx="2159813" cy="274320"/>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Nunito Sans" pitchFamily="34" charset="0"/>
                <a:ea typeface="Nunito Sans" pitchFamily="34" charset="-122"/>
                <a:cs typeface="Nunito Sans" pitchFamily="34" charset="-120"/>
              </a:rPr>
              <a:t>CATEGORY LEADERSHIP</a:t>
            </a:r>
            <a:endParaRPr lang="en-US" sz="900" dirty="0"/>
          </a:p>
        </p:txBody>
      </p:sp>
      <p:pic>
        <p:nvPicPr>
          <p:cNvPr id="4" name="Image 0" descr="/home/user/hopper-tessarakt/site/assets/logo.png">    </p:cNvPr>
          <p:cNvPicPr>
            <a:picLocks noChangeAspect="1"/>
          </p:cNvPicPr>
          <p:nvPr/>
        </p:nvPicPr>
        <p:blipFill>
          <a:blip r:embed="rId1"/>
          <a:stretch>
            <a:fillRect/>
          </a:stretch>
        </p:blipFill>
        <p:spPr>
          <a:xfrm>
            <a:off x="10545775" y="237744"/>
            <a:ext cx="1143000" cy="420624"/>
          </a:xfrm>
          <a:prstGeom prst="rect">
            <a:avLst/>
          </a:prstGeom>
        </p:spPr>
      </p:pic>
      <p:sp>
        <p:nvSpPr>
          <p:cNvPr id="5" name="Text 2"/>
          <p:cNvSpPr/>
          <p:nvPr/>
        </p:nvSpPr>
        <p:spPr>
          <a:xfrm>
            <a:off x="502920" y="585216"/>
            <a:ext cx="9814255" cy="786384"/>
          </a:xfrm>
          <a:prstGeom prst="rect">
            <a:avLst/>
          </a:prstGeom>
          <a:noFill/>
          <a:ln/>
        </p:spPr>
        <p:txBody>
          <a:bodyPr wrap="square" lIns="0" tIns="0" rIns="0" bIns="0" rtlCol="0" anchor="t"/>
          <a:lstStyle/>
          <a:p>
            <a:pPr indent="0" marL="0">
              <a:lnSpc>
                <a:spcPct val="102000"/>
              </a:lnSpc>
              <a:buNone/>
            </a:pPr>
            <a:r>
              <a:rPr lang="en-US" sz="2500" dirty="0">
                <a:solidFill>
                  <a:srgbClr val="0C1A2B"/>
                </a:solidFill>
                <a:latin typeface="Archivo Black" pitchFamily="34" charset="0"/>
                <a:ea typeface="Archivo Black" pitchFamily="34" charset="-122"/>
                <a:cs typeface="Archivo Black" pitchFamily="34" charset="-120"/>
              </a:rPr>
              <a:t>Open the category to make it a Proprietary Eponym</a:t>
            </a:r>
            <a:endParaRPr lang="en-US" sz="2500" dirty="0"/>
          </a:p>
        </p:txBody>
      </p:sp>
      <p:sp>
        <p:nvSpPr>
          <p:cNvPr id="6" name="Text 3"/>
          <p:cNvSpPr/>
          <p:nvPr/>
        </p:nvSpPr>
        <p:spPr>
          <a:xfrm>
            <a:off x="502920" y="1408176"/>
            <a:ext cx="9692640" cy="310896"/>
          </a:xfrm>
          <a:prstGeom prst="rect">
            <a:avLst/>
          </a:prstGeom>
          <a:noFill/>
          <a:ln/>
        </p:spPr>
        <p:txBody>
          <a:bodyPr wrap="square" lIns="0" tIns="0" rIns="0" bIns="0" rtlCol="0" anchor="t"/>
          <a:lstStyle/>
          <a:p>
            <a:pPr indent="0" marL="0">
              <a:lnSpc>
                <a:spcPct val="114000"/>
              </a:lnSpc>
              <a:buNone/>
            </a:pPr>
            <a:r>
              <a:rPr lang="en-US" sz="1100" dirty="0">
                <a:solidFill>
                  <a:srgbClr val="54606F"/>
                </a:solidFill>
                <a:latin typeface="Nunito Sans" pitchFamily="34" charset="0"/>
                <a:ea typeface="Nunito Sans" pitchFamily="34" charset="-122"/>
                <a:cs typeface="Nunito Sans" pitchFamily="34" charset="-120"/>
              </a:rPr>
              <a:t>A category only becomes large if others are allowed in. DeHaat Honest Farms wins not by owning the words, but by owning the standard, the proof, and the relevance in consumers’ lives.</a:t>
            </a:r>
            <a:endParaRPr lang="en-US" sz="1100" dirty="0"/>
          </a:p>
        </p:txBody>
      </p:sp>
      <p:sp>
        <p:nvSpPr>
          <p:cNvPr id="7" name="Shape 4"/>
          <p:cNvSpPr/>
          <p:nvPr/>
        </p:nvSpPr>
        <p:spPr>
          <a:xfrm>
            <a:off x="502920" y="1828800"/>
            <a:ext cx="3557930" cy="2286000"/>
          </a:xfrm>
          <a:prstGeom prst="roundRect">
            <a:avLst>
              <a:gd name="adj" fmla="val 4000"/>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8" name="Text 5"/>
          <p:cNvSpPr/>
          <p:nvPr/>
        </p:nvSpPr>
        <p:spPr>
          <a:xfrm>
            <a:off x="704088" y="1975104"/>
            <a:ext cx="731520" cy="274320"/>
          </a:xfrm>
          <a:prstGeom prst="rect">
            <a:avLst/>
          </a:prstGeom>
          <a:noFill/>
          <a:ln/>
        </p:spPr>
        <p:txBody>
          <a:bodyPr wrap="square" lIns="0" tIns="0" rIns="0" bIns="0" rtlCol="0" anchor="t"/>
          <a:lstStyle/>
          <a:p>
            <a:pPr indent="0" marL="0">
              <a:buNone/>
            </a:pPr>
            <a:r>
              <a:rPr lang="en-US" sz="1400" dirty="0">
                <a:solidFill>
                  <a:srgbClr val="177A46"/>
                </a:solidFill>
                <a:latin typeface="Archivo Black" pitchFamily="34" charset="0"/>
                <a:ea typeface="Archivo Black" pitchFamily="34" charset="-122"/>
                <a:cs typeface="Archivo Black" pitchFamily="34" charset="-120"/>
              </a:rPr>
              <a:t>01</a:t>
            </a:r>
            <a:endParaRPr lang="en-US" sz="1400" dirty="0"/>
          </a:p>
        </p:txBody>
      </p:sp>
      <p:sp>
        <p:nvSpPr>
          <p:cNvPr id="9" name="Text 6"/>
          <p:cNvSpPr/>
          <p:nvPr/>
        </p:nvSpPr>
        <p:spPr>
          <a:xfrm>
            <a:off x="704088" y="2286000"/>
            <a:ext cx="3155594" cy="310896"/>
          </a:xfrm>
          <a:prstGeom prst="rect">
            <a:avLst/>
          </a:prstGeom>
          <a:noFill/>
          <a:ln/>
        </p:spPr>
        <p:txBody>
          <a:bodyPr wrap="square" lIns="0" tIns="0" rIns="0" bIns="0" rtlCol="0" anchor="t"/>
          <a:lstStyle/>
          <a:p>
            <a:pPr indent="0" marL="0">
              <a:buNone/>
            </a:pPr>
            <a:r>
              <a:rPr lang="en-US" sz="950" b="1" spc="50" kern="0" dirty="0">
                <a:solidFill>
                  <a:srgbClr val="0C1A2B"/>
                </a:solidFill>
                <a:latin typeface="Nunito Sans" pitchFamily="34" charset="0"/>
                <a:ea typeface="Nunito Sans" pitchFamily="34" charset="-122"/>
                <a:cs typeface="Nunito Sans" pitchFamily="34" charset="-120"/>
              </a:rPr>
              <a:t>EDUCATE WHAT PESTICIDE-FREE MEANS</a:t>
            </a:r>
            <a:endParaRPr lang="en-US" sz="950" dirty="0"/>
          </a:p>
        </p:txBody>
      </p:sp>
      <p:sp>
        <p:nvSpPr>
          <p:cNvPr id="10" name="Text 7"/>
          <p:cNvSpPr/>
          <p:nvPr/>
        </p:nvSpPr>
        <p:spPr>
          <a:xfrm>
            <a:off x="704088" y="2633472"/>
            <a:ext cx="3155594" cy="137160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Pesticide-free call-out with QR to the farmer, carrying the Jaivik Bharat logo, on the front of pack</a:t>
            </a:r>
            <a:endParaRPr lang="en-US" sz="800" dirty="0"/>
          </a:p>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Invite parents, teachers and children to the farm to see the process and meet the farmers</a:t>
            </a:r>
            <a:endParaRPr lang="en-US" sz="800" dirty="0"/>
          </a:p>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Bring the 56% core audience into cook-off sessions after the visit; give the 18% sceptics firsthand access</a:t>
            </a:r>
            <a:endParaRPr lang="en-US" sz="800" dirty="0"/>
          </a:p>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Webinars and podcasts led by the farmers and doctors — the two voices the research says are believed</a:t>
            </a:r>
            <a:endParaRPr lang="en-US" sz="800" dirty="0"/>
          </a:p>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On-ground activation in schools and colleges, and with GPs, gastro specialists and nutritionists. Catch them young</a:t>
            </a:r>
            <a:endParaRPr lang="en-US" sz="800" dirty="0"/>
          </a:p>
        </p:txBody>
      </p:sp>
      <p:sp>
        <p:nvSpPr>
          <p:cNvPr id="11" name="Shape 8"/>
          <p:cNvSpPr/>
          <p:nvPr/>
        </p:nvSpPr>
        <p:spPr>
          <a:xfrm>
            <a:off x="4316882" y="1828800"/>
            <a:ext cx="3557930" cy="2286000"/>
          </a:xfrm>
          <a:prstGeom prst="roundRect">
            <a:avLst>
              <a:gd name="adj" fmla="val 4000"/>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2" name="Text 9"/>
          <p:cNvSpPr/>
          <p:nvPr/>
        </p:nvSpPr>
        <p:spPr>
          <a:xfrm>
            <a:off x="4518050" y="1975104"/>
            <a:ext cx="731520" cy="274320"/>
          </a:xfrm>
          <a:prstGeom prst="rect">
            <a:avLst/>
          </a:prstGeom>
          <a:noFill/>
          <a:ln/>
        </p:spPr>
        <p:txBody>
          <a:bodyPr wrap="square" lIns="0" tIns="0" rIns="0" bIns="0" rtlCol="0" anchor="t"/>
          <a:lstStyle/>
          <a:p>
            <a:pPr indent="0" marL="0">
              <a:buNone/>
            </a:pPr>
            <a:r>
              <a:rPr lang="en-US" sz="1400" dirty="0">
                <a:solidFill>
                  <a:srgbClr val="177A46"/>
                </a:solidFill>
                <a:latin typeface="Archivo Black" pitchFamily="34" charset="0"/>
                <a:ea typeface="Archivo Black" pitchFamily="34" charset="-122"/>
                <a:cs typeface="Archivo Black" pitchFamily="34" charset="-120"/>
              </a:rPr>
              <a:t>02</a:t>
            </a:r>
            <a:endParaRPr lang="en-US" sz="1400" dirty="0"/>
          </a:p>
        </p:txBody>
      </p:sp>
      <p:sp>
        <p:nvSpPr>
          <p:cNvPr id="13" name="Text 10"/>
          <p:cNvSpPr/>
          <p:nvPr/>
        </p:nvSpPr>
        <p:spPr>
          <a:xfrm>
            <a:off x="4518050" y="2286000"/>
            <a:ext cx="3155594" cy="310896"/>
          </a:xfrm>
          <a:prstGeom prst="rect">
            <a:avLst/>
          </a:prstGeom>
          <a:noFill/>
          <a:ln/>
        </p:spPr>
        <p:txBody>
          <a:bodyPr wrap="square" lIns="0" tIns="0" rIns="0" bIns="0" rtlCol="0" anchor="t"/>
          <a:lstStyle/>
          <a:p>
            <a:pPr indent="0" marL="0">
              <a:buNone/>
            </a:pPr>
            <a:r>
              <a:rPr lang="en-US" sz="950" b="1" spc="50" kern="0" dirty="0">
                <a:solidFill>
                  <a:srgbClr val="0C1A2B"/>
                </a:solidFill>
                <a:latin typeface="Nunito Sans" pitchFamily="34" charset="0"/>
                <a:ea typeface="Nunito Sans" pitchFamily="34" charset="-122"/>
                <a:cs typeface="Nunito Sans" pitchFamily="34" charset="-120"/>
              </a:rPr>
              <a:t>OUT-PROOF EVERYONE: CERTIFICATION VISIBLE</a:t>
            </a:r>
            <a:endParaRPr lang="en-US" sz="950" dirty="0"/>
          </a:p>
        </p:txBody>
      </p:sp>
      <p:sp>
        <p:nvSpPr>
          <p:cNvPr id="14" name="Text 11"/>
          <p:cNvSpPr/>
          <p:nvPr/>
        </p:nvSpPr>
        <p:spPr>
          <a:xfrm>
            <a:off x="4518050" y="2633472"/>
            <a:ext cx="3155594" cy="137160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Quick-commerce platforms like Zepto, Amazon — showcase the Pesticide-Free certificate for every product, on the app (Like Nykaa)</a:t>
            </a:r>
            <a:endParaRPr lang="en-US" sz="800" dirty="0"/>
          </a:p>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The copycat test: when an incumbent prints "Pesticide-free", DeHaat Honest Farms asks publicly ” Where is the batch certificate?”</a:t>
            </a:r>
            <a:endParaRPr lang="en-US" sz="800" dirty="0"/>
          </a:p>
        </p:txBody>
      </p:sp>
      <p:sp>
        <p:nvSpPr>
          <p:cNvPr id="15" name="Shape 12"/>
          <p:cNvSpPr/>
          <p:nvPr/>
        </p:nvSpPr>
        <p:spPr>
          <a:xfrm>
            <a:off x="8130845" y="1828800"/>
            <a:ext cx="3557930" cy="2286000"/>
          </a:xfrm>
          <a:prstGeom prst="roundRect">
            <a:avLst>
              <a:gd name="adj" fmla="val 4000"/>
            </a:avLst>
          </a:prstGeom>
          <a:solidFill>
            <a:srgbClr val="FFFFFF"/>
          </a:solidFill>
          <a:ln w="6350">
            <a:solidFill>
              <a:srgbClr val="FFFFFF"/>
            </a:solidFill>
            <a:prstDash val="solid"/>
          </a:ln>
          <a:effectLst>
            <a:outerShdw sx="100000" sy="100000" kx="0" ky="0" algn="bl" rotWithShape="0" blurRad="228600" dist="25400" dir="5400000">
              <a:srgbClr val="0C1A2B">
                <a:alpha val="7000"/>
              </a:srgbClr>
            </a:outerShdw>
          </a:effectLst>
        </p:spPr>
      </p:sp>
      <p:sp>
        <p:nvSpPr>
          <p:cNvPr id="16" name="Text 13"/>
          <p:cNvSpPr/>
          <p:nvPr/>
        </p:nvSpPr>
        <p:spPr>
          <a:xfrm>
            <a:off x="8332013" y="1975104"/>
            <a:ext cx="731520" cy="274320"/>
          </a:xfrm>
          <a:prstGeom prst="rect">
            <a:avLst/>
          </a:prstGeom>
          <a:noFill/>
          <a:ln/>
        </p:spPr>
        <p:txBody>
          <a:bodyPr wrap="square" lIns="0" tIns="0" rIns="0" bIns="0" rtlCol="0" anchor="t"/>
          <a:lstStyle/>
          <a:p>
            <a:pPr indent="0" marL="0">
              <a:buNone/>
            </a:pPr>
            <a:r>
              <a:rPr lang="en-US" sz="1400" dirty="0">
                <a:solidFill>
                  <a:srgbClr val="177A46"/>
                </a:solidFill>
                <a:latin typeface="Archivo Black" pitchFamily="34" charset="0"/>
                <a:ea typeface="Archivo Black" pitchFamily="34" charset="-122"/>
                <a:cs typeface="Archivo Black" pitchFamily="34" charset="-120"/>
              </a:rPr>
              <a:t>03</a:t>
            </a:r>
            <a:endParaRPr lang="en-US" sz="1400" dirty="0"/>
          </a:p>
        </p:txBody>
      </p:sp>
      <p:sp>
        <p:nvSpPr>
          <p:cNvPr id="17" name="Text 14"/>
          <p:cNvSpPr/>
          <p:nvPr/>
        </p:nvSpPr>
        <p:spPr>
          <a:xfrm>
            <a:off x="8332013" y="2286000"/>
            <a:ext cx="3155594" cy="310896"/>
          </a:xfrm>
          <a:prstGeom prst="rect">
            <a:avLst/>
          </a:prstGeom>
          <a:noFill/>
          <a:ln/>
        </p:spPr>
        <p:txBody>
          <a:bodyPr wrap="square" lIns="0" tIns="0" rIns="0" bIns="0" rtlCol="0" anchor="t"/>
          <a:lstStyle/>
          <a:p>
            <a:pPr indent="0" marL="0">
              <a:buNone/>
            </a:pPr>
            <a:r>
              <a:rPr lang="en-US" sz="950" b="1" spc="50" kern="0" dirty="0">
                <a:solidFill>
                  <a:srgbClr val="0C1A2B"/>
                </a:solidFill>
                <a:latin typeface="Nunito Sans" pitchFamily="34" charset="0"/>
                <a:ea typeface="Nunito Sans" pitchFamily="34" charset="-122"/>
                <a:cs typeface="Nunito Sans" pitchFamily="34" charset="-120"/>
              </a:rPr>
              <a:t>VERTICAL SOURCING CONTROL: FARM TO FORK</a:t>
            </a:r>
            <a:endParaRPr lang="en-US" sz="950" dirty="0"/>
          </a:p>
        </p:txBody>
      </p:sp>
      <p:sp>
        <p:nvSpPr>
          <p:cNvPr id="18" name="Text 15"/>
          <p:cNvSpPr/>
          <p:nvPr/>
        </p:nvSpPr>
        <p:spPr>
          <a:xfrm>
            <a:off x="8332013" y="2633472"/>
            <a:ext cx="3155594" cy="137160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Own the input decision, not just the output test. Control at sowing is what a competitor cannot contract for</a:t>
            </a:r>
            <a:endParaRPr lang="en-US" sz="800" dirty="0"/>
          </a:p>
          <a:p>
            <a:pPr marL="342900" indent="-342900">
              <a:spcAft>
                <a:spcPts val="300"/>
              </a:spcAft>
              <a:buSzPct val="100000"/>
              <a:buChar char="•"/>
            </a:pPr>
            <a:r>
              <a:rPr lang="en-US" sz="800" dirty="0">
                <a:solidFill>
                  <a:srgbClr val="54606F"/>
                </a:solidFill>
                <a:latin typeface="Nunito Sans" pitchFamily="34" charset="0"/>
                <a:ea typeface="Nunito Sans" pitchFamily="34" charset="-122"/>
                <a:cs typeface="Nunito Sans" pitchFamily="34" charset="-120"/>
              </a:rPr>
              <a:t>Embed the brand in Indian routine until the habit forms: Think Pesticide-free, Think Honest Farms</a:t>
            </a:r>
            <a:endParaRPr lang="en-US" sz="800" dirty="0"/>
          </a:p>
        </p:txBody>
      </p:sp>
      <p:sp>
        <p:nvSpPr>
          <p:cNvPr id="19" name="Shape 16"/>
          <p:cNvSpPr/>
          <p:nvPr/>
        </p:nvSpPr>
        <p:spPr>
          <a:xfrm>
            <a:off x="502920" y="4352544"/>
            <a:ext cx="11185855" cy="0"/>
          </a:xfrm>
          <a:prstGeom prst="line">
            <a:avLst/>
          </a:prstGeom>
          <a:noFill/>
          <a:ln w="12700">
            <a:solidFill>
              <a:srgbClr val="3A5D97"/>
            </a:solidFill>
            <a:prstDash val="solid"/>
          </a:ln>
        </p:spPr>
      </p:sp>
      <p:sp>
        <p:nvSpPr>
          <p:cNvPr id="20" name="Text 17"/>
          <p:cNvSpPr/>
          <p:nvPr/>
        </p:nvSpPr>
        <p:spPr>
          <a:xfrm>
            <a:off x="502920" y="4398264"/>
            <a:ext cx="11185855" cy="219456"/>
          </a:xfrm>
          <a:prstGeom prst="rect">
            <a:avLst/>
          </a:prstGeom>
          <a:noFill/>
          <a:ln/>
        </p:spPr>
        <p:txBody>
          <a:bodyPr wrap="square" lIns="0" tIns="0" rIns="0" bIns="0" rtlCol="0" anchor="ctr"/>
          <a:lstStyle/>
          <a:p>
            <a:pPr indent="0" marL="0">
              <a:buNone/>
            </a:pPr>
            <a:r>
              <a:rPr lang="en-US" sz="900" b="1" spc="160" kern="0" dirty="0">
                <a:solidFill>
                  <a:srgbClr val="3A5D97"/>
                </a:solidFill>
                <a:latin typeface="Nunito Sans" pitchFamily="34" charset="0"/>
                <a:ea typeface="Nunito Sans" pitchFamily="34" charset="-122"/>
                <a:cs typeface="Nunito Sans" pitchFamily="34" charset="-120"/>
              </a:rPr>
              <a:t>GUARDRAILS FOR COMMUNICATION IN LINE WITH INDUSTRY BODIES</a:t>
            </a:r>
            <a:endParaRPr lang="en-US" sz="900" dirty="0"/>
          </a:p>
        </p:txBody>
      </p:sp>
      <p:sp>
        <p:nvSpPr>
          <p:cNvPr id="21" name="Shape 18"/>
          <p:cNvSpPr/>
          <p:nvPr/>
        </p:nvSpPr>
        <p:spPr>
          <a:xfrm>
            <a:off x="502920" y="4645152"/>
            <a:ext cx="4434840" cy="1737360"/>
          </a:xfrm>
          <a:prstGeom prst="roundRect">
            <a:avLst>
              <a:gd name="adj" fmla="val 5263"/>
            </a:avLst>
          </a:prstGeom>
          <a:solidFill>
            <a:srgbClr val="E4F2EA"/>
          </a:solidFill>
          <a:ln w="15875">
            <a:solidFill>
              <a:srgbClr val="C6E3D3"/>
            </a:solidFill>
            <a:prstDash val="solid"/>
          </a:ln>
          <a:effectLst>
            <a:outerShdw sx="100000" sy="100000" kx="0" ky="0" algn="bl" rotWithShape="0" blurRad="228600" dist="25400" dir="5400000">
              <a:srgbClr val="0C1A2B">
                <a:alpha val="7000"/>
              </a:srgbClr>
            </a:outerShdw>
          </a:effectLst>
        </p:spPr>
      </p:sp>
      <p:sp>
        <p:nvSpPr>
          <p:cNvPr id="22" name="Text 19"/>
          <p:cNvSpPr/>
          <p:nvPr/>
        </p:nvSpPr>
        <p:spPr>
          <a:xfrm>
            <a:off x="704088" y="4736592"/>
            <a:ext cx="4032504" cy="219456"/>
          </a:xfrm>
          <a:prstGeom prst="rect">
            <a:avLst/>
          </a:prstGeom>
          <a:noFill/>
          <a:ln/>
        </p:spPr>
        <p:txBody>
          <a:bodyPr wrap="square" lIns="0" tIns="0" rIns="0" bIns="0" rtlCol="0" anchor="ctr"/>
          <a:lstStyle/>
          <a:p>
            <a:pPr indent="0" marL="0">
              <a:buNone/>
            </a:pPr>
            <a:r>
              <a:rPr lang="en-US" sz="900" b="1" spc="100" kern="0" dirty="0">
                <a:solidFill>
                  <a:srgbClr val="177A46"/>
                </a:solidFill>
                <a:latin typeface="Nunito Sans" pitchFamily="34" charset="0"/>
                <a:ea typeface="Nunito Sans" pitchFamily="34" charset="-122"/>
                <a:cs typeface="Nunito Sans" pitchFamily="34" charset="-120"/>
              </a:rPr>
              <a:t>WHAT WE SAY</a:t>
            </a:r>
            <a:endParaRPr lang="en-US" sz="900" dirty="0"/>
          </a:p>
        </p:txBody>
      </p:sp>
      <p:sp>
        <p:nvSpPr>
          <p:cNvPr id="23" name="Text 20"/>
          <p:cNvSpPr/>
          <p:nvPr/>
        </p:nvSpPr>
        <p:spPr>
          <a:xfrm>
            <a:off x="704088" y="4992624"/>
            <a:ext cx="4032504" cy="1280160"/>
          </a:xfrm>
          <a:prstGeom prst="rect">
            <a:avLst/>
          </a:prstGeom>
          <a:noFill/>
          <a:ln/>
        </p:spPr>
        <p:txBody>
          <a:bodyPr wrap="square" lIns="0" tIns="0" rIns="0" bIns="0" rtlCol="0" anchor="t"/>
          <a:lstStyle/>
          <a:p>
            <a:pPr marL="342900" indent="-342900">
              <a:spcAft>
                <a:spcPts val="300"/>
              </a:spcAft>
              <a:buSzPct val="100000"/>
              <a:buChar char="•"/>
            </a:pPr>
            <a:r>
              <a:rPr lang="en-US" sz="850" dirty="0">
                <a:solidFill>
                  <a:srgbClr val="54606F"/>
                </a:solidFill>
                <a:latin typeface="Nunito Sans" pitchFamily="34" charset="0"/>
                <a:ea typeface="Nunito Sans" pitchFamily="34" charset="-122"/>
                <a:cs typeface="Nunito Sans" pitchFamily="34" charset="-120"/>
              </a:rPr>
              <a:t>“Tested for 230+ pesticides. None Detected.”</a:t>
            </a:r>
            <a:endParaRPr lang="en-US" sz="850" dirty="0"/>
          </a:p>
          <a:p>
            <a:pPr marL="342900" indent="-342900">
              <a:spcAft>
                <a:spcPts val="300"/>
              </a:spcAft>
              <a:buSzPct val="100000"/>
              <a:buChar char="•"/>
            </a:pPr>
            <a:r>
              <a:rPr lang="en-US" sz="850" dirty="0">
                <a:solidFill>
                  <a:srgbClr val="54606F"/>
                </a:solidFill>
                <a:latin typeface="Nunito Sans" pitchFamily="34" charset="0"/>
                <a:ea typeface="Nunito Sans" pitchFamily="34" charset="-122"/>
                <a:cs typeface="Nunito Sans" pitchFamily="34" charset="-120"/>
              </a:rPr>
              <a:t>“No detectable pesticide residue, verified batch by batch.”</a:t>
            </a:r>
            <a:endParaRPr lang="en-US" sz="850" dirty="0"/>
          </a:p>
          <a:p>
            <a:pPr marL="342900" indent="-342900">
              <a:spcAft>
                <a:spcPts val="300"/>
              </a:spcAft>
              <a:buSzPct val="100000"/>
              <a:buChar char="•"/>
            </a:pPr>
            <a:r>
              <a:rPr lang="en-US" sz="850" dirty="0">
                <a:solidFill>
                  <a:srgbClr val="54606F"/>
                </a:solidFill>
                <a:latin typeface="Nunito Sans" pitchFamily="34" charset="0"/>
                <a:ea typeface="Nunito Sans" pitchFamily="34" charset="-122"/>
                <a:cs typeface="Nunito Sans" pitchFamily="34" charset="-120"/>
              </a:rPr>
              <a:t>“Independently lab-tested. Scan to see this batch’s report.”</a:t>
            </a:r>
            <a:endParaRPr lang="en-US" sz="850" dirty="0"/>
          </a:p>
          <a:p>
            <a:pPr marL="342900" indent="-342900">
              <a:spcAft>
                <a:spcPts val="300"/>
              </a:spcAft>
              <a:buSzPct val="100000"/>
              <a:buChar char="•"/>
            </a:pPr>
            <a:r>
              <a:rPr lang="en-US" sz="850" dirty="0">
                <a:solidFill>
                  <a:srgbClr val="54606F"/>
                </a:solidFill>
                <a:latin typeface="Nunito Sans" pitchFamily="34" charset="0"/>
                <a:ea typeface="Nunito Sans" pitchFamily="34" charset="-122"/>
                <a:cs typeface="Nunito Sans" pitchFamily="34" charset="-120"/>
              </a:rPr>
              <a:t>“Stronger residue testing than the organic standard requires.”</a:t>
            </a:r>
            <a:endParaRPr lang="en-US" sz="850" dirty="0"/>
          </a:p>
        </p:txBody>
      </p:sp>
      <p:sp>
        <p:nvSpPr>
          <p:cNvPr id="24" name="Shape 21"/>
          <p:cNvSpPr/>
          <p:nvPr/>
        </p:nvSpPr>
        <p:spPr>
          <a:xfrm>
            <a:off x="5212080" y="4645152"/>
            <a:ext cx="4434840" cy="1737360"/>
          </a:xfrm>
          <a:prstGeom prst="roundRect">
            <a:avLst>
              <a:gd name="adj" fmla="val 5263"/>
            </a:avLst>
          </a:prstGeom>
          <a:solidFill>
            <a:srgbClr val="FBE9E3"/>
          </a:solidFill>
          <a:ln w="15875">
            <a:solidFill>
              <a:srgbClr val="F0CDC2"/>
            </a:solidFill>
            <a:prstDash val="solid"/>
          </a:ln>
          <a:effectLst>
            <a:outerShdw sx="100000" sy="100000" kx="0" ky="0" algn="bl" rotWithShape="0" blurRad="228600" dist="25400" dir="5400000">
              <a:srgbClr val="0C1A2B">
                <a:alpha val="7000"/>
              </a:srgbClr>
            </a:outerShdw>
          </a:effectLst>
        </p:spPr>
      </p:sp>
      <p:sp>
        <p:nvSpPr>
          <p:cNvPr id="25" name="Text 22"/>
          <p:cNvSpPr/>
          <p:nvPr/>
        </p:nvSpPr>
        <p:spPr>
          <a:xfrm>
            <a:off x="5413248" y="4736592"/>
            <a:ext cx="4032504" cy="219456"/>
          </a:xfrm>
          <a:prstGeom prst="rect">
            <a:avLst/>
          </a:prstGeom>
          <a:noFill/>
          <a:ln/>
        </p:spPr>
        <p:txBody>
          <a:bodyPr wrap="square" lIns="0" tIns="0" rIns="0" bIns="0" rtlCol="0" anchor="ctr"/>
          <a:lstStyle/>
          <a:p>
            <a:pPr indent="0" marL="0">
              <a:buNone/>
            </a:pPr>
            <a:r>
              <a:rPr lang="en-US" sz="900" b="1" spc="100" kern="0" dirty="0">
                <a:solidFill>
                  <a:srgbClr val="9E3A24"/>
                </a:solidFill>
                <a:latin typeface="Nunito Sans" pitchFamily="34" charset="0"/>
                <a:ea typeface="Nunito Sans" pitchFamily="34" charset="-122"/>
                <a:cs typeface="Nunito Sans" pitchFamily="34" charset="-120"/>
              </a:rPr>
              <a:t>WHAT WE NEVER SAY</a:t>
            </a:r>
            <a:endParaRPr lang="en-US" sz="900" dirty="0"/>
          </a:p>
        </p:txBody>
      </p:sp>
      <p:sp>
        <p:nvSpPr>
          <p:cNvPr id="26" name="Text 23"/>
          <p:cNvSpPr/>
          <p:nvPr/>
        </p:nvSpPr>
        <p:spPr>
          <a:xfrm>
            <a:off x="5413248" y="4992624"/>
            <a:ext cx="4032504" cy="1280160"/>
          </a:xfrm>
          <a:prstGeom prst="rect">
            <a:avLst/>
          </a:prstGeom>
          <a:noFill/>
          <a:ln/>
        </p:spPr>
        <p:txBody>
          <a:bodyPr wrap="square" lIns="0" tIns="0" rIns="0" bIns="0" rtlCol="0" anchor="t"/>
          <a:lstStyle/>
          <a:p>
            <a:pPr marL="342900" indent="-342900">
              <a:spcAft>
                <a:spcPts val="300"/>
              </a:spcAft>
              <a:buSzPct val="100000"/>
              <a:buChar char="•"/>
            </a:pPr>
            <a:r>
              <a:rPr lang="en-US" sz="850" dirty="0">
                <a:solidFill>
                  <a:srgbClr val="54606F"/>
                </a:solidFill>
                <a:latin typeface="Nunito Sans" pitchFamily="34" charset="0"/>
                <a:ea typeface="Nunito Sans" pitchFamily="34" charset="-122"/>
                <a:cs typeface="Nunito Sans" pitchFamily="34" charset="-120"/>
              </a:rPr>
              <a:t>“100% pesticide-free” — or any absolute.</a:t>
            </a:r>
            <a:endParaRPr lang="en-US" sz="850" dirty="0"/>
          </a:p>
          <a:p>
            <a:pPr marL="342900" indent="-342900">
              <a:spcAft>
                <a:spcPts val="300"/>
              </a:spcAft>
              <a:buSzPct val="100000"/>
              <a:buChar char="•"/>
            </a:pPr>
            <a:r>
              <a:rPr lang="en-US" sz="850" dirty="0">
                <a:solidFill>
                  <a:srgbClr val="54606F"/>
                </a:solidFill>
                <a:latin typeface="Nunito Sans" pitchFamily="34" charset="0"/>
                <a:ea typeface="Nunito Sans" pitchFamily="34" charset="-122"/>
                <a:cs typeface="Nunito Sans" pitchFamily="34" charset="-120"/>
              </a:rPr>
              <a:t>“Chemical-free”, “toxin-free”, “100% pure”.</a:t>
            </a:r>
            <a:endParaRPr lang="en-US" sz="850" dirty="0"/>
          </a:p>
          <a:p>
            <a:pPr marL="342900" indent="-342900">
              <a:spcAft>
                <a:spcPts val="300"/>
              </a:spcAft>
              <a:buSzPct val="100000"/>
              <a:buChar char="•"/>
            </a:pPr>
            <a:r>
              <a:rPr lang="en-US" sz="850" dirty="0">
                <a:solidFill>
                  <a:srgbClr val="54606F"/>
                </a:solidFill>
                <a:latin typeface="Nunito Sans" pitchFamily="34" charset="0"/>
                <a:ea typeface="Nunito Sans" pitchFamily="34" charset="-122"/>
                <a:cs typeface="Nunito Sans" pitchFamily="34" charset="-120"/>
              </a:rPr>
              <a:t>“Healthier than organic.”</a:t>
            </a:r>
            <a:endParaRPr lang="en-US" sz="850" dirty="0"/>
          </a:p>
          <a:p>
            <a:pPr marL="342900" indent="-342900">
              <a:spcAft>
                <a:spcPts val="300"/>
              </a:spcAft>
              <a:buSzPct val="100000"/>
              <a:buChar char="•"/>
            </a:pPr>
            <a:r>
              <a:rPr lang="en-US" sz="850" dirty="0">
                <a:solidFill>
                  <a:srgbClr val="54606F"/>
                </a:solidFill>
                <a:latin typeface="Nunito Sans" pitchFamily="34" charset="0"/>
                <a:ea typeface="Nunito Sans" pitchFamily="34" charset="-122"/>
                <a:cs typeface="Nunito Sans" pitchFamily="34" charset="-120"/>
              </a:rPr>
              <a:t>Anything implying the product prevents disease.</a:t>
            </a:r>
            <a:endParaRPr lang="en-US" sz="850" dirty="0"/>
          </a:p>
          <a:p>
            <a:pPr marL="342900" indent="-342900">
              <a:spcAft>
                <a:spcPts val="300"/>
              </a:spcAft>
              <a:buSzPct val="100000"/>
              <a:buChar char="•"/>
            </a:pPr>
            <a:r>
              <a:rPr lang="en-US" sz="850" dirty="0">
                <a:solidFill>
                  <a:srgbClr val="54606F"/>
                </a:solidFill>
                <a:latin typeface="Nunito Sans" pitchFamily="34" charset="0"/>
                <a:ea typeface="Nunito Sans" pitchFamily="34" charset="-122"/>
                <a:cs typeface="Nunito Sans" pitchFamily="34" charset="-120"/>
              </a:rPr>
              <a:t>Never win by attacking organic or conventional.</a:t>
            </a:r>
            <a:endParaRPr lang="en-US" sz="850" dirty="0"/>
          </a:p>
        </p:txBody>
      </p:sp>
      <p:pic>
        <p:nvPicPr>
          <p:cNvPr id="27" name="Image 1" descr="/home/user/hopper-tessarakt/site/assets/jaivik.png">    </p:cNvPr>
          <p:cNvPicPr>
            <a:picLocks noChangeAspect="1"/>
          </p:cNvPicPr>
          <p:nvPr/>
        </p:nvPicPr>
        <p:blipFill>
          <a:blip r:embed="rId2"/>
          <a:stretch>
            <a:fillRect/>
          </a:stretch>
        </p:blipFill>
        <p:spPr>
          <a:xfrm>
            <a:off x="10195560" y="4846320"/>
            <a:ext cx="566928" cy="585216"/>
          </a:xfrm>
          <a:prstGeom prst="rect">
            <a:avLst/>
          </a:prstGeom>
        </p:spPr>
      </p:pic>
      <p:pic>
        <p:nvPicPr>
          <p:cNvPr id="28" name="Image 2" descr="/home/user/hopper-tessarakt/site/assets/fssai.png">    </p:cNvPr>
          <p:cNvPicPr>
            <a:picLocks noChangeAspect="1"/>
          </p:cNvPicPr>
          <p:nvPr/>
        </p:nvPicPr>
        <p:blipFill>
          <a:blip r:embed="rId3"/>
          <a:stretch>
            <a:fillRect/>
          </a:stretch>
        </p:blipFill>
        <p:spPr>
          <a:xfrm>
            <a:off x="11018520" y="4937760"/>
            <a:ext cx="749808" cy="411480"/>
          </a:xfrm>
          <a:prstGeom prst="rect">
            <a:avLst/>
          </a:prstGeom>
        </p:spPr>
      </p:pic>
      <p:pic>
        <p:nvPicPr>
          <p:cNvPr id="29" name="Image 3" descr="/home/user/hopper-tessarakt/site/assets/asci.png">    </p:cNvPr>
          <p:cNvPicPr>
            <a:picLocks noChangeAspect="1"/>
          </p:cNvPicPr>
          <p:nvPr/>
        </p:nvPicPr>
        <p:blipFill>
          <a:blip r:embed="rId4"/>
          <a:stretch>
            <a:fillRect/>
          </a:stretch>
        </p:blipFill>
        <p:spPr>
          <a:xfrm>
            <a:off x="10195560" y="5669280"/>
            <a:ext cx="868680" cy="402336"/>
          </a:xfrm>
          <a:prstGeom prst="rect">
            <a:avLst/>
          </a:prstGeom>
        </p:spPr>
      </p:pic>
      <p:sp>
        <p:nvSpPr>
          <p:cNvPr id="30" name="Shape 24"/>
          <p:cNvSpPr/>
          <p:nvPr/>
        </p:nvSpPr>
        <p:spPr>
          <a:xfrm>
            <a:off x="502920" y="6492240"/>
            <a:ext cx="11185855" cy="0"/>
          </a:xfrm>
          <a:prstGeom prst="line">
            <a:avLst/>
          </a:prstGeom>
          <a:noFill/>
          <a:ln w="9525">
            <a:solidFill>
              <a:srgbClr val="E5DCCB"/>
            </a:solidFill>
            <a:prstDash val="solid"/>
          </a:ln>
        </p:spPr>
      </p:sp>
      <p:sp>
        <p:nvSpPr>
          <p:cNvPr id="31" name="Text 25"/>
          <p:cNvSpPr/>
          <p:nvPr/>
        </p:nvSpPr>
        <p:spPr>
          <a:xfrm>
            <a:off x="502920" y="6528816"/>
            <a:ext cx="5120640" cy="237744"/>
          </a:xfrm>
          <a:prstGeom prst="rect">
            <a:avLst/>
          </a:prstGeom>
          <a:noFill/>
          <a:ln/>
        </p:spPr>
        <p:txBody>
          <a:bodyPr wrap="square" lIns="0" tIns="0" rIns="0" bIns="0" rtlCol="0" anchor="ctr"/>
          <a:lstStyle/>
          <a:p>
            <a:pPr indent="0" marL="0">
              <a:buNone/>
            </a:pPr>
            <a:r>
              <a:rPr lang="en-US" sz="800" b="1" spc="140" kern="0" dirty="0">
                <a:solidFill>
                  <a:srgbClr val="8B95A2"/>
                </a:solidFill>
                <a:latin typeface="Nunito Sans" pitchFamily="34" charset="0"/>
                <a:ea typeface="Nunito Sans" pitchFamily="34" charset="-122"/>
                <a:cs typeface="Nunito Sans" pitchFamily="34" charset="-120"/>
              </a:rPr>
              <a:t>THE MOAT &amp; THE ASK</a:t>
            </a:r>
            <a:endParaRPr lang="en-US" sz="800" dirty="0"/>
          </a:p>
        </p:txBody>
      </p:sp>
      <p:sp>
        <p:nvSpPr>
          <p:cNvPr id="32" name="Text 26"/>
          <p:cNvSpPr/>
          <p:nvPr/>
        </p:nvSpPr>
        <p:spPr>
          <a:xfrm>
            <a:off x="10774375" y="6510528"/>
            <a:ext cx="914400" cy="274320"/>
          </a:xfrm>
          <a:prstGeom prst="rect">
            <a:avLst/>
          </a:prstGeom>
          <a:noFill/>
          <a:ln/>
        </p:spPr>
        <p:txBody>
          <a:bodyPr wrap="square" lIns="0" tIns="0" rIns="0" bIns="0" rtlCol="0" anchor="ctr"/>
          <a:lstStyle/>
          <a:p>
            <a:pPr algn="r" indent="0" marL="0">
              <a:buNone/>
            </a:pPr>
            <a:r>
              <a:rPr lang="en-US" sz="1100" dirty="0">
                <a:solidFill>
                  <a:srgbClr val="177A46"/>
                </a:solidFill>
                <a:latin typeface="Archivo Black" pitchFamily="34" charset="0"/>
                <a:ea typeface="Archivo Black" pitchFamily="34" charset="-122"/>
                <a:cs typeface="Archivo Black" pitchFamily="34" charset="-120"/>
              </a:rPr>
              <a:t>26</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1A2B"/>
        </a:solidFill>
      </p:bgPr>
    </p:bg>
    <p:spTree>
      <p:nvGrpSpPr>
        <p:cNvPr id="1" name=""/>
        <p:cNvGrpSpPr/>
        <p:nvPr/>
      </p:nvGrpSpPr>
      <p:grpSpPr>
        <a:xfrm>
          <a:off x="0" y="0"/>
          <a:ext cx="0" cy="0"/>
          <a:chOff x="0" y="0"/>
          <a:chExt cx="0" cy="0"/>
        </a:xfrm>
      </p:grpSpPr>
      <p:pic>
        <p:nvPicPr>
          <p:cNvPr id="2" name="Image 0" descr="/home/user/hopper-tessarakt/site/assets/team-field.jpg">    </p:cNvPr>
          <p:cNvPicPr>
            <a:picLocks noChangeAspect="1"/>
          </p:cNvPicPr>
          <p:nvPr/>
        </p:nvPicPr>
        <p:blipFill>
          <a:blip r:embed="rId1"/>
          <a:srcRect l="0" r="0" t="0" b="0"/>
          <a:stretch/>
        </p:blipFill>
        <p:spPr>
          <a:xfrm>
            <a:off x="0" y="0"/>
            <a:ext cx="12191695" cy="6858000"/>
          </a:xfrm>
          <a:prstGeom prst="rect">
            <a:avLst/>
          </a:prstGeom>
        </p:spPr>
      </p:pic>
      <p:pic>
        <p:nvPicPr>
          <p:cNvPr id="3" name="Image 1" descr="/home/user/hopper-tessarakt/site/assets/veil-flat.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home/user/hopper-tessarakt/site/assets/veil-radial.png">    </p:cNvPr>
          <p:cNvPicPr>
            <a:picLocks noChangeAspect="1"/>
          </p:cNvPicPr>
          <p:nvPr/>
        </p:nvPicPr>
        <p:blipFill>
          <a:blip r:embed="rId3"/>
          <a:stretch>
            <a:fillRect/>
          </a:stretch>
        </p:blipFill>
        <p:spPr>
          <a:xfrm>
            <a:off x="0" y="0"/>
            <a:ext cx="12191695" cy="6858000"/>
          </a:xfrm>
          <a:prstGeom prst="rect">
            <a:avLst/>
          </a:prstGeom>
        </p:spPr>
      </p:pic>
      <p:sp>
        <p:nvSpPr>
          <p:cNvPr id="5" name="Text 0"/>
          <p:cNvSpPr/>
          <p:nvPr/>
        </p:nvSpPr>
        <p:spPr>
          <a:xfrm>
            <a:off x="0" y="2148840"/>
            <a:ext cx="12191695" cy="1188720"/>
          </a:xfrm>
          <a:prstGeom prst="rect">
            <a:avLst/>
          </a:prstGeom>
          <a:noFill/>
          <a:ln/>
        </p:spPr>
        <p:txBody>
          <a:bodyPr wrap="square" lIns="0" tIns="0" rIns="0" bIns="0" rtlCol="0" anchor="ctr"/>
          <a:lstStyle/>
          <a:p>
            <a:pPr algn="ctr" indent="0" marL="0">
              <a:buNone/>
            </a:pPr>
            <a:r>
              <a:rPr lang="en-US" sz="5200" dirty="0">
                <a:solidFill>
                  <a:srgbClr val="FFFFFF"/>
                </a:solidFill>
                <a:latin typeface="Noto Sans Devanagari" pitchFamily="34" charset="0"/>
                <a:ea typeface="Noto Sans Devanagari" pitchFamily="34" charset="-122"/>
                <a:cs typeface="Noto Sans Devanagari" pitchFamily="34" charset="-120"/>
              </a:rPr>
              <a:t>धन्यवाद</a:t>
            </a:r>
            <a:endParaRPr lang="en-US" sz="5200" dirty="0"/>
          </a:p>
        </p:txBody>
      </p:sp>
      <p:sp>
        <p:nvSpPr>
          <p:cNvPr id="6" name="Text 1"/>
          <p:cNvSpPr/>
          <p:nvPr/>
        </p:nvSpPr>
        <p:spPr>
          <a:xfrm>
            <a:off x="0" y="3429000"/>
            <a:ext cx="12191695" cy="457200"/>
          </a:xfrm>
          <a:prstGeom prst="rect">
            <a:avLst/>
          </a:prstGeom>
          <a:noFill/>
          <a:ln/>
        </p:spPr>
        <p:txBody>
          <a:bodyPr wrap="square" lIns="0" tIns="0" rIns="0" bIns="0" rtlCol="0" anchor="ctr"/>
          <a:lstStyle/>
          <a:p>
            <a:pPr algn="ctr" indent="0" marL="0">
              <a:buNone/>
            </a:pPr>
            <a:r>
              <a:rPr lang="en-US" sz="1700" i="1" dirty="0">
                <a:solidFill>
                  <a:srgbClr val="5FC28C"/>
                </a:solidFill>
                <a:latin typeface="Nunito Sans" pitchFamily="34" charset="0"/>
                <a:ea typeface="Nunito Sans" pitchFamily="34" charset="-122"/>
                <a:cs typeface="Nunito Sans" pitchFamily="34" charset="-120"/>
              </a:rPr>
              <a:t>Verified in the fields. Honest on the shelves.</a:t>
            </a:r>
            <a:endParaRPr lang="en-US" sz="1700" dirty="0"/>
          </a:p>
        </p:txBody>
      </p:sp>
      <p:pic>
        <p:nvPicPr>
          <p:cNvPr id="7" name="Image 3" descr="/home/user/hopper-tessarakt/site/assets/logo.png">    </p:cNvPr>
          <p:cNvPicPr>
            <a:picLocks noChangeAspect="1"/>
          </p:cNvPicPr>
          <p:nvPr/>
        </p:nvPicPr>
        <p:blipFill>
          <a:blip r:embed="rId4"/>
          <a:stretch>
            <a:fillRect/>
          </a:stretch>
        </p:blipFill>
        <p:spPr>
          <a:xfrm>
            <a:off x="5135728" y="4224528"/>
            <a:ext cx="1920240" cy="7132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DeHaat Honest Farms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Category Creation &amp; Scale Acceleration</dc:title>
  <dc:subject>PptxGenJS Presentation</dc:subject>
  <dc:creator>Team 1 — ISB CGMO Cohort II</dc:creator>
  <cp:lastModifiedBy>Team 1 — ISB CGMO Cohort II</cp:lastModifiedBy>
  <cp:revision>1</cp:revision>
  <dcterms:created xsi:type="dcterms:W3CDTF">2026-08-17T20:55:18Z</dcterms:created>
  <dcterms:modified xsi:type="dcterms:W3CDTF">2026-08-17T20:55:18Z</dcterms:modified>
</cp:coreProperties>
</file>