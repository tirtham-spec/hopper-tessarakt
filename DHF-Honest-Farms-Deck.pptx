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ISB CGMO Cohort II, Business Leadership Challenge. Team 1: Sabika Mirza, Sharon Batliwalla, Syed Kashif Ali, Sonu Adarsh, Abhishek Nandan.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statistics did not create these groups; they revealed groups already in the data. At k=3, Guardians and Trusters merge into one unusable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jpg"/><Relationship Id="rId7" Type="http://schemas.openxmlformats.org/officeDocument/2006/relationships/image" Target="../media/image-21-7.jpg"/><Relationship Id="rId8" Type="http://schemas.openxmlformats.org/officeDocument/2006/relationships/image" Target="../media/image-21-8.jpg"/><Relationship Id="rId9" Type="http://schemas.openxmlformats.org/officeDocument/2006/relationships/image" Target="../media/image-21-9.jpg"/><Relationship Id="rId10" Type="http://schemas.openxmlformats.org/officeDocument/2006/relationships/image" Target="../media/image-21-10.jpg"/><Relationship Id="rId11" Type="http://schemas.openxmlformats.org/officeDocument/2006/relationships/image" Target="../media/image-21-11.jp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image" Target="../media/image-35-3.jp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makhana-farm.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veil-h.png">    </p:cNvPr>
          <p:cNvPicPr>
            <a:picLocks noChangeAspect="1"/>
          </p:cNvPicPr>
          <p:nvPr/>
        </p:nvPicPr>
        <p:blipFill>
          <a:blip r:embed="rId2"/>
          <a:stretch>
            <a:fillRect/>
          </a:stretch>
        </p:blipFill>
        <p:spPr>
          <a:xfrm>
            <a:off x="0" y="0"/>
            <a:ext cx="12191695" cy="6858000"/>
          </a:xfrm>
          <a:prstGeom prst="rect">
            <a:avLst/>
          </a:prstGeom>
        </p:spPr>
      </p:pic>
      <p:sp>
        <p:nvSpPr>
          <p:cNvPr id="4" name="Text 0"/>
          <p:cNvSpPr/>
          <p:nvPr/>
        </p:nvSpPr>
        <p:spPr>
          <a:xfrm>
            <a:off x="502920" y="1051560"/>
            <a:ext cx="7315200" cy="274320"/>
          </a:xfrm>
          <a:prstGeom prst="rect">
            <a:avLst/>
          </a:prstGeom>
          <a:noFill/>
          <a:ln/>
        </p:spPr>
        <p:txBody>
          <a:bodyPr wrap="square" lIns="0" tIns="0" rIns="0" bIns="0" rtlCol="0" anchor="ctr"/>
          <a:lstStyle/>
          <a:p>
            <a:pPr indent="0" marL="0">
              <a:buNone/>
            </a:pPr>
            <a:r>
              <a:rPr lang="en-US" sz="1050" b="1" spc="280" kern="0" dirty="0">
                <a:solidFill>
                  <a:srgbClr val="5FC28C"/>
                </a:solidFill>
                <a:latin typeface="Nunito Sans" pitchFamily="34" charset="0"/>
                <a:ea typeface="Nunito Sans" pitchFamily="34" charset="-122"/>
                <a:cs typeface="Nunito Sans" pitchFamily="34" charset="-120"/>
              </a:rPr>
              <a:t>ISB CGMO COHORT II   ·   BUSINESS LEADERSHIP CHALLENGE</a:t>
            </a:r>
            <a:endParaRPr lang="en-US" sz="1050" dirty="0"/>
          </a:p>
        </p:txBody>
      </p:sp>
      <p:pic>
        <p:nvPicPr>
          <p:cNvPr id="5" name="Image 2" descr="/home/user/hopper-tessarakt/site/assets/logo.png">    </p:cNvPr>
          <p:cNvPicPr>
            <a:picLocks noChangeAspect="1"/>
          </p:cNvPicPr>
          <p:nvPr/>
        </p:nvPicPr>
        <p:blipFill>
          <a:blip r:embed="rId3"/>
          <a:stretch>
            <a:fillRect/>
          </a:stretch>
        </p:blipFill>
        <p:spPr>
          <a:xfrm>
            <a:off x="502920" y="1481328"/>
            <a:ext cx="2286000" cy="841248"/>
          </a:xfrm>
          <a:prstGeom prst="rect">
            <a:avLst/>
          </a:prstGeom>
        </p:spPr>
      </p:pic>
      <p:sp>
        <p:nvSpPr>
          <p:cNvPr id="6" name="Text 1"/>
          <p:cNvSpPr/>
          <p:nvPr/>
        </p:nvSpPr>
        <p:spPr>
          <a:xfrm>
            <a:off x="502920" y="2432304"/>
            <a:ext cx="7498080" cy="7315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Category Creation</a:t>
            </a:r>
            <a:endParaRPr lang="en-US" sz="4000" dirty="0"/>
          </a:p>
        </p:txBody>
      </p:sp>
      <p:sp>
        <p:nvSpPr>
          <p:cNvPr id="7" name="Text 2"/>
          <p:cNvSpPr/>
          <p:nvPr/>
        </p:nvSpPr>
        <p:spPr>
          <a:xfrm>
            <a:off x="502920" y="3145536"/>
            <a:ext cx="7498080" cy="731520"/>
          </a:xfrm>
          <a:prstGeom prst="rect">
            <a:avLst/>
          </a:prstGeom>
          <a:noFill/>
          <a:ln/>
        </p:spPr>
        <p:txBody>
          <a:bodyPr wrap="square" lIns="0" tIns="0" rIns="0" bIns="0" rtlCol="0" anchor="t"/>
          <a:lstStyle/>
          <a:p>
            <a:pPr indent="0" marL="0">
              <a:buNone/>
            </a:pPr>
            <a:r>
              <a:rPr lang="en-US" sz="4000" dirty="0">
                <a:solidFill>
                  <a:srgbClr val="5FC28C"/>
                </a:solidFill>
                <a:latin typeface="Archivo Black" pitchFamily="34" charset="0"/>
                <a:ea typeface="Archivo Black" pitchFamily="34" charset="-122"/>
                <a:cs typeface="Archivo Black" pitchFamily="34" charset="-120"/>
              </a:rPr>
              <a:t>&amp; Scale Acceleration</a:t>
            </a:r>
            <a:endParaRPr lang="en-US" sz="4000" dirty="0"/>
          </a:p>
        </p:txBody>
      </p:sp>
      <p:sp>
        <p:nvSpPr>
          <p:cNvPr id="8" name="Text 3"/>
          <p:cNvSpPr/>
          <p:nvPr/>
        </p:nvSpPr>
        <p:spPr>
          <a:xfrm>
            <a:off x="502920" y="4224528"/>
            <a:ext cx="7315200" cy="365760"/>
          </a:xfrm>
          <a:prstGeom prst="rect">
            <a:avLst/>
          </a:prstGeom>
          <a:noFill/>
          <a:ln/>
        </p:spPr>
        <p:txBody>
          <a:bodyPr wrap="square" lIns="0" tIns="0" rIns="0" bIns="0" rtlCol="0" anchor="ctr"/>
          <a:lstStyle/>
          <a:p>
            <a:pPr indent="0" marL="0">
              <a:buNone/>
            </a:pPr>
            <a:r>
              <a:rPr lang="en-US" sz="1600" i="1" dirty="0">
                <a:solidFill>
                  <a:srgbClr val="EEE9E0"/>
                </a:solidFill>
                <a:latin typeface="Nunito Sans" pitchFamily="34" charset="0"/>
                <a:ea typeface="Nunito Sans" pitchFamily="34" charset="-122"/>
                <a:cs typeface="Nunito Sans" pitchFamily="34" charset="-120"/>
              </a:rPr>
              <a:t>Verified in the fields. Honest on the shelves.</a:t>
            </a:r>
            <a:endParaRPr lang="en-US" sz="1600" dirty="0"/>
          </a:p>
        </p:txBody>
      </p:sp>
      <p:sp>
        <p:nvSpPr>
          <p:cNvPr id="9" name="Shape 4"/>
          <p:cNvSpPr/>
          <p:nvPr/>
        </p:nvSpPr>
        <p:spPr>
          <a:xfrm>
            <a:off x="502920" y="4892040"/>
            <a:ext cx="960120" cy="292608"/>
          </a:xfrm>
          <a:prstGeom prst="roundRect">
            <a:avLst>
              <a:gd name="adj" fmla="val 50000"/>
            </a:avLst>
          </a:prstGeom>
          <a:solidFill>
            <a:srgbClr val="5FC28C"/>
          </a:solidFill>
          <a:ln w="12700">
            <a:solidFill>
              <a:srgbClr val="333333"/>
            </a:solidFill>
            <a:prstDash val="solid"/>
          </a:ln>
        </p:spPr>
      </p:sp>
      <p:sp>
        <p:nvSpPr>
          <p:cNvPr id="10" name="Text 5"/>
          <p:cNvSpPr/>
          <p:nvPr/>
        </p:nvSpPr>
        <p:spPr>
          <a:xfrm>
            <a:off x="502920" y="4892040"/>
            <a:ext cx="960120" cy="292608"/>
          </a:xfrm>
          <a:prstGeom prst="rect">
            <a:avLst/>
          </a:prstGeom>
          <a:noFill/>
          <a:ln/>
        </p:spPr>
        <p:txBody>
          <a:bodyPr wrap="square" lIns="0" tIns="0" rIns="0" bIns="0" rtlCol="0" anchor="ctr"/>
          <a:lstStyle/>
          <a:p>
            <a:pPr algn="ctr" indent="0" marL="0">
              <a:buNone/>
            </a:pPr>
            <a:r>
              <a:rPr lang="en-US" sz="900" b="1" spc="140" kern="0" dirty="0">
                <a:solidFill>
                  <a:srgbClr val="0C1A2B"/>
                </a:solidFill>
                <a:latin typeface="Nunito Sans" pitchFamily="34" charset="0"/>
                <a:ea typeface="Nunito Sans" pitchFamily="34" charset="-122"/>
                <a:cs typeface="Nunito Sans" pitchFamily="34" charset="-120"/>
              </a:rPr>
              <a:t>TEAM 1</a:t>
            </a:r>
            <a:endParaRPr lang="en-US" sz="900" dirty="0"/>
          </a:p>
        </p:txBody>
      </p:sp>
      <p:sp>
        <p:nvSpPr>
          <p:cNvPr id="11" name="Text 6"/>
          <p:cNvSpPr/>
          <p:nvPr/>
        </p:nvSpPr>
        <p:spPr>
          <a:xfrm>
            <a:off x="1600200" y="4892040"/>
            <a:ext cx="6583680" cy="292608"/>
          </a:xfrm>
          <a:prstGeom prst="rect">
            <a:avLst/>
          </a:prstGeom>
          <a:noFill/>
          <a:ln/>
        </p:spPr>
        <p:txBody>
          <a:bodyPr wrap="square" lIns="0" tIns="0" rIns="0" bIns="0" rtlCol="0" anchor="ctr"/>
          <a:lstStyle/>
          <a:p>
            <a:pPr indent="0" marL="0">
              <a:buNone/>
            </a:pPr>
            <a:r>
              <a:rPr lang="en-US" sz="1050" dirty="0">
                <a:solidFill>
                  <a:srgbClr val="A9B6C7"/>
                </a:solidFill>
                <a:latin typeface="Nunito Sans" pitchFamily="34" charset="0"/>
                <a:ea typeface="Nunito Sans" pitchFamily="34" charset="-122"/>
                <a:cs typeface="Nunito Sans" pitchFamily="34" charset="-120"/>
              </a:rPr>
              <a:t>Sabika Mirza  ·  Sharon Batliwalla  ·  Syed Kashif Ali  ·  Sonu Adarsh  ·  Abhishek Nandan</a:t>
            </a:r>
            <a:endParaRPr lang="en-US" sz="1050" dirty="0"/>
          </a:p>
        </p:txBody>
      </p:sp>
      <p:sp>
        <p:nvSpPr>
          <p:cNvPr id="12" name="Shape 7"/>
          <p:cNvSpPr/>
          <p:nvPr/>
        </p:nvSpPr>
        <p:spPr>
          <a:xfrm>
            <a:off x="502920" y="5623560"/>
            <a:ext cx="7589520" cy="0"/>
          </a:xfrm>
          <a:prstGeom prst="line">
            <a:avLst/>
          </a:prstGeom>
          <a:noFill/>
          <a:ln w="9525">
            <a:solidFill>
              <a:srgbClr val="FFFFFF">
                <a:alpha val="20000"/>
              </a:srgbClr>
            </a:solidFill>
            <a:prstDash val="solid"/>
          </a:ln>
        </p:spPr>
      </p:sp>
      <p:sp>
        <p:nvSpPr>
          <p:cNvPr id="13" name="Text 8"/>
          <p:cNvSpPr/>
          <p:nvPr/>
        </p:nvSpPr>
        <p:spPr>
          <a:xfrm>
            <a:off x="502920"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₹53 Cr → ₹748 Cr</a:t>
            </a:r>
            <a:endParaRPr lang="en-US" sz="1300" dirty="0"/>
          </a:p>
        </p:txBody>
      </p:sp>
      <p:sp>
        <p:nvSpPr>
          <p:cNvPr id="14" name="Text 9"/>
          <p:cNvSpPr/>
          <p:nvPr/>
        </p:nvSpPr>
        <p:spPr>
          <a:xfrm>
            <a:off x="502920"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the FY26 base to the FY31 ambition</a:t>
            </a:r>
            <a:endParaRPr lang="en-US" sz="850" dirty="0"/>
          </a:p>
        </p:txBody>
      </p:sp>
      <p:sp>
        <p:nvSpPr>
          <p:cNvPr id="15" name="Text 10"/>
          <p:cNvSpPr/>
          <p:nvPr/>
        </p:nvSpPr>
        <p:spPr>
          <a:xfrm>
            <a:off x="3081528"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₹48,000 Cr</a:t>
            </a:r>
            <a:endParaRPr lang="en-US" sz="1300" dirty="0"/>
          </a:p>
        </p:txBody>
      </p:sp>
      <p:sp>
        <p:nvSpPr>
          <p:cNvPr id="16" name="Text 11"/>
          <p:cNvSpPr/>
          <p:nvPr/>
        </p:nvSpPr>
        <p:spPr>
          <a:xfrm>
            <a:off x="3081528"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a category with no definition, standard or owner</a:t>
            </a:r>
            <a:endParaRPr lang="en-US" sz="850" dirty="0"/>
          </a:p>
        </p:txBody>
      </p:sp>
      <p:sp>
        <p:nvSpPr>
          <p:cNvPr id="17" name="Text 12"/>
          <p:cNvSpPr/>
          <p:nvPr/>
        </p:nvSpPr>
        <p:spPr>
          <a:xfrm>
            <a:off x="5660136"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305 + 31</a:t>
            </a:r>
            <a:endParaRPr lang="en-US" sz="1300" dirty="0"/>
          </a:p>
        </p:txBody>
      </p:sp>
      <p:sp>
        <p:nvSpPr>
          <p:cNvPr id="18" name="Text 13"/>
          <p:cNvSpPr/>
          <p:nvPr/>
        </p:nvSpPr>
        <p:spPr>
          <a:xfrm>
            <a:off x="5660136"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respondents behind every claim in this deck</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35331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35331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START HERE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whole argument, in six moves.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section that follows is evidence for one of these six steps.</a:t>
            </a:r>
            <a:endParaRPr lang="en-US" sz="1100" dirty="0"/>
          </a:p>
        </p:txBody>
      </p:sp>
      <p:sp>
        <p:nvSpPr>
          <p:cNvPr id="7" name="Shape 4"/>
          <p:cNvSpPr/>
          <p:nvPr/>
        </p:nvSpPr>
        <p:spPr>
          <a:xfrm>
            <a:off x="502920" y="2121408"/>
            <a:ext cx="3545738" cy="2084832"/>
          </a:xfrm>
          <a:prstGeom prst="roundRect">
            <a:avLst>
              <a:gd name="adj" fmla="val 394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704088" y="2304288"/>
            <a:ext cx="365760" cy="365760"/>
          </a:xfrm>
          <a:prstGeom prst="ellipse">
            <a:avLst/>
          </a:prstGeom>
          <a:solidFill>
            <a:srgbClr val="0C1A2B"/>
          </a:solidFill>
          <a:ln w="12700">
            <a:solidFill>
              <a:srgbClr val="333333"/>
            </a:solidFill>
            <a:prstDash val="solid"/>
          </a:ln>
        </p:spPr>
      </p:sp>
      <p:sp>
        <p:nvSpPr>
          <p:cNvPr id="9" name="Text 6"/>
          <p:cNvSpPr/>
          <p:nvPr/>
        </p:nvSpPr>
        <p:spPr>
          <a:xfrm>
            <a:off x="704088" y="230428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1</a:t>
            </a:r>
            <a:endParaRPr lang="en-US" sz="1200" dirty="0"/>
          </a:p>
        </p:txBody>
      </p:sp>
      <p:sp>
        <p:nvSpPr>
          <p:cNvPr id="10" name="Text 7"/>
          <p:cNvSpPr/>
          <p:nvPr/>
        </p:nvSpPr>
        <p:spPr>
          <a:xfrm>
            <a:off x="704088" y="274320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There is a ₹48,000 Cr category that nobody has defined.</a:t>
            </a:r>
            <a:endParaRPr lang="en-US" sz="1150" dirty="0"/>
          </a:p>
        </p:txBody>
      </p:sp>
      <p:sp>
        <p:nvSpPr>
          <p:cNvPr id="11" name="Text 8"/>
          <p:cNvSpPr/>
          <p:nvPr/>
        </p:nvSpPr>
        <p:spPr>
          <a:xfrm>
            <a:off x="704088" y="329184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"Pesticide-free" is not a regulated term in India. Demand is real — 84% of consumers are worried about food safety — but no brand has codified the standard, so the words commoditise before they mean anything.</a:t>
            </a:r>
            <a:endParaRPr lang="en-US" sz="900" dirty="0"/>
          </a:p>
        </p:txBody>
      </p:sp>
      <p:sp>
        <p:nvSpPr>
          <p:cNvPr id="12" name="Shape 9"/>
          <p:cNvSpPr/>
          <p:nvPr/>
        </p:nvSpPr>
        <p:spPr>
          <a:xfrm>
            <a:off x="4322978" y="2121408"/>
            <a:ext cx="3545738" cy="2084832"/>
          </a:xfrm>
          <a:prstGeom prst="roundRect">
            <a:avLst>
              <a:gd name="adj" fmla="val 394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3" name="Shape 10"/>
          <p:cNvSpPr/>
          <p:nvPr/>
        </p:nvSpPr>
        <p:spPr>
          <a:xfrm>
            <a:off x="4524146" y="2304288"/>
            <a:ext cx="365760" cy="365760"/>
          </a:xfrm>
          <a:prstGeom prst="ellipse">
            <a:avLst/>
          </a:prstGeom>
          <a:solidFill>
            <a:srgbClr val="0C1A2B"/>
          </a:solidFill>
          <a:ln w="12700">
            <a:solidFill>
              <a:srgbClr val="333333"/>
            </a:solidFill>
            <a:prstDash val="solid"/>
          </a:ln>
        </p:spPr>
      </p:sp>
      <p:sp>
        <p:nvSpPr>
          <p:cNvPr id="14" name="Text 11"/>
          <p:cNvSpPr/>
          <p:nvPr/>
        </p:nvSpPr>
        <p:spPr>
          <a:xfrm>
            <a:off x="4524146" y="230428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2</a:t>
            </a:r>
            <a:endParaRPr lang="en-US" sz="1200" dirty="0"/>
          </a:p>
        </p:txBody>
      </p:sp>
      <p:sp>
        <p:nvSpPr>
          <p:cNvPr id="15" name="Text 12"/>
          <p:cNvSpPr/>
          <p:nvPr/>
        </p:nvSpPr>
        <p:spPr>
          <a:xfrm>
            <a:off x="4524146" y="274320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 shelf has an empty corridor, and DHF should own it.</a:t>
            </a:r>
            <a:endParaRPr lang="en-US" sz="1150" dirty="0"/>
          </a:p>
        </p:txBody>
      </p:sp>
      <p:sp>
        <p:nvSpPr>
          <p:cNvPr id="16" name="Text 13"/>
          <p:cNvSpPr/>
          <p:nvPr/>
        </p:nvSpPr>
        <p:spPr>
          <a:xfrm>
            <a:off x="4524146" y="329184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Mainstream dal sits at ₹136–157/kg. Certified organic sits at ₹255–306. Between them is an accessible-premium corridor at ₹150–250 with no trust code attached to it — and it is already being squeezed from below.</a:t>
            </a:r>
            <a:endParaRPr lang="en-US" sz="900" dirty="0"/>
          </a:p>
        </p:txBody>
      </p:sp>
      <p:sp>
        <p:nvSpPr>
          <p:cNvPr id="17" name="Shape 14"/>
          <p:cNvSpPr/>
          <p:nvPr/>
        </p:nvSpPr>
        <p:spPr>
          <a:xfrm>
            <a:off x="8143037" y="2121408"/>
            <a:ext cx="3545738" cy="2084832"/>
          </a:xfrm>
          <a:prstGeom prst="roundRect">
            <a:avLst>
              <a:gd name="adj" fmla="val 394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Shape 15"/>
          <p:cNvSpPr/>
          <p:nvPr/>
        </p:nvSpPr>
        <p:spPr>
          <a:xfrm>
            <a:off x="8344205" y="2304288"/>
            <a:ext cx="365760" cy="365760"/>
          </a:xfrm>
          <a:prstGeom prst="ellipse">
            <a:avLst/>
          </a:prstGeom>
          <a:solidFill>
            <a:srgbClr val="0C1A2B"/>
          </a:solidFill>
          <a:ln w="12700">
            <a:solidFill>
              <a:srgbClr val="333333"/>
            </a:solidFill>
            <a:prstDash val="solid"/>
          </a:ln>
        </p:spPr>
      </p:sp>
      <p:sp>
        <p:nvSpPr>
          <p:cNvPr id="19" name="Text 16"/>
          <p:cNvSpPr/>
          <p:nvPr/>
        </p:nvSpPr>
        <p:spPr>
          <a:xfrm>
            <a:off x="8344205" y="230428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3</a:t>
            </a:r>
            <a:endParaRPr lang="en-US" sz="1200" dirty="0"/>
          </a:p>
        </p:txBody>
      </p:sp>
      <p:sp>
        <p:nvSpPr>
          <p:cNvPr id="20" name="Text 17"/>
          <p:cNvSpPr/>
          <p:nvPr/>
        </p:nvSpPr>
        <p:spPr>
          <a:xfrm>
            <a:off x="8344205" y="274320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 barrier is belief, not budget.</a:t>
            </a:r>
            <a:endParaRPr lang="en-US" sz="1150" dirty="0"/>
          </a:p>
        </p:txBody>
      </p:sp>
      <p:sp>
        <p:nvSpPr>
          <p:cNvPr id="21" name="Text 18"/>
          <p:cNvSpPr/>
          <p:nvPr/>
        </p:nvSpPr>
        <p:spPr>
          <a:xfrm>
            <a:off x="8344205" y="329184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Half of buyers say they would pay nothing extra — and say why: they do not trust the claims. But 60% would pay 20–30% more if someone they trusted had independently verified it.</a:t>
            </a:r>
            <a:endParaRPr lang="en-US" sz="900" dirty="0"/>
          </a:p>
        </p:txBody>
      </p:sp>
      <p:sp>
        <p:nvSpPr>
          <p:cNvPr id="22" name="Shape 19"/>
          <p:cNvSpPr/>
          <p:nvPr/>
        </p:nvSpPr>
        <p:spPr>
          <a:xfrm>
            <a:off x="502920" y="4462272"/>
            <a:ext cx="3545738" cy="2084832"/>
          </a:xfrm>
          <a:prstGeom prst="roundRect">
            <a:avLst>
              <a:gd name="adj" fmla="val 394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3" name="Shape 20"/>
          <p:cNvSpPr/>
          <p:nvPr/>
        </p:nvSpPr>
        <p:spPr>
          <a:xfrm>
            <a:off x="704088" y="4645152"/>
            <a:ext cx="365760" cy="365760"/>
          </a:xfrm>
          <a:prstGeom prst="ellipse">
            <a:avLst/>
          </a:prstGeom>
          <a:solidFill>
            <a:srgbClr val="0C1A2B"/>
          </a:solidFill>
          <a:ln w="12700">
            <a:solidFill>
              <a:srgbClr val="333333"/>
            </a:solidFill>
            <a:prstDash val="solid"/>
          </a:ln>
        </p:spPr>
      </p:sp>
      <p:sp>
        <p:nvSpPr>
          <p:cNvPr id="24" name="Text 21"/>
          <p:cNvSpPr/>
          <p:nvPr/>
        </p:nvSpPr>
        <p:spPr>
          <a:xfrm>
            <a:off x="704088" y="464515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4</a:t>
            </a:r>
            <a:endParaRPr lang="en-US" sz="1200" dirty="0"/>
          </a:p>
        </p:txBody>
      </p:sp>
      <p:sp>
        <p:nvSpPr>
          <p:cNvPr id="25" name="Text 22"/>
          <p:cNvSpPr/>
          <p:nvPr/>
        </p:nvSpPr>
        <p:spPr>
          <a:xfrm>
            <a:off x="704088" y="508406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DHF already generates the proof. It just never shows it.</a:t>
            </a:r>
            <a:endParaRPr lang="en-US" sz="1150" dirty="0"/>
          </a:p>
        </p:txBody>
      </p:sp>
      <p:sp>
        <p:nvSpPr>
          <p:cNvPr id="26" name="Text 23"/>
          <p:cNvSpPr/>
          <p:nvPr/>
        </p:nvSpPr>
        <p:spPr>
          <a:xfrm>
            <a:off x="704088" y="563270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230+ pesticide checks per batch, batch-level testing, failing lots rejected — all invisible to the shopper. Competitors lead with logos; DHF can lead with data, and put the farmer on it.</a:t>
            </a:r>
            <a:endParaRPr lang="en-US" sz="900" dirty="0"/>
          </a:p>
        </p:txBody>
      </p:sp>
      <p:sp>
        <p:nvSpPr>
          <p:cNvPr id="27" name="Shape 24"/>
          <p:cNvSpPr/>
          <p:nvPr/>
        </p:nvSpPr>
        <p:spPr>
          <a:xfrm>
            <a:off x="4322978" y="4462272"/>
            <a:ext cx="3545738" cy="2084832"/>
          </a:xfrm>
          <a:prstGeom prst="roundRect">
            <a:avLst>
              <a:gd name="adj" fmla="val 394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8" name="Shape 25"/>
          <p:cNvSpPr/>
          <p:nvPr/>
        </p:nvSpPr>
        <p:spPr>
          <a:xfrm>
            <a:off x="4524146" y="4645152"/>
            <a:ext cx="365760" cy="365760"/>
          </a:xfrm>
          <a:prstGeom prst="ellipse">
            <a:avLst/>
          </a:prstGeom>
          <a:solidFill>
            <a:srgbClr val="0C1A2B"/>
          </a:solidFill>
          <a:ln w="12700">
            <a:solidFill>
              <a:srgbClr val="333333"/>
            </a:solidFill>
            <a:prstDash val="solid"/>
          </a:ln>
        </p:spPr>
      </p:sp>
      <p:sp>
        <p:nvSpPr>
          <p:cNvPr id="29" name="Text 26"/>
          <p:cNvSpPr/>
          <p:nvPr/>
        </p:nvSpPr>
        <p:spPr>
          <a:xfrm>
            <a:off x="4524146" y="464515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5</a:t>
            </a:r>
            <a:endParaRPr lang="en-US" sz="1200" dirty="0"/>
          </a:p>
        </p:txBody>
      </p:sp>
      <p:sp>
        <p:nvSpPr>
          <p:cNvPr id="30" name="Text 27"/>
          <p:cNvSpPr/>
          <p:nvPr/>
        </p:nvSpPr>
        <p:spPr>
          <a:xfrm>
            <a:off x="4524146" y="508406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So the brand becomes the one you verify, not the one you trust.</a:t>
            </a:r>
            <a:endParaRPr lang="en-US" sz="1150" dirty="0"/>
          </a:p>
        </p:txBody>
      </p:sp>
      <p:sp>
        <p:nvSpPr>
          <p:cNvPr id="31" name="Text 28"/>
          <p:cNvSpPr/>
          <p:nvPr/>
        </p:nvSpPr>
        <p:spPr>
          <a:xfrm>
            <a:off x="4524146" y="563270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Positioning, promise and every communication delivery hang off a single measurable metric — Verified Purchase Rate. Revenue is the outcome; verification is the lever.</a:t>
            </a:r>
            <a:endParaRPr lang="en-US" sz="900" dirty="0"/>
          </a:p>
        </p:txBody>
      </p:sp>
      <p:sp>
        <p:nvSpPr>
          <p:cNvPr id="32" name="Shape 29"/>
          <p:cNvSpPr/>
          <p:nvPr/>
        </p:nvSpPr>
        <p:spPr>
          <a:xfrm>
            <a:off x="8143037" y="4462272"/>
            <a:ext cx="3545738" cy="2084832"/>
          </a:xfrm>
          <a:prstGeom prst="roundRect">
            <a:avLst>
              <a:gd name="adj" fmla="val 394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3" name="Shape 30"/>
          <p:cNvSpPr/>
          <p:nvPr/>
        </p:nvSpPr>
        <p:spPr>
          <a:xfrm>
            <a:off x="8344205" y="4645152"/>
            <a:ext cx="365760" cy="365760"/>
          </a:xfrm>
          <a:prstGeom prst="ellipse">
            <a:avLst/>
          </a:prstGeom>
          <a:solidFill>
            <a:srgbClr val="0C1A2B"/>
          </a:solidFill>
          <a:ln w="12700">
            <a:solidFill>
              <a:srgbClr val="333333"/>
            </a:solidFill>
            <a:prstDash val="solid"/>
          </a:ln>
        </p:spPr>
      </p:sp>
      <p:sp>
        <p:nvSpPr>
          <p:cNvPr id="34" name="Text 31"/>
          <p:cNvSpPr/>
          <p:nvPr/>
        </p:nvSpPr>
        <p:spPr>
          <a:xfrm>
            <a:off x="8344205" y="464515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6</a:t>
            </a:r>
            <a:endParaRPr lang="en-US" sz="1200" dirty="0"/>
          </a:p>
        </p:txBody>
      </p:sp>
      <p:sp>
        <p:nvSpPr>
          <p:cNvPr id="35" name="Text 32"/>
          <p:cNvSpPr/>
          <p:nvPr/>
        </p:nvSpPr>
        <p:spPr>
          <a:xfrm>
            <a:off x="8344205" y="508406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₹105 Cr buys breakeven at ₹274 Cr, and a moat worth defending.</a:t>
            </a:r>
            <a:endParaRPr lang="en-US" sz="1150" dirty="0"/>
          </a:p>
        </p:txBody>
      </p:sp>
      <p:sp>
        <p:nvSpPr>
          <p:cNvPr id="36" name="Text 33"/>
          <p:cNvSpPr/>
          <p:nvPr/>
        </p:nvSpPr>
        <p:spPr>
          <a:xfrm>
            <a:off x="8344205" y="563270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Spices carry the margin, quick commerce carries the reach, and DeHaat's control of the farm input — not the harvest test — is the only asset a competitor cannot buy inside five years.</a:t>
            </a:r>
            <a:endParaRPr lang="en-US" sz="900" dirty="0"/>
          </a:p>
        </p:txBody>
      </p:sp>
      <p:sp>
        <p:nvSpPr>
          <p:cNvPr id="37" name="Shape 34"/>
          <p:cNvSpPr/>
          <p:nvPr/>
        </p:nvSpPr>
        <p:spPr>
          <a:xfrm>
            <a:off x="502920" y="6455664"/>
            <a:ext cx="11185855" cy="0"/>
          </a:xfrm>
          <a:prstGeom prst="line">
            <a:avLst/>
          </a:prstGeom>
          <a:noFill/>
          <a:ln w="9525">
            <a:solidFill>
              <a:srgbClr val="E5DCCB"/>
            </a:solidFill>
            <a:prstDash val="solid"/>
          </a:ln>
        </p:spPr>
      </p:sp>
      <p:sp>
        <p:nvSpPr>
          <p:cNvPr id="38" name="Text 35"/>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THE ARGUMENT</a:t>
            </a:r>
            <a:endParaRPr lang="en-US" sz="800" dirty="0"/>
          </a:p>
        </p:txBody>
      </p:sp>
      <p:sp>
        <p:nvSpPr>
          <p:cNvPr id="39" name="Text 3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1.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01</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Mandate</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What we were asked to do, and the evidence we built to answer it.</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Scale DHF from ₹53 Cr to ₹300+ Cr in three years</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Four phases, from diagnosis to a funded blueprint</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The evidence base behind every claim</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263701"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263701"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BRIEF</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Scale DHF from ₹53 Cr to ₹300+ Cr in three years.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Not by outspending organic, but by creating and owning a category that does not yet formally exist. We broke that into four phases.</a:t>
            </a:r>
            <a:endParaRPr lang="en-US" sz="1100" dirty="0"/>
          </a:p>
        </p:txBody>
      </p:sp>
      <p:sp>
        <p:nvSpPr>
          <p:cNvPr id="7" name="Shape 4"/>
          <p:cNvSpPr/>
          <p:nvPr/>
        </p:nvSpPr>
        <p:spPr>
          <a:xfrm>
            <a:off x="502920" y="2121408"/>
            <a:ext cx="2618156"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502920" y="2121408"/>
            <a:ext cx="45720" cy="2286000"/>
          </a:xfrm>
          <a:prstGeom prst="rect">
            <a:avLst/>
          </a:prstGeom>
          <a:solidFill>
            <a:srgbClr val="177A46"/>
          </a:solidFill>
          <a:ln w="12700">
            <a:solidFill>
              <a:srgbClr val="333333"/>
            </a:solidFill>
            <a:prstDash val="solid"/>
          </a:ln>
        </p:spPr>
      </p:sp>
      <p:sp>
        <p:nvSpPr>
          <p:cNvPr id="9" name="Text 6"/>
          <p:cNvSpPr/>
          <p:nvPr/>
        </p:nvSpPr>
        <p:spPr>
          <a:xfrm>
            <a:off x="722376"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01</a:t>
            </a:r>
            <a:endParaRPr lang="en-US" sz="1500" dirty="0"/>
          </a:p>
        </p:txBody>
      </p:sp>
      <p:sp>
        <p:nvSpPr>
          <p:cNvPr id="10" name="Text 7"/>
          <p:cNvSpPr/>
          <p:nvPr/>
        </p:nvSpPr>
        <p:spPr>
          <a:xfrm>
            <a:off x="722376"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Diagnose &amp; Decode</a:t>
            </a:r>
            <a:endParaRPr lang="en-US" sz="1150" dirty="0"/>
          </a:p>
        </p:txBody>
      </p:sp>
      <p:sp>
        <p:nvSpPr>
          <p:cNvPr id="11" name="Text 8"/>
          <p:cNvSpPr/>
          <p:nvPr/>
        </p:nvSpPr>
        <p:spPr>
          <a:xfrm>
            <a:off x="722376"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Build a shared, fact-based understanding of category, competition and consumer.</a:t>
            </a:r>
            <a:endParaRPr lang="en-US" sz="900" dirty="0"/>
          </a:p>
        </p:txBody>
      </p:sp>
      <p:sp>
        <p:nvSpPr>
          <p:cNvPr id="12" name="Text 9"/>
          <p:cNvSpPr/>
          <p:nvPr/>
        </p:nvSpPr>
        <p:spPr>
          <a:xfrm>
            <a:off x="722376"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&amp; consumer insight base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Trust tension map + segmentation</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Imitation risk heatmap</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Internal diagnosis snapshot</a:t>
            </a:r>
            <a:endParaRPr lang="en-US" sz="850" dirty="0"/>
          </a:p>
        </p:txBody>
      </p:sp>
      <p:sp>
        <p:nvSpPr>
          <p:cNvPr id="13" name="Shape 10"/>
          <p:cNvSpPr/>
          <p:nvPr/>
        </p:nvSpPr>
        <p:spPr>
          <a:xfrm>
            <a:off x="3358820" y="2121408"/>
            <a:ext cx="2618156"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Shape 11"/>
          <p:cNvSpPr/>
          <p:nvPr/>
        </p:nvSpPr>
        <p:spPr>
          <a:xfrm>
            <a:off x="3358820" y="2121408"/>
            <a:ext cx="45720" cy="2286000"/>
          </a:xfrm>
          <a:prstGeom prst="rect">
            <a:avLst/>
          </a:prstGeom>
          <a:solidFill>
            <a:srgbClr val="177A46"/>
          </a:solidFill>
          <a:ln w="12700">
            <a:solidFill>
              <a:srgbClr val="333333"/>
            </a:solidFill>
            <a:prstDash val="solid"/>
          </a:ln>
        </p:spPr>
      </p:sp>
      <p:sp>
        <p:nvSpPr>
          <p:cNvPr id="15" name="Text 12"/>
          <p:cNvSpPr/>
          <p:nvPr/>
        </p:nvSpPr>
        <p:spPr>
          <a:xfrm>
            <a:off x="3578276"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02</a:t>
            </a:r>
            <a:endParaRPr lang="en-US" sz="1500" dirty="0"/>
          </a:p>
        </p:txBody>
      </p:sp>
      <p:sp>
        <p:nvSpPr>
          <p:cNvPr id="16" name="Text 13"/>
          <p:cNvSpPr/>
          <p:nvPr/>
        </p:nvSpPr>
        <p:spPr>
          <a:xfrm>
            <a:off x="3578276"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Category &amp; Brand Strategy</a:t>
            </a:r>
            <a:endParaRPr lang="en-US" sz="1150" dirty="0"/>
          </a:p>
        </p:txBody>
      </p:sp>
      <p:sp>
        <p:nvSpPr>
          <p:cNvPr id="17" name="Text 14"/>
          <p:cNvSpPr/>
          <p:nvPr/>
        </p:nvSpPr>
        <p:spPr>
          <a:xfrm>
            <a:off x="3578276"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Define what DHF must own in the mind of the consumer.</a:t>
            </a:r>
            <a:endParaRPr lang="en-US" sz="900" dirty="0"/>
          </a:p>
        </p:txBody>
      </p:sp>
      <p:sp>
        <p:nvSpPr>
          <p:cNvPr id="18" name="Text 15"/>
          <p:cNvSpPr/>
          <p:nvPr/>
        </p:nvSpPr>
        <p:spPr>
          <a:xfrm>
            <a:off x="3578276"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creation framework</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Positioning &amp; brand architecture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Proof hierarchy</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Codified Pesticide-Free standard</a:t>
            </a:r>
            <a:endParaRPr lang="en-US" sz="850" dirty="0"/>
          </a:p>
        </p:txBody>
      </p:sp>
      <p:sp>
        <p:nvSpPr>
          <p:cNvPr id="19" name="Shape 16"/>
          <p:cNvSpPr/>
          <p:nvPr/>
        </p:nvSpPr>
        <p:spPr>
          <a:xfrm>
            <a:off x="6214720" y="2121408"/>
            <a:ext cx="2618156"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0" name="Shape 17"/>
          <p:cNvSpPr/>
          <p:nvPr/>
        </p:nvSpPr>
        <p:spPr>
          <a:xfrm>
            <a:off x="6214720" y="2121408"/>
            <a:ext cx="45720" cy="2286000"/>
          </a:xfrm>
          <a:prstGeom prst="rect">
            <a:avLst/>
          </a:prstGeom>
          <a:solidFill>
            <a:srgbClr val="177A46"/>
          </a:solidFill>
          <a:ln w="12700">
            <a:solidFill>
              <a:srgbClr val="333333"/>
            </a:solidFill>
            <a:prstDash val="solid"/>
          </a:ln>
        </p:spPr>
      </p:sp>
      <p:sp>
        <p:nvSpPr>
          <p:cNvPr id="21" name="Text 18"/>
          <p:cNvSpPr/>
          <p:nvPr/>
        </p:nvSpPr>
        <p:spPr>
          <a:xfrm>
            <a:off x="6434176"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03</a:t>
            </a:r>
            <a:endParaRPr lang="en-US" sz="1500" dirty="0"/>
          </a:p>
        </p:txBody>
      </p:sp>
      <p:sp>
        <p:nvSpPr>
          <p:cNvPr id="22" name="Text 19"/>
          <p:cNvSpPr/>
          <p:nvPr/>
        </p:nvSpPr>
        <p:spPr>
          <a:xfrm>
            <a:off x="6434176"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Growth Engine Design</a:t>
            </a:r>
            <a:endParaRPr lang="en-US" sz="1150" dirty="0"/>
          </a:p>
        </p:txBody>
      </p:sp>
      <p:sp>
        <p:nvSpPr>
          <p:cNvPr id="23" name="Text 20"/>
          <p:cNvSpPr/>
          <p:nvPr/>
        </p:nvSpPr>
        <p:spPr>
          <a:xfrm>
            <a:off x="6434176"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Decide where to play and how to win — the moat.</a:t>
            </a:r>
            <a:endParaRPr lang="en-US" sz="900" dirty="0"/>
          </a:p>
        </p:txBody>
      </p:sp>
      <p:sp>
        <p:nvSpPr>
          <p:cNvPr id="24" name="Text 21"/>
          <p:cNvSpPr/>
          <p:nvPr/>
        </p:nvSpPr>
        <p:spPr>
          <a:xfrm>
            <a:off x="6434176"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Top growth drivers</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Hero SKU list (10–15 SKUs)</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Channel role matrix</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Competitive defense playbook</a:t>
            </a:r>
            <a:endParaRPr lang="en-US" sz="850" dirty="0"/>
          </a:p>
        </p:txBody>
      </p:sp>
      <p:sp>
        <p:nvSpPr>
          <p:cNvPr id="25" name="Shape 22"/>
          <p:cNvSpPr/>
          <p:nvPr/>
        </p:nvSpPr>
        <p:spPr>
          <a:xfrm>
            <a:off x="9070619" y="2121408"/>
            <a:ext cx="2618156"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6" name="Shape 23"/>
          <p:cNvSpPr/>
          <p:nvPr/>
        </p:nvSpPr>
        <p:spPr>
          <a:xfrm>
            <a:off x="9070619" y="2121408"/>
            <a:ext cx="45720" cy="2286000"/>
          </a:xfrm>
          <a:prstGeom prst="rect">
            <a:avLst/>
          </a:prstGeom>
          <a:solidFill>
            <a:srgbClr val="177A46"/>
          </a:solidFill>
          <a:ln w="12700">
            <a:solidFill>
              <a:srgbClr val="333333"/>
            </a:solidFill>
            <a:prstDash val="solid"/>
          </a:ln>
        </p:spPr>
      </p:sp>
      <p:sp>
        <p:nvSpPr>
          <p:cNvPr id="27" name="Text 24"/>
          <p:cNvSpPr/>
          <p:nvPr/>
        </p:nvSpPr>
        <p:spPr>
          <a:xfrm>
            <a:off x="9290075"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04</a:t>
            </a:r>
            <a:endParaRPr lang="en-US" sz="1500" dirty="0"/>
          </a:p>
        </p:txBody>
      </p:sp>
      <p:sp>
        <p:nvSpPr>
          <p:cNvPr id="28" name="Text 25"/>
          <p:cNvSpPr/>
          <p:nvPr/>
        </p:nvSpPr>
        <p:spPr>
          <a:xfrm>
            <a:off x="9290075"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Scale Blueprint</a:t>
            </a:r>
            <a:endParaRPr lang="en-US" sz="1150" dirty="0"/>
          </a:p>
        </p:txBody>
      </p:sp>
      <p:sp>
        <p:nvSpPr>
          <p:cNvPr id="29" name="Text 26"/>
          <p:cNvSpPr/>
          <p:nvPr/>
        </p:nvSpPr>
        <p:spPr>
          <a:xfrm>
            <a:off x="9290075"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Build a sustainable, funded path to growth.</a:t>
            </a:r>
            <a:endParaRPr lang="en-US" sz="900" dirty="0"/>
          </a:p>
        </p:txBody>
      </p:sp>
      <p:sp>
        <p:nvSpPr>
          <p:cNvPr id="30" name="Text 27"/>
          <p:cNvSpPr/>
          <p:nvPr/>
        </p:nvSpPr>
        <p:spPr>
          <a:xfrm>
            <a:off x="9290075"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5-year growth ambition</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Investment &amp; capital roadmap</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Rulebook &amp; governance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Operating model + KPI framework</a:t>
            </a:r>
            <a:endParaRPr lang="en-US" sz="850" dirty="0"/>
          </a:p>
        </p:txBody>
      </p:sp>
      <p:sp>
        <p:nvSpPr>
          <p:cNvPr id="31" name="Text 28"/>
          <p:cNvSpPr/>
          <p:nvPr/>
        </p:nvSpPr>
        <p:spPr>
          <a:xfrm>
            <a:off x="502920" y="4681728"/>
            <a:ext cx="36576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EVIDENCE BASE</a:t>
            </a:r>
            <a:endParaRPr lang="en-US" sz="950" dirty="0"/>
          </a:p>
        </p:txBody>
      </p:sp>
      <p:sp>
        <p:nvSpPr>
          <p:cNvPr id="32" name="Text 29"/>
          <p:cNvSpPr/>
          <p:nvPr/>
        </p:nvSpPr>
        <p:spPr>
          <a:xfrm>
            <a:off x="502920"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305</a:t>
            </a:r>
            <a:endParaRPr lang="en-US" sz="2000" dirty="0"/>
          </a:p>
        </p:txBody>
      </p:sp>
      <p:sp>
        <p:nvSpPr>
          <p:cNvPr id="33" name="Text 30"/>
          <p:cNvSpPr/>
          <p:nvPr/>
        </p:nvSpPr>
        <p:spPr>
          <a:xfrm>
            <a:off x="502920"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Respondents to the quantitative survey. Five metros, fielded 28–29 May 2026 by 1Lattice.</a:t>
            </a:r>
            <a:endParaRPr lang="en-US" sz="850" dirty="0"/>
          </a:p>
        </p:txBody>
      </p:sp>
      <p:sp>
        <p:nvSpPr>
          <p:cNvPr id="34" name="Text 31"/>
          <p:cNvSpPr/>
          <p:nvPr/>
        </p:nvSpPr>
        <p:spPr>
          <a:xfrm>
            <a:off x="3299384"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31+</a:t>
            </a:r>
            <a:endParaRPr lang="en-US" sz="2000" dirty="0"/>
          </a:p>
        </p:txBody>
      </p:sp>
      <p:sp>
        <p:nvSpPr>
          <p:cNvPr id="35" name="Text 32"/>
          <p:cNvSpPr/>
          <p:nvPr/>
        </p:nvSpPr>
        <p:spPr>
          <a:xfrm>
            <a:off x="3299384"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Qualitative respondents across six cities — in-market intercepts, IDIs and ethnography.</a:t>
            </a:r>
            <a:endParaRPr lang="en-US" sz="850" dirty="0"/>
          </a:p>
        </p:txBody>
      </p:sp>
      <p:sp>
        <p:nvSpPr>
          <p:cNvPr id="36" name="Text 33"/>
          <p:cNvSpPr/>
          <p:nvPr/>
        </p:nvSpPr>
        <p:spPr>
          <a:xfrm>
            <a:off x="6095848"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₹90.9 Cr</a:t>
            </a:r>
            <a:endParaRPr lang="en-US" sz="2000" dirty="0"/>
          </a:p>
        </p:txBody>
      </p:sp>
      <p:sp>
        <p:nvSpPr>
          <p:cNvPr id="37" name="Text 34"/>
          <p:cNvSpPr/>
          <p:nvPr/>
        </p:nvSpPr>
        <p:spPr>
          <a:xfrm>
            <a:off x="6095848"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Internal revenue audited: 4,365 MT across eight half-years and eight channels.</a:t>
            </a:r>
            <a:endParaRPr lang="en-US" sz="850" dirty="0"/>
          </a:p>
        </p:txBody>
      </p:sp>
      <p:sp>
        <p:nvSpPr>
          <p:cNvPr id="38" name="Text 35"/>
          <p:cNvSpPr/>
          <p:nvPr/>
        </p:nvSpPr>
        <p:spPr>
          <a:xfrm>
            <a:off x="8892311"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4</a:t>
            </a:r>
            <a:endParaRPr lang="en-US" sz="2000" dirty="0"/>
          </a:p>
        </p:txBody>
      </p:sp>
      <p:sp>
        <p:nvSpPr>
          <p:cNvPr id="39" name="Text 36"/>
          <p:cNvSpPr/>
          <p:nvPr/>
        </p:nvSpPr>
        <p:spPr>
          <a:xfrm>
            <a:off x="8892311"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Competitors benchmarked, with 11 DHF advantages stress-tested for imitability.</a:t>
            </a:r>
            <a:endParaRPr lang="en-US" sz="850" dirty="0"/>
          </a:p>
        </p:txBody>
      </p:sp>
      <p:sp>
        <p:nvSpPr>
          <p:cNvPr id="40" name="Shape 37"/>
          <p:cNvSpPr/>
          <p:nvPr/>
        </p:nvSpPr>
        <p:spPr>
          <a:xfrm>
            <a:off x="502920" y="6455664"/>
            <a:ext cx="11185855" cy="0"/>
          </a:xfrm>
          <a:prstGeom prst="line">
            <a:avLst/>
          </a:prstGeom>
          <a:noFill/>
          <a:ln w="9525">
            <a:solidFill>
              <a:srgbClr val="E5DCCB"/>
            </a:solidFill>
            <a:prstDash val="solid"/>
          </a:ln>
        </p:spPr>
      </p:sp>
      <p:sp>
        <p:nvSpPr>
          <p:cNvPr id="41" name="Text 3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01 · THE MANDATE</a:t>
            </a:r>
            <a:endParaRPr lang="en-US" sz="800" dirty="0"/>
          </a:p>
        </p:txBody>
      </p:sp>
      <p:sp>
        <p:nvSpPr>
          <p:cNvPr id="42" name="Text 3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2.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02</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Category</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A market with real demand, real money, and nobody holding the definition.</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A ₹48,000 Cr category with no owner</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The price ladder and the empty corridor</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Who can actually show their work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711757"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711757"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WHITESPACE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A ₹48,000 Cr category with no definition, no standard, and no owner.</a:t>
            </a:r>
            <a:endParaRPr lang="en-US" sz="2500" dirty="0"/>
          </a:p>
        </p:txBody>
      </p:sp>
      <p:sp>
        <p:nvSpPr>
          <p:cNvPr id="6" name="Text 3"/>
          <p:cNvSpPr/>
          <p:nvPr/>
        </p:nvSpPr>
        <p:spPr>
          <a:xfrm>
            <a:off x="502920" y="1499616"/>
            <a:ext cx="9692640" cy="603504"/>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gap is regulatory and semantic before it is commercial. Consumers are worried about what is on their food and willing to pay to avoid it — but there is no agreed meaning of "pesticide-free", so the willingness has nowhere to land.</a:t>
            </a:r>
            <a:endParaRPr lang="en-US" sz="1100" dirty="0"/>
          </a:p>
        </p:txBody>
      </p:sp>
      <p:sp>
        <p:nvSpPr>
          <p:cNvPr id="7" name="Shape 4"/>
          <p:cNvSpPr/>
          <p:nvPr/>
        </p:nvSpPr>
        <p:spPr>
          <a:xfrm>
            <a:off x="502920" y="2231136"/>
            <a:ext cx="2618156" cy="1298448"/>
          </a:xfrm>
          <a:prstGeom prst="roundRect">
            <a:avLst>
              <a:gd name="adj" fmla="val 6338"/>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340864"/>
            <a:ext cx="225239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84%</a:t>
            </a:r>
            <a:endParaRPr lang="en-US" sz="2400" dirty="0"/>
          </a:p>
        </p:txBody>
      </p:sp>
      <p:sp>
        <p:nvSpPr>
          <p:cNvPr id="9" name="Text 6"/>
          <p:cNvSpPr/>
          <p:nvPr/>
        </p:nvSpPr>
        <p:spPr>
          <a:xfrm>
            <a:off x="685800" y="2773680"/>
            <a:ext cx="2252396" cy="682752"/>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Indian consumers are extremely or very concerned about food safety (PwC Voice of the Consumer 2025)</a:t>
            </a:r>
            <a:endParaRPr lang="en-US" sz="850" dirty="0"/>
          </a:p>
        </p:txBody>
      </p:sp>
      <p:sp>
        <p:nvSpPr>
          <p:cNvPr id="10" name="Shape 7"/>
          <p:cNvSpPr/>
          <p:nvPr/>
        </p:nvSpPr>
        <p:spPr>
          <a:xfrm>
            <a:off x="3358820" y="2231136"/>
            <a:ext cx="2618156" cy="1298448"/>
          </a:xfrm>
          <a:prstGeom prst="roundRect">
            <a:avLst>
              <a:gd name="adj" fmla="val 6338"/>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3541700" y="2340864"/>
            <a:ext cx="225239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35.9%</a:t>
            </a:r>
            <a:endParaRPr lang="en-US" sz="2400" dirty="0"/>
          </a:p>
        </p:txBody>
      </p:sp>
      <p:sp>
        <p:nvSpPr>
          <p:cNvPr id="12" name="Text 9"/>
          <p:cNvSpPr/>
          <p:nvPr/>
        </p:nvSpPr>
        <p:spPr>
          <a:xfrm>
            <a:off x="3541700" y="2773680"/>
            <a:ext cx="2252396" cy="682752"/>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monitored samples show detectable residues — up from 22.6% in 2018–19</a:t>
            </a:r>
            <a:endParaRPr lang="en-US" sz="850" dirty="0"/>
          </a:p>
        </p:txBody>
      </p:sp>
      <p:sp>
        <p:nvSpPr>
          <p:cNvPr id="13" name="Shape 10"/>
          <p:cNvSpPr/>
          <p:nvPr/>
        </p:nvSpPr>
        <p:spPr>
          <a:xfrm>
            <a:off x="6214720" y="2231136"/>
            <a:ext cx="2618156" cy="1298448"/>
          </a:xfrm>
          <a:prstGeom prst="roundRect">
            <a:avLst>
              <a:gd name="adj" fmla="val 6338"/>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6397600" y="2340864"/>
            <a:ext cx="225239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2.8%</a:t>
            </a:r>
            <a:endParaRPr lang="en-US" sz="2400" dirty="0"/>
          </a:p>
        </p:txBody>
      </p:sp>
      <p:sp>
        <p:nvSpPr>
          <p:cNvPr id="15" name="Text 12"/>
          <p:cNvSpPr/>
          <p:nvPr/>
        </p:nvSpPr>
        <p:spPr>
          <a:xfrm>
            <a:off x="6397600" y="2773680"/>
            <a:ext cx="2252396" cy="682752"/>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86,401 FSSAI samples tested 2022–25 breached maximum residue limits</a:t>
            </a:r>
            <a:endParaRPr lang="en-US" sz="850" dirty="0"/>
          </a:p>
        </p:txBody>
      </p:sp>
      <p:sp>
        <p:nvSpPr>
          <p:cNvPr id="16" name="Shape 13"/>
          <p:cNvSpPr/>
          <p:nvPr/>
        </p:nvSpPr>
        <p:spPr>
          <a:xfrm>
            <a:off x="9070619" y="2231136"/>
            <a:ext cx="2618156" cy="1298448"/>
          </a:xfrm>
          <a:prstGeom prst="roundRect">
            <a:avLst>
              <a:gd name="adj" fmla="val 6338"/>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7" name="Text 14"/>
          <p:cNvSpPr/>
          <p:nvPr/>
        </p:nvSpPr>
        <p:spPr>
          <a:xfrm>
            <a:off x="9253499" y="2340864"/>
            <a:ext cx="2252396" cy="304292"/>
          </a:xfrm>
          <a:prstGeom prst="rect">
            <a:avLst/>
          </a:prstGeom>
          <a:noFill/>
          <a:ln/>
        </p:spPr>
        <p:txBody>
          <a:bodyPr wrap="square" lIns="0" tIns="0" rIns="0" bIns="0" rtlCol="0" anchor="t"/>
          <a:lstStyle/>
          <a:p>
            <a:pPr indent="0" marL="0">
              <a:buNone/>
            </a:pPr>
            <a:r>
              <a:rPr lang="en-US" sz="1700" dirty="0">
                <a:solidFill>
                  <a:srgbClr val="3A5D97"/>
                </a:solidFill>
                <a:latin typeface="Archivo Black" pitchFamily="34" charset="0"/>
                <a:ea typeface="Archivo Black" pitchFamily="34" charset="-122"/>
                <a:cs typeface="Archivo Black" pitchFamily="34" charset="-120"/>
              </a:rPr>
              <a:t>$8.6B → $22B</a:t>
            </a:r>
            <a:endParaRPr lang="en-US" sz="1700" dirty="0"/>
          </a:p>
        </p:txBody>
      </p:sp>
      <p:sp>
        <p:nvSpPr>
          <p:cNvPr id="18" name="Text 15"/>
          <p:cNvSpPr/>
          <p:nvPr/>
        </p:nvSpPr>
        <p:spPr>
          <a:xfrm>
            <a:off x="9253499" y="2663444"/>
            <a:ext cx="2252396" cy="7929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India's organic food market, 2024 → 2033, a CAGR of roughly 11%</a:t>
            </a:r>
            <a:endParaRPr lang="en-US" sz="850" dirty="0"/>
          </a:p>
        </p:txBody>
      </p:sp>
      <p:sp>
        <p:nvSpPr>
          <p:cNvPr id="19" name="Text 16"/>
          <p:cNvSpPr/>
          <p:nvPr/>
        </p:nvSpPr>
        <p:spPr>
          <a:xfrm>
            <a:off x="502920" y="376732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SIZING THE PESTICIDE-FREE OPPORTUNITY</a:t>
            </a:r>
            <a:endParaRPr lang="en-US" sz="950" dirty="0"/>
          </a:p>
        </p:txBody>
      </p:sp>
      <p:sp>
        <p:nvSpPr>
          <p:cNvPr id="20" name="Shape 17"/>
          <p:cNvSpPr/>
          <p:nvPr/>
        </p:nvSpPr>
        <p:spPr>
          <a:xfrm>
            <a:off x="502920" y="4041648"/>
            <a:ext cx="5852160" cy="694944"/>
          </a:xfrm>
          <a:prstGeom prst="roundRect">
            <a:avLst>
              <a:gd name="adj" fmla="val 1184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1" name="Text 18"/>
          <p:cNvSpPr/>
          <p:nvPr/>
        </p:nvSpPr>
        <p:spPr>
          <a:xfrm>
            <a:off x="685800" y="4160520"/>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TAM</a:t>
            </a:r>
            <a:endParaRPr lang="en-US" sz="950" dirty="0"/>
          </a:p>
        </p:txBody>
      </p:sp>
      <p:sp>
        <p:nvSpPr>
          <p:cNvPr id="22" name="Text 19"/>
          <p:cNvSpPr/>
          <p:nvPr/>
        </p:nvSpPr>
        <p:spPr>
          <a:xfrm>
            <a:off x="1371600" y="4133088"/>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₹48,000 Cr</a:t>
            </a:r>
            <a:endParaRPr lang="en-US" sz="1500" dirty="0"/>
          </a:p>
        </p:txBody>
      </p:sp>
      <p:sp>
        <p:nvSpPr>
          <p:cNvPr id="23" name="Text 20"/>
          <p:cNvSpPr/>
          <p:nvPr/>
        </p:nvSpPr>
        <p:spPr>
          <a:xfrm>
            <a:off x="3200400" y="4133088"/>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Pesticide-free food across India's top 300 cities. Anchored to Technopak's 5–6% organic-of-packaged-food potential (₹35,000 Cr), uplifted 1.3–1.5× because pesticide-free prices below organic.</a:t>
            </a:r>
            <a:endParaRPr lang="en-US" sz="800" dirty="0"/>
          </a:p>
        </p:txBody>
      </p:sp>
      <p:sp>
        <p:nvSpPr>
          <p:cNvPr id="24" name="Shape 21"/>
          <p:cNvSpPr/>
          <p:nvPr/>
        </p:nvSpPr>
        <p:spPr>
          <a:xfrm>
            <a:off x="685800" y="4553712"/>
            <a:ext cx="2377440" cy="82296"/>
          </a:xfrm>
          <a:prstGeom prst="roundRect">
            <a:avLst>
              <a:gd name="adj" fmla="val 50000"/>
            </a:avLst>
          </a:prstGeom>
          <a:solidFill>
            <a:srgbClr val="EDE4D4"/>
          </a:solidFill>
          <a:ln w="12700">
            <a:solidFill>
              <a:srgbClr val="333333"/>
            </a:solidFill>
            <a:prstDash val="solid"/>
          </a:ln>
        </p:spPr>
      </p:sp>
      <p:sp>
        <p:nvSpPr>
          <p:cNvPr id="25" name="Shape 22"/>
          <p:cNvSpPr/>
          <p:nvPr/>
        </p:nvSpPr>
        <p:spPr>
          <a:xfrm>
            <a:off x="685800" y="4553712"/>
            <a:ext cx="2377440" cy="82296"/>
          </a:xfrm>
          <a:prstGeom prst="roundRect">
            <a:avLst>
              <a:gd name="adj" fmla="val 50000"/>
            </a:avLst>
          </a:prstGeom>
          <a:solidFill>
            <a:srgbClr val="3A5D97"/>
          </a:solidFill>
          <a:ln w="12700">
            <a:solidFill>
              <a:srgbClr val="333333"/>
            </a:solidFill>
            <a:prstDash val="solid"/>
          </a:ln>
        </p:spPr>
      </p:sp>
      <p:sp>
        <p:nvSpPr>
          <p:cNvPr id="26" name="Shape 23"/>
          <p:cNvSpPr/>
          <p:nvPr/>
        </p:nvSpPr>
        <p:spPr>
          <a:xfrm>
            <a:off x="502920" y="4828032"/>
            <a:ext cx="5852160" cy="694944"/>
          </a:xfrm>
          <a:prstGeom prst="roundRect">
            <a:avLst>
              <a:gd name="adj" fmla="val 1184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7" name="Text 24"/>
          <p:cNvSpPr/>
          <p:nvPr/>
        </p:nvSpPr>
        <p:spPr>
          <a:xfrm>
            <a:off x="685800" y="4946904"/>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SAM</a:t>
            </a:r>
            <a:endParaRPr lang="en-US" sz="950" dirty="0"/>
          </a:p>
        </p:txBody>
      </p:sp>
      <p:sp>
        <p:nvSpPr>
          <p:cNvPr id="28" name="Text 25"/>
          <p:cNvSpPr/>
          <p:nvPr/>
        </p:nvSpPr>
        <p:spPr>
          <a:xfrm>
            <a:off x="1371600" y="4919472"/>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₹13,500 Cr</a:t>
            </a:r>
            <a:endParaRPr lang="en-US" sz="1500" dirty="0"/>
          </a:p>
        </p:txBody>
      </p:sp>
      <p:sp>
        <p:nvSpPr>
          <p:cNvPr id="29" name="Text 26"/>
          <p:cNvSpPr/>
          <p:nvPr/>
        </p:nvSpPr>
        <p:spPr>
          <a:xfrm>
            <a:off x="3200400" y="4919472"/>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A 28% serviceability factor: staples, pulses, rice, spices and select value-added, sold through quick commerce, e-commerce and modern trade to roughly 25 Mn health-conscious households.</a:t>
            </a:r>
            <a:endParaRPr lang="en-US" sz="800" dirty="0"/>
          </a:p>
        </p:txBody>
      </p:sp>
      <p:sp>
        <p:nvSpPr>
          <p:cNvPr id="30" name="Shape 27"/>
          <p:cNvSpPr/>
          <p:nvPr/>
        </p:nvSpPr>
        <p:spPr>
          <a:xfrm>
            <a:off x="685800" y="5340096"/>
            <a:ext cx="2377440" cy="82296"/>
          </a:xfrm>
          <a:prstGeom prst="roundRect">
            <a:avLst>
              <a:gd name="adj" fmla="val 50000"/>
            </a:avLst>
          </a:prstGeom>
          <a:solidFill>
            <a:srgbClr val="EDE4D4"/>
          </a:solidFill>
          <a:ln w="12700">
            <a:solidFill>
              <a:srgbClr val="333333"/>
            </a:solidFill>
            <a:prstDash val="solid"/>
          </a:ln>
        </p:spPr>
      </p:sp>
      <p:sp>
        <p:nvSpPr>
          <p:cNvPr id="31" name="Shape 28"/>
          <p:cNvSpPr/>
          <p:nvPr/>
        </p:nvSpPr>
        <p:spPr>
          <a:xfrm>
            <a:off x="685800" y="5340096"/>
            <a:ext cx="665683" cy="82296"/>
          </a:xfrm>
          <a:prstGeom prst="roundRect">
            <a:avLst>
              <a:gd name="adj" fmla="val 50000"/>
            </a:avLst>
          </a:prstGeom>
          <a:solidFill>
            <a:srgbClr val="2FA362"/>
          </a:solidFill>
          <a:ln w="12700">
            <a:solidFill>
              <a:srgbClr val="333333"/>
            </a:solidFill>
            <a:prstDash val="solid"/>
          </a:ln>
        </p:spPr>
      </p:sp>
      <p:sp>
        <p:nvSpPr>
          <p:cNvPr id="32" name="Shape 29"/>
          <p:cNvSpPr/>
          <p:nvPr/>
        </p:nvSpPr>
        <p:spPr>
          <a:xfrm>
            <a:off x="502920" y="5614416"/>
            <a:ext cx="5852160" cy="694944"/>
          </a:xfrm>
          <a:prstGeom prst="roundRect">
            <a:avLst>
              <a:gd name="adj" fmla="val 1184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3" name="Text 30"/>
          <p:cNvSpPr/>
          <p:nvPr/>
        </p:nvSpPr>
        <p:spPr>
          <a:xfrm>
            <a:off x="685800" y="5733288"/>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SOM</a:t>
            </a:r>
            <a:endParaRPr lang="en-US" sz="950" dirty="0"/>
          </a:p>
        </p:txBody>
      </p:sp>
      <p:sp>
        <p:nvSpPr>
          <p:cNvPr id="34" name="Text 31"/>
          <p:cNvSpPr/>
          <p:nvPr/>
        </p:nvSpPr>
        <p:spPr>
          <a:xfrm>
            <a:off x="1371600" y="5705856"/>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₹300–350 Cr</a:t>
            </a:r>
            <a:endParaRPr lang="en-US" sz="1500" dirty="0"/>
          </a:p>
        </p:txBody>
      </p:sp>
      <p:sp>
        <p:nvSpPr>
          <p:cNvPr id="35" name="Text 32"/>
          <p:cNvSpPr/>
          <p:nvPr/>
        </p:nvSpPr>
        <p:spPr>
          <a:xfrm>
            <a:off x="3200400" y="5705856"/>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The three-year ambition — 2.2–2.6% of SAM, 0.6–0.7% of TAM. The five-year aspiration is ₹700–800 Cr.</a:t>
            </a:r>
            <a:endParaRPr lang="en-US" sz="800" dirty="0"/>
          </a:p>
        </p:txBody>
      </p:sp>
      <p:sp>
        <p:nvSpPr>
          <p:cNvPr id="36" name="Shape 33"/>
          <p:cNvSpPr/>
          <p:nvPr/>
        </p:nvSpPr>
        <p:spPr>
          <a:xfrm>
            <a:off x="685800" y="6126480"/>
            <a:ext cx="2377440" cy="82296"/>
          </a:xfrm>
          <a:prstGeom prst="roundRect">
            <a:avLst>
              <a:gd name="adj" fmla="val 50000"/>
            </a:avLst>
          </a:prstGeom>
          <a:solidFill>
            <a:srgbClr val="EDE4D4"/>
          </a:solidFill>
          <a:ln w="12700">
            <a:solidFill>
              <a:srgbClr val="333333"/>
            </a:solidFill>
            <a:prstDash val="solid"/>
          </a:ln>
        </p:spPr>
      </p:sp>
      <p:sp>
        <p:nvSpPr>
          <p:cNvPr id="37" name="Shape 34"/>
          <p:cNvSpPr/>
          <p:nvPr/>
        </p:nvSpPr>
        <p:spPr>
          <a:xfrm>
            <a:off x="685800" y="6126480"/>
            <a:ext cx="82296" cy="82296"/>
          </a:xfrm>
          <a:prstGeom prst="roundRect">
            <a:avLst>
              <a:gd name="adj" fmla="val 50000"/>
            </a:avLst>
          </a:prstGeom>
          <a:solidFill>
            <a:srgbClr val="177A46"/>
          </a:solidFill>
          <a:ln w="12700">
            <a:solidFill>
              <a:srgbClr val="333333"/>
            </a:solidFill>
            <a:prstDash val="solid"/>
          </a:ln>
        </p:spPr>
      </p:sp>
      <p:sp>
        <p:nvSpPr>
          <p:cNvPr id="38" name="Text 35"/>
          <p:cNvSpPr/>
          <p:nvPr/>
        </p:nvSpPr>
        <p:spPr>
          <a:xfrm>
            <a:off x="6675120" y="376732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WHY THE CATEGORY HAS NOT FORMED YET</a:t>
            </a:r>
            <a:endParaRPr lang="en-US" sz="950" dirty="0"/>
          </a:p>
        </p:txBody>
      </p:sp>
      <p:sp>
        <p:nvSpPr>
          <p:cNvPr id="39" name="Text 36"/>
          <p:cNvSpPr/>
          <p:nvPr/>
        </p:nvSpPr>
        <p:spPr>
          <a:xfrm>
            <a:off x="6675120" y="4041648"/>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01</a:t>
            </a:r>
            <a:endParaRPr lang="en-US" sz="1000" dirty="0"/>
          </a:p>
        </p:txBody>
      </p:sp>
      <p:sp>
        <p:nvSpPr>
          <p:cNvPr id="40" name="Text 37"/>
          <p:cNvSpPr/>
          <p:nvPr/>
        </p:nvSpPr>
        <p:spPr>
          <a:xfrm>
            <a:off x="7059168" y="4041648"/>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No standard definition.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"Pesticide-free" is not a regulated term in India, so it means whatever the pack says it means.</a:t>
            </a:r>
            <a:endParaRPr lang="en-US" sz="850" dirty="0"/>
          </a:p>
        </p:txBody>
      </p:sp>
      <p:sp>
        <p:nvSpPr>
          <p:cNvPr id="41" name="Text 38"/>
          <p:cNvSpPr/>
          <p:nvPr/>
        </p:nvSpPr>
        <p:spPr>
          <a:xfrm>
            <a:off x="6675120" y="4443984"/>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02</a:t>
            </a:r>
            <a:endParaRPr lang="en-US" sz="1000" dirty="0"/>
          </a:p>
        </p:txBody>
      </p:sp>
      <p:sp>
        <p:nvSpPr>
          <p:cNvPr id="42" name="Text 39"/>
          <p:cNvSpPr/>
          <p:nvPr/>
        </p:nvSpPr>
        <p:spPr>
          <a:xfrm>
            <a:off x="7059168" y="4443984"/>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Harder to prove than to claim.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The proof lives in back-end sourcing and testing systems, not on the front of pack.</a:t>
            </a:r>
            <a:endParaRPr lang="en-US" sz="850" dirty="0"/>
          </a:p>
        </p:txBody>
      </p:sp>
      <p:sp>
        <p:nvSpPr>
          <p:cNvPr id="43" name="Text 40"/>
          <p:cNvSpPr/>
          <p:nvPr/>
        </p:nvSpPr>
        <p:spPr>
          <a:xfrm>
            <a:off x="6675120" y="4846320"/>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03</a:t>
            </a:r>
            <a:endParaRPr lang="en-US" sz="1000" dirty="0"/>
          </a:p>
        </p:txBody>
      </p:sp>
      <p:sp>
        <p:nvSpPr>
          <p:cNvPr id="44" name="Text 41"/>
          <p:cNvSpPr/>
          <p:nvPr/>
        </p:nvSpPr>
        <p:spPr>
          <a:xfrm>
            <a:off x="7059168" y="4846320"/>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Awkward economics.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A trust-led cost structure has to survive at a mass-premium price point.</a:t>
            </a:r>
            <a:endParaRPr lang="en-US" sz="850" dirty="0"/>
          </a:p>
        </p:txBody>
      </p:sp>
      <p:sp>
        <p:nvSpPr>
          <p:cNvPr id="45" name="Text 42"/>
          <p:cNvSpPr/>
          <p:nvPr/>
        </p:nvSpPr>
        <p:spPr>
          <a:xfrm>
            <a:off x="6675120" y="5248656"/>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04</a:t>
            </a:r>
            <a:endParaRPr lang="en-US" sz="1000" dirty="0"/>
          </a:p>
        </p:txBody>
      </p:sp>
      <p:sp>
        <p:nvSpPr>
          <p:cNvPr id="46" name="Text 43"/>
          <p:cNvSpPr/>
          <p:nvPr/>
        </p:nvSpPr>
        <p:spPr>
          <a:xfrm>
            <a:off x="7059168" y="5248656"/>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Nobody has codified or defended it.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Without a standard, the term commoditises before it can carry value.</a:t>
            </a:r>
            <a:endParaRPr lang="en-US" sz="850" dirty="0"/>
          </a:p>
        </p:txBody>
      </p:sp>
      <p:sp>
        <p:nvSpPr>
          <p:cNvPr id="47" name="Shape 44"/>
          <p:cNvSpPr/>
          <p:nvPr/>
        </p:nvSpPr>
        <p:spPr>
          <a:xfrm>
            <a:off x="6675120" y="5614416"/>
            <a:ext cx="5013655" cy="914400"/>
          </a:xfrm>
          <a:prstGeom prst="roundRect">
            <a:avLst>
              <a:gd name="adj" fmla="val 9000"/>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48" name="Text 45"/>
          <p:cNvSpPr/>
          <p:nvPr/>
        </p:nvSpPr>
        <p:spPr>
          <a:xfrm>
            <a:off x="6876288" y="5733288"/>
            <a:ext cx="461131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Belief is the bottleneck.</a:t>
            </a:r>
            <a:endParaRPr lang="en-US" sz="1050" dirty="0"/>
          </a:p>
        </p:txBody>
      </p:sp>
      <p:sp>
        <p:nvSpPr>
          <p:cNvPr id="49" name="Text 46"/>
          <p:cNvSpPr/>
          <p:nvPr/>
        </p:nvSpPr>
        <p:spPr>
          <a:xfrm>
            <a:off x="6876288" y="5980176"/>
            <a:ext cx="4611319" cy="4572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Indian shoppers will pay ~20% more for low-impact products — the highest of eleven countries surveyed. Yet ~60% fear greenwashing and only ~29% trust corporate environmental claims.</a:t>
            </a:r>
            <a:endParaRPr lang="en-US" sz="90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  ·  SOURCES: TECHNOPAK 2022–23 · PWC VOICE OF THE CONSUMER 2025 · FSSAI SURVEILLANCE DATA</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CATEGORY STRUCTURE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Laddering on price and claims — and the corridor nobody owns.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Plotting toor dal by the kilo makes the gap obvious: there is nothing credible between value pulses and certified organic.</a:t>
            </a:r>
            <a:endParaRPr lang="en-US" sz="1100" dirty="0"/>
          </a:p>
        </p:txBody>
      </p:sp>
      <p:sp>
        <p:nvSpPr>
          <p:cNvPr id="7" name="Shape 4"/>
          <p:cNvSpPr/>
          <p:nvPr/>
        </p:nvSpPr>
        <p:spPr>
          <a:xfrm>
            <a:off x="502920" y="2121408"/>
            <a:ext cx="6949440" cy="3749040"/>
          </a:xfrm>
          <a:prstGeom prst="roundRect">
            <a:avLst>
              <a:gd name="adj" fmla="val 219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777240" y="23042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PRICE LADDER · TOOR DAL, ₹ PER KG</a:t>
            </a:r>
            <a:endParaRPr lang="en-US" sz="950" dirty="0"/>
          </a:p>
        </p:txBody>
      </p:sp>
      <p:sp>
        <p:nvSpPr>
          <p:cNvPr id="9" name="Shape 6"/>
          <p:cNvSpPr/>
          <p:nvPr/>
        </p:nvSpPr>
        <p:spPr>
          <a:xfrm>
            <a:off x="822960" y="3515537"/>
            <a:ext cx="6309360" cy="649357"/>
          </a:xfrm>
          <a:prstGeom prst="roundRect">
            <a:avLst>
              <a:gd name="adj" fmla="val 7041"/>
            </a:avLst>
          </a:prstGeom>
          <a:solidFill>
            <a:srgbClr val="FAF0DA"/>
          </a:solidFill>
          <a:ln w="12700">
            <a:solidFill>
              <a:srgbClr val="333333"/>
            </a:solidFill>
            <a:prstDash val="solid"/>
          </a:ln>
        </p:spPr>
      </p:sp>
      <p:sp>
        <p:nvSpPr>
          <p:cNvPr id="10" name="Text 7"/>
          <p:cNvSpPr/>
          <p:nvPr/>
        </p:nvSpPr>
        <p:spPr>
          <a:xfrm>
            <a:off x="914400" y="3552113"/>
            <a:ext cx="6126480" cy="201168"/>
          </a:xfrm>
          <a:prstGeom prst="rect">
            <a:avLst/>
          </a:prstGeom>
          <a:noFill/>
          <a:ln/>
        </p:spPr>
        <p:txBody>
          <a:bodyPr wrap="square" lIns="0" tIns="0" rIns="0" bIns="0" rtlCol="0" anchor="ctr"/>
          <a:lstStyle/>
          <a:p>
            <a:pPr indent="0" marL="0">
              <a:buNone/>
            </a:pPr>
            <a:r>
              <a:rPr lang="en-US" sz="850" b="1" spc="120" kern="0" dirty="0">
                <a:solidFill>
                  <a:srgbClr val="9E7220"/>
                </a:solidFill>
                <a:latin typeface="Nunito Sans" pitchFamily="34" charset="0"/>
                <a:ea typeface="Nunito Sans" pitchFamily="34" charset="-122"/>
                <a:cs typeface="Nunito Sans" pitchFamily="34" charset="-120"/>
              </a:rPr>
              <a:t>ACCESSIBLE-PREMIUM CORRIDOR · ₹150–250</a:t>
            </a:r>
            <a:endParaRPr lang="en-US" sz="850" dirty="0"/>
          </a:p>
        </p:txBody>
      </p:sp>
      <p:sp>
        <p:nvSpPr>
          <p:cNvPr id="11" name="Shape 8"/>
          <p:cNvSpPr/>
          <p:nvPr/>
        </p:nvSpPr>
        <p:spPr>
          <a:xfrm>
            <a:off x="822960" y="4578858"/>
            <a:ext cx="6309360" cy="0"/>
          </a:xfrm>
          <a:prstGeom prst="line">
            <a:avLst/>
          </a:prstGeom>
          <a:noFill/>
          <a:ln w="6350">
            <a:solidFill>
              <a:srgbClr val="E5DCCB"/>
            </a:solidFill>
            <a:prstDash val="sysDot"/>
          </a:ln>
        </p:spPr>
      </p:sp>
      <p:sp>
        <p:nvSpPr>
          <p:cNvPr id="12" name="Shape 9"/>
          <p:cNvSpPr/>
          <p:nvPr/>
        </p:nvSpPr>
        <p:spPr>
          <a:xfrm>
            <a:off x="822960" y="4018788"/>
            <a:ext cx="6309360" cy="0"/>
          </a:xfrm>
          <a:prstGeom prst="line">
            <a:avLst/>
          </a:prstGeom>
          <a:noFill/>
          <a:ln w="6350">
            <a:solidFill>
              <a:srgbClr val="E5DCCB"/>
            </a:solidFill>
            <a:prstDash val="sysDot"/>
          </a:ln>
        </p:spPr>
      </p:sp>
      <p:sp>
        <p:nvSpPr>
          <p:cNvPr id="13" name="Shape 10"/>
          <p:cNvSpPr/>
          <p:nvPr/>
        </p:nvSpPr>
        <p:spPr>
          <a:xfrm>
            <a:off x="822960" y="3458718"/>
            <a:ext cx="6309360" cy="0"/>
          </a:xfrm>
          <a:prstGeom prst="line">
            <a:avLst/>
          </a:prstGeom>
          <a:noFill/>
          <a:ln w="6350">
            <a:solidFill>
              <a:srgbClr val="E5DCCB"/>
            </a:solidFill>
            <a:prstDash val="sysDot"/>
          </a:ln>
        </p:spPr>
      </p:sp>
      <p:sp>
        <p:nvSpPr>
          <p:cNvPr id="14" name="Shape 11"/>
          <p:cNvSpPr/>
          <p:nvPr/>
        </p:nvSpPr>
        <p:spPr>
          <a:xfrm>
            <a:off x="822960" y="2898648"/>
            <a:ext cx="6309360" cy="0"/>
          </a:xfrm>
          <a:prstGeom prst="line">
            <a:avLst/>
          </a:prstGeom>
          <a:noFill/>
          <a:ln w="6350">
            <a:solidFill>
              <a:srgbClr val="E5DCCB"/>
            </a:solidFill>
            <a:prstDash val="sysDot"/>
          </a:ln>
        </p:spPr>
      </p:sp>
      <p:sp>
        <p:nvSpPr>
          <p:cNvPr id="15" name="Shape 12"/>
          <p:cNvSpPr/>
          <p:nvPr/>
        </p:nvSpPr>
        <p:spPr>
          <a:xfrm>
            <a:off x="822960" y="5138928"/>
            <a:ext cx="6309360" cy="0"/>
          </a:xfrm>
          <a:prstGeom prst="line">
            <a:avLst/>
          </a:prstGeom>
          <a:noFill/>
          <a:ln w="12700">
            <a:solidFill>
              <a:srgbClr val="E5DCCB"/>
            </a:solidFill>
            <a:prstDash val="solid"/>
          </a:ln>
        </p:spPr>
      </p:sp>
      <p:sp>
        <p:nvSpPr>
          <p:cNvPr id="16" name="Shape 13"/>
          <p:cNvSpPr/>
          <p:nvPr/>
        </p:nvSpPr>
        <p:spPr>
          <a:xfrm>
            <a:off x="822960" y="4255803"/>
            <a:ext cx="791609" cy="883125"/>
          </a:xfrm>
          <a:prstGeom prst="roundRect">
            <a:avLst>
              <a:gd name="adj" fmla="val 5776"/>
            </a:avLst>
          </a:prstGeom>
          <a:solidFill>
            <a:srgbClr val="6688BE"/>
          </a:solidFill>
          <a:ln w="12700">
            <a:solidFill>
              <a:srgbClr val="333333"/>
            </a:solidFill>
            <a:prstDash val="solid"/>
          </a:ln>
        </p:spPr>
      </p:sp>
      <p:sp>
        <p:nvSpPr>
          <p:cNvPr id="17" name="Text 14"/>
          <p:cNvSpPr/>
          <p:nvPr/>
        </p:nvSpPr>
        <p:spPr>
          <a:xfrm>
            <a:off x="777240" y="3981483"/>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₹136</a:t>
            </a:r>
            <a:endParaRPr lang="en-US" sz="1050" dirty="0"/>
          </a:p>
        </p:txBody>
      </p:sp>
      <p:sp>
        <p:nvSpPr>
          <p:cNvPr id="18" name="Text 15"/>
          <p:cNvSpPr/>
          <p:nvPr/>
        </p:nvSpPr>
        <p:spPr>
          <a:xfrm>
            <a:off x="777240"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Vedaka</a:t>
            </a:r>
            <a:endParaRPr lang="en-US" sz="850" dirty="0"/>
          </a:p>
        </p:txBody>
      </p:sp>
      <p:sp>
        <p:nvSpPr>
          <p:cNvPr id="19" name="Shape 16"/>
          <p:cNvSpPr/>
          <p:nvPr/>
        </p:nvSpPr>
        <p:spPr>
          <a:xfrm>
            <a:off x="1742585" y="4197361"/>
            <a:ext cx="791609" cy="941567"/>
          </a:xfrm>
          <a:prstGeom prst="roundRect">
            <a:avLst>
              <a:gd name="adj" fmla="val 5776"/>
            </a:avLst>
          </a:prstGeom>
          <a:solidFill>
            <a:srgbClr val="6688BE"/>
          </a:solidFill>
          <a:ln w="12700">
            <a:solidFill>
              <a:srgbClr val="333333"/>
            </a:solidFill>
            <a:prstDash val="solid"/>
          </a:ln>
        </p:spPr>
      </p:sp>
      <p:sp>
        <p:nvSpPr>
          <p:cNvPr id="20" name="Text 17"/>
          <p:cNvSpPr/>
          <p:nvPr/>
        </p:nvSpPr>
        <p:spPr>
          <a:xfrm>
            <a:off x="1696865" y="3923041"/>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₹145</a:t>
            </a:r>
            <a:endParaRPr lang="en-US" sz="1050" dirty="0"/>
          </a:p>
        </p:txBody>
      </p:sp>
      <p:sp>
        <p:nvSpPr>
          <p:cNvPr id="21" name="Text 18"/>
          <p:cNvSpPr/>
          <p:nvPr/>
        </p:nvSpPr>
        <p:spPr>
          <a:xfrm>
            <a:off x="1696865"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Fortune</a:t>
            </a:r>
            <a:endParaRPr lang="en-US" sz="850" dirty="0"/>
          </a:p>
        </p:txBody>
      </p:sp>
      <p:sp>
        <p:nvSpPr>
          <p:cNvPr id="22" name="Shape 19"/>
          <p:cNvSpPr/>
          <p:nvPr/>
        </p:nvSpPr>
        <p:spPr>
          <a:xfrm>
            <a:off x="2662210" y="4125932"/>
            <a:ext cx="791609" cy="1012996"/>
          </a:xfrm>
          <a:prstGeom prst="roundRect">
            <a:avLst>
              <a:gd name="adj" fmla="val 5776"/>
            </a:avLst>
          </a:prstGeom>
          <a:solidFill>
            <a:srgbClr val="3A5D97"/>
          </a:solidFill>
          <a:ln w="12700">
            <a:solidFill>
              <a:srgbClr val="333333"/>
            </a:solidFill>
            <a:prstDash val="solid"/>
          </a:ln>
        </p:spPr>
      </p:sp>
      <p:sp>
        <p:nvSpPr>
          <p:cNvPr id="23" name="Text 20"/>
          <p:cNvSpPr/>
          <p:nvPr/>
        </p:nvSpPr>
        <p:spPr>
          <a:xfrm>
            <a:off x="2616490" y="3851612"/>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₹156</a:t>
            </a:r>
            <a:endParaRPr lang="en-US" sz="1050" dirty="0"/>
          </a:p>
        </p:txBody>
      </p:sp>
      <p:sp>
        <p:nvSpPr>
          <p:cNvPr id="24" name="Text 21"/>
          <p:cNvSpPr/>
          <p:nvPr/>
        </p:nvSpPr>
        <p:spPr>
          <a:xfrm>
            <a:off x="2616490"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Tata</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Sampann</a:t>
            </a:r>
            <a:endParaRPr lang="en-US" sz="850" dirty="0"/>
          </a:p>
        </p:txBody>
      </p:sp>
      <p:sp>
        <p:nvSpPr>
          <p:cNvPr id="25" name="Shape 22"/>
          <p:cNvSpPr/>
          <p:nvPr/>
        </p:nvSpPr>
        <p:spPr>
          <a:xfrm>
            <a:off x="3581835" y="4119438"/>
            <a:ext cx="791609" cy="1019490"/>
          </a:xfrm>
          <a:prstGeom prst="roundRect">
            <a:avLst>
              <a:gd name="adj" fmla="val 5776"/>
            </a:avLst>
          </a:prstGeom>
          <a:solidFill>
            <a:srgbClr val="C8922E"/>
          </a:solidFill>
          <a:ln w="12700">
            <a:solidFill>
              <a:srgbClr val="333333"/>
            </a:solidFill>
            <a:prstDash val="solid"/>
          </a:ln>
        </p:spPr>
      </p:sp>
      <p:sp>
        <p:nvSpPr>
          <p:cNvPr id="26" name="Text 23"/>
          <p:cNvSpPr/>
          <p:nvPr/>
        </p:nvSpPr>
        <p:spPr>
          <a:xfrm>
            <a:off x="3536115" y="3845118"/>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₹157</a:t>
            </a:r>
            <a:endParaRPr lang="en-US" sz="1050" dirty="0"/>
          </a:p>
        </p:txBody>
      </p:sp>
      <p:sp>
        <p:nvSpPr>
          <p:cNvPr id="27" name="Text 24"/>
          <p:cNvSpPr/>
          <p:nvPr/>
        </p:nvSpPr>
        <p:spPr>
          <a:xfrm>
            <a:off x="3536115"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BB Royal</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28" name="Shape 25"/>
          <p:cNvSpPr/>
          <p:nvPr/>
        </p:nvSpPr>
        <p:spPr>
          <a:xfrm>
            <a:off x="4501461" y="3483069"/>
            <a:ext cx="791609" cy="1655859"/>
          </a:xfrm>
          <a:prstGeom prst="roundRect">
            <a:avLst>
              <a:gd name="adj" fmla="val 5776"/>
            </a:avLst>
          </a:prstGeom>
          <a:solidFill>
            <a:srgbClr val="177A46"/>
          </a:solidFill>
          <a:ln w="12700">
            <a:solidFill>
              <a:srgbClr val="333333"/>
            </a:solidFill>
            <a:prstDash val="solid"/>
          </a:ln>
        </p:spPr>
      </p:sp>
      <p:sp>
        <p:nvSpPr>
          <p:cNvPr id="29" name="Text 26"/>
          <p:cNvSpPr/>
          <p:nvPr/>
        </p:nvSpPr>
        <p:spPr>
          <a:xfrm>
            <a:off x="4455741" y="3208749"/>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₹255</a:t>
            </a:r>
            <a:endParaRPr lang="en-US" sz="1050" dirty="0"/>
          </a:p>
        </p:txBody>
      </p:sp>
      <p:sp>
        <p:nvSpPr>
          <p:cNvPr id="30" name="Text 27"/>
          <p:cNvSpPr/>
          <p:nvPr/>
        </p:nvSpPr>
        <p:spPr>
          <a:xfrm>
            <a:off x="4455741"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Tattva</a:t>
            </a:r>
            <a:endParaRPr lang="en-US" sz="850" dirty="0"/>
          </a:p>
        </p:txBody>
      </p:sp>
      <p:sp>
        <p:nvSpPr>
          <p:cNvPr id="31" name="Shape 28"/>
          <p:cNvSpPr/>
          <p:nvPr/>
        </p:nvSpPr>
        <p:spPr>
          <a:xfrm>
            <a:off x="5421086" y="3470082"/>
            <a:ext cx="791609" cy="1668846"/>
          </a:xfrm>
          <a:prstGeom prst="roundRect">
            <a:avLst>
              <a:gd name="adj" fmla="val 5776"/>
            </a:avLst>
          </a:prstGeom>
          <a:solidFill>
            <a:srgbClr val="177A46"/>
          </a:solidFill>
          <a:ln w="12700">
            <a:solidFill>
              <a:srgbClr val="333333"/>
            </a:solidFill>
            <a:prstDash val="solid"/>
          </a:ln>
        </p:spPr>
      </p:sp>
      <p:sp>
        <p:nvSpPr>
          <p:cNvPr id="32" name="Text 29"/>
          <p:cNvSpPr/>
          <p:nvPr/>
        </p:nvSpPr>
        <p:spPr>
          <a:xfrm>
            <a:off x="5375366" y="3195762"/>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₹257</a:t>
            </a:r>
            <a:endParaRPr lang="en-US" sz="1050" dirty="0"/>
          </a:p>
        </p:txBody>
      </p:sp>
      <p:sp>
        <p:nvSpPr>
          <p:cNvPr id="33" name="Text 30"/>
          <p:cNvSpPr/>
          <p:nvPr/>
        </p:nvSpPr>
        <p:spPr>
          <a:xfrm>
            <a:off x="5375366"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Tata Sampann</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34" name="Shape 31"/>
          <p:cNvSpPr/>
          <p:nvPr/>
        </p:nvSpPr>
        <p:spPr>
          <a:xfrm>
            <a:off x="6340711" y="3151897"/>
            <a:ext cx="791609" cy="1987031"/>
          </a:xfrm>
          <a:prstGeom prst="roundRect">
            <a:avLst>
              <a:gd name="adj" fmla="val 5776"/>
            </a:avLst>
          </a:prstGeom>
          <a:solidFill>
            <a:srgbClr val="177A46"/>
          </a:solidFill>
          <a:ln w="12700">
            <a:solidFill>
              <a:srgbClr val="333333"/>
            </a:solidFill>
            <a:prstDash val="solid"/>
          </a:ln>
        </p:spPr>
      </p:sp>
      <p:sp>
        <p:nvSpPr>
          <p:cNvPr id="35" name="Text 32"/>
          <p:cNvSpPr/>
          <p:nvPr/>
        </p:nvSpPr>
        <p:spPr>
          <a:xfrm>
            <a:off x="6294991" y="2877577"/>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₹306</a:t>
            </a:r>
            <a:endParaRPr lang="en-US" sz="1050" dirty="0"/>
          </a:p>
        </p:txBody>
      </p:sp>
      <p:sp>
        <p:nvSpPr>
          <p:cNvPr id="36" name="Text 33"/>
          <p:cNvSpPr/>
          <p:nvPr/>
        </p:nvSpPr>
        <p:spPr>
          <a:xfrm>
            <a:off x="6294991"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24 Mantra</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37" name="Text 34"/>
          <p:cNvSpPr/>
          <p:nvPr/>
        </p:nvSpPr>
        <p:spPr>
          <a:xfrm>
            <a:off x="7726680" y="2121408"/>
            <a:ext cx="39620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FIVE ARCHETYPES ON THE SHELF</a:t>
            </a:r>
            <a:endParaRPr lang="en-US" sz="950" dirty="0"/>
          </a:p>
        </p:txBody>
      </p:sp>
      <p:sp>
        <p:nvSpPr>
          <p:cNvPr id="38" name="Shape 35"/>
          <p:cNvSpPr/>
          <p:nvPr/>
        </p:nvSpPr>
        <p:spPr>
          <a:xfrm>
            <a:off x="7726680" y="2414016"/>
            <a:ext cx="3962095" cy="502920"/>
          </a:xfrm>
          <a:prstGeom prst="roundRect">
            <a:avLst>
              <a:gd name="adj" fmla="val 9091"/>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9" name="Text 36"/>
          <p:cNvSpPr/>
          <p:nvPr/>
        </p:nvSpPr>
        <p:spPr>
          <a:xfrm>
            <a:off x="7872984" y="2468880"/>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Conventional national packaged</a:t>
            </a:r>
            <a:endParaRPr lang="en-US" sz="950" dirty="0"/>
          </a:p>
        </p:txBody>
      </p:sp>
      <p:sp>
        <p:nvSpPr>
          <p:cNvPr id="40" name="Text 37"/>
          <p:cNvSpPr/>
          <p:nvPr/>
        </p:nvSpPr>
        <p:spPr>
          <a:xfrm>
            <a:off x="7872984" y="2642616"/>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Factory &amp; FSSAI process credibility. Trust story shallow, easily copied.</a:t>
            </a:r>
            <a:endParaRPr lang="en-US" sz="800" dirty="0"/>
          </a:p>
        </p:txBody>
      </p:sp>
      <p:sp>
        <p:nvSpPr>
          <p:cNvPr id="41" name="Shape 38"/>
          <p:cNvSpPr/>
          <p:nvPr/>
        </p:nvSpPr>
        <p:spPr>
          <a:xfrm>
            <a:off x="7726680" y="2980944"/>
            <a:ext cx="3962095" cy="502920"/>
          </a:xfrm>
          <a:prstGeom prst="roundRect">
            <a:avLst>
              <a:gd name="adj" fmla="val 9091"/>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2" name="Text 39"/>
          <p:cNvSpPr/>
          <p:nvPr/>
        </p:nvSpPr>
        <p:spPr>
          <a:xfrm>
            <a:off x="7872984" y="3035808"/>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Retailer &amp; regional private label</a:t>
            </a:r>
            <a:endParaRPr lang="en-US" sz="950" dirty="0"/>
          </a:p>
        </p:txBody>
      </p:sp>
      <p:sp>
        <p:nvSpPr>
          <p:cNvPr id="43" name="Text 40"/>
          <p:cNvSpPr/>
          <p:nvPr/>
        </p:nvSpPr>
        <p:spPr>
          <a:xfrm>
            <a:off x="7872984" y="3209544"/>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Retailer QA and lab testing. No ownable narrative.</a:t>
            </a:r>
            <a:endParaRPr lang="en-US" sz="800" dirty="0"/>
          </a:p>
        </p:txBody>
      </p:sp>
      <p:sp>
        <p:nvSpPr>
          <p:cNvPr id="44" name="Shape 41"/>
          <p:cNvSpPr/>
          <p:nvPr/>
        </p:nvSpPr>
        <p:spPr>
          <a:xfrm>
            <a:off x="7726680" y="3547872"/>
            <a:ext cx="3962095" cy="502920"/>
          </a:xfrm>
          <a:prstGeom prst="roundRect">
            <a:avLst>
              <a:gd name="adj" fmla="val 9091"/>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5" name="Text 42"/>
          <p:cNvSpPr/>
          <p:nvPr/>
        </p:nvSpPr>
        <p:spPr>
          <a:xfrm>
            <a:off x="7872984" y="3602736"/>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Natural or nutrition-led</a:t>
            </a:r>
            <a:endParaRPr lang="en-US" sz="950" dirty="0"/>
          </a:p>
        </p:txBody>
      </p:sp>
      <p:sp>
        <p:nvSpPr>
          <p:cNvPr id="46" name="Text 43"/>
          <p:cNvSpPr/>
          <p:nvPr/>
        </p:nvSpPr>
        <p:spPr>
          <a:xfrm>
            <a:off x="7872984" y="3776472"/>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Process + nutrition + brand legacy. "Natural" reads wholesome, not safer.</a:t>
            </a:r>
            <a:endParaRPr lang="en-US" sz="800" dirty="0"/>
          </a:p>
        </p:txBody>
      </p:sp>
      <p:sp>
        <p:nvSpPr>
          <p:cNvPr id="47" name="Shape 44"/>
          <p:cNvSpPr/>
          <p:nvPr/>
        </p:nvSpPr>
        <p:spPr>
          <a:xfrm>
            <a:off x="7726680" y="4114800"/>
            <a:ext cx="3962095" cy="502920"/>
          </a:xfrm>
          <a:prstGeom prst="roundRect">
            <a:avLst>
              <a:gd name="adj" fmla="val 9091"/>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8" name="Text 45"/>
          <p:cNvSpPr/>
          <p:nvPr/>
        </p:nvSpPr>
        <p:spPr>
          <a:xfrm>
            <a:off x="7872984" y="4169664"/>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Clean-label / provenance challengers</a:t>
            </a:r>
            <a:endParaRPr lang="en-US" sz="950" dirty="0"/>
          </a:p>
        </p:txBody>
      </p:sp>
      <p:sp>
        <p:nvSpPr>
          <p:cNvPr id="49" name="Text 46"/>
          <p:cNvSpPr/>
          <p:nvPr/>
        </p:nvSpPr>
        <p:spPr>
          <a:xfrm>
            <a:off x="7872984" y="4343400"/>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Sourcing stories. Premium, fragmented, no mass trust code.</a:t>
            </a:r>
            <a:endParaRPr lang="en-US" sz="800" dirty="0"/>
          </a:p>
        </p:txBody>
      </p:sp>
      <p:sp>
        <p:nvSpPr>
          <p:cNvPr id="50" name="Shape 47"/>
          <p:cNvSpPr/>
          <p:nvPr/>
        </p:nvSpPr>
        <p:spPr>
          <a:xfrm>
            <a:off x="7726680" y="4681728"/>
            <a:ext cx="3962095" cy="502920"/>
          </a:xfrm>
          <a:prstGeom prst="roundRect">
            <a:avLst>
              <a:gd name="adj" fmla="val 9091"/>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51" name="Text 48"/>
          <p:cNvSpPr/>
          <p:nvPr/>
        </p:nvSpPr>
        <p:spPr>
          <a:xfrm>
            <a:off x="7872984" y="4736592"/>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Certified organic specialists</a:t>
            </a:r>
            <a:endParaRPr lang="en-US" sz="950" dirty="0"/>
          </a:p>
        </p:txBody>
      </p:sp>
      <p:sp>
        <p:nvSpPr>
          <p:cNvPr id="52" name="Text 49"/>
          <p:cNvSpPr/>
          <p:nvPr/>
        </p:nvSpPr>
        <p:spPr>
          <a:xfrm>
            <a:off x="7872984" y="4910328"/>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NPOP / NOP certification + traceability. Structurally higher price ladder; scale friction.</a:t>
            </a:r>
            <a:endParaRPr lang="en-US" sz="800" dirty="0"/>
          </a:p>
        </p:txBody>
      </p:sp>
      <p:sp>
        <p:nvSpPr>
          <p:cNvPr id="53" name="Shape 50"/>
          <p:cNvSpPr/>
          <p:nvPr/>
        </p:nvSpPr>
        <p:spPr>
          <a:xfrm>
            <a:off x="7726680" y="5230368"/>
            <a:ext cx="3962095" cy="914400"/>
          </a:xfrm>
          <a:prstGeom prst="roundRect">
            <a:avLst>
              <a:gd name="adj" fmla="val 9000"/>
            </a:avLst>
          </a:prstGeom>
          <a:solidFill>
            <a:srgbClr val="FAF0DA"/>
          </a:solidFill>
          <a:ln w="9525">
            <a:solidFill>
              <a:srgbClr val="EEDFBA"/>
            </a:solidFill>
            <a:prstDash val="solid"/>
          </a:ln>
          <a:effectLst>
            <a:outerShdw sx="100000" sy="100000" kx="0" ky="0" algn="bl" rotWithShape="0" blurRad="177800" dist="38100" dir="5400000">
              <a:srgbClr val="101C2C">
                <a:alpha val="9000"/>
              </a:srgbClr>
            </a:outerShdw>
          </a:effectLst>
        </p:spPr>
      </p:sp>
      <p:sp>
        <p:nvSpPr>
          <p:cNvPr id="54" name="Text 51"/>
          <p:cNvSpPr/>
          <p:nvPr/>
        </p:nvSpPr>
        <p:spPr>
          <a:xfrm>
            <a:off x="7927848" y="5349240"/>
            <a:ext cx="3559759" cy="402336"/>
          </a:xfrm>
          <a:prstGeom prst="rect">
            <a:avLst/>
          </a:prstGeom>
          <a:noFill/>
          <a:ln/>
        </p:spPr>
        <p:txBody>
          <a:bodyPr wrap="square" lIns="0" tIns="0" rIns="0" bIns="0" rtlCol="0" anchor="t"/>
          <a:lstStyle/>
          <a:p>
            <a:pPr indent="0" marL="0">
              <a:lnSpc>
                <a:spcPct val="102000"/>
              </a:lnSpc>
              <a:buNone/>
            </a:pPr>
            <a:r>
              <a:rPr lang="en-US" sz="1050" b="1" dirty="0">
                <a:solidFill>
                  <a:srgbClr val="9E7220"/>
                </a:solidFill>
                <a:latin typeface="Nunito Sans" pitchFamily="34" charset="0"/>
                <a:ea typeface="Nunito Sans" pitchFamily="34" charset="-122"/>
                <a:cs typeface="Nunito Sans" pitchFamily="34" charset="-120"/>
              </a:rPr>
              <a:t>The corridor between them is empty of trust codes.</a:t>
            </a:r>
            <a:endParaRPr lang="en-US" sz="1050" dirty="0"/>
          </a:p>
        </p:txBody>
      </p:sp>
      <p:sp>
        <p:nvSpPr>
          <p:cNvPr id="55" name="Text 52"/>
          <p:cNvSpPr/>
          <p:nvPr/>
        </p:nvSpPr>
        <p:spPr>
          <a:xfrm>
            <a:off x="7927848" y="5779008"/>
            <a:ext cx="3559759" cy="27432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belongs at ₹150–250/kg — and that corridor is already being squeezed from below by BB Royal Organic at ₹157.</a:t>
            </a:r>
            <a:endParaRPr lang="en-US" sz="900" dirty="0"/>
          </a:p>
        </p:txBody>
      </p:sp>
      <p:sp>
        <p:nvSpPr>
          <p:cNvPr id="56" name="Shape 53"/>
          <p:cNvSpPr/>
          <p:nvPr/>
        </p:nvSpPr>
        <p:spPr>
          <a:xfrm>
            <a:off x="502920" y="6455664"/>
            <a:ext cx="11185855" cy="0"/>
          </a:xfrm>
          <a:prstGeom prst="line">
            <a:avLst/>
          </a:prstGeom>
          <a:noFill/>
          <a:ln w="9525">
            <a:solidFill>
              <a:srgbClr val="E5DCCB"/>
            </a:solidFill>
            <a:prstDash val="solid"/>
          </a:ln>
        </p:spPr>
      </p:sp>
      <p:sp>
        <p:nvSpPr>
          <p:cNvPr id="57" name="Text 54"/>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8" name="Text 5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COMPETITIVE SET</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Who is actually on the shelf.</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Five archetypes, each with a different trust story — and each with a hole in it.</a:t>
            </a:r>
            <a:endParaRPr lang="en-US" sz="1100" dirty="0"/>
          </a:p>
        </p:txBody>
      </p:sp>
      <p:sp>
        <p:nvSpPr>
          <p:cNvPr id="7" name="Shape 4"/>
          <p:cNvSpPr/>
          <p:nvPr/>
        </p:nvSpPr>
        <p:spPr>
          <a:xfrm>
            <a:off x="502920" y="2121408"/>
            <a:ext cx="2032345" cy="3566160"/>
          </a:xfrm>
          <a:prstGeom prst="roundRect">
            <a:avLst>
              <a:gd name="adj" fmla="val 404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pic>
        <p:nvPicPr>
          <p:cNvPr id="8" name="Image 1" descr="/home/user/hopper-tessarakt/site/assets/pk-fortune.jpg">    </p:cNvPr>
          <p:cNvPicPr>
            <a:picLocks noChangeAspect="1"/>
          </p:cNvPicPr>
          <p:nvPr/>
        </p:nvPicPr>
        <p:blipFill>
          <a:blip r:embed="rId2"/>
          <a:srcRect l="0" r="0" t="0" b="0"/>
          <a:stretch/>
        </p:blipFill>
        <p:spPr>
          <a:xfrm>
            <a:off x="822960" y="2322576"/>
            <a:ext cx="1392265" cy="1463040"/>
          </a:xfrm>
          <a:prstGeom prst="rect">
            <a:avLst/>
          </a:prstGeom>
        </p:spPr>
      </p:pic>
      <p:sp>
        <p:nvSpPr>
          <p:cNvPr id="9" name="Text 5"/>
          <p:cNvSpPr/>
          <p:nvPr/>
        </p:nvSpPr>
        <p:spPr>
          <a:xfrm>
            <a:off x="704088"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Conventional national packaged</a:t>
            </a:r>
            <a:endParaRPr lang="en-US" sz="1000" dirty="0"/>
          </a:p>
        </p:txBody>
      </p:sp>
      <p:sp>
        <p:nvSpPr>
          <p:cNvPr id="10" name="Text 6"/>
          <p:cNvSpPr/>
          <p:nvPr/>
        </p:nvSpPr>
        <p:spPr>
          <a:xfrm>
            <a:off x="704088"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Factory and FSSAI process credibility. The trust story is shallow and easily copied.</a:t>
            </a:r>
            <a:endParaRPr lang="en-US" sz="850" dirty="0"/>
          </a:p>
        </p:txBody>
      </p:sp>
      <p:sp>
        <p:nvSpPr>
          <p:cNvPr id="11" name="Shape 7"/>
          <p:cNvSpPr/>
          <p:nvPr/>
        </p:nvSpPr>
        <p:spPr>
          <a:xfrm>
            <a:off x="2791297" y="2121408"/>
            <a:ext cx="2032345" cy="3566160"/>
          </a:xfrm>
          <a:prstGeom prst="roundRect">
            <a:avLst>
              <a:gd name="adj" fmla="val 404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pic>
        <p:nvPicPr>
          <p:cNvPr id="12" name="Image 2" descr="/home/user/hopper-tessarakt/site/assets/pk-vedaka.jpg">    </p:cNvPr>
          <p:cNvPicPr>
            <a:picLocks noChangeAspect="1"/>
          </p:cNvPicPr>
          <p:nvPr/>
        </p:nvPicPr>
        <p:blipFill>
          <a:blip r:embed="rId3"/>
          <a:srcRect l="0" r="0" t="0" b="0"/>
          <a:stretch/>
        </p:blipFill>
        <p:spPr>
          <a:xfrm>
            <a:off x="3111337" y="2322576"/>
            <a:ext cx="1392265" cy="1463040"/>
          </a:xfrm>
          <a:prstGeom prst="rect">
            <a:avLst/>
          </a:prstGeom>
        </p:spPr>
      </p:pic>
      <p:sp>
        <p:nvSpPr>
          <p:cNvPr id="13" name="Text 8"/>
          <p:cNvSpPr/>
          <p:nvPr/>
        </p:nvSpPr>
        <p:spPr>
          <a:xfrm>
            <a:off x="2992465"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Retailer &amp; regional private label</a:t>
            </a:r>
            <a:endParaRPr lang="en-US" sz="1000" dirty="0"/>
          </a:p>
        </p:txBody>
      </p:sp>
      <p:sp>
        <p:nvSpPr>
          <p:cNvPr id="14" name="Text 9"/>
          <p:cNvSpPr/>
          <p:nvPr/>
        </p:nvSpPr>
        <p:spPr>
          <a:xfrm>
            <a:off x="2992465"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Retailer QA and lab testing behind it, but no ownable narrative in front of it.</a:t>
            </a:r>
            <a:endParaRPr lang="en-US" sz="850" dirty="0"/>
          </a:p>
        </p:txBody>
      </p:sp>
      <p:sp>
        <p:nvSpPr>
          <p:cNvPr id="15" name="Shape 10"/>
          <p:cNvSpPr/>
          <p:nvPr/>
        </p:nvSpPr>
        <p:spPr>
          <a:xfrm>
            <a:off x="5079675" y="2121408"/>
            <a:ext cx="2032345" cy="3566160"/>
          </a:xfrm>
          <a:prstGeom prst="roundRect">
            <a:avLst>
              <a:gd name="adj" fmla="val 404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pic>
        <p:nvPicPr>
          <p:cNvPr id="16" name="Image 3" descr="/home/user/hopper-tessarakt/site/assets/pk-tatasampann.jpg">    </p:cNvPr>
          <p:cNvPicPr>
            <a:picLocks noChangeAspect="1"/>
          </p:cNvPicPr>
          <p:nvPr/>
        </p:nvPicPr>
        <p:blipFill>
          <a:blip r:embed="rId4"/>
          <a:srcRect l="0" r="0" t="0" b="0"/>
          <a:stretch/>
        </p:blipFill>
        <p:spPr>
          <a:xfrm>
            <a:off x="5399715" y="2322576"/>
            <a:ext cx="1392265" cy="1463040"/>
          </a:xfrm>
          <a:prstGeom prst="rect">
            <a:avLst/>
          </a:prstGeom>
        </p:spPr>
      </p:pic>
      <p:sp>
        <p:nvSpPr>
          <p:cNvPr id="17" name="Text 11"/>
          <p:cNvSpPr/>
          <p:nvPr/>
        </p:nvSpPr>
        <p:spPr>
          <a:xfrm>
            <a:off x="5280843"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Natural or nutrition-led</a:t>
            </a:r>
            <a:endParaRPr lang="en-US" sz="1000" dirty="0"/>
          </a:p>
        </p:txBody>
      </p:sp>
      <p:sp>
        <p:nvSpPr>
          <p:cNvPr id="18" name="Text 12"/>
          <p:cNvSpPr/>
          <p:nvPr/>
        </p:nvSpPr>
        <p:spPr>
          <a:xfrm>
            <a:off x="5280843"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Process, nutrition and brand legacy. "Natural" reads wholesome — it does not read safer.</a:t>
            </a:r>
            <a:endParaRPr lang="en-US" sz="850" dirty="0"/>
          </a:p>
        </p:txBody>
      </p:sp>
      <p:sp>
        <p:nvSpPr>
          <p:cNvPr id="19" name="Shape 13"/>
          <p:cNvSpPr/>
          <p:nvPr/>
        </p:nvSpPr>
        <p:spPr>
          <a:xfrm>
            <a:off x="7368052" y="2121408"/>
            <a:ext cx="2032345" cy="3566160"/>
          </a:xfrm>
          <a:prstGeom prst="roundRect">
            <a:avLst>
              <a:gd name="adj" fmla="val 404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pic>
        <p:nvPicPr>
          <p:cNvPr id="20" name="Image 4" descr="/home/user/hopper-tessarakt/site/assets/pk-conscious.jpg">    </p:cNvPr>
          <p:cNvPicPr>
            <a:picLocks noChangeAspect="1"/>
          </p:cNvPicPr>
          <p:nvPr/>
        </p:nvPicPr>
        <p:blipFill>
          <a:blip r:embed="rId5"/>
          <a:srcRect l="0" r="0" t="0" b="0"/>
          <a:stretch/>
        </p:blipFill>
        <p:spPr>
          <a:xfrm>
            <a:off x="7688092" y="2322576"/>
            <a:ext cx="1392265" cy="1463040"/>
          </a:xfrm>
          <a:prstGeom prst="rect">
            <a:avLst/>
          </a:prstGeom>
        </p:spPr>
      </p:pic>
      <p:sp>
        <p:nvSpPr>
          <p:cNvPr id="21" name="Text 14"/>
          <p:cNvSpPr/>
          <p:nvPr/>
        </p:nvSpPr>
        <p:spPr>
          <a:xfrm>
            <a:off x="7569220"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Clean-label / provenance challengers</a:t>
            </a:r>
            <a:endParaRPr lang="en-US" sz="1000" dirty="0"/>
          </a:p>
        </p:txBody>
      </p:sp>
      <p:sp>
        <p:nvSpPr>
          <p:cNvPr id="22" name="Text 15"/>
          <p:cNvSpPr/>
          <p:nvPr/>
        </p:nvSpPr>
        <p:spPr>
          <a:xfrm>
            <a:off x="7569220"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Sourcing stories, premium prices, fragmented. No mass trust code.</a:t>
            </a:r>
            <a:endParaRPr lang="en-US" sz="850" dirty="0"/>
          </a:p>
        </p:txBody>
      </p:sp>
      <p:sp>
        <p:nvSpPr>
          <p:cNvPr id="23" name="Shape 16"/>
          <p:cNvSpPr/>
          <p:nvPr/>
        </p:nvSpPr>
        <p:spPr>
          <a:xfrm>
            <a:off x="9656430" y="2121408"/>
            <a:ext cx="2032345" cy="3566160"/>
          </a:xfrm>
          <a:prstGeom prst="roundRect">
            <a:avLst>
              <a:gd name="adj" fmla="val 404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pic>
        <p:nvPicPr>
          <p:cNvPr id="24" name="Image 5" descr="/home/user/hopper-tessarakt/site/assets/pk-24mantra.jpg">    </p:cNvPr>
          <p:cNvPicPr>
            <a:picLocks noChangeAspect="1"/>
          </p:cNvPicPr>
          <p:nvPr/>
        </p:nvPicPr>
        <p:blipFill>
          <a:blip r:embed="rId6"/>
          <a:srcRect l="0" r="0" t="0" b="0"/>
          <a:stretch/>
        </p:blipFill>
        <p:spPr>
          <a:xfrm>
            <a:off x="9976470" y="2322576"/>
            <a:ext cx="1392265" cy="1463040"/>
          </a:xfrm>
          <a:prstGeom prst="rect">
            <a:avLst/>
          </a:prstGeom>
        </p:spPr>
      </p:pic>
      <p:sp>
        <p:nvSpPr>
          <p:cNvPr id="25" name="Text 17"/>
          <p:cNvSpPr/>
          <p:nvPr/>
        </p:nvSpPr>
        <p:spPr>
          <a:xfrm>
            <a:off x="9857598"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Certified organic specialists</a:t>
            </a:r>
            <a:endParaRPr lang="en-US" sz="1000" dirty="0"/>
          </a:p>
        </p:txBody>
      </p:sp>
      <p:sp>
        <p:nvSpPr>
          <p:cNvPr id="26" name="Text 18"/>
          <p:cNvSpPr/>
          <p:nvPr/>
        </p:nvSpPr>
        <p:spPr>
          <a:xfrm>
            <a:off x="9857598"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NPOP / NOP certification and traceability, on a structurally higher price ladder.</a:t>
            </a:r>
            <a:endParaRPr lang="en-US" sz="850" dirty="0"/>
          </a:p>
        </p:txBody>
      </p:sp>
      <p:sp>
        <p:nvSpPr>
          <p:cNvPr id="27" name="Shape 19"/>
          <p:cNvSpPr/>
          <p:nvPr/>
        </p:nvSpPr>
        <p:spPr>
          <a:xfrm>
            <a:off x="502920" y="6455664"/>
            <a:ext cx="11185855" cy="0"/>
          </a:xfrm>
          <a:prstGeom prst="line">
            <a:avLst/>
          </a:prstGeom>
          <a:noFill/>
          <a:ln w="9525">
            <a:solidFill>
              <a:srgbClr val="E5DCCB"/>
            </a:solidFill>
            <a:prstDash val="solid"/>
          </a:ln>
        </p:spPr>
      </p:sp>
      <p:sp>
        <p:nvSpPr>
          <p:cNvPr id="28" name="Text 20"/>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29" name="Text 21"/>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8767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8767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PROOF &amp; CLAIMS BENCHMARKING</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Who can actually show their work?</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If a shopper wanted to check the claim, could they? Only one brand passes — and DHF, which does the most testing, shows the least.</a:t>
            </a:r>
            <a:endParaRPr lang="en-US" sz="1100" dirty="0"/>
          </a:p>
        </p:txBody>
      </p:sp>
      <p:sp>
        <p:nvSpPr>
          <p:cNvPr id="7" name="Shape 4"/>
          <p:cNvSpPr/>
          <p:nvPr/>
        </p:nvSpPr>
        <p:spPr>
          <a:xfrm>
            <a:off x="502920" y="2121408"/>
            <a:ext cx="2032345" cy="1920240"/>
          </a:xfrm>
          <a:prstGeom prst="roundRect">
            <a:avLst>
              <a:gd name="adj" fmla="val 428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Organic Tattva</a:t>
            </a:r>
            <a:endParaRPr lang="en-US" sz="1050" dirty="0"/>
          </a:p>
        </p:txBody>
      </p:sp>
      <p:sp>
        <p:nvSpPr>
          <p:cNvPr id="9" name="Shape 6"/>
          <p:cNvSpPr/>
          <p:nvPr/>
        </p:nvSpPr>
        <p:spPr>
          <a:xfrm>
            <a:off x="685800" y="2670048"/>
            <a:ext cx="896112" cy="219456"/>
          </a:xfrm>
          <a:prstGeom prst="roundRect">
            <a:avLst>
              <a:gd name="adj" fmla="val 50000"/>
            </a:avLst>
          </a:prstGeom>
          <a:solidFill>
            <a:srgbClr val="E4F2EA"/>
          </a:solidFill>
          <a:ln w="12700">
            <a:solidFill>
              <a:srgbClr val="333333"/>
            </a:solidFill>
            <a:prstDash val="solid"/>
          </a:ln>
        </p:spPr>
      </p:sp>
      <p:sp>
        <p:nvSpPr>
          <p:cNvPr id="10" name="Text 7"/>
          <p:cNvSpPr/>
          <p:nvPr/>
        </p:nvSpPr>
        <p:spPr>
          <a:xfrm>
            <a:off x="685800"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177A46"/>
                </a:solidFill>
                <a:latin typeface="Nunito Sans" pitchFamily="34" charset="0"/>
                <a:ea typeface="Nunito Sans" pitchFamily="34" charset="-122"/>
                <a:cs typeface="Nunito Sans" pitchFamily="34" charset="-120"/>
              </a:rPr>
              <a:t>QR · YES</a:t>
            </a:r>
            <a:endParaRPr lang="en-US" sz="750" dirty="0"/>
          </a:p>
        </p:txBody>
      </p:sp>
      <p:sp>
        <p:nvSpPr>
          <p:cNvPr id="11" name="Text 8"/>
          <p:cNvSpPr/>
          <p:nvPr/>
        </p:nvSpPr>
        <p:spPr>
          <a:xfrm>
            <a:off x="685800"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250-parameter farm-level residue test, QR on every pack to the batch report. The category benchmark.</a:t>
            </a:r>
            <a:endParaRPr lang="en-US" sz="850" dirty="0"/>
          </a:p>
        </p:txBody>
      </p:sp>
      <p:sp>
        <p:nvSpPr>
          <p:cNvPr id="12" name="Shape 9"/>
          <p:cNvSpPr/>
          <p:nvPr/>
        </p:nvSpPr>
        <p:spPr>
          <a:xfrm>
            <a:off x="2791297" y="2121408"/>
            <a:ext cx="2032345" cy="1920240"/>
          </a:xfrm>
          <a:prstGeom prst="roundRect">
            <a:avLst>
              <a:gd name="adj" fmla="val 428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3" name="Text 10"/>
          <p:cNvSpPr/>
          <p:nvPr/>
        </p:nvSpPr>
        <p:spPr>
          <a:xfrm>
            <a:off x="2974177"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24 Mantra (ITC)</a:t>
            </a:r>
            <a:endParaRPr lang="en-US" sz="1050" dirty="0"/>
          </a:p>
        </p:txBody>
      </p:sp>
      <p:sp>
        <p:nvSpPr>
          <p:cNvPr id="14" name="Shape 11"/>
          <p:cNvSpPr/>
          <p:nvPr/>
        </p:nvSpPr>
        <p:spPr>
          <a:xfrm>
            <a:off x="2974177" y="2670048"/>
            <a:ext cx="896112" cy="219456"/>
          </a:xfrm>
          <a:prstGeom prst="roundRect">
            <a:avLst>
              <a:gd name="adj" fmla="val 50000"/>
            </a:avLst>
          </a:prstGeom>
          <a:solidFill>
            <a:srgbClr val="EDE8DF"/>
          </a:solidFill>
          <a:ln w="12700">
            <a:solidFill>
              <a:srgbClr val="333333"/>
            </a:solidFill>
            <a:prstDash val="solid"/>
          </a:ln>
        </p:spPr>
      </p:sp>
      <p:sp>
        <p:nvSpPr>
          <p:cNvPr id="15" name="Text 12"/>
          <p:cNvSpPr/>
          <p:nvPr/>
        </p:nvSpPr>
        <p:spPr>
          <a:xfrm>
            <a:off x="2974177"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16" name="Text 13"/>
          <p:cNvSpPr/>
          <p:nvPr/>
        </p:nvSpPr>
        <p:spPr>
          <a:xfrm>
            <a:off x="2974177"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EU + USDA + NPOP certification, 1.4 lakh acres, 27,500 farmers. Logos are the proof — no consumer-facing test report.</a:t>
            </a:r>
            <a:endParaRPr lang="en-US" sz="850" dirty="0"/>
          </a:p>
        </p:txBody>
      </p:sp>
      <p:sp>
        <p:nvSpPr>
          <p:cNvPr id="17" name="Shape 14"/>
          <p:cNvSpPr/>
          <p:nvPr/>
        </p:nvSpPr>
        <p:spPr>
          <a:xfrm>
            <a:off x="5079675" y="2121408"/>
            <a:ext cx="2032345" cy="1920240"/>
          </a:xfrm>
          <a:prstGeom prst="roundRect">
            <a:avLst>
              <a:gd name="adj" fmla="val 428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Text 15"/>
          <p:cNvSpPr/>
          <p:nvPr/>
        </p:nvSpPr>
        <p:spPr>
          <a:xfrm>
            <a:off x="5262555"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Tata Sampann</a:t>
            </a:r>
            <a:endParaRPr lang="en-US" sz="1050" dirty="0"/>
          </a:p>
        </p:txBody>
      </p:sp>
      <p:sp>
        <p:nvSpPr>
          <p:cNvPr id="19" name="Shape 16"/>
          <p:cNvSpPr/>
          <p:nvPr/>
        </p:nvSpPr>
        <p:spPr>
          <a:xfrm>
            <a:off x="5262555" y="2670048"/>
            <a:ext cx="896112" cy="219456"/>
          </a:xfrm>
          <a:prstGeom prst="roundRect">
            <a:avLst>
              <a:gd name="adj" fmla="val 50000"/>
            </a:avLst>
          </a:prstGeom>
          <a:solidFill>
            <a:srgbClr val="EDE8DF"/>
          </a:solidFill>
          <a:ln w="12700">
            <a:solidFill>
              <a:srgbClr val="333333"/>
            </a:solidFill>
            <a:prstDash val="solid"/>
          </a:ln>
        </p:spPr>
      </p:sp>
      <p:sp>
        <p:nvSpPr>
          <p:cNvPr id="20" name="Text 17"/>
          <p:cNvSpPr/>
          <p:nvPr/>
        </p:nvSpPr>
        <p:spPr>
          <a:xfrm>
            <a:off x="5262555"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21" name="Text 18"/>
          <p:cNvSpPr/>
          <p:nvPr/>
        </p:nvSpPr>
        <p:spPr>
          <a:xfrm>
            <a:off x="5262555"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Brand trust plus an "unpolished" visual cue and a celebrity anchor. No public batch-level residue disclosure.</a:t>
            </a:r>
            <a:endParaRPr lang="en-US" sz="850" dirty="0"/>
          </a:p>
        </p:txBody>
      </p:sp>
      <p:sp>
        <p:nvSpPr>
          <p:cNvPr id="22" name="Shape 19"/>
          <p:cNvSpPr/>
          <p:nvPr/>
        </p:nvSpPr>
        <p:spPr>
          <a:xfrm>
            <a:off x="7368052" y="2121408"/>
            <a:ext cx="2032345" cy="1920240"/>
          </a:xfrm>
          <a:prstGeom prst="roundRect">
            <a:avLst>
              <a:gd name="adj" fmla="val 428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3" name="Text 20"/>
          <p:cNvSpPr/>
          <p:nvPr/>
        </p:nvSpPr>
        <p:spPr>
          <a:xfrm>
            <a:off x="7550932"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Organic India (Tata)</a:t>
            </a:r>
            <a:endParaRPr lang="en-US" sz="1050" dirty="0"/>
          </a:p>
        </p:txBody>
      </p:sp>
      <p:sp>
        <p:nvSpPr>
          <p:cNvPr id="24" name="Shape 21"/>
          <p:cNvSpPr/>
          <p:nvPr/>
        </p:nvSpPr>
        <p:spPr>
          <a:xfrm>
            <a:off x="7550932" y="2670048"/>
            <a:ext cx="896112" cy="219456"/>
          </a:xfrm>
          <a:prstGeom prst="roundRect">
            <a:avLst>
              <a:gd name="adj" fmla="val 50000"/>
            </a:avLst>
          </a:prstGeom>
          <a:solidFill>
            <a:srgbClr val="EDE8DF"/>
          </a:solidFill>
          <a:ln w="12700">
            <a:solidFill>
              <a:srgbClr val="333333"/>
            </a:solidFill>
            <a:prstDash val="solid"/>
          </a:ln>
        </p:spPr>
      </p:sp>
      <p:sp>
        <p:nvSpPr>
          <p:cNvPr id="25" name="Text 22"/>
          <p:cNvSpPr/>
          <p:nvPr/>
        </p:nvSpPr>
        <p:spPr>
          <a:xfrm>
            <a:off x="7550932"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26" name="Text 23"/>
          <p:cNvSpPr/>
          <p:nvPr/>
        </p:nvSpPr>
        <p:spPr>
          <a:xfrm>
            <a:off x="7550932"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Certification-heavy — USDA, EU, NPOP, Kosher — across 35+ export markets. Logos, not data.</a:t>
            </a:r>
            <a:endParaRPr lang="en-US" sz="850" dirty="0"/>
          </a:p>
        </p:txBody>
      </p:sp>
      <p:sp>
        <p:nvSpPr>
          <p:cNvPr id="27" name="Shape 24"/>
          <p:cNvSpPr/>
          <p:nvPr/>
        </p:nvSpPr>
        <p:spPr>
          <a:xfrm>
            <a:off x="9656430" y="2121408"/>
            <a:ext cx="2032345" cy="1920240"/>
          </a:xfrm>
          <a:prstGeom prst="roundRect">
            <a:avLst>
              <a:gd name="adj" fmla="val 4286"/>
            </a:avLst>
          </a:prstGeom>
          <a:solidFill>
            <a:srgbClr val="EAF0F8"/>
          </a:solidFill>
          <a:ln w="19050">
            <a:solidFill>
              <a:srgbClr val="3A5D97"/>
            </a:solidFill>
            <a:prstDash val="solid"/>
          </a:ln>
          <a:effectLst>
            <a:outerShdw sx="100000" sy="100000" kx="0" ky="0" algn="bl" rotWithShape="0" blurRad="177800" dist="38100" dir="5400000">
              <a:srgbClr val="101C2C">
                <a:alpha val="9000"/>
              </a:srgbClr>
            </a:outerShdw>
          </a:effectLst>
        </p:spPr>
      </p:sp>
      <p:sp>
        <p:nvSpPr>
          <p:cNvPr id="28" name="Text 25"/>
          <p:cNvSpPr/>
          <p:nvPr/>
        </p:nvSpPr>
        <p:spPr>
          <a:xfrm>
            <a:off x="9839310"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DeHaat Honest Farms</a:t>
            </a:r>
            <a:endParaRPr lang="en-US" sz="1050" dirty="0"/>
          </a:p>
        </p:txBody>
      </p:sp>
      <p:sp>
        <p:nvSpPr>
          <p:cNvPr id="29" name="Shape 26"/>
          <p:cNvSpPr/>
          <p:nvPr/>
        </p:nvSpPr>
        <p:spPr>
          <a:xfrm>
            <a:off x="9839310" y="2670048"/>
            <a:ext cx="896112" cy="219456"/>
          </a:xfrm>
          <a:prstGeom prst="roundRect">
            <a:avLst>
              <a:gd name="adj" fmla="val 50000"/>
            </a:avLst>
          </a:prstGeom>
          <a:solidFill>
            <a:srgbClr val="FBE9E3"/>
          </a:solidFill>
          <a:ln w="12700">
            <a:solidFill>
              <a:srgbClr val="333333"/>
            </a:solidFill>
            <a:prstDash val="solid"/>
          </a:ln>
        </p:spPr>
      </p:sp>
      <p:sp>
        <p:nvSpPr>
          <p:cNvPr id="30" name="Text 27"/>
          <p:cNvSpPr/>
          <p:nvPr/>
        </p:nvSpPr>
        <p:spPr>
          <a:xfrm>
            <a:off x="9839310"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9E3A24"/>
                </a:solidFill>
                <a:latin typeface="Nunito Sans" pitchFamily="34" charset="0"/>
                <a:ea typeface="Nunito Sans" pitchFamily="34" charset="-122"/>
                <a:cs typeface="Nunito Sans" pitchFamily="34" charset="-120"/>
              </a:rPr>
              <a:t>QR · GAP</a:t>
            </a:r>
            <a:endParaRPr lang="en-US" sz="750" dirty="0"/>
          </a:p>
        </p:txBody>
      </p:sp>
      <p:sp>
        <p:nvSpPr>
          <p:cNvPr id="31" name="Text 28"/>
          <p:cNvSpPr/>
          <p:nvPr/>
        </p:nvSpPr>
        <p:spPr>
          <a:xfrm>
            <a:off x="9839310"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9E3A24"/>
                </a:solidFill>
                <a:latin typeface="Nunito Sans" pitchFamily="34" charset="0"/>
                <a:ea typeface="Nunito Sans" pitchFamily="34" charset="-122"/>
                <a:cs typeface="Nunito Sans" pitchFamily="34" charset="-120"/>
              </a:rPr>
              <a:t>230+ pesticide checks, batch-level testing, failing lots rejected. All of it invisible to the shopper.</a:t>
            </a:r>
            <a:endParaRPr lang="en-US" sz="850" dirty="0"/>
          </a:p>
        </p:txBody>
      </p:sp>
      <p:sp>
        <p:nvSpPr>
          <p:cNvPr id="32" name="Text 29"/>
          <p:cNvSpPr/>
          <p:nvPr/>
        </p:nvSpPr>
        <p:spPr>
          <a:xfrm>
            <a:off x="502920" y="43616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MESSAGING CONSISTENCY, SCORED OUT OF 10</a:t>
            </a:r>
            <a:endParaRPr lang="en-US" sz="950" dirty="0"/>
          </a:p>
        </p:txBody>
      </p:sp>
      <p:sp>
        <p:nvSpPr>
          <p:cNvPr id="33" name="Text 30"/>
          <p:cNvSpPr/>
          <p:nvPr/>
        </p:nvSpPr>
        <p:spPr>
          <a:xfrm>
            <a:off x="502920" y="4672584"/>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Tata Sampann</a:t>
            </a:r>
            <a:endParaRPr lang="en-US" sz="1000" dirty="0"/>
          </a:p>
        </p:txBody>
      </p:sp>
      <p:sp>
        <p:nvSpPr>
          <p:cNvPr id="34" name="Text 31"/>
          <p:cNvSpPr/>
          <p:nvPr/>
        </p:nvSpPr>
        <p:spPr>
          <a:xfrm>
            <a:off x="3246120" y="4672584"/>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9/10</a:t>
            </a:r>
            <a:endParaRPr lang="en-US" sz="1200" dirty="0"/>
          </a:p>
        </p:txBody>
      </p:sp>
      <p:sp>
        <p:nvSpPr>
          <p:cNvPr id="35" name="Shape 32"/>
          <p:cNvSpPr/>
          <p:nvPr/>
        </p:nvSpPr>
        <p:spPr>
          <a:xfrm>
            <a:off x="502920" y="4983480"/>
            <a:ext cx="3749040" cy="0"/>
          </a:xfrm>
          <a:prstGeom prst="line">
            <a:avLst/>
          </a:prstGeom>
          <a:noFill/>
          <a:ln w="6350">
            <a:solidFill>
              <a:srgbClr val="E5DCCB"/>
            </a:solidFill>
            <a:prstDash val="dash"/>
          </a:ln>
        </p:spPr>
      </p:sp>
      <p:sp>
        <p:nvSpPr>
          <p:cNvPr id="36" name="Text 33"/>
          <p:cNvSpPr/>
          <p:nvPr/>
        </p:nvSpPr>
        <p:spPr>
          <a:xfrm>
            <a:off x="502920" y="5056632"/>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Organic Tattva</a:t>
            </a:r>
            <a:endParaRPr lang="en-US" sz="1000" dirty="0"/>
          </a:p>
        </p:txBody>
      </p:sp>
      <p:sp>
        <p:nvSpPr>
          <p:cNvPr id="37" name="Text 34"/>
          <p:cNvSpPr/>
          <p:nvPr/>
        </p:nvSpPr>
        <p:spPr>
          <a:xfrm>
            <a:off x="3246120" y="5056632"/>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8/10</a:t>
            </a:r>
            <a:endParaRPr lang="en-US" sz="1200" dirty="0"/>
          </a:p>
        </p:txBody>
      </p:sp>
      <p:sp>
        <p:nvSpPr>
          <p:cNvPr id="38" name="Shape 35"/>
          <p:cNvSpPr/>
          <p:nvPr/>
        </p:nvSpPr>
        <p:spPr>
          <a:xfrm>
            <a:off x="502920" y="5367528"/>
            <a:ext cx="3749040" cy="0"/>
          </a:xfrm>
          <a:prstGeom prst="line">
            <a:avLst/>
          </a:prstGeom>
          <a:noFill/>
          <a:ln w="6350">
            <a:solidFill>
              <a:srgbClr val="E5DCCB"/>
            </a:solidFill>
            <a:prstDash val="dash"/>
          </a:ln>
        </p:spPr>
      </p:sp>
      <p:sp>
        <p:nvSpPr>
          <p:cNvPr id="39" name="Text 36"/>
          <p:cNvSpPr/>
          <p:nvPr/>
        </p:nvSpPr>
        <p:spPr>
          <a:xfrm>
            <a:off x="502920" y="5440680"/>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Organic India</a:t>
            </a:r>
            <a:endParaRPr lang="en-US" sz="1000" dirty="0"/>
          </a:p>
        </p:txBody>
      </p:sp>
      <p:sp>
        <p:nvSpPr>
          <p:cNvPr id="40" name="Text 37"/>
          <p:cNvSpPr/>
          <p:nvPr/>
        </p:nvSpPr>
        <p:spPr>
          <a:xfrm>
            <a:off x="3246120" y="5440680"/>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7/10</a:t>
            </a:r>
            <a:endParaRPr lang="en-US" sz="1200" dirty="0"/>
          </a:p>
        </p:txBody>
      </p:sp>
      <p:sp>
        <p:nvSpPr>
          <p:cNvPr id="41" name="Shape 38"/>
          <p:cNvSpPr/>
          <p:nvPr/>
        </p:nvSpPr>
        <p:spPr>
          <a:xfrm>
            <a:off x="502920" y="5751576"/>
            <a:ext cx="3749040" cy="0"/>
          </a:xfrm>
          <a:prstGeom prst="line">
            <a:avLst/>
          </a:prstGeom>
          <a:noFill/>
          <a:ln w="6350">
            <a:solidFill>
              <a:srgbClr val="E5DCCB"/>
            </a:solidFill>
            <a:prstDash val="dash"/>
          </a:ln>
        </p:spPr>
      </p:sp>
      <p:sp>
        <p:nvSpPr>
          <p:cNvPr id="42" name="Text 39"/>
          <p:cNvSpPr/>
          <p:nvPr/>
        </p:nvSpPr>
        <p:spPr>
          <a:xfrm>
            <a:off x="502920" y="5824728"/>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24 Mantra</a:t>
            </a:r>
            <a:endParaRPr lang="en-US" sz="1000" dirty="0"/>
          </a:p>
        </p:txBody>
      </p:sp>
      <p:sp>
        <p:nvSpPr>
          <p:cNvPr id="43" name="Text 40"/>
          <p:cNvSpPr/>
          <p:nvPr/>
        </p:nvSpPr>
        <p:spPr>
          <a:xfrm>
            <a:off x="3246120" y="5824728"/>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6/10</a:t>
            </a:r>
            <a:endParaRPr lang="en-US" sz="1200" dirty="0"/>
          </a:p>
        </p:txBody>
      </p:sp>
      <p:sp>
        <p:nvSpPr>
          <p:cNvPr id="44" name="Shape 41"/>
          <p:cNvSpPr/>
          <p:nvPr/>
        </p:nvSpPr>
        <p:spPr>
          <a:xfrm>
            <a:off x="502920" y="6135624"/>
            <a:ext cx="3749040" cy="0"/>
          </a:xfrm>
          <a:prstGeom prst="line">
            <a:avLst/>
          </a:prstGeom>
          <a:noFill/>
          <a:ln w="6350">
            <a:solidFill>
              <a:srgbClr val="E5DCCB"/>
            </a:solidFill>
            <a:prstDash val="dash"/>
          </a:ln>
        </p:spPr>
      </p:sp>
      <p:sp>
        <p:nvSpPr>
          <p:cNvPr id="45" name="Shape 42"/>
          <p:cNvSpPr/>
          <p:nvPr/>
        </p:nvSpPr>
        <p:spPr>
          <a:xfrm>
            <a:off x="4709160" y="4544568"/>
            <a:ext cx="6979615" cy="1371600"/>
          </a:xfrm>
          <a:prstGeom prst="roundRect">
            <a:avLst>
              <a:gd name="adj" fmla="val 6000"/>
            </a:avLst>
          </a:prstGeom>
          <a:solidFill>
            <a:srgbClr val="FBE9E3"/>
          </a:solidFill>
          <a:ln w="9525">
            <a:solidFill>
              <a:srgbClr val="F0CDC2"/>
            </a:solidFill>
            <a:prstDash val="solid"/>
          </a:ln>
          <a:effectLst>
            <a:outerShdw sx="100000" sy="100000" kx="0" ky="0" algn="bl" rotWithShape="0" blurRad="177800" dist="38100" dir="5400000">
              <a:srgbClr val="101C2C">
                <a:alpha val="9000"/>
              </a:srgbClr>
            </a:outerShdw>
          </a:effectLst>
        </p:spPr>
      </p:sp>
      <p:sp>
        <p:nvSpPr>
          <p:cNvPr id="46" name="Text 43"/>
          <p:cNvSpPr/>
          <p:nvPr/>
        </p:nvSpPr>
        <p:spPr>
          <a:xfrm>
            <a:off x="4910328" y="4663440"/>
            <a:ext cx="657727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The clock is already running.</a:t>
            </a:r>
            <a:endParaRPr lang="en-US" sz="1050" dirty="0"/>
          </a:p>
        </p:txBody>
      </p:sp>
      <p:sp>
        <p:nvSpPr>
          <p:cNvPr id="47" name="Text 44"/>
          <p:cNvSpPr/>
          <p:nvPr/>
        </p:nvSpPr>
        <p:spPr>
          <a:xfrm>
            <a:off x="4910328" y="4910328"/>
            <a:ext cx="6577279" cy="9144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24 Mantra is expected to reach 9/10 within 12 to 18 months of ITC integration. DHF generates more proof than anyone in the set and communicates the least of it — the one gap that is entirely self-inflicted, and the fastest to close.</a:t>
            </a:r>
            <a:endParaRPr lang="en-US" sz="900" dirty="0"/>
          </a:p>
        </p:txBody>
      </p:sp>
      <p:sp>
        <p:nvSpPr>
          <p:cNvPr id="48" name="Shape 45"/>
          <p:cNvSpPr/>
          <p:nvPr/>
        </p:nvSpPr>
        <p:spPr>
          <a:xfrm>
            <a:off x="502920" y="6455664"/>
            <a:ext cx="11185855" cy="0"/>
          </a:xfrm>
          <a:prstGeom prst="line">
            <a:avLst/>
          </a:prstGeom>
          <a:noFill/>
          <a:ln w="9525">
            <a:solidFill>
              <a:srgbClr val="E5DCCB"/>
            </a:solidFill>
            <a:prstDash val="solid"/>
          </a:ln>
        </p:spPr>
      </p:sp>
      <p:sp>
        <p:nvSpPr>
          <p:cNvPr id="49" name="Text 46"/>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0" name="Text 47"/>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711757"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711757"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IMITATION RISK</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How long each advantage survives a determined competitor.</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Eleven DHF advantages stress-tested against replication time. The pattern is stark: everything cheap to copy is already copied.</a:t>
            </a:r>
            <a:endParaRPr lang="en-US" sz="1100" dirty="0"/>
          </a:p>
        </p:txBody>
      </p:sp>
      <p:sp>
        <p:nvSpPr>
          <p:cNvPr id="7" name="Shape 4"/>
          <p:cNvSpPr/>
          <p:nvPr/>
        </p:nvSpPr>
        <p:spPr>
          <a:xfrm>
            <a:off x="502920" y="2121408"/>
            <a:ext cx="7680960" cy="3794760"/>
          </a:xfrm>
          <a:prstGeom prst="roundRect">
            <a:avLst>
              <a:gd name="adj" fmla="val 216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822960" y="2395728"/>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Pesticide-Free label claim</a:t>
            </a:r>
            <a:endParaRPr lang="en-US" sz="950" dirty="0"/>
          </a:p>
        </p:txBody>
      </p:sp>
      <p:sp>
        <p:nvSpPr>
          <p:cNvPr id="9" name="Text 6"/>
          <p:cNvSpPr/>
          <p:nvPr/>
        </p:nvSpPr>
        <p:spPr>
          <a:xfrm>
            <a:off x="6126480" y="2395728"/>
            <a:ext cx="1737360" cy="201168"/>
          </a:xfrm>
          <a:prstGeom prst="rect">
            <a:avLst/>
          </a:prstGeom>
          <a:noFill/>
          <a:ln/>
        </p:spPr>
        <p:txBody>
          <a:bodyPr wrap="square" lIns="0" tIns="0" rIns="0" bIns="0" rtlCol="0" anchor="ctr"/>
          <a:lstStyle/>
          <a:p>
            <a:pPr algn="r" indent="0" marL="0">
              <a:buNone/>
            </a:pPr>
            <a:r>
              <a:rPr lang="en-US" sz="1000" b="1" dirty="0">
                <a:solidFill>
                  <a:srgbClr val="9E3A24"/>
                </a:solidFill>
                <a:latin typeface="Nunito Sans" pitchFamily="34" charset="0"/>
                <a:ea typeface="Nunito Sans" pitchFamily="34" charset="-122"/>
                <a:cs typeface="Nunito Sans" pitchFamily="34" charset="-120"/>
              </a:rPr>
              <a:t>already copied</a:t>
            </a:r>
            <a:endParaRPr lang="en-US" sz="1000" dirty="0"/>
          </a:p>
        </p:txBody>
      </p:sp>
      <p:sp>
        <p:nvSpPr>
          <p:cNvPr id="10" name="Shape 7"/>
          <p:cNvSpPr/>
          <p:nvPr/>
        </p:nvSpPr>
        <p:spPr>
          <a:xfrm>
            <a:off x="822960" y="2615184"/>
            <a:ext cx="7040880" cy="118872"/>
          </a:xfrm>
          <a:prstGeom prst="roundRect">
            <a:avLst>
              <a:gd name="adj" fmla="val 50000"/>
            </a:avLst>
          </a:prstGeom>
          <a:solidFill>
            <a:srgbClr val="EDE4D4"/>
          </a:solidFill>
          <a:ln w="12700">
            <a:solidFill>
              <a:srgbClr val="333333"/>
            </a:solidFill>
            <a:prstDash val="solid"/>
          </a:ln>
        </p:spPr>
      </p:sp>
      <p:sp>
        <p:nvSpPr>
          <p:cNvPr id="11" name="Shape 8"/>
          <p:cNvSpPr/>
          <p:nvPr/>
        </p:nvSpPr>
        <p:spPr>
          <a:xfrm>
            <a:off x="822960" y="2615184"/>
            <a:ext cx="73152" cy="118872"/>
          </a:xfrm>
          <a:prstGeom prst="roundRect">
            <a:avLst>
              <a:gd name="adj" fmla="val 81250"/>
            </a:avLst>
          </a:prstGeom>
          <a:solidFill>
            <a:srgbClr val="9E3A24"/>
          </a:solidFill>
          <a:ln w="12700">
            <a:solidFill>
              <a:srgbClr val="333333"/>
            </a:solidFill>
            <a:prstDash val="solid"/>
          </a:ln>
        </p:spPr>
      </p:sp>
      <p:sp>
        <p:nvSpPr>
          <p:cNvPr id="12" name="Text 9"/>
          <p:cNvSpPr/>
          <p:nvPr/>
        </p:nvSpPr>
        <p:spPr>
          <a:xfrm>
            <a:off x="822960" y="2779776"/>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200+ SKU breadth</a:t>
            </a:r>
            <a:endParaRPr lang="en-US" sz="950" dirty="0"/>
          </a:p>
        </p:txBody>
      </p:sp>
      <p:sp>
        <p:nvSpPr>
          <p:cNvPr id="13" name="Text 10"/>
          <p:cNvSpPr/>
          <p:nvPr/>
        </p:nvSpPr>
        <p:spPr>
          <a:xfrm>
            <a:off x="6126480" y="2779776"/>
            <a:ext cx="1737360" cy="201168"/>
          </a:xfrm>
          <a:prstGeom prst="rect">
            <a:avLst/>
          </a:prstGeom>
          <a:noFill/>
          <a:ln/>
        </p:spPr>
        <p:txBody>
          <a:bodyPr wrap="square" lIns="0" tIns="0" rIns="0" bIns="0" rtlCol="0" anchor="ctr"/>
          <a:lstStyle/>
          <a:p>
            <a:pPr algn="r" indent="0" marL="0">
              <a:buNone/>
            </a:pPr>
            <a:r>
              <a:rPr lang="en-US" sz="1000" b="1" dirty="0">
                <a:solidFill>
                  <a:srgbClr val="C4553B"/>
                </a:solidFill>
                <a:latin typeface="Nunito Sans" pitchFamily="34" charset="0"/>
                <a:ea typeface="Nunito Sans" pitchFamily="34" charset="-122"/>
                <a:cs typeface="Nunito Sans" pitchFamily="34" charset="-120"/>
              </a:rPr>
              <a:t>3–6 months</a:t>
            </a:r>
            <a:endParaRPr lang="en-US" sz="1000" dirty="0"/>
          </a:p>
        </p:txBody>
      </p:sp>
      <p:sp>
        <p:nvSpPr>
          <p:cNvPr id="14" name="Shape 11"/>
          <p:cNvSpPr/>
          <p:nvPr/>
        </p:nvSpPr>
        <p:spPr>
          <a:xfrm>
            <a:off x="822960" y="2999232"/>
            <a:ext cx="7040880" cy="118872"/>
          </a:xfrm>
          <a:prstGeom prst="roundRect">
            <a:avLst>
              <a:gd name="adj" fmla="val 50000"/>
            </a:avLst>
          </a:prstGeom>
          <a:solidFill>
            <a:srgbClr val="EDE4D4"/>
          </a:solidFill>
          <a:ln w="12700">
            <a:solidFill>
              <a:srgbClr val="333333"/>
            </a:solidFill>
            <a:prstDash val="solid"/>
          </a:ln>
        </p:spPr>
      </p:sp>
      <p:sp>
        <p:nvSpPr>
          <p:cNvPr id="15" name="Shape 12"/>
          <p:cNvSpPr/>
          <p:nvPr/>
        </p:nvSpPr>
        <p:spPr>
          <a:xfrm>
            <a:off x="822960" y="2999232"/>
            <a:ext cx="452628" cy="118872"/>
          </a:xfrm>
          <a:prstGeom prst="roundRect">
            <a:avLst>
              <a:gd name="adj" fmla="val 50000"/>
            </a:avLst>
          </a:prstGeom>
          <a:solidFill>
            <a:srgbClr val="C4553B"/>
          </a:solidFill>
          <a:ln w="12700">
            <a:solidFill>
              <a:srgbClr val="333333"/>
            </a:solidFill>
            <a:prstDash val="solid"/>
          </a:ln>
        </p:spPr>
      </p:sp>
      <p:sp>
        <p:nvSpPr>
          <p:cNvPr id="16" name="Text 13"/>
          <p:cNvSpPr/>
          <p:nvPr/>
        </p:nvSpPr>
        <p:spPr>
          <a:xfrm>
            <a:off x="822960" y="3163824"/>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Quick-commerce presence</a:t>
            </a:r>
            <a:endParaRPr lang="en-US" sz="950" dirty="0"/>
          </a:p>
        </p:txBody>
      </p:sp>
      <p:sp>
        <p:nvSpPr>
          <p:cNvPr id="17" name="Text 14"/>
          <p:cNvSpPr/>
          <p:nvPr/>
        </p:nvSpPr>
        <p:spPr>
          <a:xfrm>
            <a:off x="6126480" y="3163824"/>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6–12 months</a:t>
            </a:r>
            <a:endParaRPr lang="en-US" sz="1000" dirty="0"/>
          </a:p>
        </p:txBody>
      </p:sp>
      <p:sp>
        <p:nvSpPr>
          <p:cNvPr id="18" name="Shape 15"/>
          <p:cNvSpPr/>
          <p:nvPr/>
        </p:nvSpPr>
        <p:spPr>
          <a:xfrm>
            <a:off x="822960" y="3383280"/>
            <a:ext cx="7040880" cy="118872"/>
          </a:xfrm>
          <a:prstGeom prst="roundRect">
            <a:avLst>
              <a:gd name="adj" fmla="val 50000"/>
            </a:avLst>
          </a:prstGeom>
          <a:solidFill>
            <a:srgbClr val="EDE4D4"/>
          </a:solidFill>
          <a:ln w="12700">
            <a:solidFill>
              <a:srgbClr val="333333"/>
            </a:solidFill>
            <a:prstDash val="solid"/>
          </a:ln>
        </p:spPr>
      </p:sp>
      <p:sp>
        <p:nvSpPr>
          <p:cNvPr id="19" name="Shape 16"/>
          <p:cNvSpPr/>
          <p:nvPr/>
        </p:nvSpPr>
        <p:spPr>
          <a:xfrm>
            <a:off x="822960" y="3383280"/>
            <a:ext cx="905256" cy="118872"/>
          </a:xfrm>
          <a:prstGeom prst="roundRect">
            <a:avLst>
              <a:gd name="adj" fmla="val 50000"/>
            </a:avLst>
          </a:prstGeom>
          <a:solidFill>
            <a:srgbClr val="C8922E"/>
          </a:solidFill>
          <a:ln w="12700">
            <a:solidFill>
              <a:srgbClr val="333333"/>
            </a:solidFill>
            <a:prstDash val="solid"/>
          </a:ln>
        </p:spPr>
      </p:sp>
      <p:sp>
        <p:nvSpPr>
          <p:cNvPr id="20" name="Text 17"/>
          <p:cNvSpPr/>
          <p:nvPr/>
        </p:nvSpPr>
        <p:spPr>
          <a:xfrm>
            <a:off x="822960" y="3547872"/>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230+ quality checkpoints</a:t>
            </a:r>
            <a:endParaRPr lang="en-US" sz="950" dirty="0"/>
          </a:p>
        </p:txBody>
      </p:sp>
      <p:sp>
        <p:nvSpPr>
          <p:cNvPr id="21" name="Text 18"/>
          <p:cNvSpPr/>
          <p:nvPr/>
        </p:nvSpPr>
        <p:spPr>
          <a:xfrm>
            <a:off x="6126480" y="354787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12–18 months</a:t>
            </a:r>
            <a:endParaRPr lang="en-US" sz="1000" dirty="0"/>
          </a:p>
        </p:txBody>
      </p:sp>
      <p:sp>
        <p:nvSpPr>
          <p:cNvPr id="22" name="Shape 19"/>
          <p:cNvSpPr/>
          <p:nvPr/>
        </p:nvSpPr>
        <p:spPr>
          <a:xfrm>
            <a:off x="822960" y="3767328"/>
            <a:ext cx="7040880" cy="118872"/>
          </a:xfrm>
          <a:prstGeom prst="roundRect">
            <a:avLst>
              <a:gd name="adj" fmla="val 50000"/>
            </a:avLst>
          </a:prstGeom>
          <a:solidFill>
            <a:srgbClr val="EDE4D4"/>
          </a:solidFill>
          <a:ln w="12700">
            <a:solidFill>
              <a:srgbClr val="333333"/>
            </a:solidFill>
            <a:prstDash val="solid"/>
          </a:ln>
        </p:spPr>
      </p:sp>
      <p:sp>
        <p:nvSpPr>
          <p:cNvPr id="23" name="Shape 20"/>
          <p:cNvSpPr/>
          <p:nvPr/>
        </p:nvSpPr>
        <p:spPr>
          <a:xfrm>
            <a:off x="822960" y="3767328"/>
            <a:ext cx="1508760" cy="118872"/>
          </a:xfrm>
          <a:prstGeom prst="roundRect">
            <a:avLst>
              <a:gd name="adj" fmla="val 50000"/>
            </a:avLst>
          </a:prstGeom>
          <a:solidFill>
            <a:srgbClr val="C8922E"/>
          </a:solidFill>
          <a:ln w="12700">
            <a:solidFill>
              <a:srgbClr val="333333"/>
            </a:solidFill>
            <a:prstDash val="solid"/>
          </a:ln>
        </p:spPr>
      </p:sp>
      <p:sp>
        <p:nvSpPr>
          <p:cNvPr id="24" name="Text 21"/>
          <p:cNvSpPr/>
          <p:nvPr/>
        </p:nvSpPr>
        <p:spPr>
          <a:xfrm>
            <a:off x="822960" y="3931920"/>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QR batch traceability</a:t>
            </a:r>
            <a:endParaRPr lang="en-US" sz="950" dirty="0"/>
          </a:p>
        </p:txBody>
      </p:sp>
      <p:sp>
        <p:nvSpPr>
          <p:cNvPr id="25" name="Text 22"/>
          <p:cNvSpPr/>
          <p:nvPr/>
        </p:nvSpPr>
        <p:spPr>
          <a:xfrm>
            <a:off x="6126480" y="393192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12–18 months</a:t>
            </a:r>
            <a:endParaRPr lang="en-US" sz="1000" dirty="0"/>
          </a:p>
        </p:txBody>
      </p:sp>
      <p:sp>
        <p:nvSpPr>
          <p:cNvPr id="26" name="Shape 23"/>
          <p:cNvSpPr/>
          <p:nvPr/>
        </p:nvSpPr>
        <p:spPr>
          <a:xfrm>
            <a:off x="822960" y="4151376"/>
            <a:ext cx="7040880" cy="118872"/>
          </a:xfrm>
          <a:prstGeom prst="roundRect">
            <a:avLst>
              <a:gd name="adj" fmla="val 50000"/>
            </a:avLst>
          </a:prstGeom>
          <a:solidFill>
            <a:srgbClr val="EDE4D4"/>
          </a:solidFill>
          <a:ln w="12700">
            <a:solidFill>
              <a:srgbClr val="333333"/>
            </a:solidFill>
            <a:prstDash val="solid"/>
          </a:ln>
        </p:spPr>
      </p:sp>
      <p:sp>
        <p:nvSpPr>
          <p:cNvPr id="27" name="Shape 24"/>
          <p:cNvSpPr/>
          <p:nvPr/>
        </p:nvSpPr>
        <p:spPr>
          <a:xfrm>
            <a:off x="822960" y="4151376"/>
            <a:ext cx="1508760" cy="118872"/>
          </a:xfrm>
          <a:prstGeom prst="roundRect">
            <a:avLst>
              <a:gd name="adj" fmla="val 50000"/>
            </a:avLst>
          </a:prstGeom>
          <a:solidFill>
            <a:srgbClr val="6688BE"/>
          </a:solidFill>
          <a:ln w="12700">
            <a:solidFill>
              <a:srgbClr val="333333"/>
            </a:solidFill>
            <a:prstDash val="solid"/>
          </a:ln>
        </p:spPr>
      </p:sp>
      <p:sp>
        <p:nvSpPr>
          <p:cNvPr id="28" name="Text 25"/>
          <p:cNvSpPr/>
          <p:nvPr/>
        </p:nvSpPr>
        <p:spPr>
          <a:xfrm>
            <a:off x="822960" y="4315968"/>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Farm-level residue testing</a:t>
            </a:r>
            <a:endParaRPr lang="en-US" sz="950" dirty="0"/>
          </a:p>
        </p:txBody>
      </p:sp>
      <p:sp>
        <p:nvSpPr>
          <p:cNvPr id="29" name="Text 26"/>
          <p:cNvSpPr/>
          <p:nvPr/>
        </p:nvSpPr>
        <p:spPr>
          <a:xfrm>
            <a:off x="6126480" y="4315968"/>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18–24 months</a:t>
            </a:r>
            <a:endParaRPr lang="en-US" sz="1000" dirty="0"/>
          </a:p>
        </p:txBody>
      </p:sp>
      <p:sp>
        <p:nvSpPr>
          <p:cNvPr id="30" name="Shape 27"/>
          <p:cNvSpPr/>
          <p:nvPr/>
        </p:nvSpPr>
        <p:spPr>
          <a:xfrm>
            <a:off x="822960" y="4535424"/>
            <a:ext cx="7040880" cy="118872"/>
          </a:xfrm>
          <a:prstGeom prst="roundRect">
            <a:avLst>
              <a:gd name="adj" fmla="val 50000"/>
            </a:avLst>
          </a:prstGeom>
          <a:solidFill>
            <a:srgbClr val="EDE4D4"/>
          </a:solidFill>
          <a:ln w="12700">
            <a:solidFill>
              <a:srgbClr val="333333"/>
            </a:solidFill>
            <a:prstDash val="solid"/>
          </a:ln>
        </p:spPr>
      </p:sp>
      <p:sp>
        <p:nvSpPr>
          <p:cNvPr id="31" name="Shape 28"/>
          <p:cNvSpPr/>
          <p:nvPr/>
        </p:nvSpPr>
        <p:spPr>
          <a:xfrm>
            <a:off x="822960" y="4535424"/>
            <a:ext cx="2112264" cy="118872"/>
          </a:xfrm>
          <a:prstGeom prst="roundRect">
            <a:avLst>
              <a:gd name="adj" fmla="val 50000"/>
            </a:avLst>
          </a:prstGeom>
          <a:solidFill>
            <a:srgbClr val="3A5D97"/>
          </a:solidFill>
          <a:ln w="12700">
            <a:solidFill>
              <a:srgbClr val="333333"/>
            </a:solidFill>
            <a:prstDash val="solid"/>
          </a:ln>
        </p:spPr>
      </p:sp>
      <p:sp>
        <p:nvSpPr>
          <p:cNvPr id="32" name="Text 29"/>
          <p:cNvSpPr/>
          <p:nvPr/>
        </p:nvSpPr>
        <p:spPr>
          <a:xfrm>
            <a:off x="822960" y="4700016"/>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Curated 5,000-farmer cohort</a:t>
            </a:r>
            <a:endParaRPr lang="en-US" sz="950" dirty="0"/>
          </a:p>
        </p:txBody>
      </p:sp>
      <p:sp>
        <p:nvSpPr>
          <p:cNvPr id="33" name="Text 30"/>
          <p:cNvSpPr/>
          <p:nvPr/>
        </p:nvSpPr>
        <p:spPr>
          <a:xfrm>
            <a:off x="6126480" y="4700016"/>
            <a:ext cx="1737360" cy="201168"/>
          </a:xfrm>
          <a:prstGeom prst="rect">
            <a:avLst/>
          </a:prstGeom>
          <a:noFill/>
          <a:ln/>
        </p:spPr>
        <p:txBody>
          <a:bodyPr wrap="square" lIns="0" tIns="0" rIns="0" bIns="0" rtlCol="0" anchor="ctr"/>
          <a:lstStyle/>
          <a:p>
            <a:pPr algn="r" indent="0" marL="0">
              <a:buNone/>
            </a:pPr>
            <a:r>
              <a:rPr lang="en-US" sz="1000" b="1" dirty="0">
                <a:solidFill>
                  <a:srgbClr val="2FA362"/>
                </a:solidFill>
                <a:latin typeface="Nunito Sans" pitchFamily="34" charset="0"/>
                <a:ea typeface="Nunito Sans" pitchFamily="34" charset="-122"/>
                <a:cs typeface="Nunito Sans" pitchFamily="34" charset="-120"/>
              </a:rPr>
              <a:t>24–36 months</a:t>
            </a:r>
            <a:endParaRPr lang="en-US" sz="1000" dirty="0"/>
          </a:p>
        </p:txBody>
      </p:sp>
      <p:sp>
        <p:nvSpPr>
          <p:cNvPr id="34" name="Shape 31"/>
          <p:cNvSpPr/>
          <p:nvPr/>
        </p:nvSpPr>
        <p:spPr>
          <a:xfrm>
            <a:off x="822960" y="4919472"/>
            <a:ext cx="7040880" cy="118872"/>
          </a:xfrm>
          <a:prstGeom prst="roundRect">
            <a:avLst>
              <a:gd name="adj" fmla="val 50000"/>
            </a:avLst>
          </a:prstGeom>
          <a:solidFill>
            <a:srgbClr val="EDE4D4"/>
          </a:solidFill>
          <a:ln w="12700">
            <a:solidFill>
              <a:srgbClr val="333333"/>
            </a:solidFill>
            <a:prstDash val="solid"/>
          </a:ln>
        </p:spPr>
      </p:sp>
      <p:sp>
        <p:nvSpPr>
          <p:cNvPr id="35" name="Shape 32"/>
          <p:cNvSpPr/>
          <p:nvPr/>
        </p:nvSpPr>
        <p:spPr>
          <a:xfrm>
            <a:off x="822960" y="4919472"/>
            <a:ext cx="3017520" cy="118872"/>
          </a:xfrm>
          <a:prstGeom prst="roundRect">
            <a:avLst>
              <a:gd name="adj" fmla="val 50000"/>
            </a:avLst>
          </a:prstGeom>
          <a:solidFill>
            <a:srgbClr val="2FA362"/>
          </a:solidFill>
          <a:ln w="12700">
            <a:solidFill>
              <a:srgbClr val="333333"/>
            </a:solidFill>
            <a:prstDash val="solid"/>
          </a:ln>
        </p:spPr>
      </p:sp>
      <p:sp>
        <p:nvSpPr>
          <p:cNvPr id="36" name="Text 33"/>
          <p:cNvSpPr/>
          <p:nvPr/>
        </p:nvSpPr>
        <p:spPr>
          <a:xfrm>
            <a:off x="822960" y="5084064"/>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Farmer margin model</a:t>
            </a:r>
            <a:endParaRPr lang="en-US" sz="950" dirty="0"/>
          </a:p>
        </p:txBody>
      </p:sp>
      <p:sp>
        <p:nvSpPr>
          <p:cNvPr id="37" name="Text 34"/>
          <p:cNvSpPr/>
          <p:nvPr/>
        </p:nvSpPr>
        <p:spPr>
          <a:xfrm>
            <a:off x="6126480" y="508406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3–5 years</a:t>
            </a:r>
            <a:endParaRPr lang="en-US" sz="1000" dirty="0"/>
          </a:p>
        </p:txBody>
      </p:sp>
      <p:sp>
        <p:nvSpPr>
          <p:cNvPr id="38" name="Shape 35"/>
          <p:cNvSpPr/>
          <p:nvPr/>
        </p:nvSpPr>
        <p:spPr>
          <a:xfrm>
            <a:off x="822960" y="5303520"/>
            <a:ext cx="7040880" cy="118872"/>
          </a:xfrm>
          <a:prstGeom prst="roundRect">
            <a:avLst>
              <a:gd name="adj" fmla="val 50000"/>
            </a:avLst>
          </a:prstGeom>
          <a:solidFill>
            <a:srgbClr val="EDE4D4"/>
          </a:solidFill>
          <a:ln w="12700">
            <a:solidFill>
              <a:srgbClr val="333333"/>
            </a:solidFill>
            <a:prstDash val="solid"/>
          </a:ln>
        </p:spPr>
      </p:sp>
      <p:sp>
        <p:nvSpPr>
          <p:cNvPr id="39" name="Shape 36"/>
          <p:cNvSpPr/>
          <p:nvPr/>
        </p:nvSpPr>
        <p:spPr>
          <a:xfrm>
            <a:off x="822960" y="5303520"/>
            <a:ext cx="4828032" cy="118872"/>
          </a:xfrm>
          <a:prstGeom prst="roundRect">
            <a:avLst>
              <a:gd name="adj" fmla="val 50000"/>
            </a:avLst>
          </a:prstGeom>
          <a:solidFill>
            <a:srgbClr val="177A46"/>
          </a:solidFill>
          <a:ln w="12700">
            <a:solidFill>
              <a:srgbClr val="333333"/>
            </a:solidFill>
            <a:prstDash val="solid"/>
          </a:ln>
        </p:spPr>
      </p:sp>
      <p:sp>
        <p:nvSpPr>
          <p:cNvPr id="40" name="Text 37"/>
          <p:cNvSpPr/>
          <p:nvPr/>
        </p:nvSpPr>
        <p:spPr>
          <a:xfrm>
            <a:off x="822960" y="5468112"/>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DeHaat agritech input control</a:t>
            </a:r>
            <a:endParaRPr lang="en-US" sz="950" dirty="0"/>
          </a:p>
        </p:txBody>
      </p:sp>
      <p:sp>
        <p:nvSpPr>
          <p:cNvPr id="41" name="Text 38"/>
          <p:cNvSpPr/>
          <p:nvPr/>
        </p:nvSpPr>
        <p:spPr>
          <a:xfrm>
            <a:off x="6126480" y="5468112"/>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5+ years</a:t>
            </a:r>
            <a:endParaRPr lang="en-US" sz="1000" dirty="0"/>
          </a:p>
        </p:txBody>
      </p:sp>
      <p:sp>
        <p:nvSpPr>
          <p:cNvPr id="42" name="Shape 39"/>
          <p:cNvSpPr/>
          <p:nvPr/>
        </p:nvSpPr>
        <p:spPr>
          <a:xfrm>
            <a:off x="822960" y="5687568"/>
            <a:ext cx="7040880" cy="118872"/>
          </a:xfrm>
          <a:prstGeom prst="roundRect">
            <a:avLst>
              <a:gd name="adj" fmla="val 50000"/>
            </a:avLst>
          </a:prstGeom>
          <a:solidFill>
            <a:srgbClr val="EDE4D4"/>
          </a:solidFill>
          <a:ln w="12700">
            <a:solidFill>
              <a:srgbClr val="333333"/>
            </a:solidFill>
            <a:prstDash val="solid"/>
          </a:ln>
        </p:spPr>
      </p:sp>
      <p:sp>
        <p:nvSpPr>
          <p:cNvPr id="43" name="Shape 40"/>
          <p:cNvSpPr/>
          <p:nvPr/>
        </p:nvSpPr>
        <p:spPr>
          <a:xfrm>
            <a:off x="822960" y="5687568"/>
            <a:ext cx="6638544" cy="118872"/>
          </a:xfrm>
          <a:prstGeom prst="roundRect">
            <a:avLst>
              <a:gd name="adj" fmla="val 50000"/>
            </a:avLst>
          </a:prstGeom>
          <a:solidFill>
            <a:srgbClr val="177A46"/>
          </a:solidFill>
          <a:ln w="12700">
            <a:solidFill>
              <a:srgbClr val="333333"/>
            </a:solidFill>
            <a:prstDash val="solid"/>
          </a:ln>
        </p:spPr>
      </p:sp>
      <p:sp>
        <p:nvSpPr>
          <p:cNvPr id="44" name="Shape 41"/>
          <p:cNvSpPr/>
          <p:nvPr/>
        </p:nvSpPr>
        <p:spPr>
          <a:xfrm>
            <a:off x="8458200" y="2121408"/>
            <a:ext cx="3230575" cy="1417320"/>
          </a:xfrm>
          <a:prstGeom prst="roundRect">
            <a:avLst>
              <a:gd name="adj" fmla="val 5806"/>
            </a:avLst>
          </a:prstGeom>
          <a:solidFill>
            <a:srgbClr val="FBE9E3"/>
          </a:solidFill>
          <a:ln w="9525">
            <a:solidFill>
              <a:srgbClr val="F0CDC2"/>
            </a:solidFill>
            <a:prstDash val="solid"/>
          </a:ln>
          <a:effectLst>
            <a:outerShdw sx="100000" sy="100000" kx="0" ky="0" algn="bl" rotWithShape="0" blurRad="177800" dist="38100" dir="5400000">
              <a:srgbClr val="101C2C">
                <a:alpha val="9000"/>
              </a:srgbClr>
            </a:outerShdw>
          </a:effectLst>
        </p:spPr>
      </p:sp>
      <p:sp>
        <p:nvSpPr>
          <p:cNvPr id="45" name="Text 42"/>
          <p:cNvSpPr/>
          <p:nvPr/>
        </p:nvSpPr>
        <p:spPr>
          <a:xfrm>
            <a:off x="8659368" y="2240280"/>
            <a:ext cx="2828239" cy="40233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Everything below the line is table stakes.</a:t>
            </a:r>
            <a:endParaRPr lang="en-US" sz="1050" dirty="0"/>
          </a:p>
        </p:txBody>
      </p:sp>
      <p:sp>
        <p:nvSpPr>
          <p:cNvPr id="46" name="Text 43"/>
          <p:cNvSpPr/>
          <p:nvPr/>
        </p:nvSpPr>
        <p:spPr>
          <a:xfrm>
            <a:off x="8659368" y="2670048"/>
            <a:ext cx="2828239" cy="7772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label claim, SKU breadth and quick-commerce presence buy nothing durable. They are the cost of entry, not the moat.</a:t>
            </a:r>
            <a:endParaRPr lang="en-US" sz="900" dirty="0"/>
          </a:p>
        </p:txBody>
      </p:sp>
      <p:sp>
        <p:nvSpPr>
          <p:cNvPr id="47" name="Shape 44"/>
          <p:cNvSpPr/>
          <p:nvPr/>
        </p:nvSpPr>
        <p:spPr>
          <a:xfrm>
            <a:off x="8458200" y="3694176"/>
            <a:ext cx="3230575" cy="2194560"/>
          </a:xfrm>
          <a:prstGeom prst="roundRect">
            <a:avLst>
              <a:gd name="adj" fmla="val 3750"/>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48" name="Text 45"/>
          <p:cNvSpPr/>
          <p:nvPr/>
        </p:nvSpPr>
        <p:spPr>
          <a:xfrm>
            <a:off x="8659368" y="3813048"/>
            <a:ext cx="28282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Only the bottom three survive.</a:t>
            </a:r>
            <a:endParaRPr lang="en-US" sz="1050" dirty="0"/>
          </a:p>
        </p:txBody>
      </p:sp>
      <p:sp>
        <p:nvSpPr>
          <p:cNvPr id="49" name="Text 46"/>
          <p:cNvSpPr/>
          <p:nvPr/>
        </p:nvSpPr>
        <p:spPr>
          <a:xfrm>
            <a:off x="8659368" y="4059936"/>
            <a:ext cx="2828239" cy="173736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The curated farmer cohort, the farmer margin model and DeHaat's agritech input control take three to five-plus years to replicate — because they are relationships and systems, not features. Those are what the brand should be built on.</a:t>
            </a:r>
            <a:endParaRPr lang="en-US" sz="90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249424"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249424"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UNTAPPED OPPORTUNITY</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DeHaat Honest Farms is a system-led challenger.</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other player proves safety by testing the harvest or buying a certificate. DHF is the only one that can prevent the problem at the input — because it already runs the agritech network the farmer plants with.</a:t>
            </a:r>
            <a:endParaRPr lang="en-US" sz="1100" dirty="0"/>
          </a:p>
        </p:txBody>
      </p:sp>
      <p:sp>
        <p:nvSpPr>
          <p:cNvPr id="7" name="Shape 4"/>
          <p:cNvSpPr/>
          <p:nvPr/>
        </p:nvSpPr>
        <p:spPr>
          <a:xfrm>
            <a:off x="502920" y="2121408"/>
            <a:ext cx="6766560" cy="1005840"/>
          </a:xfrm>
          <a:prstGeom prst="roundRect">
            <a:avLst>
              <a:gd name="adj" fmla="val 818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704088" y="2304288"/>
            <a:ext cx="384048" cy="384048"/>
          </a:xfrm>
          <a:prstGeom prst="roundRect">
            <a:avLst>
              <a:gd name="adj" fmla="val 19048"/>
            </a:avLst>
          </a:prstGeom>
          <a:solidFill>
            <a:srgbClr val="177A46"/>
          </a:solidFill>
          <a:ln w="12700">
            <a:solidFill>
              <a:srgbClr val="333333"/>
            </a:solidFill>
            <a:prstDash val="solid"/>
          </a:ln>
        </p:spPr>
      </p:sp>
      <p:sp>
        <p:nvSpPr>
          <p:cNvPr id="9" name="Text 6"/>
          <p:cNvSpPr/>
          <p:nvPr/>
        </p:nvSpPr>
        <p:spPr>
          <a:xfrm>
            <a:off x="704088" y="2304288"/>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01</a:t>
            </a:r>
            <a:endParaRPr lang="en-US" sz="900" dirty="0"/>
          </a:p>
        </p:txBody>
      </p:sp>
      <p:sp>
        <p:nvSpPr>
          <p:cNvPr id="10" name="Text 7"/>
          <p:cNvSpPr/>
          <p:nvPr/>
        </p:nvSpPr>
        <p:spPr>
          <a:xfrm>
            <a:off x="1216152" y="2267712"/>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AgriTech-embedded input control</a:t>
            </a:r>
            <a:endParaRPr lang="en-US" sz="1150" dirty="0"/>
          </a:p>
        </p:txBody>
      </p:sp>
      <p:sp>
        <p:nvSpPr>
          <p:cNvPr id="11" name="Text 8"/>
          <p:cNvSpPr/>
          <p:nvPr/>
        </p:nvSpPr>
        <p:spPr>
          <a:xfrm>
            <a:off x="1216152" y="2523744"/>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We prevent pesticide use at source, rather than testing for it afterward.</a:t>
            </a:r>
            <a:endParaRPr lang="en-US" sz="950" dirty="0"/>
          </a:p>
        </p:txBody>
      </p:sp>
      <p:sp>
        <p:nvSpPr>
          <p:cNvPr id="12" name="Text 9"/>
          <p:cNvSpPr/>
          <p:nvPr/>
        </p:nvSpPr>
        <p:spPr>
          <a:xfrm>
            <a:off x="1216152" y="2816352"/>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NEAR ZERO</a:t>
            </a:r>
            <a:endParaRPr lang="en-US" sz="800" dirty="0"/>
          </a:p>
        </p:txBody>
      </p:sp>
      <p:sp>
        <p:nvSpPr>
          <p:cNvPr id="13" name="Shape 10"/>
          <p:cNvSpPr/>
          <p:nvPr/>
        </p:nvSpPr>
        <p:spPr>
          <a:xfrm>
            <a:off x="502920" y="3255264"/>
            <a:ext cx="6766560" cy="1005840"/>
          </a:xfrm>
          <a:prstGeom prst="roundRect">
            <a:avLst>
              <a:gd name="adj" fmla="val 818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Shape 11"/>
          <p:cNvSpPr/>
          <p:nvPr/>
        </p:nvSpPr>
        <p:spPr>
          <a:xfrm>
            <a:off x="704088" y="3438144"/>
            <a:ext cx="384048" cy="384048"/>
          </a:xfrm>
          <a:prstGeom prst="roundRect">
            <a:avLst>
              <a:gd name="adj" fmla="val 19048"/>
            </a:avLst>
          </a:prstGeom>
          <a:solidFill>
            <a:srgbClr val="177A46"/>
          </a:solidFill>
          <a:ln w="12700">
            <a:solidFill>
              <a:srgbClr val="333333"/>
            </a:solidFill>
            <a:prstDash val="solid"/>
          </a:ln>
        </p:spPr>
      </p:sp>
      <p:sp>
        <p:nvSpPr>
          <p:cNvPr id="15" name="Text 12"/>
          <p:cNvSpPr/>
          <p:nvPr/>
        </p:nvSpPr>
        <p:spPr>
          <a:xfrm>
            <a:off x="704088" y="3438144"/>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02</a:t>
            </a:r>
            <a:endParaRPr lang="en-US" sz="900" dirty="0"/>
          </a:p>
        </p:txBody>
      </p:sp>
      <p:sp>
        <p:nvSpPr>
          <p:cNvPr id="16" name="Text 13"/>
          <p:cNvSpPr/>
          <p:nvPr/>
        </p:nvSpPr>
        <p:spPr>
          <a:xfrm>
            <a:off x="1216152" y="3401568"/>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Continuous quality intelligence across 2M farms</a:t>
            </a:r>
            <a:endParaRPr lang="en-US" sz="1150" dirty="0"/>
          </a:p>
        </p:txBody>
      </p:sp>
      <p:sp>
        <p:nvSpPr>
          <p:cNvPr id="17" name="Text 14"/>
          <p:cNvSpPr/>
          <p:nvPr/>
        </p:nvSpPr>
        <p:spPr>
          <a:xfrm>
            <a:off x="1216152" y="3657600"/>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Quality trajectory is known before harvest, not after rejection.</a:t>
            </a:r>
            <a:endParaRPr lang="en-US" sz="950" dirty="0"/>
          </a:p>
        </p:txBody>
      </p:sp>
      <p:sp>
        <p:nvSpPr>
          <p:cNvPr id="18" name="Text 15"/>
          <p:cNvSpPr/>
          <p:nvPr/>
        </p:nvSpPr>
        <p:spPr>
          <a:xfrm>
            <a:off x="1216152" y="3950208"/>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ZERO</a:t>
            </a:r>
            <a:endParaRPr lang="en-US" sz="800" dirty="0"/>
          </a:p>
        </p:txBody>
      </p:sp>
      <p:sp>
        <p:nvSpPr>
          <p:cNvPr id="19" name="Shape 16"/>
          <p:cNvSpPr/>
          <p:nvPr/>
        </p:nvSpPr>
        <p:spPr>
          <a:xfrm>
            <a:off x="502920" y="4389120"/>
            <a:ext cx="6766560" cy="1005840"/>
          </a:xfrm>
          <a:prstGeom prst="roundRect">
            <a:avLst>
              <a:gd name="adj" fmla="val 818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0" name="Shape 17"/>
          <p:cNvSpPr/>
          <p:nvPr/>
        </p:nvSpPr>
        <p:spPr>
          <a:xfrm>
            <a:off x="704088" y="4572000"/>
            <a:ext cx="384048" cy="384048"/>
          </a:xfrm>
          <a:prstGeom prst="roundRect">
            <a:avLst>
              <a:gd name="adj" fmla="val 19048"/>
            </a:avLst>
          </a:prstGeom>
          <a:solidFill>
            <a:srgbClr val="177A46"/>
          </a:solidFill>
          <a:ln w="12700">
            <a:solidFill>
              <a:srgbClr val="333333"/>
            </a:solidFill>
            <a:prstDash val="solid"/>
          </a:ln>
        </p:spPr>
      </p:sp>
      <p:sp>
        <p:nvSpPr>
          <p:cNvPr id="21" name="Text 18"/>
          <p:cNvSpPr/>
          <p:nvPr/>
        </p:nvSpPr>
        <p:spPr>
          <a:xfrm>
            <a:off x="704088" y="4572000"/>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03</a:t>
            </a:r>
            <a:endParaRPr lang="en-US" sz="900" dirty="0"/>
          </a:p>
        </p:txBody>
      </p:sp>
      <p:sp>
        <p:nvSpPr>
          <p:cNvPr id="22" name="Text 19"/>
          <p:cNvSpPr/>
          <p:nvPr/>
        </p:nvSpPr>
        <p:spPr>
          <a:xfrm>
            <a:off x="1216152" y="4535424"/>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Farmer economic ecosystem</a:t>
            </a:r>
            <a:endParaRPr lang="en-US" sz="1150" dirty="0"/>
          </a:p>
        </p:txBody>
      </p:sp>
      <p:sp>
        <p:nvSpPr>
          <p:cNvPr id="23" name="Text 20"/>
          <p:cNvSpPr/>
          <p:nvPr/>
        </p:nvSpPr>
        <p:spPr>
          <a:xfrm>
            <a:off x="1216152" y="4791456"/>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Supply exclusivity earned through 30 to 50% better farmer returns.</a:t>
            </a:r>
            <a:endParaRPr lang="en-US" sz="950" dirty="0"/>
          </a:p>
        </p:txBody>
      </p:sp>
      <p:sp>
        <p:nvSpPr>
          <p:cNvPr id="24" name="Text 21"/>
          <p:cNvSpPr/>
          <p:nvPr/>
        </p:nvSpPr>
        <p:spPr>
          <a:xfrm>
            <a:off x="1216152" y="5084064"/>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MINIMAL</a:t>
            </a:r>
            <a:endParaRPr lang="en-US" sz="800" dirty="0"/>
          </a:p>
        </p:txBody>
      </p:sp>
      <p:sp>
        <p:nvSpPr>
          <p:cNvPr id="25" name="Shape 22"/>
          <p:cNvSpPr/>
          <p:nvPr/>
        </p:nvSpPr>
        <p:spPr>
          <a:xfrm>
            <a:off x="7543800" y="2121408"/>
            <a:ext cx="4144975" cy="2377440"/>
          </a:xfrm>
          <a:prstGeom prst="roundRect">
            <a:avLst>
              <a:gd name="adj" fmla="val 346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pic>
        <p:nvPicPr>
          <p:cNvPr id="26" name="Image 1" descr="/home/user/hopper-tessarakt/site/assets/pack-toordal.jpg">    </p:cNvPr>
          <p:cNvPicPr>
            <a:picLocks noChangeAspect="1"/>
          </p:cNvPicPr>
          <p:nvPr/>
        </p:nvPicPr>
        <p:blipFill>
          <a:blip r:embed="rId2"/>
          <a:srcRect l="0" r="0" t="0" b="0"/>
          <a:stretch/>
        </p:blipFill>
        <p:spPr>
          <a:xfrm>
            <a:off x="8732520" y="2258568"/>
            <a:ext cx="1737360" cy="2103120"/>
          </a:xfrm>
          <a:prstGeom prst="rect">
            <a:avLst/>
          </a:prstGeom>
        </p:spPr>
      </p:pic>
      <p:sp>
        <p:nvSpPr>
          <p:cNvPr id="27" name="Text 23"/>
          <p:cNvSpPr/>
          <p:nvPr/>
        </p:nvSpPr>
        <p:spPr>
          <a:xfrm>
            <a:off x="7543800" y="4590288"/>
            <a:ext cx="4144975" cy="45720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The asset is already on pack and under-worked: a Know Your Farmer QR, 230+ pesticide checks, and a pesticide-free call-out.</a:t>
            </a:r>
            <a:endParaRPr lang="en-US" sz="850" dirty="0"/>
          </a:p>
        </p:txBody>
      </p:sp>
      <p:sp>
        <p:nvSpPr>
          <p:cNvPr id="28" name="Shape 24"/>
          <p:cNvSpPr/>
          <p:nvPr/>
        </p:nvSpPr>
        <p:spPr>
          <a:xfrm>
            <a:off x="7543800" y="5138928"/>
            <a:ext cx="4144975" cy="1143000"/>
          </a:xfrm>
          <a:prstGeom prst="roundRect">
            <a:avLst>
              <a:gd name="adj" fmla="val 7200"/>
            </a:avLst>
          </a:prstGeom>
          <a:solidFill>
            <a:srgbClr val="FBE9E3"/>
          </a:solidFill>
          <a:ln w="9525">
            <a:solidFill>
              <a:srgbClr val="F0CDC2"/>
            </a:solidFill>
            <a:prstDash val="solid"/>
          </a:ln>
          <a:effectLst>
            <a:outerShdw sx="100000" sy="100000" kx="0" ky="0" algn="bl" rotWithShape="0" blurRad="177800" dist="38100" dir="5400000">
              <a:srgbClr val="101C2C">
                <a:alpha val="9000"/>
              </a:srgbClr>
            </a:outerShdw>
          </a:effectLst>
        </p:spPr>
      </p:sp>
      <p:sp>
        <p:nvSpPr>
          <p:cNvPr id="29" name="Text 25"/>
          <p:cNvSpPr/>
          <p:nvPr/>
        </p:nvSpPr>
        <p:spPr>
          <a:xfrm>
            <a:off x="7744968" y="525780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One thing to fix first.</a:t>
            </a:r>
            <a:endParaRPr lang="en-US" sz="1050" dirty="0"/>
          </a:p>
        </p:txBody>
      </p:sp>
      <p:sp>
        <p:nvSpPr>
          <p:cNvPr id="30" name="Text 26"/>
          <p:cNvSpPr/>
          <p:nvPr/>
        </p:nvSpPr>
        <p:spPr>
          <a:xfrm>
            <a:off x="7744968" y="5504688"/>
            <a:ext cx="3742639" cy="6858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DHF's shelf price is inconsistent across platforms. The accessible-premium corridor is only defensible if the price is coherent everywhere the shopper looks.</a:t>
            </a:r>
            <a:endParaRPr lang="en-US" sz="900" dirty="0"/>
          </a:p>
        </p:txBody>
      </p:sp>
      <p:sp>
        <p:nvSpPr>
          <p:cNvPr id="31" name="Shape 27"/>
          <p:cNvSpPr/>
          <p:nvPr/>
        </p:nvSpPr>
        <p:spPr>
          <a:xfrm>
            <a:off x="502920" y="6455664"/>
            <a:ext cx="11185855" cy="0"/>
          </a:xfrm>
          <a:prstGeom prst="line">
            <a:avLst/>
          </a:prstGeom>
          <a:noFill/>
          <a:ln w="9525">
            <a:solidFill>
              <a:srgbClr val="E5DCCB"/>
            </a:solidFill>
            <a:prstDash val="solid"/>
          </a:ln>
        </p:spPr>
      </p:sp>
      <p:sp>
        <p:nvSpPr>
          <p:cNvPr id="32" name="Text 2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33" name="Text 2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3.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03</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Consumer</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Thirty-one conversations and 305 surveys, turned into four people you can sell to.</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Four tensions beneath the category</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Factor analysis on 15 attitude statements</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Four segments, four definitions of proof</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4668926"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4668926"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QUALITATIVE RESEARCH · 31 RESPONDENTS, 6 CITIES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Shoppers care enormously. They just don't know what the words mean.</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Qualitative research by the team — 31 respondents across 6 cities. In-market intercepts, IDIs and ethnography, run before a single survey question was written.</a:t>
            </a:r>
            <a:endParaRPr lang="en-US" sz="1100" dirty="0"/>
          </a:p>
        </p:txBody>
      </p:sp>
      <p:sp>
        <p:nvSpPr>
          <p:cNvPr id="7" name="Shape 4"/>
          <p:cNvSpPr/>
          <p:nvPr/>
        </p:nvSpPr>
        <p:spPr>
          <a:xfrm>
            <a:off x="502920" y="2121408"/>
            <a:ext cx="3545738" cy="1115568"/>
          </a:xfrm>
          <a:prstGeom prst="roundRect">
            <a:avLst>
              <a:gd name="adj" fmla="val 737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231136"/>
            <a:ext cx="3179978"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70%</a:t>
            </a:r>
            <a:endParaRPr lang="en-US" sz="2500" dirty="0"/>
          </a:p>
        </p:txBody>
      </p:sp>
      <p:sp>
        <p:nvSpPr>
          <p:cNvPr id="9" name="Text 6"/>
          <p:cNvSpPr/>
          <p:nvPr/>
        </p:nvSpPr>
        <p:spPr>
          <a:xfrm>
            <a:off x="685800" y="2679700"/>
            <a:ext cx="3179978" cy="484124"/>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in-market shoppers could not distinguish "organic" from "pesticide-free"</a:t>
            </a:r>
            <a:endParaRPr lang="en-US" sz="850" dirty="0"/>
          </a:p>
        </p:txBody>
      </p:sp>
      <p:sp>
        <p:nvSpPr>
          <p:cNvPr id="10" name="Shape 7"/>
          <p:cNvSpPr/>
          <p:nvPr/>
        </p:nvSpPr>
        <p:spPr>
          <a:xfrm>
            <a:off x="4322978" y="2121408"/>
            <a:ext cx="3545738" cy="1115568"/>
          </a:xfrm>
          <a:prstGeom prst="roundRect">
            <a:avLst>
              <a:gd name="adj" fmla="val 737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4505858" y="223113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100%</a:t>
            </a:r>
            <a:endParaRPr lang="en-US" sz="2500" dirty="0"/>
          </a:p>
        </p:txBody>
      </p:sp>
      <p:sp>
        <p:nvSpPr>
          <p:cNvPr id="12" name="Text 9"/>
          <p:cNvSpPr/>
          <p:nvPr/>
        </p:nvSpPr>
        <p:spPr>
          <a:xfrm>
            <a:off x="4505858" y="2679700"/>
            <a:ext cx="3179978" cy="484124"/>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cited health of self &amp; family as their primary food purchase driver</a:t>
            </a:r>
            <a:endParaRPr lang="en-US" sz="850" dirty="0"/>
          </a:p>
        </p:txBody>
      </p:sp>
      <p:sp>
        <p:nvSpPr>
          <p:cNvPr id="13" name="Shape 10"/>
          <p:cNvSpPr/>
          <p:nvPr/>
        </p:nvSpPr>
        <p:spPr>
          <a:xfrm>
            <a:off x="8143037" y="2121408"/>
            <a:ext cx="3545738" cy="1115568"/>
          </a:xfrm>
          <a:prstGeom prst="roundRect">
            <a:avLst>
              <a:gd name="adj" fmla="val 737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8325917" y="223113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0%</a:t>
            </a:r>
            <a:endParaRPr lang="en-US" sz="2500" dirty="0"/>
          </a:p>
        </p:txBody>
      </p:sp>
      <p:sp>
        <p:nvSpPr>
          <p:cNvPr id="15" name="Text 12"/>
          <p:cNvSpPr/>
          <p:nvPr/>
        </p:nvSpPr>
        <p:spPr>
          <a:xfrm>
            <a:off x="8325917" y="2679700"/>
            <a:ext cx="3179978" cy="484124"/>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connected the word "pure" to pesticide residue — a language gap, not an interest gap</a:t>
            </a:r>
            <a:endParaRPr lang="en-US" sz="850" dirty="0"/>
          </a:p>
        </p:txBody>
      </p:sp>
      <p:sp>
        <p:nvSpPr>
          <p:cNvPr id="16" name="Text 13"/>
          <p:cNvSpPr/>
          <p:nvPr/>
        </p:nvSpPr>
        <p:spPr>
          <a:xfrm>
            <a:off x="502920" y="3438144"/>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FOUR TENSIONS BENEATH THE CATEGORY</a:t>
            </a:r>
            <a:endParaRPr lang="en-US" sz="950" dirty="0"/>
          </a:p>
        </p:txBody>
      </p:sp>
      <p:sp>
        <p:nvSpPr>
          <p:cNvPr id="17" name="Shape 14"/>
          <p:cNvSpPr/>
          <p:nvPr/>
        </p:nvSpPr>
        <p:spPr>
          <a:xfrm>
            <a:off x="502920" y="3712464"/>
            <a:ext cx="5760720" cy="603504"/>
          </a:xfrm>
          <a:prstGeom prst="roundRect">
            <a:avLst>
              <a:gd name="adj" fmla="val 757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Shape 15"/>
          <p:cNvSpPr/>
          <p:nvPr/>
        </p:nvSpPr>
        <p:spPr>
          <a:xfrm>
            <a:off x="502920" y="3712464"/>
            <a:ext cx="41148" cy="603504"/>
          </a:xfrm>
          <a:prstGeom prst="rect">
            <a:avLst/>
          </a:prstGeom>
          <a:solidFill>
            <a:srgbClr val="3A5D97"/>
          </a:solidFill>
          <a:ln w="12700">
            <a:solidFill>
              <a:srgbClr val="333333"/>
            </a:solidFill>
            <a:prstDash val="solid"/>
          </a:ln>
        </p:spPr>
      </p:sp>
      <p:sp>
        <p:nvSpPr>
          <p:cNvPr id="19" name="Text 16"/>
          <p:cNvSpPr/>
          <p:nvPr/>
        </p:nvSpPr>
        <p:spPr>
          <a:xfrm>
            <a:off x="685800" y="37764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01  Conceptual fog, not an information gap</a:t>
            </a:r>
            <a:endParaRPr lang="en-US" sz="1000" dirty="0"/>
          </a:p>
        </p:txBody>
      </p:sp>
      <p:sp>
        <p:nvSpPr>
          <p:cNvPr id="20" name="Text 17"/>
          <p:cNvSpPr/>
          <p:nvPr/>
        </p:nvSpPr>
        <p:spPr>
          <a:xfrm>
            <a:off x="685800" y="39684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Consumers do not merely lack information — they hold incorrect information that feels correct.</a:t>
            </a:r>
            <a:endParaRPr lang="en-US" sz="800" dirty="0"/>
          </a:p>
        </p:txBody>
      </p:sp>
      <p:sp>
        <p:nvSpPr>
          <p:cNvPr id="21" name="Shape 18"/>
          <p:cNvSpPr/>
          <p:nvPr/>
        </p:nvSpPr>
        <p:spPr>
          <a:xfrm>
            <a:off x="502920" y="4398264"/>
            <a:ext cx="5760720" cy="603504"/>
          </a:xfrm>
          <a:prstGeom prst="roundRect">
            <a:avLst>
              <a:gd name="adj" fmla="val 757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2" name="Shape 19"/>
          <p:cNvSpPr/>
          <p:nvPr/>
        </p:nvSpPr>
        <p:spPr>
          <a:xfrm>
            <a:off x="502920" y="4398264"/>
            <a:ext cx="41148" cy="603504"/>
          </a:xfrm>
          <a:prstGeom prst="rect">
            <a:avLst/>
          </a:prstGeom>
          <a:solidFill>
            <a:srgbClr val="3A5D97"/>
          </a:solidFill>
          <a:ln w="12700">
            <a:solidFill>
              <a:srgbClr val="333333"/>
            </a:solidFill>
            <a:prstDash val="solid"/>
          </a:ln>
        </p:spPr>
      </p:sp>
      <p:sp>
        <p:nvSpPr>
          <p:cNvPr id="23" name="Text 20"/>
          <p:cNvSpPr/>
          <p:nvPr/>
        </p:nvSpPr>
        <p:spPr>
          <a:xfrm>
            <a:off x="685800" y="44622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02  Adulteration fatalism</a:t>
            </a:r>
            <a:endParaRPr lang="en-US" sz="1000" dirty="0"/>
          </a:p>
        </p:txBody>
      </p:sp>
      <p:sp>
        <p:nvSpPr>
          <p:cNvPr id="24" name="Text 21"/>
          <p:cNvSpPr/>
          <p:nvPr/>
        </p:nvSpPr>
        <p:spPr>
          <a:xfrm>
            <a:off x="685800" y="46542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73% agree some adulteration is unavoidable. The risk is known and quietly accepted — highest in chilli.</a:t>
            </a:r>
            <a:endParaRPr lang="en-US" sz="800" dirty="0"/>
          </a:p>
        </p:txBody>
      </p:sp>
      <p:sp>
        <p:nvSpPr>
          <p:cNvPr id="25" name="Shape 22"/>
          <p:cNvSpPr/>
          <p:nvPr/>
        </p:nvSpPr>
        <p:spPr>
          <a:xfrm>
            <a:off x="502920" y="5084064"/>
            <a:ext cx="5760720" cy="603504"/>
          </a:xfrm>
          <a:prstGeom prst="roundRect">
            <a:avLst>
              <a:gd name="adj" fmla="val 757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6" name="Shape 23"/>
          <p:cNvSpPr/>
          <p:nvPr/>
        </p:nvSpPr>
        <p:spPr>
          <a:xfrm>
            <a:off x="502920" y="5084064"/>
            <a:ext cx="41148" cy="603504"/>
          </a:xfrm>
          <a:prstGeom prst="rect">
            <a:avLst/>
          </a:prstGeom>
          <a:solidFill>
            <a:srgbClr val="3A5D97"/>
          </a:solidFill>
          <a:ln w="12700">
            <a:solidFill>
              <a:srgbClr val="333333"/>
            </a:solidFill>
            <a:prstDash val="solid"/>
          </a:ln>
        </p:spPr>
      </p:sp>
      <p:sp>
        <p:nvSpPr>
          <p:cNvPr id="27" name="Text 24"/>
          <p:cNvSpPr/>
          <p:nvPr/>
        </p:nvSpPr>
        <p:spPr>
          <a:xfrm>
            <a:off x="685800" y="51480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03  Bodily proof beats label proof</a:t>
            </a:r>
            <a:endParaRPr lang="en-US" sz="1000" dirty="0"/>
          </a:p>
        </p:txBody>
      </p:sp>
      <p:sp>
        <p:nvSpPr>
          <p:cNvPr id="28" name="Text 25"/>
          <p:cNvSpPr/>
          <p:nvPr/>
        </p:nvSpPr>
        <p:spPr>
          <a:xfrm>
            <a:off x="685800" y="53400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Confidence comes from energy, weight and blood work of self and family members.</a:t>
            </a:r>
            <a:endParaRPr lang="en-US" sz="800" dirty="0"/>
          </a:p>
        </p:txBody>
      </p:sp>
      <p:sp>
        <p:nvSpPr>
          <p:cNvPr id="29" name="Shape 26"/>
          <p:cNvSpPr/>
          <p:nvPr/>
        </p:nvSpPr>
        <p:spPr>
          <a:xfrm>
            <a:off x="502920" y="5769864"/>
            <a:ext cx="5760720" cy="603504"/>
          </a:xfrm>
          <a:prstGeom prst="roundRect">
            <a:avLst>
              <a:gd name="adj" fmla="val 757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0" name="Shape 27"/>
          <p:cNvSpPr/>
          <p:nvPr/>
        </p:nvSpPr>
        <p:spPr>
          <a:xfrm>
            <a:off x="502920" y="5769864"/>
            <a:ext cx="41148" cy="603504"/>
          </a:xfrm>
          <a:prstGeom prst="rect">
            <a:avLst/>
          </a:prstGeom>
          <a:solidFill>
            <a:srgbClr val="3A5D97"/>
          </a:solidFill>
          <a:ln w="12700">
            <a:solidFill>
              <a:srgbClr val="333333"/>
            </a:solidFill>
            <a:prstDash val="solid"/>
          </a:ln>
        </p:spPr>
      </p:sp>
      <p:sp>
        <p:nvSpPr>
          <p:cNvPr id="31" name="Text 28"/>
          <p:cNvSpPr/>
          <p:nvPr/>
        </p:nvSpPr>
        <p:spPr>
          <a:xfrm>
            <a:off x="685800" y="58338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04  Assumed safety in makhana</a:t>
            </a:r>
            <a:endParaRPr lang="en-US" sz="1000" dirty="0"/>
          </a:p>
        </p:txBody>
      </p:sp>
      <p:sp>
        <p:nvSpPr>
          <p:cNvPr id="32" name="Text 29"/>
          <p:cNvSpPr/>
          <p:nvPr/>
        </p:nvSpPr>
        <p:spPr>
          <a:xfrm>
            <a:off x="685800" y="60258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Believed to be "grown from lotus stems" and "processed like popcorn". Neither is accurate, and it is the only category with no residue conversation.</a:t>
            </a:r>
            <a:endParaRPr lang="en-US" sz="800" dirty="0"/>
          </a:p>
        </p:txBody>
      </p:sp>
      <p:sp>
        <p:nvSpPr>
          <p:cNvPr id="33" name="Text 30"/>
          <p:cNvSpPr/>
          <p:nvPr/>
        </p:nvSpPr>
        <p:spPr>
          <a:xfrm>
            <a:off x="6537960" y="3438144"/>
            <a:ext cx="515081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IN THEIR OWN WORDS</a:t>
            </a:r>
            <a:endParaRPr lang="en-US" sz="950" dirty="0"/>
          </a:p>
        </p:txBody>
      </p:sp>
      <p:sp>
        <p:nvSpPr>
          <p:cNvPr id="34" name="Shape 31"/>
          <p:cNvSpPr/>
          <p:nvPr/>
        </p:nvSpPr>
        <p:spPr>
          <a:xfrm>
            <a:off x="6537960" y="3712464"/>
            <a:ext cx="5150815" cy="603504"/>
          </a:xfrm>
          <a:prstGeom prst="roundRect">
            <a:avLst>
              <a:gd name="adj" fmla="val 7576"/>
            </a:avLst>
          </a:prstGeom>
          <a:solidFill>
            <a:srgbClr val="F3ECE0"/>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5" name="Text 32"/>
          <p:cNvSpPr/>
          <p:nvPr/>
        </p:nvSpPr>
        <p:spPr>
          <a:xfrm>
            <a:off x="6720840" y="37581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"Pesticides are sometimes put in soil, not on fruits. This makes them pesticide-free."</a:t>
            </a:r>
            <a:endParaRPr lang="en-US" sz="900" dirty="0"/>
          </a:p>
        </p:txBody>
      </p:sp>
      <p:sp>
        <p:nvSpPr>
          <p:cNvPr id="36" name="Text 33"/>
          <p:cNvSpPr/>
          <p:nvPr/>
        </p:nvSpPr>
        <p:spPr>
          <a:xfrm>
            <a:off x="6720840" y="41239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In-market intercept, Bengaluru</a:t>
            </a:r>
            <a:endParaRPr lang="en-US" sz="700" dirty="0"/>
          </a:p>
        </p:txBody>
      </p:sp>
      <p:sp>
        <p:nvSpPr>
          <p:cNvPr id="37" name="Shape 34"/>
          <p:cNvSpPr/>
          <p:nvPr/>
        </p:nvSpPr>
        <p:spPr>
          <a:xfrm>
            <a:off x="6537960" y="4398264"/>
            <a:ext cx="5150815" cy="603504"/>
          </a:xfrm>
          <a:prstGeom prst="roundRect">
            <a:avLst>
              <a:gd name="adj" fmla="val 7576"/>
            </a:avLst>
          </a:prstGeom>
          <a:solidFill>
            <a:srgbClr val="F3ECE0"/>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8" name="Text 35"/>
          <p:cNvSpPr/>
          <p:nvPr/>
        </p:nvSpPr>
        <p:spPr>
          <a:xfrm>
            <a:off x="6720840" y="44439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"There is no such thing as Pesticide-Free. We have done enough research."</a:t>
            </a:r>
            <a:endParaRPr lang="en-US" sz="900" dirty="0"/>
          </a:p>
        </p:txBody>
      </p:sp>
      <p:sp>
        <p:nvSpPr>
          <p:cNvPr id="39" name="Text 36"/>
          <p:cNvSpPr/>
          <p:nvPr/>
        </p:nvSpPr>
        <p:spPr>
          <a:xfrm>
            <a:off x="6720840" y="48097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In-market intercept, Bengaluru</a:t>
            </a:r>
            <a:endParaRPr lang="en-US" sz="700" dirty="0"/>
          </a:p>
        </p:txBody>
      </p:sp>
      <p:sp>
        <p:nvSpPr>
          <p:cNvPr id="40" name="Shape 37"/>
          <p:cNvSpPr/>
          <p:nvPr/>
        </p:nvSpPr>
        <p:spPr>
          <a:xfrm>
            <a:off x="6537960" y="5084064"/>
            <a:ext cx="5150815" cy="603504"/>
          </a:xfrm>
          <a:prstGeom prst="roundRect">
            <a:avLst>
              <a:gd name="adj" fmla="val 7576"/>
            </a:avLst>
          </a:prstGeom>
          <a:solidFill>
            <a:srgbClr val="F3ECE0"/>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1" name="Text 38"/>
          <p:cNvSpPr/>
          <p:nvPr/>
        </p:nvSpPr>
        <p:spPr>
          <a:xfrm>
            <a:off x="6720840" y="51297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"Pesticide-free means no use of pesticides at any stage of the lifecycle of the produce."</a:t>
            </a:r>
            <a:endParaRPr lang="en-US" sz="900" dirty="0"/>
          </a:p>
        </p:txBody>
      </p:sp>
      <p:sp>
        <p:nvSpPr>
          <p:cNvPr id="42" name="Text 39"/>
          <p:cNvSpPr/>
          <p:nvPr/>
        </p:nvSpPr>
        <p:spPr>
          <a:xfrm>
            <a:off x="6720840" y="54955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Organic farmer, Hyderabad — the most accurate definition in the sample</a:t>
            </a:r>
            <a:endParaRPr lang="en-US" sz="700" dirty="0"/>
          </a:p>
        </p:txBody>
      </p:sp>
      <p:sp>
        <p:nvSpPr>
          <p:cNvPr id="43" name="Shape 40"/>
          <p:cNvSpPr/>
          <p:nvPr/>
        </p:nvSpPr>
        <p:spPr>
          <a:xfrm>
            <a:off x="6537960" y="5769864"/>
            <a:ext cx="5150815" cy="603504"/>
          </a:xfrm>
          <a:prstGeom prst="roundRect">
            <a:avLst>
              <a:gd name="adj" fmla="val 7576"/>
            </a:avLst>
          </a:prstGeom>
          <a:solidFill>
            <a:srgbClr val="F3ECE0"/>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4" name="Text 41"/>
          <p:cNvSpPr/>
          <p:nvPr/>
        </p:nvSpPr>
        <p:spPr>
          <a:xfrm>
            <a:off x="6720840" y="58155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"Testing information plays a very important role. Knowing the source and certifications matters most in rice and dal — they are staples."</a:t>
            </a:r>
            <a:endParaRPr lang="en-US" sz="900" dirty="0"/>
          </a:p>
        </p:txBody>
      </p:sp>
      <p:sp>
        <p:nvSpPr>
          <p:cNvPr id="45" name="Text 42"/>
          <p:cNvSpPr/>
          <p:nvPr/>
        </p:nvSpPr>
        <p:spPr>
          <a:xfrm>
            <a:off x="6720840" y="61813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Benifer Lewis, 45, Mumbai</a:t>
            </a:r>
            <a:endParaRPr lang="en-US" sz="700" dirty="0"/>
          </a:p>
        </p:txBody>
      </p:sp>
      <p:sp>
        <p:nvSpPr>
          <p:cNvPr id="46" name="Shape 43"/>
          <p:cNvSpPr/>
          <p:nvPr/>
        </p:nvSpPr>
        <p:spPr>
          <a:xfrm>
            <a:off x="502920" y="6455664"/>
            <a:ext cx="11185855" cy="0"/>
          </a:xfrm>
          <a:prstGeom prst="line">
            <a:avLst/>
          </a:prstGeom>
          <a:noFill/>
          <a:ln w="9525">
            <a:solidFill>
              <a:srgbClr val="E5DCCB"/>
            </a:solidFill>
            <a:prstDash val="solid"/>
          </a:ln>
        </p:spPr>
      </p:sp>
      <p:sp>
        <p:nvSpPr>
          <p:cNvPr id="47" name="Text 44"/>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48" name="Text 4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5296205"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5296205"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QUANTITATIVE RESEARCH BY 1LATTICE, COMMISSIONED BY DHF</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How the survey was built, and who answered it.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survey was designed backwards from the analysis we intended to run — a 15-item attitude battery written specifically so factors could be extracted from it afterwards.</a:t>
            </a:r>
            <a:endParaRPr lang="en-US" sz="1100" dirty="0"/>
          </a:p>
        </p:txBody>
      </p:sp>
      <p:sp>
        <p:nvSpPr>
          <p:cNvPr id="7" name="Text 4"/>
          <p:cNvSpPr/>
          <p:nvPr/>
        </p:nvSpPr>
        <p:spPr>
          <a:xfrm>
            <a:off x="502920" y="212140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INSTRUMENT DESIGN</a:t>
            </a:r>
            <a:endParaRPr lang="en-US" sz="950" dirty="0"/>
          </a:p>
        </p:txBody>
      </p:sp>
      <p:sp>
        <p:nvSpPr>
          <p:cNvPr id="8" name="Shape 5"/>
          <p:cNvSpPr/>
          <p:nvPr/>
        </p:nvSpPr>
        <p:spPr>
          <a:xfrm>
            <a:off x="502920" y="2414016"/>
            <a:ext cx="267919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9" name="Text 6"/>
          <p:cNvSpPr/>
          <p:nvPr/>
        </p:nvSpPr>
        <p:spPr>
          <a:xfrm>
            <a:off x="667512" y="2505456"/>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~18 min</a:t>
            </a:r>
            <a:endParaRPr lang="en-US" sz="1200" dirty="0"/>
          </a:p>
        </p:txBody>
      </p:sp>
      <p:sp>
        <p:nvSpPr>
          <p:cNvPr id="10" name="Text 7"/>
          <p:cNvSpPr/>
          <p:nvPr/>
        </p:nvSpPr>
        <p:spPr>
          <a:xfrm>
            <a:off x="667512" y="2779776"/>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50 questions across 10 topics and 4 food categories</a:t>
            </a:r>
            <a:endParaRPr lang="en-US" sz="800" dirty="0"/>
          </a:p>
        </p:txBody>
      </p:sp>
      <p:sp>
        <p:nvSpPr>
          <p:cNvPr id="11" name="Shape 8"/>
          <p:cNvSpPr/>
          <p:nvPr/>
        </p:nvSpPr>
        <p:spPr>
          <a:xfrm>
            <a:off x="3401568" y="2414016"/>
            <a:ext cx="267919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2" name="Text 9"/>
          <p:cNvSpPr/>
          <p:nvPr/>
        </p:nvSpPr>
        <p:spPr>
          <a:xfrm>
            <a:off x="3566160" y="2505456"/>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4 screens</a:t>
            </a:r>
            <a:endParaRPr lang="en-US" sz="1200" dirty="0"/>
          </a:p>
        </p:txBody>
      </p:sp>
      <p:sp>
        <p:nvSpPr>
          <p:cNvPr id="13" name="Text 10"/>
          <p:cNvSpPr/>
          <p:nvPr/>
        </p:nvSpPr>
        <p:spPr>
          <a:xfrm>
            <a:off x="3566160" y="2779776"/>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Decision-maker role, purchase frequency, ≥2 of 4 categories, income — SEC D/E and sub-monthly buyers terminated</a:t>
            </a:r>
            <a:endParaRPr lang="en-US" sz="800" dirty="0"/>
          </a:p>
        </p:txBody>
      </p:sp>
      <p:sp>
        <p:nvSpPr>
          <p:cNvPr id="14" name="Shape 11"/>
          <p:cNvSpPr/>
          <p:nvPr/>
        </p:nvSpPr>
        <p:spPr>
          <a:xfrm>
            <a:off x="502920" y="3383280"/>
            <a:ext cx="267919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5" name="Text 12"/>
          <p:cNvSpPr/>
          <p:nvPr/>
        </p:nvSpPr>
        <p:spPr>
          <a:xfrm>
            <a:off x="667512" y="3474720"/>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15-item battery</a:t>
            </a:r>
            <a:endParaRPr lang="en-US" sz="1200" dirty="0"/>
          </a:p>
        </p:txBody>
      </p:sp>
      <p:sp>
        <p:nvSpPr>
          <p:cNvPr id="16" name="Text 13"/>
          <p:cNvSpPr/>
          <p:nvPr/>
        </p:nvSpPr>
        <p:spPr>
          <a:xfrm>
            <a:off x="667512" y="3749040"/>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Five-point Likert attitude statements, written for post-survey factor extraction</a:t>
            </a:r>
            <a:endParaRPr lang="en-US" sz="800" dirty="0"/>
          </a:p>
        </p:txBody>
      </p:sp>
      <p:sp>
        <p:nvSpPr>
          <p:cNvPr id="17" name="Shape 14"/>
          <p:cNvSpPr/>
          <p:nvPr/>
        </p:nvSpPr>
        <p:spPr>
          <a:xfrm>
            <a:off x="3401568" y="3383280"/>
            <a:ext cx="267919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Text 15"/>
          <p:cNvSpPr/>
          <p:nvPr/>
        </p:nvSpPr>
        <p:spPr>
          <a:xfrm>
            <a:off x="3566160" y="3474720"/>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2 trust grids</a:t>
            </a:r>
            <a:endParaRPr lang="en-US" sz="1200" dirty="0"/>
          </a:p>
        </p:txBody>
      </p:sp>
      <p:sp>
        <p:nvSpPr>
          <p:cNvPr id="19" name="Text 16"/>
          <p:cNvSpPr/>
          <p:nvPr/>
        </p:nvSpPr>
        <p:spPr>
          <a:xfrm>
            <a:off x="3566160" y="3749040"/>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Six claims tested twice — once bare, once with an independent certificate attached</a:t>
            </a:r>
            <a:endParaRPr lang="en-US" sz="800" dirty="0"/>
          </a:p>
        </p:txBody>
      </p:sp>
      <p:sp>
        <p:nvSpPr>
          <p:cNvPr id="20" name="Shape 17"/>
          <p:cNvSpPr/>
          <p:nvPr/>
        </p:nvSpPr>
        <p:spPr>
          <a:xfrm>
            <a:off x="502920" y="4407408"/>
            <a:ext cx="5577840" cy="1481328"/>
          </a:xfrm>
          <a:prstGeom prst="roundRect">
            <a:avLst>
              <a:gd name="adj" fmla="val 5556"/>
            </a:avLst>
          </a:prstGeom>
          <a:solidFill>
            <a:srgbClr val="F3ECE0"/>
          </a:solidFill>
          <a:ln w="9525">
            <a:solidFill>
              <a:srgbClr val="EDE4D4"/>
            </a:solidFill>
            <a:prstDash val="solid"/>
          </a:ln>
          <a:effectLst>
            <a:outerShdw sx="100000" sy="100000" kx="0" ky="0" algn="bl" rotWithShape="0" blurRad="177800" dist="38100" dir="5400000">
              <a:srgbClr val="101C2C">
                <a:alpha val="9000"/>
              </a:srgbClr>
            </a:outerShdw>
          </a:effectLst>
        </p:spPr>
      </p:sp>
      <p:sp>
        <p:nvSpPr>
          <p:cNvPr id="21" name="Text 18"/>
          <p:cNvSpPr/>
          <p:nvPr/>
        </p:nvSpPr>
        <p:spPr>
          <a:xfrm>
            <a:off x="685800" y="4517136"/>
            <a:ext cx="36576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FIELDWORK &amp; GOVERNANCE</a:t>
            </a:r>
            <a:endParaRPr lang="en-US" sz="950" dirty="0"/>
          </a:p>
        </p:txBody>
      </p:sp>
      <p:sp>
        <p:nvSpPr>
          <p:cNvPr id="22" name="Text 19"/>
          <p:cNvSpPr/>
          <p:nvPr/>
        </p:nvSpPr>
        <p:spPr>
          <a:xfrm>
            <a:off x="685800" y="4773168"/>
            <a:ext cx="5212080" cy="1042416"/>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Online panel, fielded by 1Lattice, 28–29 May 2026. n = 305 after quality screening. Report dated 12 June 2026.</a:t>
            </a:r>
            <a:endParaRPr lang="en-US" sz="850" dirty="0"/>
          </a:p>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Five metros: Delhi NCR 31% · Bengaluru 21% · Mumbai 17% · Ahmedabad 15% · Pune 15%.</a:t>
            </a:r>
            <a:endParaRPr lang="en-US" sz="850" dirty="0"/>
          </a:p>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Category bases: rice n=253 · tur dal n=241 · red chilli n=164 · makhana n=58. Makhana is reported as directional only. Every segment claim rests on the full n=305 base, not on a category sub-base.</a:t>
            </a:r>
            <a:endParaRPr lang="en-US" sz="850" dirty="0"/>
          </a:p>
        </p:txBody>
      </p:sp>
      <p:sp>
        <p:nvSpPr>
          <p:cNvPr id="23" name="Text 20"/>
          <p:cNvSpPr/>
          <p:nvPr/>
        </p:nvSpPr>
        <p:spPr>
          <a:xfrm>
            <a:off x="6355080" y="212140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CONSUMER PROFILE</a:t>
            </a:r>
            <a:endParaRPr lang="en-US" sz="950" dirty="0"/>
          </a:p>
        </p:txBody>
      </p:sp>
      <p:sp>
        <p:nvSpPr>
          <p:cNvPr id="24" name="Text 21"/>
          <p:cNvSpPr/>
          <p:nvPr/>
        </p:nvSpPr>
        <p:spPr>
          <a:xfrm>
            <a:off x="6355080"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78%</a:t>
            </a:r>
            <a:endParaRPr lang="en-US" sz="1700" dirty="0"/>
          </a:p>
        </p:txBody>
      </p:sp>
      <p:sp>
        <p:nvSpPr>
          <p:cNvPr id="25" name="Text 22"/>
          <p:cNvSpPr/>
          <p:nvPr/>
        </p:nvSpPr>
        <p:spPr>
          <a:xfrm>
            <a:off x="6355080"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have a child under 12 and / or an elderly member at home</a:t>
            </a:r>
            <a:endParaRPr lang="en-US" sz="800" dirty="0"/>
          </a:p>
        </p:txBody>
      </p:sp>
      <p:sp>
        <p:nvSpPr>
          <p:cNvPr id="26" name="Text 23"/>
          <p:cNvSpPr/>
          <p:nvPr/>
        </p:nvSpPr>
        <p:spPr>
          <a:xfrm>
            <a:off x="7734224"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82%</a:t>
            </a:r>
            <a:endParaRPr lang="en-US" sz="1700" dirty="0"/>
          </a:p>
        </p:txBody>
      </p:sp>
      <p:sp>
        <p:nvSpPr>
          <p:cNvPr id="27" name="Text 24"/>
          <p:cNvSpPr/>
          <p:nvPr/>
        </p:nvSpPr>
        <p:spPr>
          <a:xfrm>
            <a:off x="7734224"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do the household grocery shopping entirely themselves</a:t>
            </a:r>
            <a:endParaRPr lang="en-US" sz="800" dirty="0"/>
          </a:p>
        </p:txBody>
      </p:sp>
      <p:sp>
        <p:nvSpPr>
          <p:cNvPr id="28" name="Text 25"/>
          <p:cNvSpPr/>
          <p:nvPr/>
        </p:nvSpPr>
        <p:spPr>
          <a:xfrm>
            <a:off x="9113368"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63%</a:t>
            </a:r>
            <a:endParaRPr lang="en-US" sz="1700" dirty="0"/>
          </a:p>
        </p:txBody>
      </p:sp>
      <p:sp>
        <p:nvSpPr>
          <p:cNvPr id="29" name="Text 26"/>
          <p:cNvSpPr/>
          <p:nvPr/>
        </p:nvSpPr>
        <p:spPr>
          <a:xfrm>
            <a:off x="9113368"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earn ₹1–2.5 Lakh per month</a:t>
            </a:r>
            <a:endParaRPr lang="en-US" sz="800" dirty="0"/>
          </a:p>
        </p:txBody>
      </p:sp>
      <p:sp>
        <p:nvSpPr>
          <p:cNvPr id="30" name="Text 27"/>
          <p:cNvSpPr/>
          <p:nvPr/>
        </p:nvSpPr>
        <p:spPr>
          <a:xfrm>
            <a:off x="10492511"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58%</a:t>
            </a:r>
            <a:endParaRPr lang="en-US" sz="1700" dirty="0"/>
          </a:p>
        </p:txBody>
      </p:sp>
      <p:sp>
        <p:nvSpPr>
          <p:cNvPr id="31" name="Text 28"/>
          <p:cNvSpPr/>
          <p:nvPr/>
        </p:nvSpPr>
        <p:spPr>
          <a:xfrm>
            <a:off x="10492511"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shop for groceries three or more times a week</a:t>
            </a:r>
            <a:endParaRPr lang="en-US" sz="800" dirty="0"/>
          </a:p>
        </p:txBody>
      </p:sp>
      <p:sp>
        <p:nvSpPr>
          <p:cNvPr id="32" name="Text 29"/>
          <p:cNvSpPr/>
          <p:nvPr/>
        </p:nvSpPr>
        <p:spPr>
          <a:xfrm>
            <a:off x="6355080" y="3419856"/>
            <a:ext cx="53336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WHERE THEY SHOP  (% USING, MULTI-SELECT)</a:t>
            </a:r>
            <a:endParaRPr lang="en-US" sz="950" dirty="0"/>
          </a:p>
        </p:txBody>
      </p:sp>
      <p:sp>
        <p:nvSpPr>
          <p:cNvPr id="33" name="Text 30"/>
          <p:cNvSpPr/>
          <p:nvPr/>
        </p:nvSpPr>
        <p:spPr>
          <a:xfrm>
            <a:off x="6355080" y="3730752"/>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Blinkit</a:t>
            </a:r>
            <a:endParaRPr lang="en-US" sz="950" dirty="0"/>
          </a:p>
        </p:txBody>
      </p:sp>
      <p:sp>
        <p:nvSpPr>
          <p:cNvPr id="34" name="Text 31"/>
          <p:cNvSpPr/>
          <p:nvPr/>
        </p:nvSpPr>
        <p:spPr>
          <a:xfrm>
            <a:off x="9951415" y="3730752"/>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53%</a:t>
            </a:r>
            <a:endParaRPr lang="en-US" sz="1000" dirty="0"/>
          </a:p>
        </p:txBody>
      </p:sp>
      <p:sp>
        <p:nvSpPr>
          <p:cNvPr id="35" name="Shape 32"/>
          <p:cNvSpPr/>
          <p:nvPr/>
        </p:nvSpPr>
        <p:spPr>
          <a:xfrm>
            <a:off x="6355080" y="3950208"/>
            <a:ext cx="5333695" cy="109728"/>
          </a:xfrm>
          <a:prstGeom prst="roundRect">
            <a:avLst>
              <a:gd name="adj" fmla="val 50000"/>
            </a:avLst>
          </a:prstGeom>
          <a:solidFill>
            <a:srgbClr val="EDE4D4"/>
          </a:solidFill>
          <a:ln w="12700">
            <a:solidFill>
              <a:srgbClr val="333333"/>
            </a:solidFill>
            <a:prstDash val="solid"/>
          </a:ln>
        </p:spPr>
      </p:sp>
      <p:sp>
        <p:nvSpPr>
          <p:cNvPr id="36" name="Shape 33"/>
          <p:cNvSpPr/>
          <p:nvPr/>
        </p:nvSpPr>
        <p:spPr>
          <a:xfrm>
            <a:off x="6355080" y="3950208"/>
            <a:ext cx="4711431" cy="109728"/>
          </a:xfrm>
          <a:prstGeom prst="roundRect">
            <a:avLst>
              <a:gd name="adj" fmla="val 50000"/>
            </a:avLst>
          </a:prstGeom>
          <a:solidFill>
            <a:srgbClr val="3A5D97"/>
          </a:solidFill>
          <a:ln w="12700">
            <a:solidFill>
              <a:srgbClr val="333333"/>
            </a:solidFill>
            <a:prstDash val="solid"/>
          </a:ln>
        </p:spPr>
      </p:sp>
      <p:sp>
        <p:nvSpPr>
          <p:cNvPr id="37" name="Text 34"/>
          <p:cNvSpPr/>
          <p:nvPr/>
        </p:nvSpPr>
        <p:spPr>
          <a:xfrm>
            <a:off x="6355080" y="4041648"/>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Swiggy Instamart</a:t>
            </a:r>
            <a:endParaRPr lang="en-US" sz="950" dirty="0"/>
          </a:p>
        </p:txBody>
      </p:sp>
      <p:sp>
        <p:nvSpPr>
          <p:cNvPr id="38" name="Text 35"/>
          <p:cNvSpPr/>
          <p:nvPr/>
        </p:nvSpPr>
        <p:spPr>
          <a:xfrm>
            <a:off x="9951415" y="4041648"/>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43%</a:t>
            </a:r>
            <a:endParaRPr lang="en-US" sz="1000" dirty="0"/>
          </a:p>
        </p:txBody>
      </p:sp>
      <p:sp>
        <p:nvSpPr>
          <p:cNvPr id="39" name="Shape 36"/>
          <p:cNvSpPr/>
          <p:nvPr/>
        </p:nvSpPr>
        <p:spPr>
          <a:xfrm>
            <a:off x="6355080" y="4261104"/>
            <a:ext cx="5333695" cy="109728"/>
          </a:xfrm>
          <a:prstGeom prst="roundRect">
            <a:avLst>
              <a:gd name="adj" fmla="val 50000"/>
            </a:avLst>
          </a:prstGeom>
          <a:solidFill>
            <a:srgbClr val="EDE4D4"/>
          </a:solidFill>
          <a:ln w="12700">
            <a:solidFill>
              <a:srgbClr val="333333"/>
            </a:solidFill>
            <a:prstDash val="solid"/>
          </a:ln>
        </p:spPr>
      </p:sp>
      <p:sp>
        <p:nvSpPr>
          <p:cNvPr id="40" name="Shape 37"/>
          <p:cNvSpPr/>
          <p:nvPr/>
        </p:nvSpPr>
        <p:spPr>
          <a:xfrm>
            <a:off x="6355080" y="4261104"/>
            <a:ext cx="3822482" cy="109728"/>
          </a:xfrm>
          <a:prstGeom prst="roundRect">
            <a:avLst>
              <a:gd name="adj" fmla="val 50000"/>
            </a:avLst>
          </a:prstGeom>
          <a:solidFill>
            <a:srgbClr val="3A5D97"/>
          </a:solidFill>
          <a:ln w="12700">
            <a:solidFill>
              <a:srgbClr val="333333"/>
            </a:solidFill>
            <a:prstDash val="solid"/>
          </a:ln>
        </p:spPr>
      </p:sp>
      <p:sp>
        <p:nvSpPr>
          <p:cNvPr id="41" name="Text 38"/>
          <p:cNvSpPr/>
          <p:nvPr/>
        </p:nvSpPr>
        <p:spPr>
          <a:xfrm>
            <a:off x="6355080" y="4352544"/>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Kirana</a:t>
            </a:r>
            <a:endParaRPr lang="en-US" sz="950" dirty="0"/>
          </a:p>
        </p:txBody>
      </p:sp>
      <p:sp>
        <p:nvSpPr>
          <p:cNvPr id="42" name="Text 39"/>
          <p:cNvSpPr/>
          <p:nvPr/>
        </p:nvSpPr>
        <p:spPr>
          <a:xfrm>
            <a:off x="9951415" y="4352544"/>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41%</a:t>
            </a:r>
            <a:endParaRPr lang="en-US" sz="1000" dirty="0"/>
          </a:p>
        </p:txBody>
      </p:sp>
      <p:sp>
        <p:nvSpPr>
          <p:cNvPr id="43" name="Shape 40"/>
          <p:cNvSpPr/>
          <p:nvPr/>
        </p:nvSpPr>
        <p:spPr>
          <a:xfrm>
            <a:off x="6355080" y="4572000"/>
            <a:ext cx="5333695" cy="109728"/>
          </a:xfrm>
          <a:prstGeom prst="roundRect">
            <a:avLst>
              <a:gd name="adj" fmla="val 50000"/>
            </a:avLst>
          </a:prstGeom>
          <a:solidFill>
            <a:srgbClr val="EDE4D4"/>
          </a:solidFill>
          <a:ln w="12700">
            <a:solidFill>
              <a:srgbClr val="333333"/>
            </a:solidFill>
            <a:prstDash val="solid"/>
          </a:ln>
        </p:spPr>
      </p:sp>
      <p:sp>
        <p:nvSpPr>
          <p:cNvPr id="44" name="Shape 41"/>
          <p:cNvSpPr/>
          <p:nvPr/>
        </p:nvSpPr>
        <p:spPr>
          <a:xfrm>
            <a:off x="6355080" y="4572000"/>
            <a:ext cx="3644692" cy="109728"/>
          </a:xfrm>
          <a:prstGeom prst="roundRect">
            <a:avLst>
              <a:gd name="adj" fmla="val 50000"/>
            </a:avLst>
          </a:prstGeom>
          <a:solidFill>
            <a:srgbClr val="6688BE"/>
          </a:solidFill>
          <a:ln w="12700">
            <a:solidFill>
              <a:srgbClr val="333333"/>
            </a:solidFill>
            <a:prstDash val="solid"/>
          </a:ln>
        </p:spPr>
      </p:sp>
      <p:sp>
        <p:nvSpPr>
          <p:cNvPr id="45" name="Text 42"/>
          <p:cNvSpPr/>
          <p:nvPr/>
        </p:nvSpPr>
        <p:spPr>
          <a:xfrm>
            <a:off x="6355080" y="4663440"/>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BigBasket</a:t>
            </a:r>
            <a:endParaRPr lang="en-US" sz="950" dirty="0"/>
          </a:p>
        </p:txBody>
      </p:sp>
      <p:sp>
        <p:nvSpPr>
          <p:cNvPr id="46" name="Text 43"/>
          <p:cNvSpPr/>
          <p:nvPr/>
        </p:nvSpPr>
        <p:spPr>
          <a:xfrm>
            <a:off x="9951415" y="466344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34%</a:t>
            </a:r>
            <a:endParaRPr lang="en-US" sz="1000" dirty="0"/>
          </a:p>
        </p:txBody>
      </p:sp>
      <p:sp>
        <p:nvSpPr>
          <p:cNvPr id="47" name="Shape 44"/>
          <p:cNvSpPr/>
          <p:nvPr/>
        </p:nvSpPr>
        <p:spPr>
          <a:xfrm>
            <a:off x="6355080" y="4882896"/>
            <a:ext cx="5333695" cy="109728"/>
          </a:xfrm>
          <a:prstGeom prst="roundRect">
            <a:avLst>
              <a:gd name="adj" fmla="val 50000"/>
            </a:avLst>
          </a:prstGeom>
          <a:solidFill>
            <a:srgbClr val="EDE4D4"/>
          </a:solidFill>
          <a:ln w="12700">
            <a:solidFill>
              <a:srgbClr val="333333"/>
            </a:solidFill>
            <a:prstDash val="solid"/>
          </a:ln>
        </p:spPr>
      </p:sp>
      <p:sp>
        <p:nvSpPr>
          <p:cNvPr id="48" name="Shape 45"/>
          <p:cNvSpPr/>
          <p:nvPr/>
        </p:nvSpPr>
        <p:spPr>
          <a:xfrm>
            <a:off x="6355080" y="4882896"/>
            <a:ext cx="3022427" cy="109728"/>
          </a:xfrm>
          <a:prstGeom prst="roundRect">
            <a:avLst>
              <a:gd name="adj" fmla="val 50000"/>
            </a:avLst>
          </a:prstGeom>
          <a:solidFill>
            <a:srgbClr val="6688BE"/>
          </a:solidFill>
          <a:ln w="12700">
            <a:solidFill>
              <a:srgbClr val="333333"/>
            </a:solidFill>
            <a:prstDash val="solid"/>
          </a:ln>
        </p:spPr>
      </p:sp>
      <p:sp>
        <p:nvSpPr>
          <p:cNvPr id="49" name="Text 46"/>
          <p:cNvSpPr/>
          <p:nvPr/>
        </p:nvSpPr>
        <p:spPr>
          <a:xfrm>
            <a:off x="6355080" y="4974336"/>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Amazon / JioMart</a:t>
            </a:r>
            <a:endParaRPr lang="en-US" sz="950" dirty="0"/>
          </a:p>
        </p:txBody>
      </p:sp>
      <p:sp>
        <p:nvSpPr>
          <p:cNvPr id="50" name="Text 47"/>
          <p:cNvSpPr/>
          <p:nvPr/>
        </p:nvSpPr>
        <p:spPr>
          <a:xfrm>
            <a:off x="9951415" y="4974336"/>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30%</a:t>
            </a:r>
            <a:endParaRPr lang="en-US" sz="1000" dirty="0"/>
          </a:p>
        </p:txBody>
      </p:sp>
      <p:sp>
        <p:nvSpPr>
          <p:cNvPr id="51" name="Shape 48"/>
          <p:cNvSpPr/>
          <p:nvPr/>
        </p:nvSpPr>
        <p:spPr>
          <a:xfrm>
            <a:off x="6355080" y="5193792"/>
            <a:ext cx="5333695" cy="109728"/>
          </a:xfrm>
          <a:prstGeom prst="roundRect">
            <a:avLst>
              <a:gd name="adj" fmla="val 50000"/>
            </a:avLst>
          </a:prstGeom>
          <a:solidFill>
            <a:srgbClr val="EDE4D4"/>
          </a:solidFill>
          <a:ln w="12700">
            <a:solidFill>
              <a:srgbClr val="333333"/>
            </a:solidFill>
            <a:prstDash val="solid"/>
          </a:ln>
        </p:spPr>
      </p:sp>
      <p:sp>
        <p:nvSpPr>
          <p:cNvPr id="52" name="Shape 49"/>
          <p:cNvSpPr/>
          <p:nvPr/>
        </p:nvSpPr>
        <p:spPr>
          <a:xfrm>
            <a:off x="6355080" y="5193792"/>
            <a:ext cx="2666848" cy="109728"/>
          </a:xfrm>
          <a:prstGeom prst="roundRect">
            <a:avLst>
              <a:gd name="adj" fmla="val 50000"/>
            </a:avLst>
          </a:prstGeom>
          <a:solidFill>
            <a:srgbClr val="6688BE"/>
          </a:solidFill>
          <a:ln w="12700">
            <a:solidFill>
              <a:srgbClr val="333333"/>
            </a:solidFill>
            <a:prstDash val="solid"/>
          </a:ln>
        </p:spPr>
      </p:sp>
      <p:sp>
        <p:nvSpPr>
          <p:cNvPr id="53" name="Text 50"/>
          <p:cNvSpPr/>
          <p:nvPr/>
        </p:nvSpPr>
        <p:spPr>
          <a:xfrm>
            <a:off x="6355080" y="5285232"/>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Zepto</a:t>
            </a:r>
            <a:endParaRPr lang="en-US" sz="950" dirty="0"/>
          </a:p>
        </p:txBody>
      </p:sp>
      <p:sp>
        <p:nvSpPr>
          <p:cNvPr id="54" name="Text 51"/>
          <p:cNvSpPr/>
          <p:nvPr/>
        </p:nvSpPr>
        <p:spPr>
          <a:xfrm>
            <a:off x="9951415" y="5285232"/>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29%</a:t>
            </a:r>
            <a:endParaRPr lang="en-US" sz="1000" dirty="0"/>
          </a:p>
        </p:txBody>
      </p:sp>
      <p:sp>
        <p:nvSpPr>
          <p:cNvPr id="55" name="Shape 52"/>
          <p:cNvSpPr/>
          <p:nvPr/>
        </p:nvSpPr>
        <p:spPr>
          <a:xfrm>
            <a:off x="6355080" y="5504688"/>
            <a:ext cx="5333695" cy="109728"/>
          </a:xfrm>
          <a:prstGeom prst="roundRect">
            <a:avLst>
              <a:gd name="adj" fmla="val 50000"/>
            </a:avLst>
          </a:prstGeom>
          <a:solidFill>
            <a:srgbClr val="EDE4D4"/>
          </a:solidFill>
          <a:ln w="12700">
            <a:solidFill>
              <a:srgbClr val="333333"/>
            </a:solidFill>
            <a:prstDash val="solid"/>
          </a:ln>
        </p:spPr>
      </p:sp>
      <p:sp>
        <p:nvSpPr>
          <p:cNvPr id="56" name="Shape 53"/>
          <p:cNvSpPr/>
          <p:nvPr/>
        </p:nvSpPr>
        <p:spPr>
          <a:xfrm>
            <a:off x="6355080" y="5504688"/>
            <a:ext cx="2577953" cy="109728"/>
          </a:xfrm>
          <a:prstGeom prst="roundRect">
            <a:avLst>
              <a:gd name="adj" fmla="val 50000"/>
            </a:avLst>
          </a:prstGeom>
          <a:solidFill>
            <a:srgbClr val="3A5D97"/>
          </a:solidFill>
          <a:ln w="12700">
            <a:solidFill>
              <a:srgbClr val="333333"/>
            </a:solidFill>
            <a:prstDash val="solid"/>
          </a:ln>
        </p:spPr>
      </p:sp>
      <p:sp>
        <p:nvSpPr>
          <p:cNvPr id="57" name="Text 54"/>
          <p:cNvSpPr/>
          <p:nvPr/>
        </p:nvSpPr>
        <p:spPr>
          <a:xfrm>
            <a:off x="6355080" y="5596128"/>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Supermarkets</a:t>
            </a:r>
            <a:endParaRPr lang="en-US" sz="950" dirty="0"/>
          </a:p>
        </p:txBody>
      </p:sp>
      <p:sp>
        <p:nvSpPr>
          <p:cNvPr id="58" name="Text 55"/>
          <p:cNvSpPr/>
          <p:nvPr/>
        </p:nvSpPr>
        <p:spPr>
          <a:xfrm>
            <a:off x="9951415" y="5596128"/>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10%</a:t>
            </a:r>
            <a:endParaRPr lang="en-US" sz="1000" dirty="0"/>
          </a:p>
        </p:txBody>
      </p:sp>
      <p:sp>
        <p:nvSpPr>
          <p:cNvPr id="59" name="Shape 56"/>
          <p:cNvSpPr/>
          <p:nvPr/>
        </p:nvSpPr>
        <p:spPr>
          <a:xfrm>
            <a:off x="6355080" y="5815584"/>
            <a:ext cx="5333695" cy="109728"/>
          </a:xfrm>
          <a:prstGeom prst="roundRect">
            <a:avLst>
              <a:gd name="adj" fmla="val 50000"/>
            </a:avLst>
          </a:prstGeom>
          <a:solidFill>
            <a:srgbClr val="EDE4D4"/>
          </a:solidFill>
          <a:ln w="12700">
            <a:solidFill>
              <a:srgbClr val="333333"/>
            </a:solidFill>
            <a:prstDash val="solid"/>
          </a:ln>
        </p:spPr>
      </p:sp>
      <p:sp>
        <p:nvSpPr>
          <p:cNvPr id="60" name="Shape 57"/>
          <p:cNvSpPr/>
          <p:nvPr/>
        </p:nvSpPr>
        <p:spPr>
          <a:xfrm>
            <a:off x="6355080" y="5815584"/>
            <a:ext cx="888949" cy="109728"/>
          </a:xfrm>
          <a:prstGeom prst="roundRect">
            <a:avLst>
              <a:gd name="adj" fmla="val 50000"/>
            </a:avLst>
          </a:prstGeom>
          <a:solidFill>
            <a:srgbClr val="B5AD9C"/>
          </a:solidFill>
          <a:ln w="12700">
            <a:solidFill>
              <a:srgbClr val="333333"/>
            </a:solidFill>
            <a:prstDash val="solid"/>
          </a:ln>
        </p:spPr>
      </p:sp>
      <p:sp>
        <p:nvSpPr>
          <p:cNvPr id="61" name="Shape 58"/>
          <p:cNvSpPr/>
          <p:nvPr/>
        </p:nvSpPr>
        <p:spPr>
          <a:xfrm>
            <a:off x="6355080" y="5943600"/>
            <a:ext cx="5333695" cy="548640"/>
          </a:xfrm>
          <a:prstGeom prst="roundRect">
            <a:avLst>
              <a:gd name="adj" fmla="val 15000"/>
            </a:avLst>
          </a:prstGeom>
          <a:solidFill>
            <a:srgbClr val="EAF0F8"/>
          </a:solidFill>
          <a:ln w="9525">
            <a:solidFill>
              <a:srgbClr val="CBD9EE"/>
            </a:solidFill>
            <a:prstDash val="solid"/>
          </a:ln>
          <a:effectLst>
            <a:outerShdw sx="100000" sy="100000" kx="0" ky="0" algn="bl" rotWithShape="0" blurRad="177800" dist="38100" dir="5400000">
              <a:srgbClr val="101C2C">
                <a:alpha val="9000"/>
              </a:srgbClr>
            </a:outerShdw>
          </a:effectLst>
        </p:spPr>
      </p:sp>
      <p:sp>
        <p:nvSpPr>
          <p:cNvPr id="62" name="Text 59"/>
          <p:cNvSpPr/>
          <p:nvPr/>
        </p:nvSpPr>
        <p:spPr>
          <a:xfrm>
            <a:off x="6556248" y="6062472"/>
            <a:ext cx="4931359" cy="3383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quick-commerce-first, metro sample: the exact cohort DHF already sells to, and the cohort that will decide whether the category forms.</a:t>
            </a:r>
            <a:endParaRPr lang="en-US" sz="900" dirty="0"/>
          </a:p>
        </p:txBody>
      </p:sp>
      <p:sp>
        <p:nvSpPr>
          <p:cNvPr id="63" name="Shape 60"/>
          <p:cNvSpPr/>
          <p:nvPr/>
        </p:nvSpPr>
        <p:spPr>
          <a:xfrm>
            <a:off x="502920" y="6455664"/>
            <a:ext cx="11185855" cy="0"/>
          </a:xfrm>
          <a:prstGeom prst="line">
            <a:avLst/>
          </a:prstGeom>
          <a:noFill/>
          <a:ln w="9525">
            <a:solidFill>
              <a:srgbClr val="E5DCCB"/>
            </a:solidFill>
            <a:prstDash val="solid"/>
          </a:ln>
        </p:spPr>
      </p:sp>
      <p:sp>
        <p:nvSpPr>
          <p:cNvPr id="64" name="Text 61"/>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65" name="Text 62"/>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518258"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518258"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ANALYTICAL PIPELINE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Factor analysis and k-means on 15 attitude statements.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Rather than segment on age or income — poor predictors in this data — we let the attitudes group themselves.</a:t>
            </a:r>
            <a:endParaRPr lang="en-US" sz="1100" dirty="0"/>
          </a:p>
        </p:txBody>
      </p:sp>
      <p:sp>
        <p:nvSpPr>
          <p:cNvPr id="7" name="Shape 4"/>
          <p:cNvSpPr/>
          <p:nvPr/>
        </p:nvSpPr>
        <p:spPr>
          <a:xfrm>
            <a:off x="502920" y="2121408"/>
            <a:ext cx="2061606" cy="1143000"/>
          </a:xfrm>
          <a:prstGeom prst="roundRect">
            <a:avLst>
              <a:gd name="adj" fmla="val 72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685800" y="2267712"/>
            <a:ext cx="292608" cy="292608"/>
          </a:xfrm>
          <a:prstGeom prst="ellipse">
            <a:avLst/>
          </a:prstGeom>
          <a:solidFill>
            <a:srgbClr val="EAF0F8"/>
          </a:solidFill>
          <a:ln w="12700">
            <a:solidFill>
              <a:srgbClr val="333333"/>
            </a:solidFill>
            <a:prstDash val="solid"/>
          </a:ln>
        </p:spPr>
      </p:sp>
      <p:sp>
        <p:nvSpPr>
          <p:cNvPr id="9" name="Text 6"/>
          <p:cNvSpPr/>
          <p:nvPr/>
        </p:nvSpPr>
        <p:spPr>
          <a:xfrm>
            <a:off x="685800"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1</a:t>
            </a:r>
            <a:endParaRPr lang="en-US" sz="900" dirty="0"/>
          </a:p>
        </p:txBody>
      </p:sp>
      <p:sp>
        <p:nvSpPr>
          <p:cNvPr id="10" name="Text 7"/>
          <p:cNvSpPr/>
          <p:nvPr/>
        </p:nvSpPr>
        <p:spPr>
          <a:xfrm>
            <a:off x="685800"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305 × 15 matrix</a:t>
            </a:r>
            <a:endParaRPr lang="en-US" sz="950" dirty="0"/>
          </a:p>
        </p:txBody>
      </p:sp>
      <p:sp>
        <p:nvSpPr>
          <p:cNvPr id="11" name="Text 8"/>
          <p:cNvSpPr/>
          <p:nvPr/>
        </p:nvSpPr>
        <p:spPr>
          <a:xfrm>
            <a:off x="685800"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Every respondent scored on 15 five-point attitude statements</a:t>
            </a:r>
            <a:endParaRPr lang="en-US" sz="750" dirty="0"/>
          </a:p>
        </p:txBody>
      </p:sp>
      <p:sp>
        <p:nvSpPr>
          <p:cNvPr id="12" name="Shape 9"/>
          <p:cNvSpPr/>
          <p:nvPr/>
        </p:nvSpPr>
        <p:spPr>
          <a:xfrm>
            <a:off x="2783982" y="2121408"/>
            <a:ext cx="2061606" cy="1143000"/>
          </a:xfrm>
          <a:prstGeom prst="roundRect">
            <a:avLst>
              <a:gd name="adj" fmla="val 72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3" name="Shape 10"/>
          <p:cNvSpPr/>
          <p:nvPr/>
        </p:nvSpPr>
        <p:spPr>
          <a:xfrm>
            <a:off x="2966862" y="2267712"/>
            <a:ext cx="292608" cy="292608"/>
          </a:xfrm>
          <a:prstGeom prst="ellipse">
            <a:avLst/>
          </a:prstGeom>
          <a:solidFill>
            <a:srgbClr val="EAF0F8"/>
          </a:solidFill>
          <a:ln w="12700">
            <a:solidFill>
              <a:srgbClr val="333333"/>
            </a:solidFill>
            <a:prstDash val="solid"/>
          </a:ln>
        </p:spPr>
      </p:sp>
      <p:sp>
        <p:nvSpPr>
          <p:cNvPr id="14" name="Text 11"/>
          <p:cNvSpPr/>
          <p:nvPr/>
        </p:nvSpPr>
        <p:spPr>
          <a:xfrm>
            <a:off x="2966862"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2</a:t>
            </a:r>
            <a:endParaRPr lang="en-US" sz="900" dirty="0"/>
          </a:p>
        </p:txBody>
      </p:sp>
      <p:sp>
        <p:nvSpPr>
          <p:cNvPr id="15" name="Text 12"/>
          <p:cNvSpPr/>
          <p:nvPr/>
        </p:nvSpPr>
        <p:spPr>
          <a:xfrm>
            <a:off x="2966862"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Exploratory factor analysis</a:t>
            </a:r>
            <a:endParaRPr lang="en-US" sz="950" dirty="0"/>
          </a:p>
        </p:txBody>
      </p:sp>
      <p:sp>
        <p:nvSpPr>
          <p:cNvPr id="16" name="Text 13"/>
          <p:cNvSpPr/>
          <p:nvPr/>
        </p:nvSpPr>
        <p:spPr>
          <a:xfrm>
            <a:off x="2966862"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Principal-axis factoring with Varimax rotation</a:t>
            </a:r>
            <a:endParaRPr lang="en-US" sz="750" dirty="0"/>
          </a:p>
        </p:txBody>
      </p:sp>
      <p:sp>
        <p:nvSpPr>
          <p:cNvPr id="17" name="Shape 14"/>
          <p:cNvSpPr/>
          <p:nvPr/>
        </p:nvSpPr>
        <p:spPr>
          <a:xfrm>
            <a:off x="5065044" y="2121408"/>
            <a:ext cx="2061606" cy="1143000"/>
          </a:xfrm>
          <a:prstGeom prst="roundRect">
            <a:avLst>
              <a:gd name="adj" fmla="val 72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Shape 15"/>
          <p:cNvSpPr/>
          <p:nvPr/>
        </p:nvSpPr>
        <p:spPr>
          <a:xfrm>
            <a:off x="5247924" y="2267712"/>
            <a:ext cx="292608" cy="292608"/>
          </a:xfrm>
          <a:prstGeom prst="ellipse">
            <a:avLst/>
          </a:prstGeom>
          <a:solidFill>
            <a:srgbClr val="EAF0F8"/>
          </a:solidFill>
          <a:ln w="12700">
            <a:solidFill>
              <a:srgbClr val="333333"/>
            </a:solidFill>
            <a:prstDash val="solid"/>
          </a:ln>
        </p:spPr>
      </p:sp>
      <p:sp>
        <p:nvSpPr>
          <p:cNvPr id="19" name="Text 16"/>
          <p:cNvSpPr/>
          <p:nvPr/>
        </p:nvSpPr>
        <p:spPr>
          <a:xfrm>
            <a:off x="5247924"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3</a:t>
            </a:r>
            <a:endParaRPr lang="en-US" sz="900" dirty="0"/>
          </a:p>
        </p:txBody>
      </p:sp>
      <p:sp>
        <p:nvSpPr>
          <p:cNvPr id="20" name="Text 17"/>
          <p:cNvSpPr/>
          <p:nvPr/>
        </p:nvSpPr>
        <p:spPr>
          <a:xfrm>
            <a:off x="5247924"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3 latent factors retained</a:t>
            </a:r>
            <a:endParaRPr lang="en-US" sz="950" dirty="0"/>
          </a:p>
        </p:txBody>
      </p:sp>
      <p:sp>
        <p:nvSpPr>
          <p:cNvPr id="21" name="Text 18"/>
          <p:cNvSpPr/>
          <p:nvPr/>
        </p:nvSpPr>
        <p:spPr>
          <a:xfrm>
            <a:off x="5247924"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Eigenvalues 5.55 · 1.50 · 1.03 — cumulative variance 42.6%</a:t>
            </a:r>
            <a:endParaRPr lang="en-US" sz="750" dirty="0"/>
          </a:p>
        </p:txBody>
      </p:sp>
      <p:sp>
        <p:nvSpPr>
          <p:cNvPr id="22" name="Shape 19"/>
          <p:cNvSpPr/>
          <p:nvPr/>
        </p:nvSpPr>
        <p:spPr>
          <a:xfrm>
            <a:off x="7346107" y="2121408"/>
            <a:ext cx="2061606" cy="1143000"/>
          </a:xfrm>
          <a:prstGeom prst="roundRect">
            <a:avLst>
              <a:gd name="adj" fmla="val 72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3" name="Shape 20"/>
          <p:cNvSpPr/>
          <p:nvPr/>
        </p:nvSpPr>
        <p:spPr>
          <a:xfrm>
            <a:off x="7528987" y="2267712"/>
            <a:ext cx="292608" cy="292608"/>
          </a:xfrm>
          <a:prstGeom prst="ellipse">
            <a:avLst/>
          </a:prstGeom>
          <a:solidFill>
            <a:srgbClr val="EAF0F8"/>
          </a:solidFill>
          <a:ln w="12700">
            <a:solidFill>
              <a:srgbClr val="333333"/>
            </a:solidFill>
            <a:prstDash val="solid"/>
          </a:ln>
        </p:spPr>
      </p:sp>
      <p:sp>
        <p:nvSpPr>
          <p:cNvPr id="24" name="Text 21"/>
          <p:cNvSpPr/>
          <p:nvPr/>
        </p:nvSpPr>
        <p:spPr>
          <a:xfrm>
            <a:off x="7528987"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4</a:t>
            </a:r>
            <a:endParaRPr lang="en-US" sz="900" dirty="0"/>
          </a:p>
        </p:txBody>
      </p:sp>
      <p:sp>
        <p:nvSpPr>
          <p:cNvPr id="25" name="Text 22"/>
          <p:cNvSpPr/>
          <p:nvPr/>
        </p:nvSpPr>
        <p:spPr>
          <a:xfrm>
            <a:off x="7528987"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K-means clustering (k=4)</a:t>
            </a:r>
            <a:endParaRPr lang="en-US" sz="950" dirty="0"/>
          </a:p>
        </p:txBody>
      </p:sp>
      <p:sp>
        <p:nvSpPr>
          <p:cNvPr id="26" name="Text 23"/>
          <p:cNvSpPr/>
          <p:nvPr/>
        </p:nvSpPr>
        <p:spPr>
          <a:xfrm>
            <a:off x="7528987"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Run on standardised factor scores, n_init = 20</a:t>
            </a:r>
            <a:endParaRPr lang="en-US" sz="750" dirty="0"/>
          </a:p>
        </p:txBody>
      </p:sp>
      <p:sp>
        <p:nvSpPr>
          <p:cNvPr id="27" name="Shape 24"/>
          <p:cNvSpPr/>
          <p:nvPr/>
        </p:nvSpPr>
        <p:spPr>
          <a:xfrm>
            <a:off x="9627169" y="2121408"/>
            <a:ext cx="2061606" cy="1143000"/>
          </a:xfrm>
          <a:prstGeom prst="roundRect">
            <a:avLst>
              <a:gd name="adj" fmla="val 72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8" name="Shape 25"/>
          <p:cNvSpPr/>
          <p:nvPr/>
        </p:nvSpPr>
        <p:spPr>
          <a:xfrm>
            <a:off x="9810049" y="2267712"/>
            <a:ext cx="292608" cy="292608"/>
          </a:xfrm>
          <a:prstGeom prst="ellipse">
            <a:avLst/>
          </a:prstGeom>
          <a:solidFill>
            <a:srgbClr val="EAF0F8"/>
          </a:solidFill>
          <a:ln w="12700">
            <a:solidFill>
              <a:srgbClr val="333333"/>
            </a:solidFill>
            <a:prstDash val="solid"/>
          </a:ln>
        </p:spPr>
      </p:sp>
      <p:sp>
        <p:nvSpPr>
          <p:cNvPr id="29" name="Text 26"/>
          <p:cNvSpPr/>
          <p:nvPr/>
        </p:nvSpPr>
        <p:spPr>
          <a:xfrm>
            <a:off x="9810049"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5</a:t>
            </a:r>
            <a:endParaRPr lang="en-US" sz="900" dirty="0"/>
          </a:p>
        </p:txBody>
      </p:sp>
      <p:sp>
        <p:nvSpPr>
          <p:cNvPr id="30" name="Text 27"/>
          <p:cNvSpPr/>
          <p:nvPr/>
        </p:nvSpPr>
        <p:spPr>
          <a:xfrm>
            <a:off x="9810049"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4 archetypes</a:t>
            </a:r>
            <a:endParaRPr lang="en-US" sz="950" dirty="0"/>
          </a:p>
        </p:txBody>
      </p:sp>
      <p:sp>
        <p:nvSpPr>
          <p:cNvPr id="31" name="Text 28"/>
          <p:cNvSpPr/>
          <p:nvPr/>
        </p:nvSpPr>
        <p:spPr>
          <a:xfrm>
            <a:off x="9810049"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Named, sized, and profiled on trigger, barrier and channel</a:t>
            </a:r>
            <a:endParaRPr lang="en-US" sz="750" dirty="0"/>
          </a:p>
        </p:txBody>
      </p:sp>
      <p:sp>
        <p:nvSpPr>
          <p:cNvPr id="32" name="Shape 29"/>
          <p:cNvSpPr/>
          <p:nvPr/>
        </p:nvSpPr>
        <p:spPr>
          <a:xfrm>
            <a:off x="502920" y="3419856"/>
            <a:ext cx="11185855" cy="640080"/>
          </a:xfrm>
          <a:prstGeom prst="roundRect">
            <a:avLst>
              <a:gd name="adj" fmla="val 12857"/>
            </a:avLst>
          </a:prstGeom>
          <a:solidFill>
            <a:srgbClr val="0C1A2B"/>
          </a:solidFill>
          <a:ln w="9525">
            <a:solidFill>
              <a:srgbClr val="0C1A2B"/>
            </a:solidFill>
            <a:prstDash val="solid"/>
          </a:ln>
          <a:effectLst>
            <a:outerShdw sx="100000" sy="100000" kx="0" ky="0" algn="bl" rotWithShape="0" blurRad="177800" dist="38100" dir="5400000">
              <a:srgbClr val="101C2C">
                <a:alpha val="9000"/>
              </a:srgbClr>
            </a:outerShdw>
          </a:effectLst>
        </p:spPr>
      </p:sp>
      <p:sp>
        <p:nvSpPr>
          <p:cNvPr id="33" name="Text 30"/>
          <p:cNvSpPr/>
          <p:nvPr/>
        </p:nvSpPr>
        <p:spPr>
          <a:xfrm>
            <a:off x="731520" y="3419856"/>
            <a:ext cx="4023360" cy="640080"/>
          </a:xfrm>
          <a:prstGeom prst="rect">
            <a:avLst/>
          </a:prstGeom>
          <a:noFill/>
          <a:ln/>
        </p:spPr>
        <p:txBody>
          <a:bodyPr wrap="square" lIns="0" tIns="0" rIns="0" bIns="0" rtlCol="0" anchor="ctr"/>
          <a:lstStyle/>
          <a:p>
            <a:pPr indent="0" marL="0">
              <a:buNone/>
            </a:pPr>
            <a:r>
              <a:rPr lang="en-US" sz="900" b="1" spc="120" kern="0" dirty="0">
                <a:solidFill>
                  <a:srgbClr val="5FC28C"/>
                </a:solidFill>
                <a:latin typeface="Nunito Sans" pitchFamily="34" charset="0"/>
                <a:ea typeface="Nunito Sans" pitchFamily="34" charset="-122"/>
                <a:cs typeface="Nunito Sans" pitchFamily="34" charset="-120"/>
              </a:rPr>
              <a:t>ADEQUACY — BOTH TESTS PASSED BEFORE EXTRACTION</a:t>
            </a:r>
            <a:endParaRPr lang="en-US" sz="900" dirty="0"/>
          </a:p>
        </p:txBody>
      </p:sp>
      <p:sp>
        <p:nvSpPr>
          <p:cNvPr id="34" name="Text 31"/>
          <p:cNvSpPr/>
          <p:nvPr/>
        </p:nvSpPr>
        <p:spPr>
          <a:xfrm>
            <a:off x="5120640" y="3493008"/>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KMO</a:t>
            </a:r>
            <a:endParaRPr lang="en-US" sz="750" dirty="0"/>
          </a:p>
        </p:txBody>
      </p:sp>
      <p:sp>
        <p:nvSpPr>
          <p:cNvPr id="35" name="Text 32"/>
          <p:cNvSpPr/>
          <p:nvPr/>
        </p:nvSpPr>
        <p:spPr>
          <a:xfrm>
            <a:off x="5120640" y="3694176"/>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0.886</a:t>
            </a:r>
            <a:endParaRPr lang="en-US" sz="1200" dirty="0"/>
          </a:p>
        </p:txBody>
      </p:sp>
      <p:sp>
        <p:nvSpPr>
          <p:cNvPr id="36" name="Text 33"/>
          <p:cNvSpPr/>
          <p:nvPr/>
        </p:nvSpPr>
        <p:spPr>
          <a:xfrm>
            <a:off x="6217920" y="3694176"/>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"meritorious"</a:t>
            </a:r>
            <a:endParaRPr lang="en-US" sz="750" dirty="0"/>
          </a:p>
        </p:txBody>
      </p:sp>
      <p:sp>
        <p:nvSpPr>
          <p:cNvPr id="37" name="Text 34"/>
          <p:cNvSpPr/>
          <p:nvPr/>
        </p:nvSpPr>
        <p:spPr>
          <a:xfrm>
            <a:off x="7360920" y="3493008"/>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BARTLETT</a:t>
            </a:r>
            <a:endParaRPr lang="en-US" sz="750" dirty="0"/>
          </a:p>
        </p:txBody>
      </p:sp>
      <p:sp>
        <p:nvSpPr>
          <p:cNvPr id="38" name="Text 35"/>
          <p:cNvSpPr/>
          <p:nvPr/>
        </p:nvSpPr>
        <p:spPr>
          <a:xfrm>
            <a:off x="7360920" y="3694176"/>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p &lt; 0.001</a:t>
            </a:r>
            <a:endParaRPr lang="en-US" sz="1200" dirty="0"/>
          </a:p>
        </p:txBody>
      </p:sp>
      <p:sp>
        <p:nvSpPr>
          <p:cNvPr id="39" name="Text 36"/>
          <p:cNvSpPr/>
          <p:nvPr/>
        </p:nvSpPr>
        <p:spPr>
          <a:xfrm>
            <a:off x="8458200" y="3694176"/>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sphericity rejected</a:t>
            </a:r>
            <a:endParaRPr lang="en-US" sz="750" dirty="0"/>
          </a:p>
        </p:txBody>
      </p:sp>
      <p:sp>
        <p:nvSpPr>
          <p:cNvPr id="40" name="Text 37"/>
          <p:cNvSpPr/>
          <p:nvPr/>
        </p:nvSpPr>
        <p:spPr>
          <a:xfrm>
            <a:off x="9601200" y="3493008"/>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SILHOUETTE</a:t>
            </a:r>
            <a:endParaRPr lang="en-US" sz="750" dirty="0"/>
          </a:p>
        </p:txBody>
      </p:sp>
      <p:sp>
        <p:nvSpPr>
          <p:cNvPr id="41" name="Text 38"/>
          <p:cNvSpPr/>
          <p:nvPr/>
        </p:nvSpPr>
        <p:spPr>
          <a:xfrm>
            <a:off x="9601200" y="3694176"/>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0.347</a:t>
            </a:r>
            <a:endParaRPr lang="en-US" sz="1200" dirty="0"/>
          </a:p>
        </p:txBody>
      </p:sp>
      <p:sp>
        <p:nvSpPr>
          <p:cNvPr id="42" name="Text 39"/>
          <p:cNvSpPr/>
          <p:nvPr/>
        </p:nvSpPr>
        <p:spPr>
          <a:xfrm>
            <a:off x="10698480" y="3694176"/>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highest at k=4</a:t>
            </a:r>
            <a:endParaRPr lang="en-US" sz="750" dirty="0"/>
          </a:p>
        </p:txBody>
      </p:sp>
      <p:sp>
        <p:nvSpPr>
          <p:cNvPr id="43" name="Text 40"/>
          <p:cNvSpPr/>
          <p:nvPr/>
        </p:nvSpPr>
        <p:spPr>
          <a:xfrm>
            <a:off x="502920" y="4206240"/>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THREE FACTORS — AND THEIR DEFINING STATEMENTS</a:t>
            </a:r>
            <a:endParaRPr lang="en-US" sz="950" dirty="0"/>
          </a:p>
        </p:txBody>
      </p:sp>
      <p:sp>
        <p:nvSpPr>
          <p:cNvPr id="44" name="Shape 41"/>
          <p:cNvSpPr/>
          <p:nvPr/>
        </p:nvSpPr>
        <p:spPr>
          <a:xfrm>
            <a:off x="502920" y="4498848"/>
            <a:ext cx="3545738" cy="1975104"/>
          </a:xfrm>
          <a:prstGeom prst="roundRect">
            <a:avLst>
              <a:gd name="adj" fmla="val 416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5" name="Shape 42"/>
          <p:cNvSpPr/>
          <p:nvPr/>
        </p:nvSpPr>
        <p:spPr>
          <a:xfrm>
            <a:off x="502920" y="4498848"/>
            <a:ext cx="3545738" cy="45720"/>
          </a:xfrm>
          <a:prstGeom prst="rect">
            <a:avLst/>
          </a:prstGeom>
          <a:solidFill>
            <a:srgbClr val="3A5D97"/>
          </a:solidFill>
          <a:ln w="12700">
            <a:solidFill>
              <a:srgbClr val="333333"/>
            </a:solidFill>
            <a:prstDash val="solid"/>
          </a:ln>
        </p:spPr>
      </p:sp>
      <p:sp>
        <p:nvSpPr>
          <p:cNvPr id="46" name="Text 43"/>
          <p:cNvSpPr/>
          <p:nvPr/>
        </p:nvSpPr>
        <p:spPr>
          <a:xfrm>
            <a:off x="685800" y="4626864"/>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F1 — Social &amp; experiential trust</a:t>
            </a:r>
            <a:endParaRPr lang="en-US" sz="1000" dirty="0"/>
          </a:p>
        </p:txBody>
      </p:sp>
      <p:sp>
        <p:nvSpPr>
          <p:cNvPr id="47" name="Text 44"/>
          <p:cNvSpPr/>
          <p:nvPr/>
        </p:nvSpPr>
        <p:spPr>
          <a:xfrm>
            <a:off x="685800" y="4846320"/>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Trust is earned through people and events, not systems and symbols.</a:t>
            </a:r>
            <a:endParaRPr lang="en-US" sz="800" dirty="0"/>
          </a:p>
        </p:txBody>
      </p:sp>
      <p:sp>
        <p:nvSpPr>
          <p:cNvPr id="48" name="Text 45"/>
          <p:cNvSpPr/>
          <p:nvPr/>
        </p:nvSpPr>
        <p:spPr>
          <a:xfrm>
            <a:off x="685800" y="521208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Stopped buying after a news story</a:t>
            </a:r>
            <a:endParaRPr lang="en-US" sz="850" dirty="0"/>
          </a:p>
        </p:txBody>
      </p:sp>
      <p:sp>
        <p:nvSpPr>
          <p:cNvPr id="49" name="Text 46"/>
          <p:cNvSpPr/>
          <p:nvPr/>
        </p:nvSpPr>
        <p:spPr>
          <a:xfrm>
            <a:off x="3408578" y="521208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0.68</a:t>
            </a:r>
            <a:endParaRPr lang="en-US" sz="850" dirty="0"/>
          </a:p>
        </p:txBody>
      </p:sp>
      <p:sp>
        <p:nvSpPr>
          <p:cNvPr id="50" name="Shape 47"/>
          <p:cNvSpPr/>
          <p:nvPr/>
        </p:nvSpPr>
        <p:spPr>
          <a:xfrm>
            <a:off x="685800" y="5394960"/>
            <a:ext cx="3179978" cy="45720"/>
          </a:xfrm>
          <a:prstGeom prst="roundRect">
            <a:avLst>
              <a:gd name="adj" fmla="val 50000"/>
            </a:avLst>
          </a:prstGeom>
          <a:solidFill>
            <a:srgbClr val="EDE4D4"/>
          </a:solidFill>
          <a:ln w="12700">
            <a:solidFill>
              <a:srgbClr val="333333"/>
            </a:solidFill>
            <a:prstDash val="solid"/>
          </a:ln>
        </p:spPr>
      </p:sp>
      <p:sp>
        <p:nvSpPr>
          <p:cNvPr id="51" name="Shape 48"/>
          <p:cNvSpPr/>
          <p:nvPr/>
        </p:nvSpPr>
        <p:spPr>
          <a:xfrm>
            <a:off x="685800" y="5394960"/>
            <a:ext cx="2162385" cy="45720"/>
          </a:xfrm>
          <a:prstGeom prst="roundRect">
            <a:avLst>
              <a:gd name="adj" fmla="val 50000"/>
            </a:avLst>
          </a:prstGeom>
          <a:solidFill>
            <a:srgbClr val="3A5D97"/>
          </a:solidFill>
          <a:ln w="12700">
            <a:solidFill>
              <a:srgbClr val="333333"/>
            </a:solidFill>
            <a:prstDash val="solid"/>
          </a:ln>
        </p:spPr>
      </p:sp>
      <p:sp>
        <p:nvSpPr>
          <p:cNvPr id="52" name="Text 49"/>
          <p:cNvSpPr/>
          <p:nvPr/>
        </p:nvSpPr>
        <p:spPr>
          <a:xfrm>
            <a:off x="685800" y="549554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A doctor beats any pack logo</a:t>
            </a:r>
            <a:endParaRPr lang="en-US" sz="850" dirty="0"/>
          </a:p>
        </p:txBody>
      </p:sp>
      <p:sp>
        <p:nvSpPr>
          <p:cNvPr id="53" name="Text 50"/>
          <p:cNvSpPr/>
          <p:nvPr/>
        </p:nvSpPr>
        <p:spPr>
          <a:xfrm>
            <a:off x="3408578" y="549554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0.62</a:t>
            </a:r>
            <a:endParaRPr lang="en-US" sz="850" dirty="0"/>
          </a:p>
        </p:txBody>
      </p:sp>
      <p:sp>
        <p:nvSpPr>
          <p:cNvPr id="54" name="Shape 51"/>
          <p:cNvSpPr/>
          <p:nvPr/>
        </p:nvSpPr>
        <p:spPr>
          <a:xfrm>
            <a:off x="685800" y="5678424"/>
            <a:ext cx="3179978" cy="45720"/>
          </a:xfrm>
          <a:prstGeom prst="roundRect">
            <a:avLst>
              <a:gd name="adj" fmla="val 50000"/>
            </a:avLst>
          </a:prstGeom>
          <a:solidFill>
            <a:srgbClr val="EDE4D4"/>
          </a:solidFill>
          <a:ln w="12700">
            <a:solidFill>
              <a:srgbClr val="333333"/>
            </a:solidFill>
            <a:prstDash val="solid"/>
          </a:ln>
        </p:spPr>
      </p:sp>
      <p:sp>
        <p:nvSpPr>
          <p:cNvPr id="55" name="Shape 52"/>
          <p:cNvSpPr/>
          <p:nvPr/>
        </p:nvSpPr>
        <p:spPr>
          <a:xfrm>
            <a:off x="685800" y="5678424"/>
            <a:ext cx="1971587" cy="45720"/>
          </a:xfrm>
          <a:prstGeom prst="roundRect">
            <a:avLst>
              <a:gd name="adj" fmla="val 50000"/>
            </a:avLst>
          </a:prstGeom>
          <a:solidFill>
            <a:srgbClr val="3A5D97"/>
          </a:solidFill>
          <a:ln w="12700">
            <a:solidFill>
              <a:srgbClr val="333333"/>
            </a:solidFill>
            <a:prstDash val="solid"/>
          </a:ln>
        </p:spPr>
      </p:sp>
      <p:sp>
        <p:nvSpPr>
          <p:cNvPr id="56" name="Text 53"/>
          <p:cNvSpPr/>
          <p:nvPr/>
        </p:nvSpPr>
        <p:spPr>
          <a:xfrm>
            <a:off x="685800" y="5779008"/>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trust a farmer I know by name</a:t>
            </a:r>
            <a:endParaRPr lang="en-US" sz="850" dirty="0"/>
          </a:p>
        </p:txBody>
      </p:sp>
      <p:sp>
        <p:nvSpPr>
          <p:cNvPr id="57" name="Text 54"/>
          <p:cNvSpPr/>
          <p:nvPr/>
        </p:nvSpPr>
        <p:spPr>
          <a:xfrm>
            <a:off x="3408578" y="5779008"/>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0.59</a:t>
            </a:r>
            <a:endParaRPr lang="en-US" sz="850" dirty="0"/>
          </a:p>
        </p:txBody>
      </p:sp>
      <p:sp>
        <p:nvSpPr>
          <p:cNvPr id="58" name="Shape 55"/>
          <p:cNvSpPr/>
          <p:nvPr/>
        </p:nvSpPr>
        <p:spPr>
          <a:xfrm>
            <a:off x="685800" y="5961888"/>
            <a:ext cx="3179978" cy="45720"/>
          </a:xfrm>
          <a:prstGeom prst="roundRect">
            <a:avLst>
              <a:gd name="adj" fmla="val 50000"/>
            </a:avLst>
          </a:prstGeom>
          <a:solidFill>
            <a:srgbClr val="EDE4D4"/>
          </a:solidFill>
          <a:ln w="12700">
            <a:solidFill>
              <a:srgbClr val="333333"/>
            </a:solidFill>
            <a:prstDash val="solid"/>
          </a:ln>
        </p:spPr>
      </p:sp>
      <p:sp>
        <p:nvSpPr>
          <p:cNvPr id="59" name="Shape 56"/>
          <p:cNvSpPr/>
          <p:nvPr/>
        </p:nvSpPr>
        <p:spPr>
          <a:xfrm>
            <a:off x="685800" y="5961888"/>
            <a:ext cx="1876187" cy="45720"/>
          </a:xfrm>
          <a:prstGeom prst="roundRect">
            <a:avLst>
              <a:gd name="adj" fmla="val 50000"/>
            </a:avLst>
          </a:prstGeom>
          <a:solidFill>
            <a:srgbClr val="3A5D97"/>
          </a:solidFill>
          <a:ln w="12700">
            <a:solidFill>
              <a:srgbClr val="333333"/>
            </a:solidFill>
            <a:prstDash val="solid"/>
          </a:ln>
        </p:spPr>
      </p:sp>
      <p:sp>
        <p:nvSpPr>
          <p:cNvPr id="60" name="Text 57"/>
          <p:cNvSpPr/>
          <p:nvPr/>
        </p:nvSpPr>
        <p:spPr>
          <a:xfrm>
            <a:off x="685800" y="606247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prefer smaller brands</a:t>
            </a:r>
            <a:endParaRPr lang="en-US" sz="850" dirty="0"/>
          </a:p>
        </p:txBody>
      </p:sp>
      <p:sp>
        <p:nvSpPr>
          <p:cNvPr id="61" name="Text 58"/>
          <p:cNvSpPr/>
          <p:nvPr/>
        </p:nvSpPr>
        <p:spPr>
          <a:xfrm>
            <a:off x="3408578" y="606247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0.53</a:t>
            </a:r>
            <a:endParaRPr lang="en-US" sz="850" dirty="0"/>
          </a:p>
        </p:txBody>
      </p:sp>
      <p:sp>
        <p:nvSpPr>
          <p:cNvPr id="62" name="Shape 59"/>
          <p:cNvSpPr/>
          <p:nvPr/>
        </p:nvSpPr>
        <p:spPr>
          <a:xfrm>
            <a:off x="685800" y="6245352"/>
            <a:ext cx="3179978" cy="45720"/>
          </a:xfrm>
          <a:prstGeom prst="roundRect">
            <a:avLst>
              <a:gd name="adj" fmla="val 50000"/>
            </a:avLst>
          </a:prstGeom>
          <a:solidFill>
            <a:srgbClr val="EDE4D4"/>
          </a:solidFill>
          <a:ln w="12700">
            <a:solidFill>
              <a:srgbClr val="333333"/>
            </a:solidFill>
            <a:prstDash val="solid"/>
          </a:ln>
        </p:spPr>
      </p:sp>
      <p:sp>
        <p:nvSpPr>
          <p:cNvPr id="63" name="Shape 60"/>
          <p:cNvSpPr/>
          <p:nvPr/>
        </p:nvSpPr>
        <p:spPr>
          <a:xfrm>
            <a:off x="685800" y="6245352"/>
            <a:ext cx="1685389" cy="45720"/>
          </a:xfrm>
          <a:prstGeom prst="roundRect">
            <a:avLst>
              <a:gd name="adj" fmla="val 50000"/>
            </a:avLst>
          </a:prstGeom>
          <a:solidFill>
            <a:srgbClr val="3A5D97"/>
          </a:solidFill>
          <a:ln w="12700">
            <a:solidFill>
              <a:srgbClr val="333333"/>
            </a:solidFill>
            <a:prstDash val="solid"/>
          </a:ln>
        </p:spPr>
      </p:sp>
      <p:sp>
        <p:nvSpPr>
          <p:cNvPr id="64" name="Shape 61"/>
          <p:cNvSpPr/>
          <p:nvPr/>
        </p:nvSpPr>
        <p:spPr>
          <a:xfrm>
            <a:off x="4322978" y="4498848"/>
            <a:ext cx="3545738" cy="1975104"/>
          </a:xfrm>
          <a:prstGeom prst="roundRect">
            <a:avLst>
              <a:gd name="adj" fmla="val 416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65" name="Shape 62"/>
          <p:cNvSpPr/>
          <p:nvPr/>
        </p:nvSpPr>
        <p:spPr>
          <a:xfrm>
            <a:off x="4322978" y="4498848"/>
            <a:ext cx="3545738" cy="45720"/>
          </a:xfrm>
          <a:prstGeom prst="rect">
            <a:avLst/>
          </a:prstGeom>
          <a:solidFill>
            <a:srgbClr val="9E3A24"/>
          </a:solidFill>
          <a:ln w="12700">
            <a:solidFill>
              <a:srgbClr val="333333"/>
            </a:solidFill>
            <a:prstDash val="solid"/>
          </a:ln>
        </p:spPr>
      </p:sp>
      <p:sp>
        <p:nvSpPr>
          <p:cNvPr id="66" name="Text 63"/>
          <p:cNvSpPr/>
          <p:nvPr/>
        </p:nvSpPr>
        <p:spPr>
          <a:xfrm>
            <a:off x="4505858" y="4626864"/>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F2 — System distrust &amp; premium intent</a:t>
            </a:r>
            <a:endParaRPr lang="en-US" sz="1000" dirty="0"/>
          </a:p>
        </p:txBody>
      </p:sp>
      <p:sp>
        <p:nvSpPr>
          <p:cNvPr id="67" name="Text 64"/>
          <p:cNvSpPr/>
          <p:nvPr/>
        </p:nvSpPr>
        <p:spPr>
          <a:xfrm>
            <a:off x="4505858" y="4846320"/>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The system is corrupt, and I will pay to exit it. This is the financial engine of premium food brands.</a:t>
            </a:r>
            <a:endParaRPr lang="en-US" sz="800" dirty="0"/>
          </a:p>
        </p:txBody>
      </p:sp>
      <p:sp>
        <p:nvSpPr>
          <p:cNvPr id="68" name="Text 65"/>
          <p:cNvSpPr/>
          <p:nvPr/>
        </p:nvSpPr>
        <p:spPr>
          <a:xfrm>
            <a:off x="4505858" y="521208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Factories cannot be genuinely clean</a:t>
            </a:r>
            <a:endParaRPr lang="en-US" sz="850" dirty="0"/>
          </a:p>
        </p:txBody>
      </p:sp>
      <p:sp>
        <p:nvSpPr>
          <p:cNvPr id="69" name="Text 66"/>
          <p:cNvSpPr/>
          <p:nvPr/>
        </p:nvSpPr>
        <p:spPr>
          <a:xfrm>
            <a:off x="7228637" y="521208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0.65</a:t>
            </a:r>
            <a:endParaRPr lang="en-US" sz="850" dirty="0"/>
          </a:p>
        </p:txBody>
      </p:sp>
      <p:sp>
        <p:nvSpPr>
          <p:cNvPr id="70" name="Shape 67"/>
          <p:cNvSpPr/>
          <p:nvPr/>
        </p:nvSpPr>
        <p:spPr>
          <a:xfrm>
            <a:off x="4505858" y="5394960"/>
            <a:ext cx="3179978" cy="45720"/>
          </a:xfrm>
          <a:prstGeom prst="roundRect">
            <a:avLst>
              <a:gd name="adj" fmla="val 50000"/>
            </a:avLst>
          </a:prstGeom>
          <a:solidFill>
            <a:srgbClr val="EDE4D4"/>
          </a:solidFill>
          <a:ln w="12700">
            <a:solidFill>
              <a:srgbClr val="333333"/>
            </a:solidFill>
            <a:prstDash val="solid"/>
          </a:ln>
        </p:spPr>
      </p:sp>
      <p:sp>
        <p:nvSpPr>
          <p:cNvPr id="71" name="Shape 68"/>
          <p:cNvSpPr/>
          <p:nvPr/>
        </p:nvSpPr>
        <p:spPr>
          <a:xfrm>
            <a:off x="4505858" y="5394960"/>
            <a:ext cx="2066986" cy="45720"/>
          </a:xfrm>
          <a:prstGeom prst="roundRect">
            <a:avLst>
              <a:gd name="adj" fmla="val 50000"/>
            </a:avLst>
          </a:prstGeom>
          <a:solidFill>
            <a:srgbClr val="9E3A24"/>
          </a:solidFill>
          <a:ln w="12700">
            <a:solidFill>
              <a:srgbClr val="333333"/>
            </a:solidFill>
            <a:prstDash val="solid"/>
          </a:ln>
        </p:spPr>
      </p:sp>
      <p:sp>
        <p:nvSpPr>
          <p:cNvPr id="72" name="Text 69"/>
          <p:cNvSpPr/>
          <p:nvPr/>
        </p:nvSpPr>
        <p:spPr>
          <a:xfrm>
            <a:off x="4505858" y="549554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Some adulteration is unavoidable</a:t>
            </a:r>
            <a:endParaRPr lang="en-US" sz="850" dirty="0"/>
          </a:p>
        </p:txBody>
      </p:sp>
      <p:sp>
        <p:nvSpPr>
          <p:cNvPr id="73" name="Text 70"/>
          <p:cNvSpPr/>
          <p:nvPr/>
        </p:nvSpPr>
        <p:spPr>
          <a:xfrm>
            <a:off x="7228637" y="549554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0.50</a:t>
            </a:r>
            <a:endParaRPr lang="en-US" sz="850" dirty="0"/>
          </a:p>
        </p:txBody>
      </p:sp>
      <p:sp>
        <p:nvSpPr>
          <p:cNvPr id="74" name="Shape 71"/>
          <p:cNvSpPr/>
          <p:nvPr/>
        </p:nvSpPr>
        <p:spPr>
          <a:xfrm>
            <a:off x="4505858" y="5678424"/>
            <a:ext cx="3179978" cy="45720"/>
          </a:xfrm>
          <a:prstGeom prst="roundRect">
            <a:avLst>
              <a:gd name="adj" fmla="val 50000"/>
            </a:avLst>
          </a:prstGeom>
          <a:solidFill>
            <a:srgbClr val="EDE4D4"/>
          </a:solidFill>
          <a:ln w="12700">
            <a:solidFill>
              <a:srgbClr val="333333"/>
            </a:solidFill>
            <a:prstDash val="solid"/>
          </a:ln>
        </p:spPr>
      </p:sp>
      <p:sp>
        <p:nvSpPr>
          <p:cNvPr id="75" name="Shape 72"/>
          <p:cNvSpPr/>
          <p:nvPr/>
        </p:nvSpPr>
        <p:spPr>
          <a:xfrm>
            <a:off x="4505858" y="5678424"/>
            <a:ext cx="1589989" cy="45720"/>
          </a:xfrm>
          <a:prstGeom prst="roundRect">
            <a:avLst>
              <a:gd name="adj" fmla="val 50000"/>
            </a:avLst>
          </a:prstGeom>
          <a:solidFill>
            <a:srgbClr val="9E3A24"/>
          </a:solidFill>
          <a:ln w="12700">
            <a:solidFill>
              <a:srgbClr val="333333"/>
            </a:solidFill>
            <a:prstDash val="solid"/>
          </a:ln>
        </p:spPr>
      </p:sp>
      <p:sp>
        <p:nvSpPr>
          <p:cNvPr id="76" name="Text 73"/>
          <p:cNvSpPr/>
          <p:nvPr/>
        </p:nvSpPr>
        <p:spPr>
          <a:xfrm>
            <a:off x="4505858" y="5779008"/>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would pay 20–30% more</a:t>
            </a:r>
            <a:endParaRPr lang="en-US" sz="850" dirty="0"/>
          </a:p>
        </p:txBody>
      </p:sp>
      <p:sp>
        <p:nvSpPr>
          <p:cNvPr id="77" name="Text 74"/>
          <p:cNvSpPr/>
          <p:nvPr/>
        </p:nvSpPr>
        <p:spPr>
          <a:xfrm>
            <a:off x="7228637" y="5779008"/>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0.48</a:t>
            </a:r>
            <a:endParaRPr lang="en-US" sz="850" dirty="0"/>
          </a:p>
        </p:txBody>
      </p:sp>
      <p:sp>
        <p:nvSpPr>
          <p:cNvPr id="78" name="Shape 75"/>
          <p:cNvSpPr/>
          <p:nvPr/>
        </p:nvSpPr>
        <p:spPr>
          <a:xfrm>
            <a:off x="4505858" y="5961888"/>
            <a:ext cx="3179978" cy="45720"/>
          </a:xfrm>
          <a:prstGeom prst="roundRect">
            <a:avLst>
              <a:gd name="adj" fmla="val 50000"/>
            </a:avLst>
          </a:prstGeom>
          <a:solidFill>
            <a:srgbClr val="EDE4D4"/>
          </a:solidFill>
          <a:ln w="12700">
            <a:solidFill>
              <a:srgbClr val="333333"/>
            </a:solidFill>
            <a:prstDash val="solid"/>
          </a:ln>
        </p:spPr>
      </p:sp>
      <p:sp>
        <p:nvSpPr>
          <p:cNvPr id="79" name="Shape 76"/>
          <p:cNvSpPr/>
          <p:nvPr/>
        </p:nvSpPr>
        <p:spPr>
          <a:xfrm>
            <a:off x="4505858" y="5961888"/>
            <a:ext cx="1526390" cy="45720"/>
          </a:xfrm>
          <a:prstGeom prst="roundRect">
            <a:avLst>
              <a:gd name="adj" fmla="val 50000"/>
            </a:avLst>
          </a:prstGeom>
          <a:solidFill>
            <a:srgbClr val="9E3A24"/>
          </a:solidFill>
          <a:ln w="12700">
            <a:solidFill>
              <a:srgbClr val="333333"/>
            </a:solidFill>
            <a:prstDash val="solid"/>
          </a:ln>
        </p:spPr>
      </p:sp>
      <p:sp>
        <p:nvSpPr>
          <p:cNvPr id="80" name="Text 77"/>
          <p:cNvSpPr/>
          <p:nvPr/>
        </p:nvSpPr>
        <p:spPr>
          <a:xfrm>
            <a:off x="4505858" y="606247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The problem is proof, not cost</a:t>
            </a:r>
            <a:endParaRPr lang="en-US" sz="850" dirty="0"/>
          </a:p>
        </p:txBody>
      </p:sp>
      <p:sp>
        <p:nvSpPr>
          <p:cNvPr id="81" name="Text 78"/>
          <p:cNvSpPr/>
          <p:nvPr/>
        </p:nvSpPr>
        <p:spPr>
          <a:xfrm>
            <a:off x="7228637" y="606247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0.47</a:t>
            </a:r>
            <a:endParaRPr lang="en-US" sz="850" dirty="0"/>
          </a:p>
        </p:txBody>
      </p:sp>
      <p:sp>
        <p:nvSpPr>
          <p:cNvPr id="82" name="Shape 79"/>
          <p:cNvSpPr/>
          <p:nvPr/>
        </p:nvSpPr>
        <p:spPr>
          <a:xfrm>
            <a:off x="4505858" y="6245352"/>
            <a:ext cx="3179978" cy="45720"/>
          </a:xfrm>
          <a:prstGeom prst="roundRect">
            <a:avLst>
              <a:gd name="adj" fmla="val 50000"/>
            </a:avLst>
          </a:prstGeom>
          <a:solidFill>
            <a:srgbClr val="EDE4D4"/>
          </a:solidFill>
          <a:ln w="12700">
            <a:solidFill>
              <a:srgbClr val="333333"/>
            </a:solidFill>
            <a:prstDash val="solid"/>
          </a:ln>
        </p:spPr>
      </p:sp>
      <p:sp>
        <p:nvSpPr>
          <p:cNvPr id="83" name="Shape 80"/>
          <p:cNvSpPr/>
          <p:nvPr/>
        </p:nvSpPr>
        <p:spPr>
          <a:xfrm>
            <a:off x="4505858" y="6245352"/>
            <a:ext cx="1494590" cy="45720"/>
          </a:xfrm>
          <a:prstGeom prst="roundRect">
            <a:avLst>
              <a:gd name="adj" fmla="val 50000"/>
            </a:avLst>
          </a:prstGeom>
          <a:solidFill>
            <a:srgbClr val="9E3A24"/>
          </a:solidFill>
          <a:ln w="12700">
            <a:solidFill>
              <a:srgbClr val="333333"/>
            </a:solidFill>
            <a:prstDash val="solid"/>
          </a:ln>
        </p:spPr>
      </p:sp>
      <p:sp>
        <p:nvSpPr>
          <p:cNvPr id="84" name="Shape 81"/>
          <p:cNvSpPr/>
          <p:nvPr/>
        </p:nvSpPr>
        <p:spPr>
          <a:xfrm>
            <a:off x="8143037" y="4498848"/>
            <a:ext cx="3545738" cy="1975104"/>
          </a:xfrm>
          <a:prstGeom prst="roundRect">
            <a:avLst>
              <a:gd name="adj" fmla="val 416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5" name="Shape 82"/>
          <p:cNvSpPr/>
          <p:nvPr/>
        </p:nvSpPr>
        <p:spPr>
          <a:xfrm>
            <a:off x="8143037" y="4498848"/>
            <a:ext cx="3545738" cy="45720"/>
          </a:xfrm>
          <a:prstGeom prst="rect">
            <a:avLst/>
          </a:prstGeom>
          <a:solidFill>
            <a:srgbClr val="177A46"/>
          </a:solidFill>
          <a:ln w="12700">
            <a:solidFill>
              <a:srgbClr val="333333"/>
            </a:solidFill>
            <a:prstDash val="solid"/>
          </a:ln>
        </p:spPr>
      </p:sp>
      <p:sp>
        <p:nvSpPr>
          <p:cNvPr id="86" name="Text 83"/>
          <p:cNvSpPr/>
          <p:nvPr/>
        </p:nvSpPr>
        <p:spPr>
          <a:xfrm>
            <a:off x="8325917" y="4626864"/>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F3 — Proof-demanding vigilance</a:t>
            </a:r>
            <a:endParaRPr lang="en-US" sz="1000" dirty="0"/>
          </a:p>
        </p:txBody>
      </p:sp>
      <p:sp>
        <p:nvSpPr>
          <p:cNvPr id="87" name="Text 84"/>
          <p:cNvSpPr/>
          <p:nvPr/>
        </p:nvSpPr>
        <p:spPr>
          <a:xfrm>
            <a:off x="8325917" y="4846320"/>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I will check it myself. Show me the evidence.</a:t>
            </a:r>
            <a:endParaRPr lang="en-US" sz="800" dirty="0"/>
          </a:p>
        </p:txBody>
      </p:sp>
      <p:sp>
        <p:nvSpPr>
          <p:cNvPr id="88" name="Text 85"/>
          <p:cNvSpPr/>
          <p:nvPr/>
        </p:nvSpPr>
        <p:spPr>
          <a:xfrm>
            <a:off x="8325917" y="521208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will pay only if a test is shown</a:t>
            </a:r>
            <a:endParaRPr lang="en-US" sz="850" dirty="0"/>
          </a:p>
        </p:txBody>
      </p:sp>
      <p:sp>
        <p:nvSpPr>
          <p:cNvPr id="89" name="Text 86"/>
          <p:cNvSpPr/>
          <p:nvPr/>
        </p:nvSpPr>
        <p:spPr>
          <a:xfrm>
            <a:off x="11048695" y="521208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0.64</a:t>
            </a:r>
            <a:endParaRPr lang="en-US" sz="850" dirty="0"/>
          </a:p>
        </p:txBody>
      </p:sp>
      <p:sp>
        <p:nvSpPr>
          <p:cNvPr id="90" name="Shape 87"/>
          <p:cNvSpPr/>
          <p:nvPr/>
        </p:nvSpPr>
        <p:spPr>
          <a:xfrm>
            <a:off x="8325917" y="5394960"/>
            <a:ext cx="3179978" cy="45720"/>
          </a:xfrm>
          <a:prstGeom prst="roundRect">
            <a:avLst>
              <a:gd name="adj" fmla="val 50000"/>
            </a:avLst>
          </a:prstGeom>
          <a:solidFill>
            <a:srgbClr val="EDE4D4"/>
          </a:solidFill>
          <a:ln w="12700">
            <a:solidFill>
              <a:srgbClr val="333333"/>
            </a:solidFill>
            <a:prstDash val="solid"/>
          </a:ln>
        </p:spPr>
      </p:sp>
      <p:sp>
        <p:nvSpPr>
          <p:cNvPr id="91" name="Shape 88"/>
          <p:cNvSpPr/>
          <p:nvPr/>
        </p:nvSpPr>
        <p:spPr>
          <a:xfrm>
            <a:off x="8325917" y="5394960"/>
            <a:ext cx="2035186" cy="45720"/>
          </a:xfrm>
          <a:prstGeom prst="roundRect">
            <a:avLst>
              <a:gd name="adj" fmla="val 50000"/>
            </a:avLst>
          </a:prstGeom>
          <a:solidFill>
            <a:srgbClr val="177A46"/>
          </a:solidFill>
          <a:ln w="12700">
            <a:solidFill>
              <a:srgbClr val="333333"/>
            </a:solidFill>
            <a:prstDash val="solid"/>
          </a:ln>
        </p:spPr>
      </p:sp>
      <p:sp>
        <p:nvSpPr>
          <p:cNvPr id="92" name="Text 89"/>
          <p:cNvSpPr/>
          <p:nvPr/>
        </p:nvSpPr>
        <p:spPr>
          <a:xfrm>
            <a:off x="8325917" y="549554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need to verify proof myself</a:t>
            </a:r>
            <a:endParaRPr lang="en-US" sz="850" dirty="0"/>
          </a:p>
        </p:txBody>
      </p:sp>
      <p:sp>
        <p:nvSpPr>
          <p:cNvPr id="93" name="Text 90"/>
          <p:cNvSpPr/>
          <p:nvPr/>
        </p:nvSpPr>
        <p:spPr>
          <a:xfrm>
            <a:off x="11048695" y="549554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0.60</a:t>
            </a:r>
            <a:endParaRPr lang="en-US" sz="850" dirty="0"/>
          </a:p>
        </p:txBody>
      </p:sp>
      <p:sp>
        <p:nvSpPr>
          <p:cNvPr id="94" name="Shape 91"/>
          <p:cNvSpPr/>
          <p:nvPr/>
        </p:nvSpPr>
        <p:spPr>
          <a:xfrm>
            <a:off x="8325917" y="5678424"/>
            <a:ext cx="3179978" cy="45720"/>
          </a:xfrm>
          <a:prstGeom prst="roundRect">
            <a:avLst>
              <a:gd name="adj" fmla="val 50000"/>
            </a:avLst>
          </a:prstGeom>
          <a:solidFill>
            <a:srgbClr val="EDE4D4"/>
          </a:solidFill>
          <a:ln w="12700">
            <a:solidFill>
              <a:srgbClr val="333333"/>
            </a:solidFill>
            <a:prstDash val="solid"/>
          </a:ln>
        </p:spPr>
      </p:sp>
      <p:sp>
        <p:nvSpPr>
          <p:cNvPr id="95" name="Shape 92"/>
          <p:cNvSpPr/>
          <p:nvPr/>
        </p:nvSpPr>
        <p:spPr>
          <a:xfrm>
            <a:off x="8325917" y="5678424"/>
            <a:ext cx="1907987" cy="45720"/>
          </a:xfrm>
          <a:prstGeom prst="roundRect">
            <a:avLst>
              <a:gd name="adj" fmla="val 50000"/>
            </a:avLst>
          </a:prstGeom>
          <a:solidFill>
            <a:srgbClr val="177A46"/>
          </a:solidFill>
          <a:ln w="12700">
            <a:solidFill>
              <a:srgbClr val="333333"/>
            </a:solidFill>
            <a:prstDash val="solid"/>
          </a:ln>
        </p:spPr>
      </p:sp>
      <p:sp>
        <p:nvSpPr>
          <p:cNvPr id="96" name="Text 93"/>
          <p:cNvSpPr/>
          <p:nvPr/>
        </p:nvSpPr>
        <p:spPr>
          <a:xfrm>
            <a:off x="8325917" y="5779008"/>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can spot a genuine claim</a:t>
            </a:r>
            <a:endParaRPr lang="en-US" sz="850" dirty="0"/>
          </a:p>
        </p:txBody>
      </p:sp>
      <p:sp>
        <p:nvSpPr>
          <p:cNvPr id="97" name="Text 94"/>
          <p:cNvSpPr/>
          <p:nvPr/>
        </p:nvSpPr>
        <p:spPr>
          <a:xfrm>
            <a:off x="11048695" y="5779008"/>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0.55</a:t>
            </a:r>
            <a:endParaRPr lang="en-US" sz="850" dirty="0"/>
          </a:p>
        </p:txBody>
      </p:sp>
      <p:sp>
        <p:nvSpPr>
          <p:cNvPr id="98" name="Shape 95"/>
          <p:cNvSpPr/>
          <p:nvPr/>
        </p:nvSpPr>
        <p:spPr>
          <a:xfrm>
            <a:off x="8325917" y="5961888"/>
            <a:ext cx="3179978" cy="45720"/>
          </a:xfrm>
          <a:prstGeom prst="roundRect">
            <a:avLst>
              <a:gd name="adj" fmla="val 50000"/>
            </a:avLst>
          </a:prstGeom>
          <a:solidFill>
            <a:srgbClr val="EDE4D4"/>
          </a:solidFill>
          <a:ln w="12700">
            <a:solidFill>
              <a:srgbClr val="333333"/>
            </a:solidFill>
            <a:prstDash val="solid"/>
          </a:ln>
        </p:spPr>
      </p:sp>
      <p:sp>
        <p:nvSpPr>
          <p:cNvPr id="99" name="Shape 96"/>
          <p:cNvSpPr/>
          <p:nvPr/>
        </p:nvSpPr>
        <p:spPr>
          <a:xfrm>
            <a:off x="8325917" y="5961888"/>
            <a:ext cx="1748988" cy="45720"/>
          </a:xfrm>
          <a:prstGeom prst="roundRect">
            <a:avLst>
              <a:gd name="adj" fmla="val 50000"/>
            </a:avLst>
          </a:prstGeom>
          <a:solidFill>
            <a:srgbClr val="177A46"/>
          </a:solidFill>
          <a:ln w="12700">
            <a:solidFill>
              <a:srgbClr val="333333"/>
            </a:solidFill>
            <a:prstDash val="solid"/>
          </a:ln>
        </p:spPr>
      </p:sp>
      <p:sp>
        <p:nvSpPr>
          <p:cNvPr id="100" name="Text 97"/>
          <p:cNvSpPr/>
          <p:nvPr/>
        </p:nvSpPr>
        <p:spPr>
          <a:xfrm>
            <a:off x="8325917" y="606247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Cost blocks me from safer food</a:t>
            </a:r>
            <a:endParaRPr lang="en-US" sz="850" dirty="0"/>
          </a:p>
        </p:txBody>
      </p:sp>
      <p:sp>
        <p:nvSpPr>
          <p:cNvPr id="101" name="Text 98"/>
          <p:cNvSpPr/>
          <p:nvPr/>
        </p:nvSpPr>
        <p:spPr>
          <a:xfrm>
            <a:off x="11048695" y="606247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0.48</a:t>
            </a:r>
            <a:endParaRPr lang="en-US" sz="850" dirty="0"/>
          </a:p>
        </p:txBody>
      </p:sp>
      <p:sp>
        <p:nvSpPr>
          <p:cNvPr id="102" name="Shape 99"/>
          <p:cNvSpPr/>
          <p:nvPr/>
        </p:nvSpPr>
        <p:spPr>
          <a:xfrm>
            <a:off x="8325917" y="6245352"/>
            <a:ext cx="3179978" cy="45720"/>
          </a:xfrm>
          <a:prstGeom prst="roundRect">
            <a:avLst>
              <a:gd name="adj" fmla="val 50000"/>
            </a:avLst>
          </a:prstGeom>
          <a:solidFill>
            <a:srgbClr val="EDE4D4"/>
          </a:solidFill>
          <a:ln w="12700">
            <a:solidFill>
              <a:srgbClr val="333333"/>
            </a:solidFill>
            <a:prstDash val="solid"/>
          </a:ln>
        </p:spPr>
      </p:sp>
      <p:sp>
        <p:nvSpPr>
          <p:cNvPr id="103" name="Shape 100"/>
          <p:cNvSpPr/>
          <p:nvPr/>
        </p:nvSpPr>
        <p:spPr>
          <a:xfrm>
            <a:off x="8325917" y="6245352"/>
            <a:ext cx="1526390" cy="45720"/>
          </a:xfrm>
          <a:prstGeom prst="roundRect">
            <a:avLst>
              <a:gd name="adj" fmla="val 50000"/>
            </a:avLst>
          </a:prstGeom>
          <a:solidFill>
            <a:srgbClr val="177A46"/>
          </a:solidFill>
          <a:ln w="12700">
            <a:solidFill>
              <a:srgbClr val="333333"/>
            </a:solidFill>
            <a:prstDash val="solid"/>
          </a:ln>
        </p:spPr>
      </p:sp>
      <p:sp>
        <p:nvSpPr>
          <p:cNvPr id="105" name="Shape 101"/>
          <p:cNvSpPr/>
          <p:nvPr/>
        </p:nvSpPr>
        <p:spPr>
          <a:xfrm>
            <a:off x="502920" y="6455664"/>
            <a:ext cx="11185855" cy="0"/>
          </a:xfrm>
          <a:prstGeom prst="line">
            <a:avLst/>
          </a:prstGeom>
          <a:noFill/>
          <a:ln w="9525">
            <a:solidFill>
              <a:srgbClr val="E5DCCB"/>
            </a:solidFill>
            <a:prstDash val="solid"/>
          </a:ln>
        </p:spPr>
      </p:sp>
      <p:sp>
        <p:nvSpPr>
          <p:cNvPr id="106" name="Text 102"/>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107" name="Text 103"/>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SEGMENTATION OUTPUT</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Four customer segments emerged from the research.</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Factor scores are standardised — 0 is the sample mean. Guardians are the only cluster positive on all three factors simultaneously.</a:t>
            </a:r>
            <a:endParaRPr lang="en-US" sz="1100" dirty="0"/>
          </a:p>
        </p:txBody>
      </p:sp>
      <p:sp>
        <p:nvSpPr>
          <p:cNvPr id="7" name="Shape 4"/>
          <p:cNvSpPr/>
          <p:nvPr/>
        </p:nvSpPr>
        <p:spPr>
          <a:xfrm>
            <a:off x="502920" y="2121408"/>
            <a:ext cx="10058400" cy="384048"/>
          </a:xfrm>
          <a:prstGeom prst="roundRect">
            <a:avLst>
              <a:gd name="adj" fmla="val 9524"/>
            </a:avLst>
          </a:prstGeom>
          <a:solidFill>
            <a:srgbClr val="F3ECE0"/>
          </a:solidFill>
          <a:ln w="9525">
            <a:solidFill>
              <a:srgbClr val="EDE4D4"/>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30936" y="2121408"/>
            <a:ext cx="2560320" cy="384048"/>
          </a:xfrm>
          <a:prstGeom prst="rect">
            <a:avLst/>
          </a:prstGeom>
          <a:noFill/>
          <a:ln/>
        </p:spPr>
        <p:txBody>
          <a:bodyPr wrap="square" lIns="0" tIns="0" rIns="0" bIns="0" rtlCol="0" anchor="ctr"/>
          <a:lstStyle/>
          <a:p>
            <a:pPr algn="l" indent="0" marL="0">
              <a:buNone/>
            </a:pPr>
            <a:r>
              <a:rPr lang="en-US" sz="750" b="1" spc="80" kern="0" dirty="0">
                <a:solidFill>
                  <a:srgbClr val="8B95A2"/>
                </a:solidFill>
                <a:latin typeface="Nunito Sans" pitchFamily="34" charset="0"/>
                <a:ea typeface="Nunito Sans" pitchFamily="34" charset="-122"/>
                <a:cs typeface="Nunito Sans" pitchFamily="34" charset="-120"/>
              </a:rPr>
              <a:t>SEGMENT</a:t>
            </a:r>
            <a:endParaRPr lang="en-US" sz="750" dirty="0"/>
          </a:p>
        </p:txBody>
      </p:sp>
      <p:sp>
        <p:nvSpPr>
          <p:cNvPr id="9" name="Text 6"/>
          <p:cNvSpPr/>
          <p:nvPr/>
        </p:nvSpPr>
        <p:spPr>
          <a:xfrm>
            <a:off x="3374136" y="2121408"/>
            <a:ext cx="10058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N (%)</a:t>
            </a:r>
            <a:endParaRPr lang="en-US" sz="750" dirty="0"/>
          </a:p>
        </p:txBody>
      </p:sp>
      <p:sp>
        <p:nvSpPr>
          <p:cNvPr id="10" name="Text 7"/>
          <p:cNvSpPr/>
          <p:nvPr/>
        </p:nvSpPr>
        <p:spPr>
          <a:xfrm>
            <a:off x="4562856" y="2121408"/>
            <a:ext cx="91440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F1 SOCIAL</a:t>
            </a:r>
            <a:endParaRPr lang="en-US" sz="750" dirty="0"/>
          </a:p>
        </p:txBody>
      </p:sp>
      <p:sp>
        <p:nvSpPr>
          <p:cNvPr id="11" name="Text 8"/>
          <p:cNvSpPr/>
          <p:nvPr/>
        </p:nvSpPr>
        <p:spPr>
          <a:xfrm>
            <a:off x="5660136" y="2121408"/>
            <a:ext cx="96012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F2 DISTRUST</a:t>
            </a:r>
            <a:endParaRPr lang="en-US" sz="750" dirty="0"/>
          </a:p>
        </p:txBody>
      </p:sp>
      <p:sp>
        <p:nvSpPr>
          <p:cNvPr id="12" name="Text 9"/>
          <p:cNvSpPr/>
          <p:nvPr/>
        </p:nvSpPr>
        <p:spPr>
          <a:xfrm>
            <a:off x="6803136" y="2121408"/>
            <a:ext cx="10058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F3 VIGILANCE</a:t>
            </a:r>
            <a:endParaRPr lang="en-US" sz="750" dirty="0"/>
          </a:p>
        </p:txBody>
      </p:sp>
      <p:sp>
        <p:nvSpPr>
          <p:cNvPr id="13" name="Text 10"/>
          <p:cNvSpPr/>
          <p:nvPr/>
        </p:nvSpPr>
        <p:spPr>
          <a:xfrm>
            <a:off x="7991856" y="2121408"/>
            <a:ext cx="12344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TRUST IN CERT. CLAIM</a:t>
            </a:r>
            <a:endParaRPr lang="en-US" sz="750" dirty="0"/>
          </a:p>
        </p:txBody>
      </p:sp>
      <p:sp>
        <p:nvSpPr>
          <p:cNvPr id="14" name="Text 11"/>
          <p:cNvSpPr/>
          <p:nvPr/>
        </p:nvSpPr>
        <p:spPr>
          <a:xfrm>
            <a:off x="9409176" y="2121408"/>
            <a:ext cx="109728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WOULD PAY 11%+</a:t>
            </a:r>
            <a:endParaRPr lang="en-US" sz="750" dirty="0"/>
          </a:p>
        </p:txBody>
      </p:sp>
      <p:sp>
        <p:nvSpPr>
          <p:cNvPr id="15" name="Shape 12"/>
          <p:cNvSpPr/>
          <p:nvPr/>
        </p:nvSpPr>
        <p:spPr>
          <a:xfrm>
            <a:off x="502920" y="2505456"/>
            <a:ext cx="10058400" cy="402336"/>
          </a:xfrm>
          <a:prstGeom prst="rect">
            <a:avLst/>
          </a:prstGeom>
          <a:solidFill>
            <a:srgbClr val="FFFFFF"/>
          </a:solidFill>
          <a:ln w="5080">
            <a:solidFill>
              <a:srgbClr val="E5DCCB"/>
            </a:solidFill>
            <a:prstDash val="solid"/>
          </a:ln>
        </p:spPr>
      </p:sp>
      <p:sp>
        <p:nvSpPr>
          <p:cNvPr id="16" name="Shape 13"/>
          <p:cNvSpPr/>
          <p:nvPr/>
        </p:nvSpPr>
        <p:spPr>
          <a:xfrm>
            <a:off x="502920" y="2505456"/>
            <a:ext cx="45720" cy="402336"/>
          </a:xfrm>
          <a:prstGeom prst="rect">
            <a:avLst/>
          </a:prstGeom>
          <a:solidFill>
            <a:srgbClr val="177A46"/>
          </a:solidFill>
          <a:ln w="12700">
            <a:solidFill>
              <a:srgbClr val="333333"/>
            </a:solidFill>
            <a:prstDash val="solid"/>
          </a:ln>
        </p:spPr>
      </p:sp>
      <p:sp>
        <p:nvSpPr>
          <p:cNvPr id="17" name="Text 14"/>
          <p:cNvSpPr/>
          <p:nvPr/>
        </p:nvSpPr>
        <p:spPr>
          <a:xfrm>
            <a:off x="630936" y="2505456"/>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Proof-Hungry Guardians</a:t>
            </a:r>
            <a:endParaRPr lang="en-US" sz="900" dirty="0"/>
          </a:p>
        </p:txBody>
      </p:sp>
      <p:sp>
        <p:nvSpPr>
          <p:cNvPr id="18" name="Text 15"/>
          <p:cNvSpPr/>
          <p:nvPr/>
        </p:nvSpPr>
        <p:spPr>
          <a:xfrm>
            <a:off x="3374136" y="2505456"/>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109  (36%)</a:t>
            </a:r>
            <a:endParaRPr lang="en-US" sz="900" dirty="0"/>
          </a:p>
        </p:txBody>
      </p:sp>
      <p:sp>
        <p:nvSpPr>
          <p:cNvPr id="19" name="Text 16"/>
          <p:cNvSpPr/>
          <p:nvPr/>
        </p:nvSpPr>
        <p:spPr>
          <a:xfrm>
            <a:off x="4562856" y="2505456"/>
            <a:ext cx="91440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+0.46</a:t>
            </a:r>
            <a:endParaRPr lang="en-US" sz="900" dirty="0"/>
          </a:p>
        </p:txBody>
      </p:sp>
      <p:sp>
        <p:nvSpPr>
          <p:cNvPr id="20" name="Text 17"/>
          <p:cNvSpPr/>
          <p:nvPr/>
        </p:nvSpPr>
        <p:spPr>
          <a:xfrm>
            <a:off x="5660136" y="2505456"/>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+0.47</a:t>
            </a:r>
            <a:endParaRPr lang="en-US" sz="900" dirty="0"/>
          </a:p>
        </p:txBody>
      </p:sp>
      <p:sp>
        <p:nvSpPr>
          <p:cNvPr id="21" name="Text 18"/>
          <p:cNvSpPr/>
          <p:nvPr/>
        </p:nvSpPr>
        <p:spPr>
          <a:xfrm>
            <a:off x="6803136" y="2505456"/>
            <a:ext cx="100584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+0.69</a:t>
            </a:r>
            <a:endParaRPr lang="en-US" sz="900" dirty="0"/>
          </a:p>
        </p:txBody>
      </p:sp>
      <p:sp>
        <p:nvSpPr>
          <p:cNvPr id="22" name="Text 19"/>
          <p:cNvSpPr/>
          <p:nvPr/>
        </p:nvSpPr>
        <p:spPr>
          <a:xfrm>
            <a:off x="7991856" y="2505456"/>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4.4 / 5</a:t>
            </a:r>
            <a:endParaRPr lang="en-US" sz="900" dirty="0"/>
          </a:p>
        </p:txBody>
      </p:sp>
      <p:sp>
        <p:nvSpPr>
          <p:cNvPr id="23" name="Text 20"/>
          <p:cNvSpPr/>
          <p:nvPr/>
        </p:nvSpPr>
        <p:spPr>
          <a:xfrm>
            <a:off x="9409176" y="2505456"/>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54%</a:t>
            </a:r>
            <a:endParaRPr lang="en-US" sz="900" dirty="0"/>
          </a:p>
        </p:txBody>
      </p:sp>
      <p:sp>
        <p:nvSpPr>
          <p:cNvPr id="24" name="Shape 21"/>
          <p:cNvSpPr/>
          <p:nvPr/>
        </p:nvSpPr>
        <p:spPr>
          <a:xfrm>
            <a:off x="502920" y="2907792"/>
            <a:ext cx="10058400" cy="402336"/>
          </a:xfrm>
          <a:prstGeom prst="rect">
            <a:avLst/>
          </a:prstGeom>
          <a:solidFill>
            <a:srgbClr val="FCFAF6"/>
          </a:solidFill>
          <a:ln w="5080">
            <a:solidFill>
              <a:srgbClr val="E5DCCB"/>
            </a:solidFill>
            <a:prstDash val="solid"/>
          </a:ln>
        </p:spPr>
      </p:sp>
      <p:sp>
        <p:nvSpPr>
          <p:cNvPr id="25" name="Shape 22"/>
          <p:cNvSpPr/>
          <p:nvPr/>
        </p:nvSpPr>
        <p:spPr>
          <a:xfrm>
            <a:off x="502920" y="2907792"/>
            <a:ext cx="45720" cy="402336"/>
          </a:xfrm>
          <a:prstGeom prst="rect">
            <a:avLst/>
          </a:prstGeom>
          <a:solidFill>
            <a:srgbClr val="3A5D97"/>
          </a:solidFill>
          <a:ln w="12700">
            <a:solidFill>
              <a:srgbClr val="333333"/>
            </a:solidFill>
            <a:prstDash val="solid"/>
          </a:ln>
        </p:spPr>
      </p:sp>
      <p:sp>
        <p:nvSpPr>
          <p:cNvPr id="26" name="Text 23"/>
          <p:cNvSpPr/>
          <p:nvPr/>
        </p:nvSpPr>
        <p:spPr>
          <a:xfrm>
            <a:off x="630936" y="2907792"/>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Social Trusters</a:t>
            </a:r>
            <a:endParaRPr lang="en-US" sz="900" dirty="0"/>
          </a:p>
        </p:txBody>
      </p:sp>
      <p:sp>
        <p:nvSpPr>
          <p:cNvPr id="27" name="Text 24"/>
          <p:cNvSpPr/>
          <p:nvPr/>
        </p:nvSpPr>
        <p:spPr>
          <a:xfrm>
            <a:off x="3374136" y="2907792"/>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62  (20%)</a:t>
            </a:r>
            <a:endParaRPr lang="en-US" sz="900" dirty="0"/>
          </a:p>
        </p:txBody>
      </p:sp>
      <p:sp>
        <p:nvSpPr>
          <p:cNvPr id="28" name="Text 25"/>
          <p:cNvSpPr/>
          <p:nvPr/>
        </p:nvSpPr>
        <p:spPr>
          <a:xfrm>
            <a:off x="4562856" y="2907792"/>
            <a:ext cx="91440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+0.65</a:t>
            </a:r>
            <a:endParaRPr lang="en-US" sz="900" dirty="0"/>
          </a:p>
        </p:txBody>
      </p:sp>
      <p:sp>
        <p:nvSpPr>
          <p:cNvPr id="29" name="Text 26"/>
          <p:cNvSpPr/>
          <p:nvPr/>
        </p:nvSpPr>
        <p:spPr>
          <a:xfrm>
            <a:off x="5660136" y="2907792"/>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+0.17</a:t>
            </a:r>
            <a:endParaRPr lang="en-US" sz="900" dirty="0"/>
          </a:p>
        </p:txBody>
      </p:sp>
      <p:sp>
        <p:nvSpPr>
          <p:cNvPr id="30" name="Text 27"/>
          <p:cNvSpPr/>
          <p:nvPr/>
        </p:nvSpPr>
        <p:spPr>
          <a:xfrm>
            <a:off x="6803136" y="2907792"/>
            <a:ext cx="100584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−0.89</a:t>
            </a:r>
            <a:endParaRPr lang="en-US" sz="900" dirty="0"/>
          </a:p>
        </p:txBody>
      </p:sp>
      <p:sp>
        <p:nvSpPr>
          <p:cNvPr id="31" name="Text 28"/>
          <p:cNvSpPr/>
          <p:nvPr/>
        </p:nvSpPr>
        <p:spPr>
          <a:xfrm>
            <a:off x="7991856" y="2907792"/>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3.6 / 5</a:t>
            </a:r>
            <a:endParaRPr lang="en-US" sz="900" dirty="0"/>
          </a:p>
        </p:txBody>
      </p:sp>
      <p:sp>
        <p:nvSpPr>
          <p:cNvPr id="32" name="Text 29"/>
          <p:cNvSpPr/>
          <p:nvPr/>
        </p:nvSpPr>
        <p:spPr>
          <a:xfrm>
            <a:off x="9409176" y="2907792"/>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34%</a:t>
            </a:r>
            <a:endParaRPr lang="en-US" sz="900" dirty="0"/>
          </a:p>
        </p:txBody>
      </p:sp>
      <p:sp>
        <p:nvSpPr>
          <p:cNvPr id="33" name="Shape 30"/>
          <p:cNvSpPr/>
          <p:nvPr/>
        </p:nvSpPr>
        <p:spPr>
          <a:xfrm>
            <a:off x="502920" y="3310128"/>
            <a:ext cx="10058400" cy="402336"/>
          </a:xfrm>
          <a:prstGeom prst="rect">
            <a:avLst/>
          </a:prstGeom>
          <a:solidFill>
            <a:srgbClr val="FFFFFF"/>
          </a:solidFill>
          <a:ln w="5080">
            <a:solidFill>
              <a:srgbClr val="E5DCCB"/>
            </a:solidFill>
            <a:prstDash val="solid"/>
          </a:ln>
        </p:spPr>
      </p:sp>
      <p:sp>
        <p:nvSpPr>
          <p:cNvPr id="34" name="Shape 31"/>
          <p:cNvSpPr/>
          <p:nvPr/>
        </p:nvSpPr>
        <p:spPr>
          <a:xfrm>
            <a:off x="502920" y="3310128"/>
            <a:ext cx="45720" cy="402336"/>
          </a:xfrm>
          <a:prstGeom prst="rect">
            <a:avLst/>
          </a:prstGeom>
          <a:solidFill>
            <a:srgbClr val="B5AD9C"/>
          </a:solidFill>
          <a:ln w="12700">
            <a:solidFill>
              <a:srgbClr val="333333"/>
            </a:solidFill>
            <a:prstDash val="solid"/>
          </a:ln>
        </p:spPr>
      </p:sp>
      <p:sp>
        <p:nvSpPr>
          <p:cNvPr id="35" name="Text 32"/>
          <p:cNvSpPr/>
          <p:nvPr/>
        </p:nvSpPr>
        <p:spPr>
          <a:xfrm>
            <a:off x="630936" y="3310128"/>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Passive Defaulters</a:t>
            </a:r>
            <a:endParaRPr lang="en-US" sz="900" dirty="0"/>
          </a:p>
        </p:txBody>
      </p:sp>
      <p:sp>
        <p:nvSpPr>
          <p:cNvPr id="36" name="Text 33"/>
          <p:cNvSpPr/>
          <p:nvPr/>
        </p:nvSpPr>
        <p:spPr>
          <a:xfrm>
            <a:off x="3374136" y="3310128"/>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80  (26%)</a:t>
            </a:r>
            <a:endParaRPr lang="en-US" sz="900" dirty="0"/>
          </a:p>
        </p:txBody>
      </p:sp>
      <p:sp>
        <p:nvSpPr>
          <p:cNvPr id="37" name="Text 34"/>
          <p:cNvSpPr/>
          <p:nvPr/>
        </p:nvSpPr>
        <p:spPr>
          <a:xfrm>
            <a:off x="4562856" y="3310128"/>
            <a:ext cx="91440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−0.39</a:t>
            </a:r>
            <a:endParaRPr lang="en-US" sz="900" dirty="0"/>
          </a:p>
        </p:txBody>
      </p:sp>
      <p:sp>
        <p:nvSpPr>
          <p:cNvPr id="38" name="Text 35"/>
          <p:cNvSpPr/>
          <p:nvPr/>
        </p:nvSpPr>
        <p:spPr>
          <a:xfrm>
            <a:off x="5660136" y="3310128"/>
            <a:ext cx="96012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−1.05</a:t>
            </a:r>
            <a:endParaRPr lang="en-US" sz="900" dirty="0"/>
          </a:p>
        </p:txBody>
      </p:sp>
      <p:sp>
        <p:nvSpPr>
          <p:cNvPr id="39" name="Text 36"/>
          <p:cNvSpPr/>
          <p:nvPr/>
        </p:nvSpPr>
        <p:spPr>
          <a:xfrm>
            <a:off x="6803136" y="3310128"/>
            <a:ext cx="100584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−0.34</a:t>
            </a:r>
            <a:endParaRPr lang="en-US" sz="900" dirty="0"/>
          </a:p>
        </p:txBody>
      </p:sp>
      <p:sp>
        <p:nvSpPr>
          <p:cNvPr id="40" name="Text 37"/>
          <p:cNvSpPr/>
          <p:nvPr/>
        </p:nvSpPr>
        <p:spPr>
          <a:xfrm>
            <a:off x="7991856" y="3310128"/>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3.5 / 5</a:t>
            </a:r>
            <a:endParaRPr lang="en-US" sz="900" dirty="0"/>
          </a:p>
        </p:txBody>
      </p:sp>
      <p:sp>
        <p:nvSpPr>
          <p:cNvPr id="41" name="Text 38"/>
          <p:cNvSpPr/>
          <p:nvPr/>
        </p:nvSpPr>
        <p:spPr>
          <a:xfrm>
            <a:off x="9409176" y="3310128"/>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6%</a:t>
            </a:r>
            <a:endParaRPr lang="en-US" sz="900" dirty="0"/>
          </a:p>
        </p:txBody>
      </p:sp>
      <p:sp>
        <p:nvSpPr>
          <p:cNvPr id="42" name="Shape 39"/>
          <p:cNvSpPr/>
          <p:nvPr/>
        </p:nvSpPr>
        <p:spPr>
          <a:xfrm>
            <a:off x="502920" y="3712464"/>
            <a:ext cx="10058400" cy="402336"/>
          </a:xfrm>
          <a:prstGeom prst="rect">
            <a:avLst/>
          </a:prstGeom>
          <a:solidFill>
            <a:srgbClr val="FCFAF6"/>
          </a:solidFill>
          <a:ln w="5080">
            <a:solidFill>
              <a:srgbClr val="E5DCCB"/>
            </a:solidFill>
            <a:prstDash val="solid"/>
          </a:ln>
        </p:spPr>
      </p:sp>
      <p:sp>
        <p:nvSpPr>
          <p:cNvPr id="43" name="Shape 40"/>
          <p:cNvSpPr/>
          <p:nvPr/>
        </p:nvSpPr>
        <p:spPr>
          <a:xfrm>
            <a:off x="502920" y="3712464"/>
            <a:ext cx="45720" cy="402336"/>
          </a:xfrm>
          <a:prstGeom prst="rect">
            <a:avLst/>
          </a:prstGeom>
          <a:solidFill>
            <a:srgbClr val="9E3A24"/>
          </a:solidFill>
          <a:ln w="12700">
            <a:solidFill>
              <a:srgbClr val="333333"/>
            </a:solidFill>
            <a:prstDash val="solid"/>
          </a:ln>
        </p:spPr>
      </p:sp>
      <p:sp>
        <p:nvSpPr>
          <p:cNvPr id="44" name="Text 41"/>
          <p:cNvSpPr/>
          <p:nvPr/>
        </p:nvSpPr>
        <p:spPr>
          <a:xfrm>
            <a:off x="630936" y="3712464"/>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System Fatalists</a:t>
            </a:r>
            <a:endParaRPr lang="en-US" sz="900" dirty="0"/>
          </a:p>
        </p:txBody>
      </p:sp>
      <p:sp>
        <p:nvSpPr>
          <p:cNvPr id="45" name="Text 42"/>
          <p:cNvSpPr/>
          <p:nvPr/>
        </p:nvSpPr>
        <p:spPr>
          <a:xfrm>
            <a:off x="3374136" y="3712464"/>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54  (18%)</a:t>
            </a:r>
            <a:endParaRPr lang="en-US" sz="900" dirty="0"/>
          </a:p>
        </p:txBody>
      </p:sp>
      <p:sp>
        <p:nvSpPr>
          <p:cNvPr id="46" name="Text 43"/>
          <p:cNvSpPr/>
          <p:nvPr/>
        </p:nvSpPr>
        <p:spPr>
          <a:xfrm>
            <a:off x="4562856" y="3712464"/>
            <a:ext cx="91440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−1.09</a:t>
            </a:r>
            <a:endParaRPr lang="en-US" sz="900" dirty="0"/>
          </a:p>
        </p:txBody>
      </p:sp>
      <p:sp>
        <p:nvSpPr>
          <p:cNvPr id="47" name="Text 44"/>
          <p:cNvSpPr/>
          <p:nvPr/>
        </p:nvSpPr>
        <p:spPr>
          <a:xfrm>
            <a:off x="5660136" y="3712464"/>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+0.41</a:t>
            </a:r>
            <a:endParaRPr lang="en-US" sz="900" dirty="0"/>
          </a:p>
        </p:txBody>
      </p:sp>
      <p:sp>
        <p:nvSpPr>
          <p:cNvPr id="48" name="Text 45"/>
          <p:cNvSpPr/>
          <p:nvPr/>
        </p:nvSpPr>
        <p:spPr>
          <a:xfrm>
            <a:off x="6803136" y="3712464"/>
            <a:ext cx="100584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+0.13</a:t>
            </a:r>
            <a:endParaRPr lang="en-US" sz="900" dirty="0"/>
          </a:p>
        </p:txBody>
      </p:sp>
      <p:sp>
        <p:nvSpPr>
          <p:cNvPr id="49" name="Text 46"/>
          <p:cNvSpPr/>
          <p:nvPr/>
        </p:nvSpPr>
        <p:spPr>
          <a:xfrm>
            <a:off x="7991856" y="3712464"/>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3.6 / 5</a:t>
            </a:r>
            <a:endParaRPr lang="en-US" sz="900" dirty="0"/>
          </a:p>
        </p:txBody>
      </p:sp>
      <p:sp>
        <p:nvSpPr>
          <p:cNvPr id="50" name="Text 47"/>
          <p:cNvSpPr/>
          <p:nvPr/>
        </p:nvSpPr>
        <p:spPr>
          <a:xfrm>
            <a:off x="9409176" y="3712464"/>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22%</a:t>
            </a:r>
            <a:endParaRPr lang="en-US" sz="900" dirty="0"/>
          </a:p>
        </p:txBody>
      </p:sp>
      <p:sp>
        <p:nvSpPr>
          <p:cNvPr id="51" name="Text 48"/>
          <p:cNvSpPr/>
          <p:nvPr/>
        </p:nvSpPr>
        <p:spPr>
          <a:xfrm>
            <a:off x="502920" y="4315968"/>
            <a:ext cx="448056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 OF SEGMENT WILLING TO PAY 11%+</a:t>
            </a:r>
            <a:endParaRPr lang="en-US" sz="950" dirty="0"/>
          </a:p>
        </p:txBody>
      </p:sp>
      <p:sp>
        <p:nvSpPr>
          <p:cNvPr id="52" name="Shape 49"/>
          <p:cNvSpPr/>
          <p:nvPr/>
        </p:nvSpPr>
        <p:spPr>
          <a:xfrm>
            <a:off x="502920" y="4572000"/>
            <a:ext cx="4480560" cy="1783080"/>
          </a:xfrm>
          <a:prstGeom prst="roundRect">
            <a:avLst>
              <a:gd name="adj" fmla="val 461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53" name="Shape 50"/>
          <p:cNvSpPr/>
          <p:nvPr/>
        </p:nvSpPr>
        <p:spPr>
          <a:xfrm>
            <a:off x="868680" y="5719572"/>
            <a:ext cx="3749040" cy="0"/>
          </a:xfrm>
          <a:prstGeom prst="line">
            <a:avLst/>
          </a:prstGeom>
          <a:noFill/>
          <a:ln w="6350">
            <a:solidFill>
              <a:srgbClr val="E5DCCB"/>
            </a:solidFill>
            <a:prstDash val="sysDot"/>
          </a:ln>
        </p:spPr>
      </p:sp>
      <p:sp>
        <p:nvSpPr>
          <p:cNvPr id="54" name="Shape 51"/>
          <p:cNvSpPr/>
          <p:nvPr/>
        </p:nvSpPr>
        <p:spPr>
          <a:xfrm>
            <a:off x="868680" y="5477256"/>
            <a:ext cx="3749040" cy="0"/>
          </a:xfrm>
          <a:prstGeom prst="line">
            <a:avLst/>
          </a:prstGeom>
          <a:noFill/>
          <a:ln w="6350">
            <a:solidFill>
              <a:srgbClr val="E5DCCB"/>
            </a:solidFill>
            <a:prstDash val="sysDot"/>
          </a:ln>
        </p:spPr>
      </p:sp>
      <p:sp>
        <p:nvSpPr>
          <p:cNvPr id="55" name="Shape 52"/>
          <p:cNvSpPr/>
          <p:nvPr/>
        </p:nvSpPr>
        <p:spPr>
          <a:xfrm>
            <a:off x="868680" y="5234940"/>
            <a:ext cx="3749040" cy="0"/>
          </a:xfrm>
          <a:prstGeom prst="line">
            <a:avLst/>
          </a:prstGeom>
          <a:noFill/>
          <a:ln w="6350">
            <a:solidFill>
              <a:srgbClr val="E5DCCB"/>
            </a:solidFill>
            <a:prstDash val="sysDot"/>
          </a:ln>
        </p:spPr>
      </p:sp>
      <p:sp>
        <p:nvSpPr>
          <p:cNvPr id="56" name="Shape 53"/>
          <p:cNvSpPr/>
          <p:nvPr/>
        </p:nvSpPr>
        <p:spPr>
          <a:xfrm>
            <a:off x="868680" y="4992624"/>
            <a:ext cx="3749040" cy="0"/>
          </a:xfrm>
          <a:prstGeom prst="line">
            <a:avLst/>
          </a:prstGeom>
          <a:noFill/>
          <a:ln w="6350">
            <a:solidFill>
              <a:srgbClr val="E5DCCB"/>
            </a:solidFill>
            <a:prstDash val="sysDot"/>
          </a:ln>
        </p:spPr>
      </p:sp>
      <p:sp>
        <p:nvSpPr>
          <p:cNvPr id="57" name="Shape 54"/>
          <p:cNvSpPr/>
          <p:nvPr/>
        </p:nvSpPr>
        <p:spPr>
          <a:xfrm>
            <a:off x="868680" y="5961888"/>
            <a:ext cx="3749040" cy="0"/>
          </a:xfrm>
          <a:prstGeom prst="line">
            <a:avLst/>
          </a:prstGeom>
          <a:noFill/>
          <a:ln w="12700">
            <a:solidFill>
              <a:srgbClr val="E5DCCB"/>
            </a:solidFill>
            <a:prstDash val="solid"/>
          </a:ln>
        </p:spPr>
      </p:sp>
      <p:sp>
        <p:nvSpPr>
          <p:cNvPr id="58" name="Shape 55"/>
          <p:cNvSpPr/>
          <p:nvPr/>
        </p:nvSpPr>
        <p:spPr>
          <a:xfrm>
            <a:off x="868680" y="5117690"/>
            <a:ext cx="786384" cy="844198"/>
          </a:xfrm>
          <a:prstGeom prst="roundRect">
            <a:avLst>
              <a:gd name="adj" fmla="val 5814"/>
            </a:avLst>
          </a:prstGeom>
          <a:solidFill>
            <a:srgbClr val="177A46"/>
          </a:solidFill>
          <a:ln w="12700">
            <a:solidFill>
              <a:srgbClr val="333333"/>
            </a:solidFill>
            <a:prstDash val="solid"/>
          </a:ln>
        </p:spPr>
      </p:sp>
      <p:sp>
        <p:nvSpPr>
          <p:cNvPr id="59" name="Text 56"/>
          <p:cNvSpPr/>
          <p:nvPr/>
        </p:nvSpPr>
        <p:spPr>
          <a:xfrm>
            <a:off x="822960" y="4843370"/>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54%</a:t>
            </a:r>
            <a:endParaRPr lang="en-US" sz="1050" dirty="0"/>
          </a:p>
        </p:txBody>
      </p:sp>
      <p:sp>
        <p:nvSpPr>
          <p:cNvPr id="60" name="Text 57"/>
          <p:cNvSpPr/>
          <p:nvPr/>
        </p:nvSpPr>
        <p:spPr>
          <a:xfrm>
            <a:off x="822960"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Guardians</a:t>
            </a:r>
            <a:endParaRPr lang="en-US" sz="850" dirty="0"/>
          </a:p>
        </p:txBody>
      </p:sp>
      <p:sp>
        <p:nvSpPr>
          <p:cNvPr id="61" name="Shape 58"/>
          <p:cNvSpPr/>
          <p:nvPr/>
        </p:nvSpPr>
        <p:spPr>
          <a:xfrm>
            <a:off x="1856232" y="5430356"/>
            <a:ext cx="786384" cy="531532"/>
          </a:xfrm>
          <a:prstGeom prst="roundRect">
            <a:avLst>
              <a:gd name="adj" fmla="val 8602"/>
            </a:avLst>
          </a:prstGeom>
          <a:solidFill>
            <a:srgbClr val="3A5D97"/>
          </a:solidFill>
          <a:ln w="12700">
            <a:solidFill>
              <a:srgbClr val="333333"/>
            </a:solidFill>
            <a:prstDash val="solid"/>
          </a:ln>
        </p:spPr>
      </p:sp>
      <p:sp>
        <p:nvSpPr>
          <p:cNvPr id="62" name="Text 59"/>
          <p:cNvSpPr/>
          <p:nvPr/>
        </p:nvSpPr>
        <p:spPr>
          <a:xfrm>
            <a:off x="1810512" y="5156036"/>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34%</a:t>
            </a:r>
            <a:endParaRPr lang="en-US" sz="1050" dirty="0"/>
          </a:p>
        </p:txBody>
      </p:sp>
      <p:sp>
        <p:nvSpPr>
          <p:cNvPr id="63" name="Text 60"/>
          <p:cNvSpPr/>
          <p:nvPr/>
        </p:nvSpPr>
        <p:spPr>
          <a:xfrm>
            <a:off x="1810512"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Trusters</a:t>
            </a:r>
            <a:endParaRPr lang="en-US" sz="850" dirty="0"/>
          </a:p>
        </p:txBody>
      </p:sp>
      <p:sp>
        <p:nvSpPr>
          <p:cNvPr id="64" name="Shape 61"/>
          <p:cNvSpPr/>
          <p:nvPr/>
        </p:nvSpPr>
        <p:spPr>
          <a:xfrm>
            <a:off x="2843784" y="5617956"/>
            <a:ext cx="786384" cy="343932"/>
          </a:xfrm>
          <a:prstGeom prst="roundRect">
            <a:avLst>
              <a:gd name="adj" fmla="val 13293"/>
            </a:avLst>
          </a:prstGeom>
          <a:solidFill>
            <a:srgbClr val="9E3A24"/>
          </a:solidFill>
          <a:ln w="12700">
            <a:solidFill>
              <a:srgbClr val="333333"/>
            </a:solidFill>
            <a:prstDash val="solid"/>
          </a:ln>
        </p:spPr>
      </p:sp>
      <p:sp>
        <p:nvSpPr>
          <p:cNvPr id="65" name="Text 62"/>
          <p:cNvSpPr/>
          <p:nvPr/>
        </p:nvSpPr>
        <p:spPr>
          <a:xfrm>
            <a:off x="2798064" y="5343636"/>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22%</a:t>
            </a:r>
            <a:endParaRPr lang="en-US" sz="1050" dirty="0"/>
          </a:p>
        </p:txBody>
      </p:sp>
      <p:sp>
        <p:nvSpPr>
          <p:cNvPr id="66" name="Text 63"/>
          <p:cNvSpPr/>
          <p:nvPr/>
        </p:nvSpPr>
        <p:spPr>
          <a:xfrm>
            <a:off x="2798064"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Fatalists</a:t>
            </a:r>
            <a:endParaRPr lang="en-US" sz="850" dirty="0"/>
          </a:p>
        </p:txBody>
      </p:sp>
      <p:sp>
        <p:nvSpPr>
          <p:cNvPr id="67" name="Shape 64"/>
          <p:cNvSpPr/>
          <p:nvPr/>
        </p:nvSpPr>
        <p:spPr>
          <a:xfrm>
            <a:off x="3831336" y="5868088"/>
            <a:ext cx="786384" cy="93800"/>
          </a:xfrm>
          <a:prstGeom prst="roundRect">
            <a:avLst>
              <a:gd name="adj" fmla="val 48742"/>
            </a:avLst>
          </a:prstGeom>
          <a:solidFill>
            <a:srgbClr val="B5AD9C"/>
          </a:solidFill>
          <a:ln w="12700">
            <a:solidFill>
              <a:srgbClr val="333333"/>
            </a:solidFill>
            <a:prstDash val="solid"/>
          </a:ln>
        </p:spPr>
      </p:sp>
      <p:sp>
        <p:nvSpPr>
          <p:cNvPr id="68" name="Text 65"/>
          <p:cNvSpPr/>
          <p:nvPr/>
        </p:nvSpPr>
        <p:spPr>
          <a:xfrm>
            <a:off x="3785616" y="5593768"/>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6%</a:t>
            </a:r>
            <a:endParaRPr lang="en-US" sz="1050" dirty="0"/>
          </a:p>
        </p:txBody>
      </p:sp>
      <p:sp>
        <p:nvSpPr>
          <p:cNvPr id="69" name="Text 66"/>
          <p:cNvSpPr/>
          <p:nvPr/>
        </p:nvSpPr>
        <p:spPr>
          <a:xfrm>
            <a:off x="3785616"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Defaulters</a:t>
            </a:r>
            <a:endParaRPr lang="en-US" sz="850" dirty="0"/>
          </a:p>
        </p:txBody>
      </p:sp>
      <p:sp>
        <p:nvSpPr>
          <p:cNvPr id="70" name="Text 67"/>
          <p:cNvSpPr/>
          <p:nvPr/>
        </p:nvSpPr>
        <p:spPr>
          <a:xfrm>
            <a:off x="5257800" y="431596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TRUST WALL, NOT THE WALLET WALL</a:t>
            </a:r>
            <a:endParaRPr lang="en-US" sz="950" dirty="0"/>
          </a:p>
        </p:txBody>
      </p:sp>
      <p:sp>
        <p:nvSpPr>
          <p:cNvPr id="71" name="Text 68"/>
          <p:cNvSpPr/>
          <p:nvPr/>
        </p:nvSpPr>
        <p:spPr>
          <a:xfrm>
            <a:off x="5257800" y="4572000"/>
            <a:ext cx="6430975" cy="804672"/>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Roughly half of every category's buyers say they would pay nothing extra — and give the reason: they do not trust the claims.</a:t>
            </a:r>
            <a:endParaRPr lang="en-US" sz="900" dirty="0"/>
          </a:p>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44% sit inside a +10–20% corridor; only 5% accept 21–30%.</a:t>
            </a:r>
            <a:endParaRPr lang="en-US" sz="900" dirty="0"/>
          </a:p>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Yet 60% say they would pay 20–30% more if someone they trusted had independently verified it.</a:t>
            </a:r>
            <a:endParaRPr lang="en-US" sz="900" dirty="0"/>
          </a:p>
        </p:txBody>
      </p:sp>
      <p:sp>
        <p:nvSpPr>
          <p:cNvPr id="72" name="Shape 69"/>
          <p:cNvSpPr/>
          <p:nvPr/>
        </p:nvSpPr>
        <p:spPr>
          <a:xfrm>
            <a:off x="5257800" y="5413248"/>
            <a:ext cx="6430975" cy="0"/>
          </a:xfrm>
          <a:prstGeom prst="line">
            <a:avLst/>
          </a:prstGeom>
          <a:noFill/>
          <a:ln w="25400">
            <a:solidFill>
              <a:srgbClr val="0C1A2B"/>
            </a:solidFill>
            <a:prstDash val="solid"/>
          </a:ln>
        </p:spPr>
      </p:sp>
      <p:sp>
        <p:nvSpPr>
          <p:cNvPr id="73" name="Text 70"/>
          <p:cNvSpPr/>
          <p:nvPr/>
        </p:nvSpPr>
        <p:spPr>
          <a:xfrm>
            <a:off x="5257800" y="5486400"/>
            <a:ext cx="6430975" cy="402336"/>
          </a:xfrm>
          <a:prstGeom prst="rect">
            <a:avLst/>
          </a:prstGeom>
          <a:noFill/>
          <a:ln/>
        </p:spPr>
        <p:txBody>
          <a:bodyPr wrap="square" lIns="0" tIns="0" rIns="0" bIns="0" rtlCol="0" anchor="t"/>
          <a:lstStyle/>
          <a:p>
            <a:pPr indent="0" marL="0">
              <a:lnSpc>
                <a:spcPct val="102000"/>
              </a:lnSpc>
              <a:buNone/>
            </a:pPr>
            <a:r>
              <a:rPr lang="en-US" sz="1250" dirty="0">
                <a:solidFill>
                  <a:srgbClr val="0C1A2B"/>
                </a:solidFill>
                <a:latin typeface="Archivo Black" pitchFamily="34" charset="0"/>
                <a:ea typeface="Archivo Black" pitchFamily="34" charset="-122"/>
                <a:cs typeface="Archivo Black" pitchFamily="34" charset="-120"/>
              </a:rPr>
              <a:t>Stated willingness to pay under distrust is a floor, not a ceiling.</a:t>
            </a:r>
            <a:endParaRPr lang="en-US" sz="1250" dirty="0"/>
          </a:p>
        </p:txBody>
      </p:sp>
      <p:sp>
        <p:nvSpPr>
          <p:cNvPr id="74" name="Shape 71"/>
          <p:cNvSpPr/>
          <p:nvPr/>
        </p:nvSpPr>
        <p:spPr>
          <a:xfrm>
            <a:off x="5257800" y="5925312"/>
            <a:ext cx="6430975" cy="566928"/>
          </a:xfrm>
          <a:prstGeom prst="roundRect">
            <a:avLst>
              <a:gd name="adj" fmla="val 14516"/>
            </a:avLst>
          </a:prstGeom>
          <a:solidFill>
            <a:srgbClr val="FAF0DA"/>
          </a:solidFill>
          <a:ln w="9525">
            <a:solidFill>
              <a:srgbClr val="EEDFBA"/>
            </a:solidFill>
            <a:prstDash val="solid"/>
          </a:ln>
          <a:effectLst>
            <a:outerShdw sx="100000" sy="100000" kx="0" ky="0" algn="bl" rotWithShape="0" blurRad="177800" dist="38100" dir="5400000">
              <a:srgbClr val="101C2C">
                <a:alpha val="9000"/>
              </a:srgbClr>
            </a:outerShdw>
          </a:effectLst>
        </p:spPr>
      </p:sp>
      <p:sp>
        <p:nvSpPr>
          <p:cNvPr id="75" name="Text 72"/>
          <p:cNvSpPr/>
          <p:nvPr/>
        </p:nvSpPr>
        <p:spPr>
          <a:xfrm>
            <a:off x="5458968" y="6044184"/>
            <a:ext cx="6028639"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Premium willingness does not track income: it peaks in the ₹60K–1L band (71%) and falls to 32% in ₹1–1.5L. Delhi NCR 64% down to Ahmedabad 33% — the launch market on belief, not affluence.</a:t>
            </a:r>
            <a:endParaRPr lang="en-US" sz="900" dirty="0"/>
          </a:p>
        </p:txBody>
      </p:sp>
      <p:sp>
        <p:nvSpPr>
          <p:cNvPr id="76" name="Shape 73"/>
          <p:cNvSpPr/>
          <p:nvPr/>
        </p:nvSpPr>
        <p:spPr>
          <a:xfrm>
            <a:off x="502920" y="6455664"/>
            <a:ext cx="11185855" cy="0"/>
          </a:xfrm>
          <a:prstGeom prst="line">
            <a:avLst/>
          </a:prstGeom>
          <a:noFill/>
          <a:ln w="9525">
            <a:solidFill>
              <a:srgbClr val="E5DCCB"/>
            </a:solidFill>
            <a:prstDash val="solid"/>
          </a:ln>
        </p:spPr>
      </p:sp>
      <p:sp>
        <p:nvSpPr>
          <p:cNvPr id="77" name="Text 74"/>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78" name="Text 7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BUYER PERSONAS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Four people, four different definitions of proof.</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Each cluster was given a face, a household and a purchase story, so a marketer, a category manager and a farmer can all picture the same person.</a:t>
            </a:r>
            <a:endParaRPr lang="en-US" sz="1100" dirty="0"/>
          </a:p>
        </p:txBody>
      </p:sp>
      <p:sp>
        <p:nvSpPr>
          <p:cNvPr id="7" name="Shape 4"/>
          <p:cNvSpPr/>
          <p:nvPr/>
        </p:nvSpPr>
        <p:spPr>
          <a:xfrm>
            <a:off x="502920" y="2121408"/>
            <a:ext cx="5455768" cy="3767328"/>
          </a:xfrm>
          <a:prstGeom prst="roundRect">
            <a:avLst>
              <a:gd name="adj" fmla="val 218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731520" y="2322576"/>
            <a:ext cx="566928" cy="566928"/>
          </a:xfrm>
          <a:prstGeom prst="ellipse">
            <a:avLst/>
          </a:prstGeom>
          <a:solidFill>
            <a:srgbClr val="3A5D97"/>
          </a:solidFill>
          <a:ln w="12700">
            <a:solidFill>
              <a:srgbClr val="333333"/>
            </a:solidFill>
            <a:prstDash val="solid"/>
          </a:ln>
        </p:spPr>
      </p:sp>
      <p:sp>
        <p:nvSpPr>
          <p:cNvPr id="9" name="Text 6"/>
          <p:cNvSpPr/>
          <p:nvPr/>
        </p:nvSpPr>
        <p:spPr>
          <a:xfrm>
            <a:off x="731520"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V</a:t>
            </a:r>
            <a:endParaRPr lang="en-US" sz="1600" dirty="0"/>
          </a:p>
        </p:txBody>
      </p:sp>
      <p:sp>
        <p:nvSpPr>
          <p:cNvPr id="10" name="Text 7"/>
          <p:cNvSpPr/>
          <p:nvPr/>
        </p:nvSpPr>
        <p:spPr>
          <a:xfrm>
            <a:off x="1417320"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Vandana Iyer</a:t>
            </a:r>
            <a:endParaRPr lang="en-US" sz="1400" dirty="0"/>
          </a:p>
        </p:txBody>
      </p:sp>
      <p:sp>
        <p:nvSpPr>
          <p:cNvPr id="11" name="Text 8"/>
          <p:cNvSpPr/>
          <p:nvPr/>
        </p:nvSpPr>
        <p:spPr>
          <a:xfrm>
            <a:off x="1417320" y="2624328"/>
            <a:ext cx="4312768" cy="237744"/>
          </a:xfrm>
          <a:prstGeom prst="rect">
            <a:avLst/>
          </a:prstGeom>
          <a:noFill/>
          <a:ln/>
        </p:spPr>
        <p:txBody>
          <a:bodyPr wrap="square" lIns="0" tIns="0" rIns="0" bIns="0" rtlCol="0" anchor="ctr"/>
          <a:lstStyle/>
          <a:p>
            <a:pPr indent="0" marL="0">
              <a:buNone/>
            </a:pPr>
            <a:r>
              <a:rPr lang="en-US" sz="850" b="1" spc="120" kern="0" dirty="0">
                <a:solidFill>
                  <a:srgbClr val="3A5D97"/>
                </a:solidFill>
                <a:latin typeface="Nunito Sans" pitchFamily="34" charset="0"/>
                <a:ea typeface="Nunito Sans" pitchFamily="34" charset="-122"/>
                <a:cs typeface="Nunito Sans" pitchFamily="34" charset="-120"/>
              </a:rPr>
              <a:t>THE VERIFIER · 36%</a:t>
            </a:r>
            <a:endParaRPr lang="en-US" sz="850" dirty="0"/>
          </a:p>
        </p:txBody>
      </p:sp>
      <p:sp>
        <p:nvSpPr>
          <p:cNvPr id="12" name="Text 9"/>
          <p:cNvSpPr/>
          <p:nvPr/>
        </p:nvSpPr>
        <p:spPr>
          <a:xfrm>
            <a:off x="731520"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"The word organic on a label means nothing to me anymore. Show me the actual test report for this batch and I'll happily pay more."</a:t>
            </a:r>
            <a:endParaRPr lang="en-US" sz="1100" dirty="0"/>
          </a:p>
        </p:txBody>
      </p:sp>
      <p:sp>
        <p:nvSpPr>
          <p:cNvPr id="13" name="Shape 10"/>
          <p:cNvSpPr/>
          <p:nvPr/>
        </p:nvSpPr>
        <p:spPr>
          <a:xfrm>
            <a:off x="731520" y="3749040"/>
            <a:ext cx="4998568" cy="0"/>
          </a:xfrm>
          <a:prstGeom prst="line">
            <a:avLst/>
          </a:prstGeom>
          <a:noFill/>
          <a:ln w="7620">
            <a:solidFill>
              <a:srgbClr val="E5DCCB"/>
            </a:solidFill>
            <a:prstDash val="dash"/>
          </a:ln>
        </p:spPr>
      </p:sp>
      <p:sp>
        <p:nvSpPr>
          <p:cNvPr id="14" name="Text 11"/>
          <p:cNvSpPr/>
          <p:nvPr/>
        </p:nvSpPr>
        <p:spPr>
          <a:xfrm>
            <a:off x="731520"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15" name="Text 12"/>
          <p:cNvSpPr/>
          <p:nvPr/>
        </p:nvSpPr>
        <p:spPr>
          <a:xfrm>
            <a:off x="731520"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34–45 · postgraduate · senior professional · nuclear family with young children · ₹1.5–2.5L+/month · Tier-1 metro</a:t>
            </a:r>
            <a:endParaRPr lang="en-US" sz="850" dirty="0"/>
          </a:p>
        </p:txBody>
      </p:sp>
      <p:sp>
        <p:nvSpPr>
          <p:cNvPr id="16" name="Text 13"/>
          <p:cNvSpPr/>
          <p:nvPr/>
        </p:nvSpPr>
        <p:spPr>
          <a:xfrm>
            <a:off x="731520"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17" name="Text 14"/>
          <p:cNvSpPr/>
          <p:nvPr/>
        </p:nvSpPr>
        <p:spPr>
          <a:xfrm>
            <a:off x="731520"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Batch-specific lab report by QR; "below detectable limits"; a specialist who has personally reviewed it</a:t>
            </a:r>
            <a:endParaRPr lang="en-US" sz="850" dirty="0"/>
          </a:p>
        </p:txBody>
      </p:sp>
      <p:sp>
        <p:nvSpPr>
          <p:cNvPr id="18" name="Text 15"/>
          <p:cNvSpPr/>
          <p:nvPr/>
        </p:nvSpPr>
        <p:spPr>
          <a:xfrm>
            <a:off x="731520"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19" name="Text 16"/>
          <p:cNvSpPr/>
          <p:nvPr/>
        </p:nvSpPr>
        <p:spPr>
          <a:xfrm>
            <a:off x="731520"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No way to verify independently; greenwashing fatigue; a scan, not a research project</a:t>
            </a:r>
            <a:endParaRPr lang="en-US" sz="850" dirty="0"/>
          </a:p>
        </p:txBody>
      </p:sp>
      <p:sp>
        <p:nvSpPr>
          <p:cNvPr id="20" name="Shape 17"/>
          <p:cNvSpPr/>
          <p:nvPr/>
        </p:nvSpPr>
        <p:spPr>
          <a:xfrm>
            <a:off x="731520" y="5468112"/>
            <a:ext cx="4998568" cy="0"/>
          </a:xfrm>
          <a:prstGeom prst="line">
            <a:avLst/>
          </a:prstGeom>
          <a:noFill/>
          <a:ln w="6350">
            <a:solidFill>
              <a:srgbClr val="E5DCCB"/>
            </a:solidFill>
            <a:prstDash val="dash"/>
          </a:ln>
        </p:spPr>
      </p:sp>
      <p:sp>
        <p:nvSpPr>
          <p:cNvPr id="21" name="Text 18"/>
          <p:cNvSpPr/>
          <p:nvPr/>
        </p:nvSpPr>
        <p:spPr>
          <a:xfrm>
            <a:off x="731520"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109   ·   Trust in certified claim 4.4/5   ·   Would pay 11%+ · 54%     |     F1 +0.46   ·   F2 +0.47   ·   F3 +0.69</a:t>
            </a:r>
            <a:endParaRPr lang="en-US" sz="800" dirty="0"/>
          </a:p>
        </p:txBody>
      </p:sp>
      <p:sp>
        <p:nvSpPr>
          <p:cNvPr id="22" name="Shape 19"/>
          <p:cNvSpPr/>
          <p:nvPr/>
        </p:nvSpPr>
        <p:spPr>
          <a:xfrm>
            <a:off x="6233008" y="2121408"/>
            <a:ext cx="5455768" cy="3767328"/>
          </a:xfrm>
          <a:prstGeom prst="roundRect">
            <a:avLst>
              <a:gd name="adj" fmla="val 218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3" name="Shape 20"/>
          <p:cNvSpPr/>
          <p:nvPr/>
        </p:nvSpPr>
        <p:spPr>
          <a:xfrm>
            <a:off x="6461608" y="2322576"/>
            <a:ext cx="566928" cy="566928"/>
          </a:xfrm>
          <a:prstGeom prst="ellipse">
            <a:avLst/>
          </a:prstGeom>
          <a:solidFill>
            <a:srgbClr val="177A46"/>
          </a:solidFill>
          <a:ln w="12700">
            <a:solidFill>
              <a:srgbClr val="333333"/>
            </a:solidFill>
            <a:prstDash val="solid"/>
          </a:ln>
        </p:spPr>
      </p:sp>
      <p:sp>
        <p:nvSpPr>
          <p:cNvPr id="24" name="Text 21"/>
          <p:cNvSpPr/>
          <p:nvPr/>
        </p:nvSpPr>
        <p:spPr>
          <a:xfrm>
            <a:off x="6461608"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M</a:t>
            </a:r>
            <a:endParaRPr lang="en-US" sz="1600" dirty="0"/>
          </a:p>
        </p:txBody>
      </p:sp>
      <p:sp>
        <p:nvSpPr>
          <p:cNvPr id="25" name="Text 22"/>
          <p:cNvSpPr/>
          <p:nvPr/>
        </p:nvSpPr>
        <p:spPr>
          <a:xfrm>
            <a:off x="7147408"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Meera Nair</a:t>
            </a:r>
            <a:endParaRPr lang="en-US" sz="1400" dirty="0"/>
          </a:p>
        </p:txBody>
      </p:sp>
      <p:sp>
        <p:nvSpPr>
          <p:cNvPr id="26" name="Text 23"/>
          <p:cNvSpPr/>
          <p:nvPr/>
        </p:nvSpPr>
        <p:spPr>
          <a:xfrm>
            <a:off x="7147408" y="2624328"/>
            <a:ext cx="4312768" cy="237744"/>
          </a:xfrm>
          <a:prstGeom prst="rect">
            <a:avLst/>
          </a:prstGeom>
          <a:noFill/>
          <a:ln/>
        </p:spPr>
        <p:txBody>
          <a:bodyPr wrap="square" lIns="0" tIns="0" rIns="0" bIns="0" rtlCol="0" anchor="ctr"/>
          <a:lstStyle/>
          <a:p>
            <a:pPr indent="0" marL="0">
              <a:buNone/>
            </a:pPr>
            <a:r>
              <a:rPr lang="en-US" sz="850" b="1" spc="120" kern="0" dirty="0">
                <a:solidFill>
                  <a:srgbClr val="177A46"/>
                </a:solidFill>
                <a:latin typeface="Nunito Sans" pitchFamily="34" charset="0"/>
                <a:ea typeface="Nunito Sans" pitchFamily="34" charset="-122"/>
                <a:cs typeface="Nunito Sans" pitchFamily="34" charset="-120"/>
              </a:rPr>
              <a:t>THE BELIEVER · 20%</a:t>
            </a:r>
            <a:endParaRPr lang="en-US" sz="850" dirty="0"/>
          </a:p>
        </p:txBody>
      </p:sp>
      <p:sp>
        <p:nvSpPr>
          <p:cNvPr id="27" name="Text 24"/>
          <p:cNvSpPr/>
          <p:nvPr/>
        </p:nvSpPr>
        <p:spPr>
          <a:xfrm>
            <a:off x="6461608"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"If my doctor and my sister both say it's good for the family, that's all the proof I need. I'm not going to scan codes and read reports."</a:t>
            </a:r>
            <a:endParaRPr lang="en-US" sz="1100" dirty="0"/>
          </a:p>
        </p:txBody>
      </p:sp>
      <p:sp>
        <p:nvSpPr>
          <p:cNvPr id="28" name="Shape 25"/>
          <p:cNvSpPr/>
          <p:nvPr/>
        </p:nvSpPr>
        <p:spPr>
          <a:xfrm>
            <a:off x="6461608" y="3749040"/>
            <a:ext cx="4998568" cy="0"/>
          </a:xfrm>
          <a:prstGeom prst="line">
            <a:avLst/>
          </a:prstGeom>
          <a:noFill/>
          <a:ln w="7620">
            <a:solidFill>
              <a:srgbClr val="E5DCCB"/>
            </a:solidFill>
            <a:prstDash val="dash"/>
          </a:ln>
        </p:spPr>
      </p:sp>
      <p:sp>
        <p:nvSpPr>
          <p:cNvPr id="29" name="Text 26"/>
          <p:cNvSpPr/>
          <p:nvPr/>
        </p:nvSpPr>
        <p:spPr>
          <a:xfrm>
            <a:off x="6461608"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30" name="Text 27"/>
          <p:cNvSpPr/>
          <p:nvPr/>
        </p:nvSpPr>
        <p:spPr>
          <a:xfrm>
            <a:off x="6461608"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30–50 · graduate · homemaker or teacher · joint or extended family · ₹1–1.5L/month · Tier-1 and Tier-2</a:t>
            </a:r>
            <a:endParaRPr lang="en-US" sz="850" dirty="0"/>
          </a:p>
        </p:txBody>
      </p:sp>
      <p:sp>
        <p:nvSpPr>
          <p:cNvPr id="31" name="Text 28"/>
          <p:cNvSpPr/>
          <p:nvPr/>
        </p:nvSpPr>
        <p:spPr>
          <a:xfrm>
            <a:off x="6461608"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32" name="Text 29"/>
          <p:cNvSpPr/>
          <p:nvPr/>
        </p:nvSpPr>
        <p:spPr>
          <a:xfrm>
            <a:off x="6461608"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Doctor and dietitian endorsement; a trusted person already using it; warm, relatable word of mouth</a:t>
            </a:r>
            <a:endParaRPr lang="en-US" sz="850" dirty="0"/>
          </a:p>
        </p:txBody>
      </p:sp>
      <p:sp>
        <p:nvSpPr>
          <p:cNvPr id="33" name="Text 30"/>
          <p:cNvSpPr/>
          <p:nvPr/>
        </p:nvSpPr>
        <p:spPr>
          <a:xfrm>
            <a:off x="6461608"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34" name="Text 31"/>
          <p:cNvSpPr/>
          <p:nvPr/>
        </p:nvSpPr>
        <p:spPr>
          <a:xfrm>
            <a:off x="6461608"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Clinical, jargon-heavy messaging; conflicting opinions in her circle; nobody she trusts has vouched</a:t>
            </a:r>
            <a:endParaRPr lang="en-US" sz="850" dirty="0"/>
          </a:p>
        </p:txBody>
      </p:sp>
      <p:sp>
        <p:nvSpPr>
          <p:cNvPr id="35" name="Shape 32"/>
          <p:cNvSpPr/>
          <p:nvPr/>
        </p:nvSpPr>
        <p:spPr>
          <a:xfrm>
            <a:off x="6461608" y="5468112"/>
            <a:ext cx="4998568" cy="0"/>
          </a:xfrm>
          <a:prstGeom prst="line">
            <a:avLst/>
          </a:prstGeom>
          <a:noFill/>
          <a:ln w="6350">
            <a:solidFill>
              <a:srgbClr val="E5DCCB"/>
            </a:solidFill>
            <a:prstDash val="dash"/>
          </a:ln>
        </p:spPr>
      </p:sp>
      <p:sp>
        <p:nvSpPr>
          <p:cNvPr id="36" name="Text 33"/>
          <p:cNvSpPr/>
          <p:nvPr/>
        </p:nvSpPr>
        <p:spPr>
          <a:xfrm>
            <a:off x="6461608"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62   ·   Trust in certified claim 3.6/5   ·   Would pay 11%+ · 34%     |     F1 +0.65   ·   F2 +0.17   ·   F3 −0.89</a:t>
            </a:r>
            <a:endParaRPr lang="en-US" sz="800" dirty="0"/>
          </a:p>
        </p:txBody>
      </p:sp>
      <p:sp>
        <p:nvSpPr>
          <p:cNvPr id="37" name="Shape 34"/>
          <p:cNvSpPr/>
          <p:nvPr/>
        </p:nvSpPr>
        <p:spPr>
          <a:xfrm>
            <a:off x="502920" y="5961888"/>
            <a:ext cx="11185855" cy="548640"/>
          </a:xfrm>
          <a:prstGeom prst="roundRect">
            <a:avLst>
              <a:gd name="adj" fmla="val 15000"/>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38" name="Text 35"/>
          <p:cNvSpPr/>
          <p:nvPr/>
        </p:nvSpPr>
        <p:spPr>
          <a:xfrm>
            <a:off x="704088" y="6080760"/>
            <a:ext cx="10783519" cy="3383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Guardians convert fast on facts. Trusters need a voice of assurance — and the doctor endorsement bridges both segments at once.</a:t>
            </a:r>
            <a:endParaRPr lang="en-US" sz="900" dirty="0"/>
          </a:p>
        </p:txBody>
      </p:sp>
      <p:sp>
        <p:nvSpPr>
          <p:cNvPr id="39" name="Shape 36"/>
          <p:cNvSpPr/>
          <p:nvPr/>
        </p:nvSpPr>
        <p:spPr>
          <a:xfrm>
            <a:off x="502920" y="6455664"/>
            <a:ext cx="11185855" cy="0"/>
          </a:xfrm>
          <a:prstGeom prst="line">
            <a:avLst/>
          </a:prstGeom>
          <a:noFill/>
          <a:ln w="9525">
            <a:solidFill>
              <a:srgbClr val="E5DCCB"/>
            </a:solidFill>
            <a:prstDash val="solid"/>
          </a:ln>
        </p:spPr>
      </p:sp>
      <p:sp>
        <p:nvSpPr>
          <p:cNvPr id="40" name="Text 37"/>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41" name="Text 38"/>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BUYER PERSONAS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two hardest segments to win — and how.</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Defaulters need shelf presence and price parity. Fatalists need to be shown the imperfections before they will believe the perfections.</a:t>
            </a:r>
            <a:endParaRPr lang="en-US" sz="1100" dirty="0"/>
          </a:p>
        </p:txBody>
      </p:sp>
      <p:sp>
        <p:nvSpPr>
          <p:cNvPr id="7" name="Shape 4"/>
          <p:cNvSpPr/>
          <p:nvPr/>
        </p:nvSpPr>
        <p:spPr>
          <a:xfrm>
            <a:off x="502920" y="2121408"/>
            <a:ext cx="5455768" cy="3767328"/>
          </a:xfrm>
          <a:prstGeom prst="roundRect">
            <a:avLst>
              <a:gd name="adj" fmla="val 218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731520" y="2322576"/>
            <a:ext cx="566928" cy="566928"/>
          </a:xfrm>
          <a:prstGeom prst="ellipse">
            <a:avLst/>
          </a:prstGeom>
          <a:solidFill>
            <a:srgbClr val="8A8474"/>
          </a:solidFill>
          <a:ln w="12700">
            <a:solidFill>
              <a:srgbClr val="333333"/>
            </a:solidFill>
            <a:prstDash val="solid"/>
          </a:ln>
        </p:spPr>
      </p:sp>
      <p:sp>
        <p:nvSpPr>
          <p:cNvPr id="9" name="Text 6"/>
          <p:cNvSpPr/>
          <p:nvPr/>
        </p:nvSpPr>
        <p:spPr>
          <a:xfrm>
            <a:off x="731520"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K</a:t>
            </a:r>
            <a:endParaRPr lang="en-US" sz="1600" dirty="0"/>
          </a:p>
        </p:txBody>
      </p:sp>
      <p:sp>
        <p:nvSpPr>
          <p:cNvPr id="10" name="Text 7"/>
          <p:cNvSpPr/>
          <p:nvPr/>
        </p:nvSpPr>
        <p:spPr>
          <a:xfrm>
            <a:off x="1417320"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Karan Mehta</a:t>
            </a:r>
            <a:endParaRPr lang="en-US" sz="1400" dirty="0"/>
          </a:p>
        </p:txBody>
      </p:sp>
      <p:sp>
        <p:nvSpPr>
          <p:cNvPr id="11" name="Text 8"/>
          <p:cNvSpPr/>
          <p:nvPr/>
        </p:nvSpPr>
        <p:spPr>
          <a:xfrm>
            <a:off x="1417320" y="2624328"/>
            <a:ext cx="4312768" cy="237744"/>
          </a:xfrm>
          <a:prstGeom prst="rect">
            <a:avLst/>
          </a:prstGeom>
          <a:noFill/>
          <a:ln/>
        </p:spPr>
        <p:txBody>
          <a:bodyPr wrap="square" lIns="0" tIns="0" rIns="0" bIns="0" rtlCol="0" anchor="ctr"/>
          <a:lstStyle/>
          <a:p>
            <a:pPr indent="0" marL="0">
              <a:buNone/>
            </a:pPr>
            <a:r>
              <a:rPr lang="en-US" sz="850" b="1" spc="120" kern="0" dirty="0">
                <a:solidFill>
                  <a:srgbClr val="8A8474"/>
                </a:solidFill>
                <a:latin typeface="Nunito Sans" pitchFamily="34" charset="0"/>
                <a:ea typeface="Nunito Sans" pitchFamily="34" charset="-122"/>
                <a:cs typeface="Nunito Sans" pitchFamily="34" charset="-120"/>
              </a:rPr>
              <a:t>THE CRUISE-CONTROLLER · 26%</a:t>
            </a:r>
            <a:endParaRPr lang="en-US" sz="850" dirty="0"/>
          </a:p>
        </p:txBody>
      </p:sp>
      <p:sp>
        <p:nvSpPr>
          <p:cNvPr id="12" name="Text 9"/>
          <p:cNvSpPr/>
          <p:nvPr/>
        </p:nvSpPr>
        <p:spPr>
          <a:xfrm>
            <a:off x="731520"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"Honestly, I just buy whatever brand I know that looks decent and isn't overpriced. Food safety isn't something I lose sleep over."</a:t>
            </a:r>
            <a:endParaRPr lang="en-US" sz="1100" dirty="0"/>
          </a:p>
        </p:txBody>
      </p:sp>
      <p:sp>
        <p:nvSpPr>
          <p:cNvPr id="13" name="Shape 10"/>
          <p:cNvSpPr/>
          <p:nvPr/>
        </p:nvSpPr>
        <p:spPr>
          <a:xfrm>
            <a:off x="731520" y="3749040"/>
            <a:ext cx="4998568" cy="0"/>
          </a:xfrm>
          <a:prstGeom prst="line">
            <a:avLst/>
          </a:prstGeom>
          <a:noFill/>
          <a:ln w="7620">
            <a:solidFill>
              <a:srgbClr val="E5DCCB"/>
            </a:solidFill>
            <a:prstDash val="dash"/>
          </a:ln>
        </p:spPr>
      </p:sp>
      <p:sp>
        <p:nvSpPr>
          <p:cNvPr id="14" name="Text 11"/>
          <p:cNvSpPr/>
          <p:nvPr/>
        </p:nvSpPr>
        <p:spPr>
          <a:xfrm>
            <a:off x="731520"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15" name="Text 12"/>
          <p:cNvSpPr/>
          <p:nvPr/>
        </p:nvSpPr>
        <p:spPr>
          <a:xfrm>
            <a:off x="731520"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26–38 · graduate · IT / sales / ops professional · DINK or small family · ₹80K–1.5L/month · heavy quick-commerce user</a:t>
            </a:r>
            <a:endParaRPr lang="en-US" sz="850" dirty="0"/>
          </a:p>
        </p:txBody>
      </p:sp>
      <p:sp>
        <p:nvSpPr>
          <p:cNvPr id="16" name="Text 13"/>
          <p:cNvSpPr/>
          <p:nvPr/>
        </p:nvSpPr>
        <p:spPr>
          <a:xfrm>
            <a:off x="731520"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17" name="Text 14"/>
          <p:cNvSpPr/>
          <p:nvPr/>
        </p:nvSpPr>
        <p:spPr>
          <a:xfrm>
            <a:off x="731520"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Visible on the app he already uses; price parity with his usual brand; taste he notices</a:t>
            </a:r>
            <a:endParaRPr lang="en-US" sz="850" dirty="0"/>
          </a:p>
        </p:txBody>
      </p:sp>
      <p:sp>
        <p:nvSpPr>
          <p:cNvPr id="18" name="Text 15"/>
          <p:cNvSpPr/>
          <p:nvPr/>
        </p:nvSpPr>
        <p:spPr>
          <a:xfrm>
            <a:off x="731520"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19" name="Text 16"/>
          <p:cNvSpPr/>
          <p:nvPr/>
        </p:nvSpPr>
        <p:spPr>
          <a:xfrm>
            <a:off x="731520"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Not stocked where he shops; a premium with no obvious reason; anything requiring effort to switch</a:t>
            </a:r>
            <a:endParaRPr lang="en-US" sz="850" dirty="0"/>
          </a:p>
        </p:txBody>
      </p:sp>
      <p:sp>
        <p:nvSpPr>
          <p:cNvPr id="20" name="Shape 17"/>
          <p:cNvSpPr/>
          <p:nvPr/>
        </p:nvSpPr>
        <p:spPr>
          <a:xfrm>
            <a:off x="731520" y="5468112"/>
            <a:ext cx="4998568" cy="0"/>
          </a:xfrm>
          <a:prstGeom prst="line">
            <a:avLst/>
          </a:prstGeom>
          <a:noFill/>
          <a:ln w="6350">
            <a:solidFill>
              <a:srgbClr val="E5DCCB"/>
            </a:solidFill>
            <a:prstDash val="dash"/>
          </a:ln>
        </p:spPr>
      </p:sp>
      <p:sp>
        <p:nvSpPr>
          <p:cNvPr id="21" name="Text 18"/>
          <p:cNvSpPr/>
          <p:nvPr/>
        </p:nvSpPr>
        <p:spPr>
          <a:xfrm>
            <a:off x="731520"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80   ·   Trust in certified claim 3.5/5   ·   Would pay 11%+ · 6%     |     F1 −0.39   ·   F2 −1.05   ·   F3 −0.34</a:t>
            </a:r>
            <a:endParaRPr lang="en-US" sz="800" dirty="0"/>
          </a:p>
        </p:txBody>
      </p:sp>
      <p:sp>
        <p:nvSpPr>
          <p:cNvPr id="22" name="Shape 19"/>
          <p:cNvSpPr/>
          <p:nvPr/>
        </p:nvSpPr>
        <p:spPr>
          <a:xfrm>
            <a:off x="6233008" y="2121408"/>
            <a:ext cx="5455768" cy="3767328"/>
          </a:xfrm>
          <a:prstGeom prst="roundRect">
            <a:avLst>
              <a:gd name="adj" fmla="val 218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3" name="Shape 20"/>
          <p:cNvSpPr/>
          <p:nvPr/>
        </p:nvSpPr>
        <p:spPr>
          <a:xfrm>
            <a:off x="6461608" y="2322576"/>
            <a:ext cx="566928" cy="566928"/>
          </a:xfrm>
          <a:prstGeom prst="ellipse">
            <a:avLst/>
          </a:prstGeom>
          <a:solidFill>
            <a:srgbClr val="9E3A24"/>
          </a:solidFill>
          <a:ln w="12700">
            <a:solidFill>
              <a:srgbClr val="333333"/>
            </a:solidFill>
            <a:prstDash val="solid"/>
          </a:ln>
        </p:spPr>
      </p:sp>
      <p:sp>
        <p:nvSpPr>
          <p:cNvPr id="24" name="Text 21"/>
          <p:cNvSpPr/>
          <p:nvPr/>
        </p:nvSpPr>
        <p:spPr>
          <a:xfrm>
            <a:off x="6461608"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S</a:t>
            </a:r>
            <a:endParaRPr lang="en-US" sz="1600" dirty="0"/>
          </a:p>
        </p:txBody>
      </p:sp>
      <p:sp>
        <p:nvSpPr>
          <p:cNvPr id="25" name="Text 22"/>
          <p:cNvSpPr/>
          <p:nvPr/>
        </p:nvSpPr>
        <p:spPr>
          <a:xfrm>
            <a:off x="7147408"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Sanjay Deshpande</a:t>
            </a:r>
            <a:endParaRPr lang="en-US" sz="1400" dirty="0"/>
          </a:p>
        </p:txBody>
      </p:sp>
      <p:sp>
        <p:nvSpPr>
          <p:cNvPr id="26" name="Text 23"/>
          <p:cNvSpPr/>
          <p:nvPr/>
        </p:nvSpPr>
        <p:spPr>
          <a:xfrm>
            <a:off x="7147408" y="2624328"/>
            <a:ext cx="4312768" cy="237744"/>
          </a:xfrm>
          <a:prstGeom prst="rect">
            <a:avLst/>
          </a:prstGeom>
          <a:noFill/>
          <a:ln/>
        </p:spPr>
        <p:txBody>
          <a:bodyPr wrap="square" lIns="0" tIns="0" rIns="0" bIns="0" rtlCol="0" anchor="ctr"/>
          <a:lstStyle/>
          <a:p>
            <a:pPr indent="0" marL="0">
              <a:buNone/>
            </a:pPr>
            <a:r>
              <a:rPr lang="en-US" sz="850" b="1" spc="120" kern="0" dirty="0">
                <a:solidFill>
                  <a:srgbClr val="9E3A24"/>
                </a:solidFill>
                <a:latin typeface="Nunito Sans" pitchFamily="34" charset="0"/>
                <a:ea typeface="Nunito Sans" pitchFamily="34" charset="-122"/>
                <a:cs typeface="Nunito Sans" pitchFamily="34" charset="-120"/>
              </a:rPr>
              <a:t>THE SCEPTIC · 18%</a:t>
            </a:r>
            <a:endParaRPr lang="en-US" sz="850" dirty="0"/>
          </a:p>
        </p:txBody>
      </p:sp>
      <p:sp>
        <p:nvSpPr>
          <p:cNvPr id="27" name="Text 24"/>
          <p:cNvSpPr/>
          <p:nvPr/>
        </p:nvSpPr>
        <p:spPr>
          <a:xfrm>
            <a:off x="6461608"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"Every brand says it's pure. Adulteration is everywhere, and no factory is truly clean. Prove me wrong — but don't insult me with marketing."</a:t>
            </a:r>
            <a:endParaRPr lang="en-US" sz="1100" dirty="0"/>
          </a:p>
        </p:txBody>
      </p:sp>
      <p:sp>
        <p:nvSpPr>
          <p:cNvPr id="28" name="Shape 25"/>
          <p:cNvSpPr/>
          <p:nvPr/>
        </p:nvSpPr>
        <p:spPr>
          <a:xfrm>
            <a:off x="6461608" y="3749040"/>
            <a:ext cx="4998568" cy="0"/>
          </a:xfrm>
          <a:prstGeom prst="line">
            <a:avLst/>
          </a:prstGeom>
          <a:noFill/>
          <a:ln w="7620">
            <a:solidFill>
              <a:srgbClr val="E5DCCB"/>
            </a:solidFill>
            <a:prstDash val="dash"/>
          </a:ln>
        </p:spPr>
      </p:sp>
      <p:sp>
        <p:nvSpPr>
          <p:cNvPr id="29" name="Text 26"/>
          <p:cNvSpPr/>
          <p:nvPr/>
        </p:nvSpPr>
        <p:spPr>
          <a:xfrm>
            <a:off x="6461608"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30" name="Text 27"/>
          <p:cNvSpPr/>
          <p:nvPr/>
        </p:nvSpPr>
        <p:spPr>
          <a:xfrm>
            <a:off x="6461608"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38–55 · graduate to postgraduate · senior professional or business owner · established family · Tier-1 and Tier-2</a:t>
            </a:r>
            <a:endParaRPr lang="en-US" sz="850" dirty="0"/>
          </a:p>
        </p:txBody>
      </p:sp>
      <p:sp>
        <p:nvSpPr>
          <p:cNvPr id="31" name="Text 28"/>
          <p:cNvSpPr/>
          <p:nvPr/>
        </p:nvSpPr>
        <p:spPr>
          <a:xfrm>
            <a:off x="6461608"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32" name="Text 29"/>
          <p:cNvSpPr/>
          <p:nvPr/>
        </p:nvSpPr>
        <p:spPr>
          <a:xfrm>
            <a:off x="6461608"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Unscripted farmer proof; independent, non-brand-paid verification; being shown what is imperfect</a:t>
            </a:r>
            <a:endParaRPr lang="en-US" sz="850" dirty="0"/>
          </a:p>
        </p:txBody>
      </p:sp>
      <p:sp>
        <p:nvSpPr>
          <p:cNvPr id="33" name="Text 30"/>
          <p:cNvSpPr/>
          <p:nvPr/>
        </p:nvSpPr>
        <p:spPr>
          <a:xfrm>
            <a:off x="6461608"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34" name="Text 31"/>
          <p:cNvSpPr/>
          <p:nvPr/>
        </p:nvSpPr>
        <p:spPr>
          <a:xfrm>
            <a:off x="6461608"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Polished claims like everyone else's; certification with no visible teeth; anything that reads like a script</a:t>
            </a:r>
            <a:endParaRPr lang="en-US" sz="850" dirty="0"/>
          </a:p>
        </p:txBody>
      </p:sp>
      <p:sp>
        <p:nvSpPr>
          <p:cNvPr id="35" name="Shape 32"/>
          <p:cNvSpPr/>
          <p:nvPr/>
        </p:nvSpPr>
        <p:spPr>
          <a:xfrm>
            <a:off x="6461608" y="5468112"/>
            <a:ext cx="4998568" cy="0"/>
          </a:xfrm>
          <a:prstGeom prst="line">
            <a:avLst/>
          </a:prstGeom>
          <a:noFill/>
          <a:ln w="6350">
            <a:solidFill>
              <a:srgbClr val="E5DCCB"/>
            </a:solidFill>
            <a:prstDash val="dash"/>
          </a:ln>
        </p:spPr>
      </p:sp>
      <p:sp>
        <p:nvSpPr>
          <p:cNvPr id="36" name="Text 33"/>
          <p:cNvSpPr/>
          <p:nvPr/>
        </p:nvSpPr>
        <p:spPr>
          <a:xfrm>
            <a:off x="6461608"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54   ·   Trust in certified claim 3.6/5   ·   Would pay 11%+ · 22%     |     F1 −1.09   ·   F2 +0.41   ·   F3 +0.13</a:t>
            </a:r>
            <a:endParaRPr lang="en-US" sz="800" dirty="0"/>
          </a:p>
        </p:txBody>
      </p:sp>
      <p:sp>
        <p:nvSpPr>
          <p:cNvPr id="37" name="Shape 34"/>
          <p:cNvSpPr/>
          <p:nvPr/>
        </p:nvSpPr>
        <p:spPr>
          <a:xfrm>
            <a:off x="502920" y="5961888"/>
            <a:ext cx="11185855" cy="548640"/>
          </a:xfrm>
          <a:prstGeom prst="roundRect">
            <a:avLst>
              <a:gd name="adj" fmla="val 15000"/>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38" name="Text 35"/>
          <p:cNvSpPr/>
          <p:nvPr/>
        </p:nvSpPr>
        <p:spPr>
          <a:xfrm>
            <a:off x="704088" y="6080760"/>
            <a:ext cx="10783519" cy="3383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Guardians are 36% of decision-makers but hold roughly 60% of all stated premium-rupee intent. Win them first; the rest follow.</a:t>
            </a:r>
            <a:endParaRPr lang="en-US" sz="900" dirty="0"/>
          </a:p>
        </p:txBody>
      </p:sp>
      <p:sp>
        <p:nvSpPr>
          <p:cNvPr id="39" name="Shape 36"/>
          <p:cNvSpPr/>
          <p:nvPr/>
        </p:nvSpPr>
        <p:spPr>
          <a:xfrm>
            <a:off x="502920" y="6455664"/>
            <a:ext cx="11185855" cy="0"/>
          </a:xfrm>
          <a:prstGeom prst="line">
            <a:avLst/>
          </a:prstGeom>
          <a:noFill/>
          <a:ln w="9525">
            <a:solidFill>
              <a:srgbClr val="E5DCCB"/>
            </a:solidFill>
            <a:prstDash val="solid"/>
          </a:ln>
        </p:spPr>
      </p:sp>
      <p:sp>
        <p:nvSpPr>
          <p:cNvPr id="40" name="Text 37"/>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41" name="Text 38"/>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428646"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428646"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TARGETING DECISION</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Where do we play first?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Four segments, but not four campaigns. Sequencing matters more than coverage.</a:t>
            </a:r>
            <a:endParaRPr lang="en-US" sz="1100" dirty="0"/>
          </a:p>
        </p:txBody>
      </p:sp>
      <p:sp>
        <p:nvSpPr>
          <p:cNvPr id="7" name="Shape 4"/>
          <p:cNvSpPr/>
          <p:nvPr/>
        </p:nvSpPr>
        <p:spPr>
          <a:xfrm>
            <a:off x="502920" y="2121408"/>
            <a:ext cx="2604440" cy="1664208"/>
          </a:xfrm>
          <a:prstGeom prst="roundRect">
            <a:avLst>
              <a:gd name="adj" fmla="val 494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502920" y="2121408"/>
            <a:ext cx="2604440" cy="45720"/>
          </a:xfrm>
          <a:prstGeom prst="rect">
            <a:avLst/>
          </a:prstGeom>
          <a:solidFill>
            <a:srgbClr val="177A46"/>
          </a:solidFill>
          <a:ln w="12700">
            <a:solidFill>
              <a:srgbClr val="333333"/>
            </a:solidFill>
            <a:prstDash val="solid"/>
          </a:ln>
        </p:spPr>
      </p:sp>
      <p:sp>
        <p:nvSpPr>
          <p:cNvPr id="9" name="Text 6"/>
          <p:cNvSpPr/>
          <p:nvPr/>
        </p:nvSpPr>
        <p:spPr>
          <a:xfrm>
            <a:off x="685800" y="2267712"/>
            <a:ext cx="2238680" cy="201168"/>
          </a:xfrm>
          <a:prstGeom prst="rect">
            <a:avLst/>
          </a:prstGeom>
          <a:noFill/>
          <a:ln/>
        </p:spPr>
        <p:txBody>
          <a:bodyPr wrap="square" lIns="0" tIns="0" rIns="0" bIns="0" rtlCol="0" anchor="ctr"/>
          <a:lstStyle/>
          <a:p>
            <a:pPr indent="0" marL="0">
              <a:buNone/>
            </a:pPr>
            <a:r>
              <a:rPr lang="en-US" sz="800" b="1" spc="120" kern="0" dirty="0">
                <a:solidFill>
                  <a:srgbClr val="177A46"/>
                </a:solidFill>
                <a:latin typeface="Nunito Sans" pitchFamily="34" charset="0"/>
                <a:ea typeface="Nunito Sans" pitchFamily="34" charset="-122"/>
                <a:cs typeface="Nunito Sans" pitchFamily="34" charset="-120"/>
              </a:rPr>
              <a:t>PRIMARY</a:t>
            </a:r>
            <a:endParaRPr lang="en-US" sz="800" dirty="0"/>
          </a:p>
        </p:txBody>
      </p:sp>
      <p:sp>
        <p:nvSpPr>
          <p:cNvPr id="10" name="Text 7"/>
          <p:cNvSpPr/>
          <p:nvPr/>
        </p:nvSpPr>
        <p:spPr>
          <a:xfrm>
            <a:off x="685800"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36%</a:t>
            </a:r>
            <a:endParaRPr lang="en-US" sz="2200" dirty="0"/>
          </a:p>
        </p:txBody>
      </p:sp>
      <p:sp>
        <p:nvSpPr>
          <p:cNvPr id="11" name="Text 8"/>
          <p:cNvSpPr/>
          <p:nvPr/>
        </p:nvSpPr>
        <p:spPr>
          <a:xfrm>
            <a:off x="685800"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Proof-Hungry Guardians</a:t>
            </a:r>
            <a:endParaRPr lang="en-US" sz="1000" dirty="0"/>
          </a:p>
        </p:txBody>
      </p:sp>
      <p:sp>
        <p:nvSpPr>
          <p:cNvPr id="12" name="Text 9"/>
          <p:cNvSpPr/>
          <p:nvPr/>
        </p:nvSpPr>
        <p:spPr>
          <a:xfrm>
            <a:off x="685800"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Largest segment, highest willingness to pay, and the only one that responds to the proof DHF already generates.</a:t>
            </a:r>
            <a:endParaRPr lang="en-US" sz="850" dirty="0"/>
          </a:p>
        </p:txBody>
      </p:sp>
      <p:sp>
        <p:nvSpPr>
          <p:cNvPr id="13" name="Shape 10"/>
          <p:cNvSpPr/>
          <p:nvPr/>
        </p:nvSpPr>
        <p:spPr>
          <a:xfrm>
            <a:off x="3363392" y="2121408"/>
            <a:ext cx="2604440" cy="1664208"/>
          </a:xfrm>
          <a:prstGeom prst="roundRect">
            <a:avLst>
              <a:gd name="adj" fmla="val 494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Shape 11"/>
          <p:cNvSpPr/>
          <p:nvPr/>
        </p:nvSpPr>
        <p:spPr>
          <a:xfrm>
            <a:off x="3363392" y="2121408"/>
            <a:ext cx="2604440" cy="45720"/>
          </a:xfrm>
          <a:prstGeom prst="rect">
            <a:avLst/>
          </a:prstGeom>
          <a:solidFill>
            <a:srgbClr val="3A5D97"/>
          </a:solidFill>
          <a:ln w="12700">
            <a:solidFill>
              <a:srgbClr val="333333"/>
            </a:solidFill>
            <a:prstDash val="solid"/>
          </a:ln>
        </p:spPr>
      </p:sp>
      <p:sp>
        <p:nvSpPr>
          <p:cNvPr id="15" name="Text 12"/>
          <p:cNvSpPr/>
          <p:nvPr/>
        </p:nvSpPr>
        <p:spPr>
          <a:xfrm>
            <a:off x="3546272" y="2267712"/>
            <a:ext cx="2238680" cy="201168"/>
          </a:xfrm>
          <a:prstGeom prst="rect">
            <a:avLst/>
          </a:prstGeom>
          <a:noFill/>
          <a:ln/>
        </p:spPr>
        <p:txBody>
          <a:bodyPr wrap="square" lIns="0" tIns="0" rIns="0" bIns="0" rtlCol="0" anchor="ctr"/>
          <a:lstStyle/>
          <a:p>
            <a:pPr indent="0" marL="0">
              <a:buNone/>
            </a:pPr>
            <a:r>
              <a:rPr lang="en-US" sz="800" b="1" spc="120" kern="0" dirty="0">
                <a:solidFill>
                  <a:srgbClr val="3A5D97"/>
                </a:solidFill>
                <a:latin typeface="Nunito Sans" pitchFamily="34" charset="0"/>
                <a:ea typeface="Nunito Sans" pitchFamily="34" charset="-122"/>
                <a:cs typeface="Nunito Sans" pitchFamily="34" charset="-120"/>
              </a:rPr>
              <a:t>SECONDARY</a:t>
            </a:r>
            <a:endParaRPr lang="en-US" sz="800" dirty="0"/>
          </a:p>
        </p:txBody>
      </p:sp>
      <p:sp>
        <p:nvSpPr>
          <p:cNvPr id="16" name="Text 13"/>
          <p:cNvSpPr/>
          <p:nvPr/>
        </p:nvSpPr>
        <p:spPr>
          <a:xfrm>
            <a:off x="3546272"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20%</a:t>
            </a:r>
            <a:endParaRPr lang="en-US" sz="2200" dirty="0"/>
          </a:p>
        </p:txBody>
      </p:sp>
      <p:sp>
        <p:nvSpPr>
          <p:cNvPr id="17" name="Text 14"/>
          <p:cNvSpPr/>
          <p:nvPr/>
        </p:nvSpPr>
        <p:spPr>
          <a:xfrm>
            <a:off x="3546272"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Social Trusters</a:t>
            </a:r>
            <a:endParaRPr lang="en-US" sz="1000" dirty="0"/>
          </a:p>
        </p:txBody>
      </p:sp>
      <p:sp>
        <p:nvSpPr>
          <p:cNvPr id="18" name="Text 15"/>
          <p:cNvSpPr/>
          <p:nvPr/>
        </p:nvSpPr>
        <p:spPr>
          <a:xfrm>
            <a:off x="3546272"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Activated by the Guardians' verification becoming social proof. Doctor endorsement bridges both segments at once.</a:t>
            </a:r>
            <a:endParaRPr lang="en-US" sz="850" dirty="0"/>
          </a:p>
        </p:txBody>
      </p:sp>
      <p:sp>
        <p:nvSpPr>
          <p:cNvPr id="19" name="Shape 16"/>
          <p:cNvSpPr/>
          <p:nvPr/>
        </p:nvSpPr>
        <p:spPr>
          <a:xfrm>
            <a:off x="6223864" y="2121408"/>
            <a:ext cx="2604440" cy="1664208"/>
          </a:xfrm>
          <a:prstGeom prst="roundRect">
            <a:avLst>
              <a:gd name="adj" fmla="val 494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0" name="Shape 17"/>
          <p:cNvSpPr/>
          <p:nvPr/>
        </p:nvSpPr>
        <p:spPr>
          <a:xfrm>
            <a:off x="6223864" y="2121408"/>
            <a:ext cx="2604440" cy="45720"/>
          </a:xfrm>
          <a:prstGeom prst="rect">
            <a:avLst/>
          </a:prstGeom>
          <a:solidFill>
            <a:srgbClr val="B5AD9C"/>
          </a:solidFill>
          <a:ln w="12700">
            <a:solidFill>
              <a:srgbClr val="333333"/>
            </a:solidFill>
            <a:prstDash val="solid"/>
          </a:ln>
        </p:spPr>
      </p:sp>
      <p:sp>
        <p:nvSpPr>
          <p:cNvPr id="21" name="Text 18"/>
          <p:cNvSpPr/>
          <p:nvPr/>
        </p:nvSpPr>
        <p:spPr>
          <a:xfrm>
            <a:off x="6406744" y="2267712"/>
            <a:ext cx="2238680" cy="201168"/>
          </a:xfrm>
          <a:prstGeom prst="rect">
            <a:avLst/>
          </a:prstGeom>
          <a:noFill/>
          <a:ln/>
        </p:spPr>
        <p:txBody>
          <a:bodyPr wrap="square" lIns="0" tIns="0" rIns="0" bIns="0" rtlCol="0" anchor="ctr"/>
          <a:lstStyle/>
          <a:p>
            <a:pPr indent="0" marL="0">
              <a:buNone/>
            </a:pPr>
            <a:r>
              <a:rPr lang="en-US" sz="800" b="1" spc="120" kern="0" dirty="0">
                <a:solidFill>
                  <a:srgbClr val="B5AD9C"/>
                </a:solidFill>
                <a:latin typeface="Nunito Sans" pitchFamily="34" charset="0"/>
                <a:ea typeface="Nunito Sans" pitchFamily="34" charset="-122"/>
                <a:cs typeface="Nunito Sans" pitchFamily="34" charset="-120"/>
              </a:rPr>
              <a:t>DEFER</a:t>
            </a:r>
            <a:endParaRPr lang="en-US" sz="800" dirty="0"/>
          </a:p>
        </p:txBody>
      </p:sp>
      <p:sp>
        <p:nvSpPr>
          <p:cNvPr id="22" name="Text 19"/>
          <p:cNvSpPr/>
          <p:nvPr/>
        </p:nvSpPr>
        <p:spPr>
          <a:xfrm>
            <a:off x="6406744"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26%</a:t>
            </a:r>
            <a:endParaRPr lang="en-US" sz="2200" dirty="0"/>
          </a:p>
        </p:txBody>
      </p:sp>
      <p:sp>
        <p:nvSpPr>
          <p:cNvPr id="23" name="Text 20"/>
          <p:cNvSpPr/>
          <p:nvPr/>
        </p:nvSpPr>
        <p:spPr>
          <a:xfrm>
            <a:off x="6406744"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Passive Defaulters</a:t>
            </a:r>
            <a:endParaRPr lang="en-US" sz="1000" dirty="0"/>
          </a:p>
        </p:txBody>
      </p:sp>
      <p:sp>
        <p:nvSpPr>
          <p:cNvPr id="24" name="Text 21"/>
          <p:cNvSpPr/>
          <p:nvPr/>
        </p:nvSpPr>
        <p:spPr>
          <a:xfrm>
            <a:off x="6406744"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Proof-heavy messaging misfires. Capture cheaply in phase two, once the category feels default.</a:t>
            </a:r>
            <a:endParaRPr lang="en-US" sz="850" dirty="0"/>
          </a:p>
        </p:txBody>
      </p:sp>
      <p:sp>
        <p:nvSpPr>
          <p:cNvPr id="25" name="Shape 22"/>
          <p:cNvSpPr/>
          <p:nvPr/>
        </p:nvSpPr>
        <p:spPr>
          <a:xfrm>
            <a:off x="9084335" y="2121408"/>
            <a:ext cx="2604440" cy="1664208"/>
          </a:xfrm>
          <a:prstGeom prst="roundRect">
            <a:avLst>
              <a:gd name="adj" fmla="val 494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6" name="Shape 23"/>
          <p:cNvSpPr/>
          <p:nvPr/>
        </p:nvSpPr>
        <p:spPr>
          <a:xfrm>
            <a:off x="9084335" y="2121408"/>
            <a:ext cx="2604440" cy="45720"/>
          </a:xfrm>
          <a:prstGeom prst="rect">
            <a:avLst/>
          </a:prstGeom>
          <a:solidFill>
            <a:srgbClr val="9E3A24"/>
          </a:solidFill>
          <a:ln w="12700">
            <a:solidFill>
              <a:srgbClr val="333333"/>
            </a:solidFill>
            <a:prstDash val="solid"/>
          </a:ln>
        </p:spPr>
      </p:sp>
      <p:sp>
        <p:nvSpPr>
          <p:cNvPr id="27" name="Text 24"/>
          <p:cNvSpPr/>
          <p:nvPr/>
        </p:nvSpPr>
        <p:spPr>
          <a:xfrm>
            <a:off x="9267215" y="2267712"/>
            <a:ext cx="2238680" cy="201168"/>
          </a:xfrm>
          <a:prstGeom prst="rect">
            <a:avLst/>
          </a:prstGeom>
          <a:noFill/>
          <a:ln/>
        </p:spPr>
        <p:txBody>
          <a:bodyPr wrap="square" lIns="0" tIns="0" rIns="0" bIns="0" rtlCol="0" anchor="ctr"/>
          <a:lstStyle/>
          <a:p>
            <a:pPr indent="0" marL="0">
              <a:buNone/>
            </a:pPr>
            <a:r>
              <a:rPr lang="en-US" sz="800" b="1" spc="120" kern="0" dirty="0">
                <a:solidFill>
                  <a:srgbClr val="9E3A24"/>
                </a:solidFill>
                <a:latin typeface="Nunito Sans" pitchFamily="34" charset="0"/>
                <a:ea typeface="Nunito Sans" pitchFamily="34" charset="-122"/>
                <a:cs typeface="Nunito Sans" pitchFamily="34" charset="-120"/>
              </a:rPr>
              <a:t>SEQUENCE LAST</a:t>
            </a:r>
            <a:endParaRPr lang="en-US" sz="800" dirty="0"/>
          </a:p>
        </p:txBody>
      </p:sp>
      <p:sp>
        <p:nvSpPr>
          <p:cNvPr id="28" name="Text 25"/>
          <p:cNvSpPr/>
          <p:nvPr/>
        </p:nvSpPr>
        <p:spPr>
          <a:xfrm>
            <a:off x="9267215"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18%</a:t>
            </a:r>
            <a:endParaRPr lang="en-US" sz="2200" dirty="0"/>
          </a:p>
        </p:txBody>
      </p:sp>
      <p:sp>
        <p:nvSpPr>
          <p:cNvPr id="29" name="Text 26"/>
          <p:cNvSpPr/>
          <p:nvPr/>
        </p:nvSpPr>
        <p:spPr>
          <a:xfrm>
            <a:off x="9267215"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System Fatalists</a:t>
            </a:r>
            <a:endParaRPr lang="en-US" sz="1000" dirty="0"/>
          </a:p>
        </p:txBody>
      </p:sp>
      <p:sp>
        <p:nvSpPr>
          <p:cNvPr id="30" name="Text 27"/>
          <p:cNvSpPr/>
          <p:nvPr/>
        </p:nvSpPr>
        <p:spPr>
          <a:xfrm>
            <a:off x="9267215"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Smallest and hardest. Needs a separate radical-transparency, farmer / founder-direct playbook.</a:t>
            </a:r>
            <a:endParaRPr lang="en-US" sz="850" dirty="0"/>
          </a:p>
        </p:txBody>
      </p:sp>
      <p:sp>
        <p:nvSpPr>
          <p:cNvPr id="31" name="Text 28"/>
          <p:cNvSpPr/>
          <p:nvPr/>
        </p:nvSpPr>
        <p:spPr>
          <a:xfrm>
            <a:off x="502920" y="3950208"/>
            <a:ext cx="566928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WHAT WOULD MAKE YOU TRY A NEW BRAND?  (% NAMING IT TOP DRIVER)</a:t>
            </a:r>
            <a:endParaRPr lang="en-US" sz="950" dirty="0"/>
          </a:p>
        </p:txBody>
      </p:sp>
      <p:sp>
        <p:nvSpPr>
          <p:cNvPr id="32" name="Text 29"/>
          <p:cNvSpPr/>
          <p:nvPr/>
        </p:nvSpPr>
        <p:spPr>
          <a:xfrm>
            <a:off x="502920" y="4261104"/>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Doctor / child-specialist endorsement</a:t>
            </a:r>
            <a:endParaRPr lang="en-US" sz="950" dirty="0"/>
          </a:p>
        </p:txBody>
      </p:sp>
      <p:sp>
        <p:nvSpPr>
          <p:cNvPr id="33" name="Text 30"/>
          <p:cNvSpPr/>
          <p:nvPr/>
        </p:nvSpPr>
        <p:spPr>
          <a:xfrm>
            <a:off x="4434840" y="426110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44%</a:t>
            </a:r>
            <a:endParaRPr lang="en-US" sz="1000" dirty="0"/>
          </a:p>
        </p:txBody>
      </p:sp>
      <p:sp>
        <p:nvSpPr>
          <p:cNvPr id="34" name="Shape 31"/>
          <p:cNvSpPr/>
          <p:nvPr/>
        </p:nvSpPr>
        <p:spPr>
          <a:xfrm>
            <a:off x="502920" y="4480560"/>
            <a:ext cx="5669280" cy="100584"/>
          </a:xfrm>
          <a:prstGeom prst="roundRect">
            <a:avLst>
              <a:gd name="adj" fmla="val 50000"/>
            </a:avLst>
          </a:prstGeom>
          <a:solidFill>
            <a:srgbClr val="EDE4D4"/>
          </a:solidFill>
          <a:ln w="12700">
            <a:solidFill>
              <a:srgbClr val="333333"/>
            </a:solidFill>
            <a:prstDash val="solid"/>
          </a:ln>
        </p:spPr>
      </p:sp>
      <p:sp>
        <p:nvSpPr>
          <p:cNvPr id="35" name="Shape 32"/>
          <p:cNvSpPr/>
          <p:nvPr/>
        </p:nvSpPr>
        <p:spPr>
          <a:xfrm>
            <a:off x="502920" y="4480560"/>
            <a:ext cx="4988966" cy="100584"/>
          </a:xfrm>
          <a:prstGeom prst="roundRect">
            <a:avLst>
              <a:gd name="adj" fmla="val 50000"/>
            </a:avLst>
          </a:prstGeom>
          <a:solidFill>
            <a:srgbClr val="177A46"/>
          </a:solidFill>
          <a:ln w="12700">
            <a:solidFill>
              <a:srgbClr val="333333"/>
            </a:solidFill>
            <a:prstDash val="solid"/>
          </a:ln>
        </p:spPr>
      </p:sp>
      <p:sp>
        <p:nvSpPr>
          <p:cNvPr id="36" name="Text 33"/>
          <p:cNvSpPr/>
          <p:nvPr/>
        </p:nvSpPr>
        <p:spPr>
          <a:xfrm>
            <a:off x="502920" y="4572000"/>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"Below detectable limits" + QR to lab report</a:t>
            </a:r>
            <a:endParaRPr lang="en-US" sz="950" dirty="0"/>
          </a:p>
        </p:txBody>
      </p:sp>
      <p:sp>
        <p:nvSpPr>
          <p:cNvPr id="37" name="Text 34"/>
          <p:cNvSpPr/>
          <p:nvPr/>
        </p:nvSpPr>
        <p:spPr>
          <a:xfrm>
            <a:off x="4434840" y="4572000"/>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27%</a:t>
            </a:r>
            <a:endParaRPr lang="en-US" sz="1000" dirty="0"/>
          </a:p>
        </p:txBody>
      </p:sp>
      <p:sp>
        <p:nvSpPr>
          <p:cNvPr id="38" name="Shape 35"/>
          <p:cNvSpPr/>
          <p:nvPr/>
        </p:nvSpPr>
        <p:spPr>
          <a:xfrm>
            <a:off x="502920" y="4791456"/>
            <a:ext cx="5669280" cy="100584"/>
          </a:xfrm>
          <a:prstGeom prst="roundRect">
            <a:avLst>
              <a:gd name="adj" fmla="val 50000"/>
            </a:avLst>
          </a:prstGeom>
          <a:solidFill>
            <a:srgbClr val="EDE4D4"/>
          </a:solidFill>
          <a:ln w="12700">
            <a:solidFill>
              <a:srgbClr val="333333"/>
            </a:solidFill>
            <a:prstDash val="solid"/>
          </a:ln>
        </p:spPr>
      </p:sp>
      <p:sp>
        <p:nvSpPr>
          <p:cNvPr id="39" name="Shape 36"/>
          <p:cNvSpPr/>
          <p:nvPr/>
        </p:nvSpPr>
        <p:spPr>
          <a:xfrm>
            <a:off x="502920" y="4791456"/>
            <a:ext cx="3061411" cy="100584"/>
          </a:xfrm>
          <a:prstGeom prst="roundRect">
            <a:avLst>
              <a:gd name="adj" fmla="val 50000"/>
            </a:avLst>
          </a:prstGeom>
          <a:solidFill>
            <a:srgbClr val="3A5D97"/>
          </a:solidFill>
          <a:ln w="12700">
            <a:solidFill>
              <a:srgbClr val="333333"/>
            </a:solidFill>
            <a:prstDash val="solid"/>
          </a:ln>
        </p:spPr>
      </p:sp>
      <p:sp>
        <p:nvSpPr>
          <p:cNvPr id="40" name="Text 37"/>
          <p:cNvSpPr/>
          <p:nvPr/>
        </p:nvSpPr>
        <p:spPr>
          <a:xfrm>
            <a:off x="502920" y="4882896"/>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Farmer's name and village on pack</a:t>
            </a:r>
            <a:endParaRPr lang="en-US" sz="950" dirty="0"/>
          </a:p>
        </p:txBody>
      </p:sp>
      <p:sp>
        <p:nvSpPr>
          <p:cNvPr id="41" name="Text 38"/>
          <p:cNvSpPr/>
          <p:nvPr/>
        </p:nvSpPr>
        <p:spPr>
          <a:xfrm>
            <a:off x="4434840" y="4882896"/>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a:t>
            </a:r>
            <a:endParaRPr lang="en-US" sz="1000" dirty="0"/>
          </a:p>
        </p:txBody>
      </p:sp>
      <p:sp>
        <p:nvSpPr>
          <p:cNvPr id="42" name="Shape 39"/>
          <p:cNvSpPr/>
          <p:nvPr/>
        </p:nvSpPr>
        <p:spPr>
          <a:xfrm>
            <a:off x="502920" y="5102352"/>
            <a:ext cx="5669280" cy="100584"/>
          </a:xfrm>
          <a:prstGeom prst="roundRect">
            <a:avLst>
              <a:gd name="adj" fmla="val 50000"/>
            </a:avLst>
          </a:prstGeom>
          <a:solidFill>
            <a:srgbClr val="EDE4D4"/>
          </a:solidFill>
          <a:ln w="12700">
            <a:solidFill>
              <a:srgbClr val="333333"/>
            </a:solidFill>
            <a:prstDash val="solid"/>
          </a:ln>
        </p:spPr>
      </p:sp>
      <p:sp>
        <p:nvSpPr>
          <p:cNvPr id="43" name="Shape 40"/>
          <p:cNvSpPr/>
          <p:nvPr/>
        </p:nvSpPr>
        <p:spPr>
          <a:xfrm>
            <a:off x="502920" y="5102352"/>
            <a:ext cx="1360627" cy="100584"/>
          </a:xfrm>
          <a:prstGeom prst="roundRect">
            <a:avLst>
              <a:gd name="adj" fmla="val 50000"/>
            </a:avLst>
          </a:prstGeom>
          <a:solidFill>
            <a:srgbClr val="6688BE"/>
          </a:solidFill>
          <a:ln w="12700">
            <a:solidFill>
              <a:srgbClr val="333333"/>
            </a:solidFill>
            <a:prstDash val="solid"/>
          </a:ln>
        </p:spPr>
      </p:sp>
      <p:sp>
        <p:nvSpPr>
          <p:cNvPr id="44" name="Text 41"/>
          <p:cNvSpPr/>
          <p:nvPr/>
        </p:nvSpPr>
        <p:spPr>
          <a:xfrm>
            <a:off x="502920" y="5193792"/>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Government certificate as the lead message</a:t>
            </a:r>
            <a:endParaRPr lang="en-US" sz="950" dirty="0"/>
          </a:p>
        </p:txBody>
      </p:sp>
      <p:sp>
        <p:nvSpPr>
          <p:cNvPr id="45" name="Text 42"/>
          <p:cNvSpPr/>
          <p:nvPr/>
        </p:nvSpPr>
        <p:spPr>
          <a:xfrm>
            <a:off x="4434840" y="5193792"/>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8%</a:t>
            </a:r>
            <a:endParaRPr lang="en-US" sz="1000" dirty="0"/>
          </a:p>
        </p:txBody>
      </p:sp>
      <p:sp>
        <p:nvSpPr>
          <p:cNvPr id="46" name="Shape 43"/>
          <p:cNvSpPr/>
          <p:nvPr/>
        </p:nvSpPr>
        <p:spPr>
          <a:xfrm>
            <a:off x="502920" y="5413248"/>
            <a:ext cx="5669280" cy="100584"/>
          </a:xfrm>
          <a:prstGeom prst="roundRect">
            <a:avLst>
              <a:gd name="adj" fmla="val 50000"/>
            </a:avLst>
          </a:prstGeom>
          <a:solidFill>
            <a:srgbClr val="EDE4D4"/>
          </a:solidFill>
          <a:ln w="12700">
            <a:solidFill>
              <a:srgbClr val="333333"/>
            </a:solidFill>
            <a:prstDash val="solid"/>
          </a:ln>
        </p:spPr>
      </p:sp>
      <p:sp>
        <p:nvSpPr>
          <p:cNvPr id="47" name="Shape 44"/>
          <p:cNvSpPr/>
          <p:nvPr/>
        </p:nvSpPr>
        <p:spPr>
          <a:xfrm>
            <a:off x="502920" y="5413248"/>
            <a:ext cx="907085" cy="100584"/>
          </a:xfrm>
          <a:prstGeom prst="roundRect">
            <a:avLst>
              <a:gd name="adj" fmla="val 50000"/>
            </a:avLst>
          </a:prstGeom>
          <a:solidFill>
            <a:srgbClr val="B5AD9C"/>
          </a:solidFill>
          <a:ln w="12700">
            <a:solidFill>
              <a:srgbClr val="333333"/>
            </a:solidFill>
            <a:prstDash val="solid"/>
          </a:ln>
        </p:spPr>
      </p:sp>
      <p:sp>
        <p:nvSpPr>
          <p:cNvPr id="48" name="Text 45"/>
          <p:cNvSpPr/>
          <p:nvPr/>
        </p:nvSpPr>
        <p:spPr>
          <a:xfrm>
            <a:off x="502920" y="5504688"/>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"Tested for 200+ chemicals"</a:t>
            </a:r>
            <a:endParaRPr lang="en-US" sz="950" dirty="0"/>
          </a:p>
        </p:txBody>
      </p:sp>
      <p:sp>
        <p:nvSpPr>
          <p:cNvPr id="49" name="Text 46"/>
          <p:cNvSpPr/>
          <p:nvPr/>
        </p:nvSpPr>
        <p:spPr>
          <a:xfrm>
            <a:off x="4434840" y="5504688"/>
            <a:ext cx="1737360" cy="201168"/>
          </a:xfrm>
          <a:prstGeom prst="rect">
            <a:avLst/>
          </a:prstGeom>
          <a:noFill/>
          <a:ln/>
        </p:spPr>
        <p:txBody>
          <a:bodyPr wrap="square" lIns="0" tIns="0" rIns="0" bIns="0" rtlCol="0" anchor="ctr"/>
          <a:lstStyle/>
          <a:p>
            <a:pPr algn="r" indent="0" marL="0">
              <a:buNone/>
            </a:pPr>
            <a:r>
              <a:rPr lang="en-US" sz="1000" b="1" dirty="0">
                <a:solidFill>
                  <a:srgbClr val="9E3A24"/>
                </a:solidFill>
                <a:latin typeface="Nunito Sans" pitchFamily="34" charset="0"/>
                <a:ea typeface="Nunito Sans" pitchFamily="34" charset="-122"/>
                <a:cs typeface="Nunito Sans" pitchFamily="34" charset="-120"/>
              </a:rPr>
              <a:t>6%</a:t>
            </a:r>
            <a:endParaRPr lang="en-US" sz="1000" dirty="0"/>
          </a:p>
        </p:txBody>
      </p:sp>
      <p:sp>
        <p:nvSpPr>
          <p:cNvPr id="50" name="Shape 47"/>
          <p:cNvSpPr/>
          <p:nvPr/>
        </p:nvSpPr>
        <p:spPr>
          <a:xfrm>
            <a:off x="502920" y="5724144"/>
            <a:ext cx="5669280" cy="100584"/>
          </a:xfrm>
          <a:prstGeom prst="roundRect">
            <a:avLst>
              <a:gd name="adj" fmla="val 50000"/>
            </a:avLst>
          </a:prstGeom>
          <a:solidFill>
            <a:srgbClr val="EDE4D4"/>
          </a:solidFill>
          <a:ln w="12700">
            <a:solidFill>
              <a:srgbClr val="333333"/>
            </a:solidFill>
            <a:prstDash val="solid"/>
          </a:ln>
        </p:spPr>
      </p:sp>
      <p:sp>
        <p:nvSpPr>
          <p:cNvPr id="51" name="Shape 48"/>
          <p:cNvSpPr/>
          <p:nvPr/>
        </p:nvSpPr>
        <p:spPr>
          <a:xfrm>
            <a:off x="502920" y="5724144"/>
            <a:ext cx="680314" cy="100584"/>
          </a:xfrm>
          <a:prstGeom prst="roundRect">
            <a:avLst>
              <a:gd name="adj" fmla="val 50000"/>
            </a:avLst>
          </a:prstGeom>
          <a:solidFill>
            <a:srgbClr val="9E3A24"/>
          </a:solidFill>
          <a:ln w="12700">
            <a:solidFill>
              <a:srgbClr val="333333"/>
            </a:solidFill>
            <a:prstDash val="solid"/>
          </a:ln>
        </p:spPr>
      </p:sp>
      <p:sp>
        <p:nvSpPr>
          <p:cNvPr id="52" name="Text 49"/>
          <p:cNvSpPr/>
          <p:nvPr/>
        </p:nvSpPr>
        <p:spPr>
          <a:xfrm>
            <a:off x="502920" y="5815584"/>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Farm-visit invitations</a:t>
            </a:r>
            <a:endParaRPr lang="en-US" sz="950" dirty="0"/>
          </a:p>
        </p:txBody>
      </p:sp>
      <p:sp>
        <p:nvSpPr>
          <p:cNvPr id="53" name="Text 50"/>
          <p:cNvSpPr/>
          <p:nvPr/>
        </p:nvSpPr>
        <p:spPr>
          <a:xfrm>
            <a:off x="4434840" y="5815584"/>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3%</a:t>
            </a:r>
            <a:endParaRPr lang="en-US" sz="1000" dirty="0"/>
          </a:p>
        </p:txBody>
      </p:sp>
      <p:sp>
        <p:nvSpPr>
          <p:cNvPr id="54" name="Shape 51"/>
          <p:cNvSpPr/>
          <p:nvPr/>
        </p:nvSpPr>
        <p:spPr>
          <a:xfrm>
            <a:off x="502920" y="6035040"/>
            <a:ext cx="5669280" cy="100584"/>
          </a:xfrm>
          <a:prstGeom prst="roundRect">
            <a:avLst>
              <a:gd name="adj" fmla="val 50000"/>
            </a:avLst>
          </a:prstGeom>
          <a:solidFill>
            <a:srgbClr val="EDE4D4"/>
          </a:solidFill>
          <a:ln w="12700">
            <a:solidFill>
              <a:srgbClr val="333333"/>
            </a:solidFill>
            <a:prstDash val="solid"/>
          </a:ln>
        </p:spPr>
      </p:sp>
      <p:sp>
        <p:nvSpPr>
          <p:cNvPr id="55" name="Shape 52"/>
          <p:cNvSpPr/>
          <p:nvPr/>
        </p:nvSpPr>
        <p:spPr>
          <a:xfrm>
            <a:off x="502920" y="6035040"/>
            <a:ext cx="340157" cy="100584"/>
          </a:xfrm>
          <a:prstGeom prst="roundRect">
            <a:avLst>
              <a:gd name="adj" fmla="val 50000"/>
            </a:avLst>
          </a:prstGeom>
          <a:solidFill>
            <a:srgbClr val="B5AD9C"/>
          </a:solidFill>
          <a:ln w="12700">
            <a:solidFill>
              <a:srgbClr val="333333"/>
            </a:solidFill>
            <a:prstDash val="solid"/>
          </a:ln>
        </p:spPr>
      </p:sp>
      <p:sp>
        <p:nvSpPr>
          <p:cNvPr id="56" name="Text 53"/>
          <p:cNvSpPr/>
          <p:nvPr/>
        </p:nvSpPr>
        <p:spPr>
          <a:xfrm>
            <a:off x="502920" y="6126480"/>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Side-by-side residue comparison vs rivals</a:t>
            </a:r>
            <a:endParaRPr lang="en-US" sz="950" dirty="0"/>
          </a:p>
        </p:txBody>
      </p:sp>
      <p:sp>
        <p:nvSpPr>
          <p:cNvPr id="57" name="Text 54"/>
          <p:cNvSpPr/>
          <p:nvPr/>
        </p:nvSpPr>
        <p:spPr>
          <a:xfrm>
            <a:off x="4434840" y="6126480"/>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1%</a:t>
            </a:r>
            <a:endParaRPr lang="en-US" sz="1000" dirty="0"/>
          </a:p>
        </p:txBody>
      </p:sp>
      <p:sp>
        <p:nvSpPr>
          <p:cNvPr id="58" name="Shape 55"/>
          <p:cNvSpPr/>
          <p:nvPr/>
        </p:nvSpPr>
        <p:spPr>
          <a:xfrm>
            <a:off x="502920" y="6345936"/>
            <a:ext cx="5669280" cy="100584"/>
          </a:xfrm>
          <a:prstGeom prst="roundRect">
            <a:avLst>
              <a:gd name="adj" fmla="val 50000"/>
            </a:avLst>
          </a:prstGeom>
          <a:solidFill>
            <a:srgbClr val="EDE4D4"/>
          </a:solidFill>
          <a:ln w="12700">
            <a:solidFill>
              <a:srgbClr val="333333"/>
            </a:solidFill>
            <a:prstDash val="solid"/>
          </a:ln>
        </p:spPr>
      </p:sp>
      <p:sp>
        <p:nvSpPr>
          <p:cNvPr id="59" name="Shape 56"/>
          <p:cNvSpPr/>
          <p:nvPr/>
        </p:nvSpPr>
        <p:spPr>
          <a:xfrm>
            <a:off x="502920" y="6345936"/>
            <a:ext cx="113386" cy="100584"/>
          </a:xfrm>
          <a:prstGeom prst="roundRect">
            <a:avLst>
              <a:gd name="adj" fmla="val 50000"/>
            </a:avLst>
          </a:prstGeom>
          <a:solidFill>
            <a:srgbClr val="B5AD9C"/>
          </a:solidFill>
          <a:ln w="12700">
            <a:solidFill>
              <a:srgbClr val="333333"/>
            </a:solidFill>
            <a:prstDash val="solid"/>
          </a:ln>
        </p:spPr>
      </p:sp>
      <p:sp>
        <p:nvSpPr>
          <p:cNvPr id="60" name="Shape 57"/>
          <p:cNvSpPr/>
          <p:nvPr/>
        </p:nvSpPr>
        <p:spPr>
          <a:xfrm>
            <a:off x="6537960" y="4261104"/>
            <a:ext cx="5150815" cy="1207008"/>
          </a:xfrm>
          <a:prstGeom prst="roundRect">
            <a:avLst>
              <a:gd name="adj" fmla="val 6818"/>
            </a:avLst>
          </a:prstGeom>
          <a:solidFill>
            <a:srgbClr val="FBE9E3"/>
          </a:solidFill>
          <a:ln w="9525">
            <a:solidFill>
              <a:srgbClr val="F0CDC2"/>
            </a:solidFill>
            <a:prstDash val="solid"/>
          </a:ln>
          <a:effectLst>
            <a:outerShdw sx="100000" sy="100000" kx="0" ky="0" algn="bl" rotWithShape="0" blurRad="177800" dist="38100" dir="5400000">
              <a:srgbClr val="101C2C">
                <a:alpha val="9000"/>
              </a:srgbClr>
            </a:outerShdw>
          </a:effectLst>
        </p:spPr>
      </p:sp>
      <p:sp>
        <p:nvSpPr>
          <p:cNvPr id="61" name="Text 58"/>
          <p:cNvSpPr/>
          <p:nvPr/>
        </p:nvSpPr>
        <p:spPr>
          <a:xfrm>
            <a:off x="6739128" y="4379976"/>
            <a:ext cx="474847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The uncomfortable finding</a:t>
            </a:r>
            <a:endParaRPr lang="en-US" sz="1050" dirty="0"/>
          </a:p>
        </p:txBody>
      </p:sp>
      <p:sp>
        <p:nvSpPr>
          <p:cNvPr id="62" name="Text 59"/>
          <p:cNvSpPr/>
          <p:nvPr/>
        </p:nvSpPr>
        <p:spPr>
          <a:xfrm>
            <a:off x="6739128" y="4626864"/>
            <a:ext cx="4748479" cy="74980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leads with the claim only 6% find convincing, and barely uses the endorsement 44% name first. Doctor endorsement wins in every segment — 55% of Trusters, 56% of Defaulters, 50% of Fatalists. Only Guardians rank the QR lab report first.</a:t>
            </a:r>
            <a:endParaRPr lang="en-US" sz="900" dirty="0"/>
          </a:p>
        </p:txBody>
      </p:sp>
      <p:sp>
        <p:nvSpPr>
          <p:cNvPr id="63" name="Shape 60"/>
          <p:cNvSpPr/>
          <p:nvPr/>
        </p:nvSpPr>
        <p:spPr>
          <a:xfrm>
            <a:off x="6537960" y="5596128"/>
            <a:ext cx="5150815" cy="960120"/>
          </a:xfrm>
          <a:prstGeom prst="roundRect">
            <a:avLst>
              <a:gd name="adj" fmla="val 8571"/>
            </a:avLst>
          </a:prstGeom>
          <a:solidFill>
            <a:srgbClr val="0C1A2B"/>
          </a:solidFill>
          <a:ln w="9525">
            <a:solidFill>
              <a:srgbClr val="0C1A2B"/>
            </a:solidFill>
            <a:prstDash val="solid"/>
          </a:ln>
          <a:effectLst>
            <a:outerShdw sx="100000" sy="100000" kx="0" ky="0" algn="bl" rotWithShape="0" blurRad="177800" dist="38100" dir="5400000">
              <a:srgbClr val="101C2C">
                <a:alpha val="9000"/>
              </a:srgbClr>
            </a:outerShdw>
          </a:effectLst>
        </p:spPr>
      </p:sp>
      <p:sp>
        <p:nvSpPr>
          <p:cNvPr id="64" name="Text 61"/>
          <p:cNvSpPr/>
          <p:nvPr/>
        </p:nvSpPr>
        <p:spPr>
          <a:xfrm>
            <a:off x="6739128" y="5687568"/>
            <a:ext cx="27432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THE PLAY</a:t>
            </a:r>
            <a:endParaRPr lang="en-US" sz="950" dirty="0"/>
          </a:p>
        </p:txBody>
      </p:sp>
      <p:sp>
        <p:nvSpPr>
          <p:cNvPr id="65" name="Text 62"/>
          <p:cNvSpPr/>
          <p:nvPr/>
        </p:nvSpPr>
        <p:spPr>
          <a:xfrm>
            <a:off x="6739128" y="5907024"/>
            <a:ext cx="4748479" cy="566928"/>
          </a:xfrm>
          <a:prstGeom prst="rect">
            <a:avLst/>
          </a:prstGeom>
          <a:noFill/>
          <a:ln/>
        </p:spPr>
        <p:txBody>
          <a:bodyPr wrap="square" lIns="0" tIns="0" rIns="0" bIns="0" rtlCol="0" anchor="t"/>
          <a:lstStyle/>
          <a:p>
            <a:pPr indent="0" marL="0">
              <a:lnSpc>
                <a:spcPct val="110000"/>
              </a:lnSpc>
              <a:buNone/>
            </a:pPr>
            <a:r>
              <a:rPr lang="en-US" sz="950" dirty="0">
                <a:solidFill>
                  <a:srgbClr val="EEE9E0"/>
                </a:solidFill>
                <a:latin typeface="Nunito Sans" pitchFamily="34" charset="0"/>
                <a:ea typeface="Nunito Sans" pitchFamily="34" charset="-122"/>
                <a:cs typeface="Nunito Sans" pitchFamily="34" charset="-120"/>
              </a:rPr>
              <a:t>Win Guardians with proof → convert their advocacy into the social proof that activates Trusters → ride the combined 56% into default category leadership.</a:t>
            </a:r>
            <a:endParaRPr lang="en-US" sz="950" dirty="0"/>
          </a:p>
        </p:txBody>
      </p:sp>
      <p:sp>
        <p:nvSpPr>
          <p:cNvPr id="66" name="Shape 63"/>
          <p:cNvSpPr/>
          <p:nvPr/>
        </p:nvSpPr>
        <p:spPr>
          <a:xfrm>
            <a:off x="502920" y="6455664"/>
            <a:ext cx="11185855" cy="0"/>
          </a:xfrm>
          <a:prstGeom prst="line">
            <a:avLst/>
          </a:prstGeom>
          <a:noFill/>
          <a:ln w="9525">
            <a:solidFill>
              <a:srgbClr val="E5DCCB"/>
            </a:solidFill>
            <a:prstDash val="solid"/>
          </a:ln>
        </p:spPr>
      </p:sp>
      <p:sp>
        <p:nvSpPr>
          <p:cNvPr id="67" name="Text 64"/>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68" name="Text 6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4.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04</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Brand &amp; Proof</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Turning a back-end quality system into the thing a shopper can actually check.</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The manifesto, the purpose, the positioning</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Farmers in the spotlight, not the certificate</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One standard, four communication deliveries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801368"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801368"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SHELF TODAY</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Every shelf uses a different, often unverifiable claim.</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They contradict each other, none can be checked, and the shopper responds the only way she can — by discounting all of them equally. Generic language does not add trust; it adds noise.</a:t>
            </a:r>
            <a:endParaRPr lang="en-US" sz="1100" dirty="0"/>
          </a:p>
        </p:txBody>
      </p:sp>
      <p:sp>
        <p:nvSpPr>
          <p:cNvPr id="7" name="Text 4"/>
          <p:cNvSpPr/>
          <p:nvPr/>
        </p:nvSpPr>
        <p:spPr>
          <a:xfrm>
            <a:off x="502920" y="212140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CLAIMS ALREADY ON SHELF</a:t>
            </a:r>
            <a:endParaRPr lang="en-US" sz="950" dirty="0"/>
          </a:p>
        </p:txBody>
      </p:sp>
      <p:sp>
        <p:nvSpPr>
          <p:cNvPr id="8" name="Shape 5"/>
          <p:cNvSpPr/>
          <p:nvPr/>
        </p:nvSpPr>
        <p:spPr>
          <a:xfrm>
            <a:off x="502920" y="2432304"/>
            <a:ext cx="1671523" cy="329184"/>
          </a:xfrm>
          <a:prstGeom prst="roundRect">
            <a:avLst>
              <a:gd name="adj" fmla="val 50000"/>
            </a:avLst>
          </a:prstGeom>
          <a:solidFill>
            <a:srgbClr val="FFFFFF"/>
          </a:solidFill>
          <a:ln w="9525">
            <a:solidFill>
              <a:srgbClr val="E5DCCB"/>
            </a:solidFill>
            <a:prstDash val="dash"/>
          </a:ln>
        </p:spPr>
      </p:sp>
      <p:sp>
        <p:nvSpPr>
          <p:cNvPr id="9" name="Text 6"/>
          <p:cNvSpPr/>
          <p:nvPr/>
        </p:nvSpPr>
        <p:spPr>
          <a:xfrm>
            <a:off x="502920" y="2432304"/>
            <a:ext cx="1671523"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Farmer-face labelling</a:t>
            </a:r>
            <a:endParaRPr lang="en-US" sz="900" dirty="0"/>
          </a:p>
        </p:txBody>
      </p:sp>
      <p:sp>
        <p:nvSpPr>
          <p:cNvPr id="10" name="Shape 7"/>
          <p:cNvSpPr/>
          <p:nvPr/>
        </p:nvSpPr>
        <p:spPr>
          <a:xfrm>
            <a:off x="2284171" y="2432304"/>
            <a:ext cx="1298448" cy="329184"/>
          </a:xfrm>
          <a:prstGeom prst="roundRect">
            <a:avLst>
              <a:gd name="adj" fmla="val 50000"/>
            </a:avLst>
          </a:prstGeom>
          <a:solidFill>
            <a:srgbClr val="FFFFFF"/>
          </a:solidFill>
          <a:ln w="9525">
            <a:solidFill>
              <a:srgbClr val="E5DCCB"/>
            </a:solidFill>
            <a:prstDash val="dash"/>
          </a:ln>
        </p:spPr>
      </p:sp>
      <p:sp>
        <p:nvSpPr>
          <p:cNvPr id="11" name="Text 8"/>
          <p:cNvSpPr/>
          <p:nvPr/>
        </p:nvSpPr>
        <p:spPr>
          <a:xfrm>
            <a:off x="2284171" y="2432304"/>
            <a:ext cx="1298448"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Naturally grown</a:t>
            </a:r>
            <a:endParaRPr lang="en-US" sz="900" dirty="0"/>
          </a:p>
        </p:txBody>
      </p:sp>
      <p:sp>
        <p:nvSpPr>
          <p:cNvPr id="12" name="Shape 9"/>
          <p:cNvSpPr/>
          <p:nvPr/>
        </p:nvSpPr>
        <p:spPr>
          <a:xfrm>
            <a:off x="3692347" y="2432304"/>
            <a:ext cx="987552" cy="329184"/>
          </a:xfrm>
          <a:prstGeom prst="roundRect">
            <a:avLst>
              <a:gd name="adj" fmla="val 50000"/>
            </a:avLst>
          </a:prstGeom>
          <a:solidFill>
            <a:srgbClr val="FFFFFF"/>
          </a:solidFill>
          <a:ln w="9525">
            <a:solidFill>
              <a:srgbClr val="E5DCCB"/>
            </a:solidFill>
            <a:prstDash val="dash"/>
          </a:ln>
        </p:spPr>
      </p:sp>
      <p:sp>
        <p:nvSpPr>
          <p:cNvPr id="13" name="Text 10"/>
          <p:cNvSpPr/>
          <p:nvPr/>
        </p:nvSpPr>
        <p:spPr>
          <a:xfrm>
            <a:off x="3692347" y="2432304"/>
            <a:ext cx="987552"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Unpolished</a:t>
            </a:r>
            <a:endParaRPr lang="en-US" sz="900" dirty="0"/>
          </a:p>
        </p:txBody>
      </p:sp>
      <p:sp>
        <p:nvSpPr>
          <p:cNvPr id="14" name="Shape 11"/>
          <p:cNvSpPr/>
          <p:nvPr/>
        </p:nvSpPr>
        <p:spPr>
          <a:xfrm>
            <a:off x="502920" y="2834640"/>
            <a:ext cx="1484986" cy="329184"/>
          </a:xfrm>
          <a:prstGeom prst="roundRect">
            <a:avLst>
              <a:gd name="adj" fmla="val 50000"/>
            </a:avLst>
          </a:prstGeom>
          <a:solidFill>
            <a:srgbClr val="FFFFFF"/>
          </a:solidFill>
          <a:ln w="9525">
            <a:solidFill>
              <a:srgbClr val="E5DCCB"/>
            </a:solidFill>
            <a:prstDash val="dash"/>
          </a:ln>
        </p:spPr>
      </p:sp>
      <p:sp>
        <p:nvSpPr>
          <p:cNvPr id="15" name="Text 12"/>
          <p:cNvSpPr/>
          <p:nvPr/>
        </p:nvSpPr>
        <p:spPr>
          <a:xfrm>
            <a:off x="502920" y="2834640"/>
            <a:ext cx="1484986"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Certification seal</a:t>
            </a:r>
            <a:endParaRPr lang="en-US" sz="900" dirty="0"/>
          </a:p>
        </p:txBody>
      </p:sp>
      <p:sp>
        <p:nvSpPr>
          <p:cNvPr id="16" name="Shape 13"/>
          <p:cNvSpPr/>
          <p:nvPr/>
        </p:nvSpPr>
        <p:spPr>
          <a:xfrm>
            <a:off x="2097634" y="2834640"/>
            <a:ext cx="1484986" cy="329184"/>
          </a:xfrm>
          <a:prstGeom prst="roundRect">
            <a:avLst>
              <a:gd name="adj" fmla="val 50000"/>
            </a:avLst>
          </a:prstGeom>
          <a:solidFill>
            <a:srgbClr val="FFFFFF"/>
          </a:solidFill>
          <a:ln w="9525">
            <a:solidFill>
              <a:srgbClr val="E5DCCB"/>
            </a:solidFill>
            <a:prstDash val="dash"/>
          </a:ln>
        </p:spPr>
      </p:sp>
      <p:sp>
        <p:nvSpPr>
          <p:cNvPr id="17" name="Text 14"/>
          <p:cNvSpPr/>
          <p:nvPr/>
        </p:nvSpPr>
        <p:spPr>
          <a:xfrm>
            <a:off x="2097634" y="2834640"/>
            <a:ext cx="1484986"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Direct from farmer</a:t>
            </a:r>
            <a:endParaRPr lang="en-US" sz="900" dirty="0"/>
          </a:p>
        </p:txBody>
      </p:sp>
      <p:sp>
        <p:nvSpPr>
          <p:cNvPr id="18" name="Shape 15"/>
          <p:cNvSpPr/>
          <p:nvPr/>
        </p:nvSpPr>
        <p:spPr>
          <a:xfrm>
            <a:off x="3692347" y="2834640"/>
            <a:ext cx="1111910" cy="329184"/>
          </a:xfrm>
          <a:prstGeom prst="roundRect">
            <a:avLst>
              <a:gd name="adj" fmla="val 50000"/>
            </a:avLst>
          </a:prstGeom>
          <a:solidFill>
            <a:srgbClr val="FFFFFF"/>
          </a:solidFill>
          <a:ln w="9525">
            <a:solidFill>
              <a:srgbClr val="E5DCCB"/>
            </a:solidFill>
            <a:prstDash val="dash"/>
          </a:ln>
        </p:spPr>
      </p:sp>
      <p:sp>
        <p:nvSpPr>
          <p:cNvPr id="19" name="Text 16"/>
          <p:cNvSpPr/>
          <p:nvPr/>
        </p:nvSpPr>
        <p:spPr>
          <a:xfrm>
            <a:off x="3692347" y="2834640"/>
            <a:ext cx="1111910"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100% Natural</a:t>
            </a:r>
            <a:endParaRPr lang="en-US" sz="900" dirty="0"/>
          </a:p>
        </p:txBody>
      </p:sp>
      <p:sp>
        <p:nvSpPr>
          <p:cNvPr id="20" name="Shape 17"/>
          <p:cNvSpPr/>
          <p:nvPr/>
        </p:nvSpPr>
        <p:spPr>
          <a:xfrm>
            <a:off x="502920" y="3236976"/>
            <a:ext cx="1547165" cy="329184"/>
          </a:xfrm>
          <a:prstGeom prst="roundRect">
            <a:avLst>
              <a:gd name="adj" fmla="val 50000"/>
            </a:avLst>
          </a:prstGeom>
          <a:solidFill>
            <a:srgbClr val="FFFFFF"/>
          </a:solidFill>
          <a:ln w="9525">
            <a:solidFill>
              <a:srgbClr val="E5DCCB"/>
            </a:solidFill>
            <a:prstDash val="dash"/>
          </a:ln>
        </p:spPr>
      </p:sp>
      <p:sp>
        <p:nvSpPr>
          <p:cNvPr id="21" name="Text 18"/>
          <p:cNvSpPr/>
          <p:nvPr/>
        </p:nvSpPr>
        <p:spPr>
          <a:xfrm>
            <a:off x="502920" y="3236976"/>
            <a:ext cx="1547165"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Personal provenance</a:t>
            </a:r>
            <a:endParaRPr lang="en-US" sz="900" dirty="0"/>
          </a:p>
        </p:txBody>
      </p:sp>
      <p:sp>
        <p:nvSpPr>
          <p:cNvPr id="22" name="Shape 19"/>
          <p:cNvSpPr/>
          <p:nvPr/>
        </p:nvSpPr>
        <p:spPr>
          <a:xfrm>
            <a:off x="2159813" y="3236976"/>
            <a:ext cx="1174090" cy="329184"/>
          </a:xfrm>
          <a:prstGeom prst="roundRect">
            <a:avLst>
              <a:gd name="adj" fmla="val 50000"/>
            </a:avLst>
          </a:prstGeom>
          <a:solidFill>
            <a:srgbClr val="FFFFFF"/>
          </a:solidFill>
          <a:ln w="9525">
            <a:solidFill>
              <a:srgbClr val="E5DCCB"/>
            </a:solidFill>
            <a:prstDash val="dash"/>
          </a:ln>
        </p:spPr>
      </p:sp>
      <p:sp>
        <p:nvSpPr>
          <p:cNvPr id="23" name="Text 20"/>
          <p:cNvSpPr/>
          <p:nvPr/>
        </p:nvSpPr>
        <p:spPr>
          <a:xfrm>
            <a:off x="2159813" y="3236976"/>
            <a:ext cx="1174090"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Chemical-free</a:t>
            </a:r>
            <a:endParaRPr lang="en-US" sz="900" dirty="0"/>
          </a:p>
        </p:txBody>
      </p:sp>
      <p:sp>
        <p:nvSpPr>
          <p:cNvPr id="24" name="Shape 21"/>
          <p:cNvSpPr/>
          <p:nvPr/>
        </p:nvSpPr>
        <p:spPr>
          <a:xfrm>
            <a:off x="3443630" y="3236976"/>
            <a:ext cx="987552" cy="329184"/>
          </a:xfrm>
          <a:prstGeom prst="roundRect">
            <a:avLst>
              <a:gd name="adj" fmla="val 50000"/>
            </a:avLst>
          </a:prstGeom>
          <a:solidFill>
            <a:srgbClr val="FFFFFF"/>
          </a:solidFill>
          <a:ln w="9525">
            <a:solidFill>
              <a:srgbClr val="E5DCCB"/>
            </a:solidFill>
            <a:prstDash val="dash"/>
          </a:ln>
        </p:spPr>
      </p:sp>
      <p:sp>
        <p:nvSpPr>
          <p:cNvPr id="25" name="Text 22"/>
          <p:cNvSpPr/>
          <p:nvPr/>
        </p:nvSpPr>
        <p:spPr>
          <a:xfrm>
            <a:off x="3443630" y="3236976"/>
            <a:ext cx="987552"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Farm fresh</a:t>
            </a:r>
            <a:endParaRPr lang="en-US" sz="900" dirty="0"/>
          </a:p>
        </p:txBody>
      </p:sp>
      <p:sp>
        <p:nvSpPr>
          <p:cNvPr id="26" name="Text 23"/>
          <p:cNvSpPr/>
          <p:nvPr/>
        </p:nvSpPr>
        <p:spPr>
          <a:xfrm>
            <a:off x="502920" y="3803904"/>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SAME CLAIMS, ON THE SAME AISLE</a:t>
            </a:r>
            <a:endParaRPr lang="en-US" sz="950" dirty="0"/>
          </a:p>
        </p:txBody>
      </p:sp>
      <p:pic>
        <p:nvPicPr>
          <p:cNvPr id="27" name="Image 1" descr="/home/user/hopper-tessarakt/site/assets/shelf-jars.jpg">    </p:cNvPr>
          <p:cNvPicPr>
            <a:picLocks noChangeAspect="1"/>
          </p:cNvPicPr>
          <p:nvPr/>
        </p:nvPicPr>
        <p:blipFill>
          <a:blip r:embed="rId2"/>
          <a:srcRect l="0" r="0" t="0" b="0"/>
          <a:stretch/>
        </p:blipFill>
        <p:spPr>
          <a:xfrm>
            <a:off x="502920" y="4078224"/>
            <a:ext cx="1316736" cy="868680"/>
          </a:xfrm>
          <a:prstGeom prst="rect">
            <a:avLst/>
          </a:prstGeom>
        </p:spPr>
      </p:pic>
      <p:pic>
        <p:nvPicPr>
          <p:cNvPr id="28" name="Image 2" descr="/home/user/hopper-tessarakt/site/assets/shelf-poha.jpg">    </p:cNvPr>
          <p:cNvPicPr>
            <a:picLocks noChangeAspect="1"/>
          </p:cNvPicPr>
          <p:nvPr/>
        </p:nvPicPr>
        <p:blipFill>
          <a:blip r:embed="rId3"/>
          <a:srcRect l="0" r="0" t="0" b="0"/>
          <a:stretch/>
        </p:blipFill>
        <p:spPr>
          <a:xfrm>
            <a:off x="1947672" y="4078224"/>
            <a:ext cx="1316736" cy="868680"/>
          </a:xfrm>
          <a:prstGeom prst="rect">
            <a:avLst/>
          </a:prstGeom>
        </p:spPr>
      </p:pic>
      <p:pic>
        <p:nvPicPr>
          <p:cNvPr id="29" name="Image 3" descr="/home/user/hopper-tessarakt/site/assets/shelf-twobrothers.jpg">    </p:cNvPr>
          <p:cNvPicPr>
            <a:picLocks noChangeAspect="1"/>
          </p:cNvPicPr>
          <p:nvPr/>
        </p:nvPicPr>
        <p:blipFill>
          <a:blip r:embed="rId4"/>
          <a:srcRect l="0" r="0" t="0" b="0"/>
          <a:stretch/>
        </p:blipFill>
        <p:spPr>
          <a:xfrm>
            <a:off x="3392424" y="4078224"/>
            <a:ext cx="1316736" cy="868680"/>
          </a:xfrm>
          <a:prstGeom prst="rect">
            <a:avLst/>
          </a:prstGeom>
        </p:spPr>
      </p:pic>
      <p:pic>
        <p:nvPicPr>
          <p:cNvPr id="30" name="Image 4" descr="/home/user/hopper-tessarakt/site/assets/shelf-tribalveda.jpg">    </p:cNvPr>
          <p:cNvPicPr>
            <a:picLocks noChangeAspect="1"/>
          </p:cNvPicPr>
          <p:nvPr/>
        </p:nvPicPr>
        <p:blipFill>
          <a:blip r:embed="rId5"/>
          <a:srcRect l="0" r="0" t="0" b="0"/>
          <a:stretch/>
        </p:blipFill>
        <p:spPr>
          <a:xfrm>
            <a:off x="4837176" y="4078224"/>
            <a:ext cx="1316736" cy="868680"/>
          </a:xfrm>
          <a:prstGeom prst="rect">
            <a:avLst/>
          </a:prstGeom>
        </p:spPr>
      </p:pic>
      <p:sp>
        <p:nvSpPr>
          <p:cNvPr id="31" name="Shape 24"/>
          <p:cNvSpPr/>
          <p:nvPr/>
        </p:nvSpPr>
        <p:spPr>
          <a:xfrm>
            <a:off x="502920" y="5120640"/>
            <a:ext cx="5669280" cy="749808"/>
          </a:xfrm>
          <a:prstGeom prst="roundRect">
            <a:avLst>
              <a:gd name="adj" fmla="val 10976"/>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32" name="Text 25"/>
          <p:cNvSpPr/>
          <p:nvPr/>
        </p:nvSpPr>
        <p:spPr>
          <a:xfrm>
            <a:off x="704088" y="5239512"/>
            <a:ext cx="5266944"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DHF's edge is specific.</a:t>
            </a:r>
            <a:endParaRPr lang="en-US" sz="1050" dirty="0"/>
          </a:p>
        </p:txBody>
      </p:sp>
      <p:sp>
        <p:nvSpPr>
          <p:cNvPr id="33" name="Text 26"/>
          <p:cNvSpPr/>
          <p:nvPr/>
        </p:nvSpPr>
        <p:spPr>
          <a:xfrm>
            <a:off x="704088" y="5486400"/>
            <a:ext cx="5266944" cy="29260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Not another adjective — a verifiable proof mechanism: a QR code, a batch, and a lab result the shopper can open in three seconds.</a:t>
            </a:r>
            <a:endParaRPr lang="en-US" sz="900" dirty="0"/>
          </a:p>
        </p:txBody>
      </p:sp>
      <p:sp>
        <p:nvSpPr>
          <p:cNvPr id="34" name="Text 27"/>
          <p:cNvSpPr/>
          <p:nvPr/>
        </p:nvSpPr>
        <p:spPr>
          <a:xfrm>
            <a:off x="6537960" y="2121408"/>
            <a:ext cx="515081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MEDIA IS BUILDING THE CASE FOR VERIFIED PROOF</a:t>
            </a:r>
            <a:endParaRPr lang="en-US" sz="950" dirty="0"/>
          </a:p>
        </p:txBody>
      </p:sp>
      <p:pic>
        <p:nvPicPr>
          <p:cNvPr id="35" name="Image 5" descr="/home/user/hopper-tessarakt/site/assets/news-ndtv.jpg">    </p:cNvPr>
          <p:cNvPicPr>
            <a:picLocks noChangeAspect="1"/>
          </p:cNvPicPr>
          <p:nvPr/>
        </p:nvPicPr>
        <p:blipFill>
          <a:blip r:embed="rId6"/>
          <a:srcRect l="0" r="0" t="0" b="0"/>
          <a:stretch/>
        </p:blipFill>
        <p:spPr>
          <a:xfrm>
            <a:off x="6537960" y="2432304"/>
            <a:ext cx="1595018" cy="960120"/>
          </a:xfrm>
          <a:prstGeom prst="rect">
            <a:avLst/>
          </a:prstGeom>
        </p:spPr>
      </p:pic>
      <p:sp>
        <p:nvSpPr>
          <p:cNvPr id="36" name="Text 28"/>
          <p:cNvSpPr/>
          <p:nvPr/>
        </p:nvSpPr>
        <p:spPr>
          <a:xfrm>
            <a:off x="6537960" y="34198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Market growth, affordability gap</a:t>
            </a:r>
            <a:endParaRPr lang="en-US" sz="750" dirty="0"/>
          </a:p>
        </p:txBody>
      </p:sp>
      <p:pic>
        <p:nvPicPr>
          <p:cNvPr id="37" name="Image 6" descr="/home/user/hopper-tessarakt/site/assets/news-ccpa.jpg">    </p:cNvPr>
          <p:cNvPicPr>
            <a:picLocks noChangeAspect="1"/>
          </p:cNvPicPr>
          <p:nvPr/>
        </p:nvPicPr>
        <p:blipFill>
          <a:blip r:embed="rId7"/>
          <a:srcRect l="0" r="0" t="0" b="0"/>
          <a:stretch/>
        </p:blipFill>
        <p:spPr>
          <a:xfrm>
            <a:off x="8315858" y="2432304"/>
            <a:ext cx="1595018" cy="960120"/>
          </a:xfrm>
          <a:prstGeom prst="rect">
            <a:avLst/>
          </a:prstGeom>
        </p:spPr>
      </p:pic>
      <p:sp>
        <p:nvSpPr>
          <p:cNvPr id="38" name="Text 29"/>
          <p:cNvSpPr/>
          <p:nvPr/>
        </p:nvSpPr>
        <p:spPr>
          <a:xfrm>
            <a:off x="8315858" y="34198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Regulatory crackdown</a:t>
            </a:r>
            <a:endParaRPr lang="en-US" sz="750" dirty="0"/>
          </a:p>
        </p:txBody>
      </p:sp>
      <p:pic>
        <p:nvPicPr>
          <p:cNvPr id="39" name="Image 7" descr="/home/user/hopper-tessarakt/site/assets/news-b.jpg">    </p:cNvPr>
          <p:cNvPicPr>
            <a:picLocks noChangeAspect="1"/>
          </p:cNvPicPr>
          <p:nvPr/>
        </p:nvPicPr>
        <p:blipFill>
          <a:blip r:embed="rId8"/>
          <a:srcRect l="0" r="0" t="0" b="0"/>
          <a:stretch/>
        </p:blipFill>
        <p:spPr>
          <a:xfrm>
            <a:off x="10093757" y="2432304"/>
            <a:ext cx="1595018" cy="960120"/>
          </a:xfrm>
          <a:prstGeom prst="rect">
            <a:avLst/>
          </a:prstGeom>
        </p:spPr>
      </p:pic>
      <p:sp>
        <p:nvSpPr>
          <p:cNvPr id="40" name="Text 30"/>
          <p:cNvSpPr/>
          <p:nvPr/>
        </p:nvSpPr>
        <p:spPr>
          <a:xfrm>
            <a:off x="10093757" y="34198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Pesticide safety alarm</a:t>
            </a:r>
            <a:endParaRPr lang="en-US" sz="750" dirty="0"/>
          </a:p>
        </p:txBody>
      </p:sp>
      <p:pic>
        <p:nvPicPr>
          <p:cNvPr id="41" name="Image 8" descr="/home/user/hopper-tessarakt/site/assets/news-3.jpg">    </p:cNvPr>
          <p:cNvPicPr>
            <a:picLocks noChangeAspect="1"/>
          </p:cNvPicPr>
          <p:nvPr/>
        </p:nvPicPr>
        <p:blipFill>
          <a:blip r:embed="rId9"/>
          <a:srcRect l="0" r="0" t="0" b="0"/>
          <a:stretch/>
        </p:blipFill>
        <p:spPr>
          <a:xfrm>
            <a:off x="6537960" y="3895344"/>
            <a:ext cx="1595018" cy="960120"/>
          </a:xfrm>
          <a:prstGeom prst="rect">
            <a:avLst/>
          </a:prstGeom>
        </p:spPr>
      </p:pic>
      <p:sp>
        <p:nvSpPr>
          <p:cNvPr id="42" name="Text 31"/>
          <p:cNvSpPr/>
          <p:nvPr/>
        </p:nvSpPr>
        <p:spPr>
          <a:xfrm>
            <a:off x="6537960" y="488289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Policy &amp; certification</a:t>
            </a:r>
            <a:endParaRPr lang="en-US" sz="750" dirty="0"/>
          </a:p>
        </p:txBody>
      </p:sp>
      <p:pic>
        <p:nvPicPr>
          <p:cNvPr id="43" name="Image 9" descr="/home/user/hopper-tessarakt/site/assets/news-c.jpg">    </p:cNvPr>
          <p:cNvPicPr>
            <a:picLocks noChangeAspect="1"/>
          </p:cNvPicPr>
          <p:nvPr/>
        </p:nvPicPr>
        <p:blipFill>
          <a:blip r:embed="rId10"/>
          <a:srcRect l="0" r="0" t="0" b="0"/>
          <a:stretch/>
        </p:blipFill>
        <p:spPr>
          <a:xfrm>
            <a:off x="8315858" y="3895344"/>
            <a:ext cx="1595018" cy="960120"/>
          </a:xfrm>
          <a:prstGeom prst="rect">
            <a:avLst/>
          </a:prstGeom>
        </p:spPr>
      </p:pic>
      <p:sp>
        <p:nvSpPr>
          <p:cNvPr id="44" name="Text 32"/>
          <p:cNvSpPr/>
          <p:nvPr/>
        </p:nvSpPr>
        <p:spPr>
          <a:xfrm>
            <a:off x="8315858" y="488289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Celebrity &amp; consumer validation</a:t>
            </a:r>
            <a:endParaRPr lang="en-US" sz="750" dirty="0"/>
          </a:p>
        </p:txBody>
      </p:sp>
      <p:pic>
        <p:nvPicPr>
          <p:cNvPr id="45" name="Image 10" descr="/home/user/hopper-tessarakt/site/assets/news-2.jpg">    </p:cNvPr>
          <p:cNvPicPr>
            <a:picLocks noChangeAspect="1"/>
          </p:cNvPicPr>
          <p:nvPr/>
        </p:nvPicPr>
        <p:blipFill>
          <a:blip r:embed="rId11"/>
          <a:srcRect l="0" r="0" t="0" b="0"/>
          <a:stretch/>
        </p:blipFill>
        <p:spPr>
          <a:xfrm>
            <a:off x="10093757" y="3895344"/>
            <a:ext cx="1595018" cy="960120"/>
          </a:xfrm>
          <a:prstGeom prst="rect">
            <a:avLst/>
          </a:prstGeom>
        </p:spPr>
      </p:pic>
      <p:sp>
        <p:nvSpPr>
          <p:cNvPr id="46" name="Text 33"/>
          <p:cNvSpPr/>
          <p:nvPr/>
        </p:nvSpPr>
        <p:spPr>
          <a:xfrm>
            <a:off x="10093757" y="488289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The case for verified proof</a:t>
            </a:r>
            <a:endParaRPr lang="en-US" sz="750" dirty="0"/>
          </a:p>
        </p:txBody>
      </p:sp>
      <p:sp>
        <p:nvSpPr>
          <p:cNvPr id="47" name="Shape 34"/>
          <p:cNvSpPr/>
          <p:nvPr/>
        </p:nvSpPr>
        <p:spPr>
          <a:xfrm>
            <a:off x="502920" y="6455664"/>
            <a:ext cx="11185855" cy="0"/>
          </a:xfrm>
          <a:prstGeom prst="line">
            <a:avLst/>
          </a:prstGeom>
          <a:noFill/>
          <a:ln w="9525">
            <a:solidFill>
              <a:srgbClr val="E5DCCB"/>
            </a:solidFill>
            <a:prstDash val="solid"/>
          </a:ln>
        </p:spPr>
      </p:sp>
      <p:sp>
        <p:nvSpPr>
          <p:cNvPr id="48" name="Text 35"/>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49" name="Text 3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20</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panel-spices.jpg">    </p:cNvPr>
          <p:cNvPicPr>
            <a:picLocks noChangeAspect="1"/>
          </p:cNvPicPr>
          <p:nvPr/>
        </p:nvPicPr>
        <p:blipFill>
          <a:blip r:embed="rId1"/>
          <a:stretch>
            <a:fillRect/>
          </a:stretch>
        </p:blipFill>
        <p:spPr>
          <a:xfrm>
            <a:off x="8412480" y="0"/>
            <a:ext cx="3779215" cy="6858000"/>
          </a:xfrm>
          <a:prstGeom prst="rect">
            <a:avLst/>
          </a:prstGeom>
        </p:spPr>
      </p:pic>
      <p:sp>
        <p:nvSpPr>
          <p:cNvPr id="3" name="Shape 0"/>
          <p:cNvSpPr/>
          <p:nvPr/>
        </p:nvSpPr>
        <p:spPr>
          <a:xfrm>
            <a:off x="502920" y="310896"/>
            <a:ext cx="1801368" cy="274320"/>
          </a:xfrm>
          <a:prstGeom prst="roundRect">
            <a:avLst>
              <a:gd name="adj" fmla="val 23333"/>
            </a:avLst>
          </a:prstGeom>
          <a:solidFill>
            <a:srgbClr val="5FC28C"/>
          </a:solidFill>
          <a:ln w="12700">
            <a:solidFill>
              <a:srgbClr val="333333"/>
            </a:solidFill>
            <a:prstDash val="solid"/>
          </a:ln>
        </p:spPr>
      </p:sp>
      <p:sp>
        <p:nvSpPr>
          <p:cNvPr id="4" name="Text 1"/>
          <p:cNvSpPr/>
          <p:nvPr/>
        </p:nvSpPr>
        <p:spPr>
          <a:xfrm>
            <a:off x="502920" y="310896"/>
            <a:ext cx="1801368" cy="274320"/>
          </a:xfrm>
          <a:prstGeom prst="rect">
            <a:avLst/>
          </a:prstGeom>
          <a:noFill/>
          <a:ln/>
        </p:spPr>
        <p:txBody>
          <a:bodyPr wrap="square" lIns="0" tIns="0" rIns="0" bIns="0" rtlCol="0" anchor="ctr"/>
          <a:lstStyle/>
          <a:p>
            <a:pPr algn="ctr" indent="0" marL="0">
              <a:buNone/>
            </a:pPr>
            <a:r>
              <a:rPr lang="en-US" sz="900" b="1" spc="160" kern="0" dirty="0">
                <a:solidFill>
                  <a:srgbClr val="0C1A2B"/>
                </a:solidFill>
                <a:latin typeface="Nunito Sans" pitchFamily="34" charset="0"/>
                <a:ea typeface="Nunito Sans" pitchFamily="34" charset="-122"/>
                <a:cs typeface="Nunito Sans" pitchFamily="34" charset="-120"/>
              </a:rPr>
              <a:t>BRAND MANIFESTO</a:t>
            </a:r>
            <a:endParaRPr lang="en-US" sz="900" dirty="0"/>
          </a:p>
        </p:txBody>
      </p:sp>
      <p:pic>
        <p:nvPicPr>
          <p:cNvPr id="5" name="Image 1" descr="/home/user/hopper-tessarakt/site/assets/logo.png">    </p:cNvPr>
          <p:cNvPicPr>
            <a:picLocks noChangeAspect="1"/>
          </p:cNvPicPr>
          <p:nvPr/>
        </p:nvPicPr>
        <p:blipFill>
          <a:blip r:embed="rId2"/>
          <a:stretch>
            <a:fillRect/>
          </a:stretch>
        </p:blipFill>
        <p:spPr>
          <a:xfrm>
            <a:off x="10545775" y="292608"/>
            <a:ext cx="1143000" cy="420624"/>
          </a:xfrm>
          <a:prstGeom prst="rect">
            <a:avLst/>
          </a:prstGeom>
        </p:spPr>
      </p:pic>
      <p:sp>
        <p:nvSpPr>
          <p:cNvPr id="6" name="Text 2"/>
          <p:cNvSpPr/>
          <p:nvPr/>
        </p:nvSpPr>
        <p:spPr>
          <a:xfrm>
            <a:off x="502920" y="658368"/>
            <a:ext cx="7315200" cy="777240"/>
          </a:xfrm>
          <a:prstGeom prst="rect">
            <a:avLst/>
          </a:prstGeom>
          <a:noFill/>
          <a:ln/>
        </p:spPr>
        <p:txBody>
          <a:bodyPr wrap="square" lIns="0" tIns="0" rIns="0" bIns="0" rtlCol="0" anchor="t"/>
          <a:lstStyle/>
          <a:p>
            <a:pPr indent="0" marL="0">
              <a:lnSpc>
                <a:spcPct val="102000"/>
              </a:lnSpc>
              <a:buNone/>
            </a:pPr>
            <a:r>
              <a:rPr lang="en-US" sz="3400" dirty="0">
                <a:solidFill>
                  <a:srgbClr val="FFFFFF"/>
                </a:solidFill>
                <a:latin typeface="Archivo Black" pitchFamily="34" charset="0"/>
                <a:ea typeface="Archivo Black" pitchFamily="34" charset="-122"/>
                <a:cs typeface="Archivo Black" pitchFamily="34" charset="-120"/>
              </a:rPr>
              <a:t>We believe</a:t>
            </a:r>
            <a:endParaRPr lang="en-US" sz="3400" dirty="0"/>
          </a:p>
        </p:txBody>
      </p:sp>
      <p:sp>
        <p:nvSpPr>
          <p:cNvPr id="7" name="Text 3"/>
          <p:cNvSpPr/>
          <p:nvPr/>
        </p:nvSpPr>
        <p:spPr>
          <a:xfrm>
            <a:off x="502920" y="1545336"/>
            <a:ext cx="6949440" cy="960120"/>
          </a:xfrm>
          <a:prstGeom prst="rect">
            <a:avLst/>
          </a:prstGeom>
          <a:noFill/>
          <a:ln/>
        </p:spPr>
        <p:txBody>
          <a:bodyPr wrap="square" lIns="0" tIns="0" rIns="0" bIns="0" rtlCol="0" anchor="t"/>
          <a:lstStyle/>
          <a:p>
            <a:pPr indent="0" marL="0">
              <a:lnSpc>
                <a:spcPct val="116000"/>
              </a:lnSpc>
              <a:buNone/>
            </a:pPr>
            <a:r>
              <a:rPr lang="en-US" sz="1500" dirty="0">
                <a:solidFill>
                  <a:srgbClr val="EEE9E0"/>
                </a:solidFill>
                <a:latin typeface="Nunito Sans" pitchFamily="34" charset="0"/>
                <a:ea typeface="Nunito Sans" pitchFamily="34" charset="-122"/>
                <a:cs typeface="Nunito Sans" pitchFamily="34" charset="-120"/>
              </a:rPr>
              <a:t>The future of food isn't claimed on a label; it's proven in the field. Every seed we recommend, every practice we track, and every farmer we name is how we turn honesty into something you can verify, not just believe.</a:t>
            </a:r>
            <a:endParaRPr lang="en-US" sz="1500" dirty="0"/>
          </a:p>
        </p:txBody>
      </p:sp>
      <p:sp>
        <p:nvSpPr>
          <p:cNvPr id="8" name="Text 4"/>
          <p:cNvSpPr/>
          <p:nvPr/>
        </p:nvSpPr>
        <p:spPr>
          <a:xfrm>
            <a:off x="502920" y="2642616"/>
            <a:ext cx="36576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WE STAND FOR</a:t>
            </a:r>
            <a:endParaRPr lang="en-US" sz="950" dirty="0"/>
          </a:p>
        </p:txBody>
      </p:sp>
      <p:sp>
        <p:nvSpPr>
          <p:cNvPr id="9" name="Shape 5"/>
          <p:cNvSpPr/>
          <p:nvPr/>
        </p:nvSpPr>
        <p:spPr>
          <a:xfrm>
            <a:off x="502920" y="2935224"/>
            <a:ext cx="2170176" cy="1060704"/>
          </a:xfrm>
          <a:prstGeom prst="roundRect">
            <a:avLst>
              <a:gd name="adj" fmla="val 6897"/>
            </a:avLst>
          </a:prstGeom>
          <a:solidFill>
            <a:srgbClr val="17304A"/>
          </a:solidFill>
          <a:ln w="9525">
            <a:solidFill>
              <a:srgbClr val="2E5470"/>
            </a:solidFill>
            <a:prstDash val="solid"/>
          </a:ln>
        </p:spPr>
      </p:sp>
      <p:sp>
        <p:nvSpPr>
          <p:cNvPr id="10" name="Text 6"/>
          <p:cNvSpPr/>
          <p:nvPr/>
        </p:nvSpPr>
        <p:spPr>
          <a:xfrm>
            <a:off x="649224" y="302666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Resilience</a:t>
            </a:r>
            <a:endParaRPr lang="en-US" sz="950" dirty="0"/>
          </a:p>
        </p:txBody>
      </p:sp>
      <p:sp>
        <p:nvSpPr>
          <p:cNvPr id="11" name="Text 7"/>
          <p:cNvSpPr/>
          <p:nvPr/>
        </p:nvSpPr>
        <p:spPr>
          <a:xfrm>
            <a:off x="649224" y="335584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We meet uncertainty with patience and grit, learning from the land and adapting so farmers can thrive through seasons and shocks.</a:t>
            </a:r>
            <a:endParaRPr lang="en-US" sz="750" dirty="0"/>
          </a:p>
        </p:txBody>
      </p:sp>
      <p:sp>
        <p:nvSpPr>
          <p:cNvPr id="12" name="Shape 8"/>
          <p:cNvSpPr/>
          <p:nvPr/>
        </p:nvSpPr>
        <p:spPr>
          <a:xfrm>
            <a:off x="2892552" y="2935224"/>
            <a:ext cx="2170176" cy="1060704"/>
          </a:xfrm>
          <a:prstGeom prst="roundRect">
            <a:avLst>
              <a:gd name="adj" fmla="val 6897"/>
            </a:avLst>
          </a:prstGeom>
          <a:solidFill>
            <a:srgbClr val="17304A"/>
          </a:solidFill>
          <a:ln w="9525">
            <a:solidFill>
              <a:srgbClr val="2E5470"/>
            </a:solidFill>
            <a:prstDash val="solid"/>
          </a:ln>
        </p:spPr>
      </p:sp>
      <p:sp>
        <p:nvSpPr>
          <p:cNvPr id="13" name="Text 9"/>
          <p:cNvSpPr/>
          <p:nvPr/>
        </p:nvSpPr>
        <p:spPr>
          <a:xfrm>
            <a:off x="3038856" y="302666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Integrity</a:t>
            </a:r>
            <a:endParaRPr lang="en-US" sz="950" dirty="0"/>
          </a:p>
        </p:txBody>
      </p:sp>
      <p:sp>
        <p:nvSpPr>
          <p:cNvPr id="14" name="Text 10"/>
          <p:cNvSpPr/>
          <p:nvPr/>
        </p:nvSpPr>
        <p:spPr>
          <a:xfrm>
            <a:off x="3038856" y="335584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Transparency is a mechanism, not a promise to be broken. You can check batch data, farmer names and practices.</a:t>
            </a:r>
            <a:endParaRPr lang="en-US" sz="750" dirty="0"/>
          </a:p>
        </p:txBody>
      </p:sp>
      <p:sp>
        <p:nvSpPr>
          <p:cNvPr id="15" name="Shape 11"/>
          <p:cNvSpPr/>
          <p:nvPr/>
        </p:nvSpPr>
        <p:spPr>
          <a:xfrm>
            <a:off x="5282184" y="2935224"/>
            <a:ext cx="2170176" cy="1060704"/>
          </a:xfrm>
          <a:prstGeom prst="roundRect">
            <a:avLst>
              <a:gd name="adj" fmla="val 6897"/>
            </a:avLst>
          </a:prstGeom>
          <a:solidFill>
            <a:srgbClr val="17304A"/>
          </a:solidFill>
          <a:ln w="9525">
            <a:solidFill>
              <a:srgbClr val="2E5470"/>
            </a:solidFill>
            <a:prstDash val="solid"/>
          </a:ln>
        </p:spPr>
      </p:sp>
      <p:sp>
        <p:nvSpPr>
          <p:cNvPr id="16" name="Text 12"/>
          <p:cNvSpPr/>
          <p:nvPr/>
        </p:nvSpPr>
        <p:spPr>
          <a:xfrm>
            <a:off x="5428488" y="302666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Simplicity</a:t>
            </a:r>
            <a:endParaRPr lang="en-US" sz="950" dirty="0"/>
          </a:p>
        </p:txBody>
      </p:sp>
      <p:sp>
        <p:nvSpPr>
          <p:cNvPr id="17" name="Text 13"/>
          <p:cNvSpPr/>
          <p:nvPr/>
        </p:nvSpPr>
        <p:spPr>
          <a:xfrm>
            <a:off x="5428488" y="335584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We turn complex agri-data into one clear signal, so farmers can act with confidence and consumers can trust what they see instantly.</a:t>
            </a:r>
            <a:endParaRPr lang="en-US" sz="750" dirty="0"/>
          </a:p>
        </p:txBody>
      </p:sp>
      <p:sp>
        <p:nvSpPr>
          <p:cNvPr id="18" name="Shape 14"/>
          <p:cNvSpPr/>
          <p:nvPr/>
        </p:nvSpPr>
        <p:spPr>
          <a:xfrm>
            <a:off x="502920" y="4105656"/>
            <a:ext cx="2170176" cy="1060704"/>
          </a:xfrm>
          <a:prstGeom prst="roundRect">
            <a:avLst>
              <a:gd name="adj" fmla="val 6897"/>
            </a:avLst>
          </a:prstGeom>
          <a:solidFill>
            <a:srgbClr val="17304A"/>
          </a:solidFill>
          <a:ln w="9525">
            <a:solidFill>
              <a:srgbClr val="2E5470"/>
            </a:solidFill>
            <a:prstDash val="solid"/>
          </a:ln>
        </p:spPr>
      </p:sp>
      <p:sp>
        <p:nvSpPr>
          <p:cNvPr id="19" name="Text 15"/>
          <p:cNvSpPr/>
          <p:nvPr/>
        </p:nvSpPr>
        <p:spPr>
          <a:xfrm>
            <a:off x="649224" y="419709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Progress</a:t>
            </a:r>
            <a:endParaRPr lang="en-US" sz="950" dirty="0"/>
          </a:p>
        </p:txBody>
      </p:sp>
      <p:sp>
        <p:nvSpPr>
          <p:cNvPr id="20" name="Text 16"/>
          <p:cNvSpPr/>
          <p:nvPr/>
        </p:nvSpPr>
        <p:spPr>
          <a:xfrm>
            <a:off x="649224" y="452628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Not progress for its own sake, but progress powered by DeHaat's own agri-tech, in service of tradition — not instead of it.</a:t>
            </a:r>
            <a:endParaRPr lang="en-US" sz="750" dirty="0"/>
          </a:p>
        </p:txBody>
      </p:sp>
      <p:sp>
        <p:nvSpPr>
          <p:cNvPr id="21" name="Shape 17"/>
          <p:cNvSpPr/>
          <p:nvPr/>
        </p:nvSpPr>
        <p:spPr>
          <a:xfrm>
            <a:off x="2892552" y="4105656"/>
            <a:ext cx="2170176" cy="1060704"/>
          </a:xfrm>
          <a:prstGeom prst="roundRect">
            <a:avLst>
              <a:gd name="adj" fmla="val 6897"/>
            </a:avLst>
          </a:prstGeom>
          <a:solidFill>
            <a:srgbClr val="17304A"/>
          </a:solidFill>
          <a:ln w="9525">
            <a:solidFill>
              <a:srgbClr val="2E5470"/>
            </a:solidFill>
            <a:prstDash val="solid"/>
          </a:ln>
        </p:spPr>
      </p:sp>
      <p:sp>
        <p:nvSpPr>
          <p:cNvPr id="22" name="Text 18"/>
          <p:cNvSpPr/>
          <p:nvPr/>
        </p:nvSpPr>
        <p:spPr>
          <a:xfrm>
            <a:off x="3038856" y="419709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Education &amp; empowerment</a:t>
            </a:r>
            <a:endParaRPr lang="en-US" sz="950" dirty="0"/>
          </a:p>
        </p:txBody>
      </p:sp>
      <p:sp>
        <p:nvSpPr>
          <p:cNvPr id="23" name="Text 19"/>
          <p:cNvSpPr/>
          <p:nvPr/>
        </p:nvSpPr>
        <p:spPr>
          <a:xfrm>
            <a:off x="3038856" y="452628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We bridge Krishi wisdom and modern methods, so farming becomes more productive, profitable and sustainable.</a:t>
            </a:r>
            <a:endParaRPr lang="en-US" sz="750" dirty="0"/>
          </a:p>
        </p:txBody>
      </p:sp>
      <p:sp>
        <p:nvSpPr>
          <p:cNvPr id="24" name="Shape 20"/>
          <p:cNvSpPr/>
          <p:nvPr/>
        </p:nvSpPr>
        <p:spPr>
          <a:xfrm>
            <a:off x="5282184" y="4105656"/>
            <a:ext cx="2170176" cy="1060704"/>
          </a:xfrm>
          <a:prstGeom prst="roundRect">
            <a:avLst>
              <a:gd name="adj" fmla="val 6897"/>
            </a:avLst>
          </a:prstGeom>
          <a:solidFill>
            <a:srgbClr val="17304A"/>
          </a:solidFill>
          <a:ln w="9525">
            <a:solidFill>
              <a:srgbClr val="2E5470"/>
            </a:solidFill>
            <a:prstDash val="solid"/>
          </a:ln>
        </p:spPr>
      </p:sp>
      <p:sp>
        <p:nvSpPr>
          <p:cNvPr id="25" name="Text 21"/>
          <p:cNvSpPr/>
          <p:nvPr/>
        </p:nvSpPr>
        <p:spPr>
          <a:xfrm>
            <a:off x="5428488" y="419709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Connection</a:t>
            </a:r>
            <a:endParaRPr lang="en-US" sz="950" dirty="0"/>
          </a:p>
        </p:txBody>
      </p:sp>
      <p:sp>
        <p:nvSpPr>
          <p:cNvPr id="26" name="Text 22"/>
          <p:cNvSpPr/>
          <p:nvPr/>
        </p:nvSpPr>
        <p:spPr>
          <a:xfrm>
            <a:off x="5428488" y="452628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The farmer isn't a sourcing story we tell; they're the name on the batch, accountable and credited.</a:t>
            </a:r>
            <a:endParaRPr lang="en-US" sz="750" dirty="0"/>
          </a:p>
        </p:txBody>
      </p:sp>
      <p:sp>
        <p:nvSpPr>
          <p:cNvPr id="27" name="Text 23"/>
          <p:cNvSpPr/>
          <p:nvPr/>
        </p:nvSpPr>
        <p:spPr>
          <a:xfrm>
            <a:off x="502920" y="5340096"/>
            <a:ext cx="6949440" cy="365760"/>
          </a:xfrm>
          <a:prstGeom prst="rect">
            <a:avLst/>
          </a:prstGeom>
          <a:noFill/>
          <a:ln/>
        </p:spPr>
        <p:txBody>
          <a:bodyPr wrap="square" lIns="0" tIns="0" rIns="0" bIns="0" rtlCol="0" anchor="ctr"/>
          <a:lstStyle/>
          <a:p>
            <a:pPr indent="0" marL="0">
              <a:buNone/>
            </a:pPr>
            <a:r>
              <a:rPr lang="en-US" sz="1400" i="1" dirty="0">
                <a:solidFill>
                  <a:srgbClr val="EEE9E0"/>
                </a:solidFill>
                <a:latin typeface="Nunito Sans" pitchFamily="34" charset="0"/>
                <a:ea typeface="Nunito Sans" pitchFamily="34" charset="-122"/>
                <a:cs typeface="Nunito Sans" pitchFamily="34" charset="-120"/>
              </a:rPr>
              <a:t>We are Honest Farms. </a:t>
            </a:r>
            <a:pPr indent="0" marL="0">
              <a:buNone/>
            </a:pPr>
            <a:r>
              <a:rPr lang="en-US" sz="1400" b="1" dirty="0">
                <a:solidFill>
                  <a:srgbClr val="5FC28C"/>
                </a:solidFill>
                <a:latin typeface="Nunito Sans" pitchFamily="34" charset="0"/>
                <a:ea typeface="Nunito Sans" pitchFamily="34" charset="-122"/>
                <a:cs typeface="Nunito Sans" pitchFamily="34" charset="-120"/>
              </a:rPr>
              <a:t>Verified in the fields, honest on the shelves.</a:t>
            </a:r>
            <a:endParaRPr lang="en-US" sz="1400" dirty="0"/>
          </a:p>
        </p:txBody>
      </p:sp>
      <p:sp>
        <p:nvSpPr>
          <p:cNvPr id="28" name="Shape 24"/>
          <p:cNvSpPr/>
          <p:nvPr/>
        </p:nvSpPr>
        <p:spPr>
          <a:xfrm>
            <a:off x="502920" y="6455664"/>
            <a:ext cx="11185855" cy="0"/>
          </a:xfrm>
          <a:prstGeom prst="line">
            <a:avLst/>
          </a:prstGeom>
          <a:noFill/>
          <a:ln w="9525">
            <a:solidFill>
              <a:srgbClr val="FFFFFF">
                <a:alpha val="16000"/>
              </a:srgbClr>
            </a:solidFill>
            <a:prstDash val="solid"/>
          </a:ln>
        </p:spPr>
      </p:sp>
      <p:sp>
        <p:nvSpPr>
          <p:cNvPr id="29" name="Text 25"/>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A9B6C7"/>
                </a:solidFill>
                <a:latin typeface="Nunito Sans" pitchFamily="34" charset="0"/>
                <a:ea typeface="Nunito Sans" pitchFamily="34" charset="-122"/>
                <a:cs typeface="Nunito Sans" pitchFamily="34" charset="-120"/>
              </a:rPr>
              <a:t>PART 04 · BRAND &amp; PROOF</a:t>
            </a:r>
            <a:endParaRPr lang="en-US" sz="800" dirty="0"/>
          </a:p>
        </p:txBody>
      </p:sp>
      <p:sp>
        <p:nvSpPr>
          <p:cNvPr id="30" name="Text 2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5FC28C"/>
                </a:solidFill>
                <a:latin typeface="Archivo Black" pitchFamily="34" charset="0"/>
                <a:ea typeface="Archivo Black" pitchFamily="34" charset="-122"/>
                <a:cs typeface="Archivo Black" pitchFamily="34" charset="-120"/>
              </a:rPr>
              <a:t>21</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CE0"/>
        </a:solidFill>
      </p:bgPr>
    </p:bg>
    <p:spTree>
      <p:nvGrpSpPr>
        <p:cNvPr id="1" name=""/>
        <p:cNvGrpSpPr/>
        <p:nvPr/>
      </p:nvGrpSpPr>
      <p:grpSpPr>
        <a:xfrm>
          <a:off x="0" y="0"/>
          <a:ext cx="0" cy="0"/>
          <a:chOff x="0" y="0"/>
          <a:chExt cx="0" cy="0"/>
        </a:xfrm>
      </p:grpSpPr>
      <p:pic>
        <p:nvPicPr>
          <p:cNvPr id="2" name="Image 0" descr="/home/user/hopper-tessarakt/site/assets/sapling.jpg">    </p:cNvPr>
          <p:cNvPicPr>
            <a:picLocks noChangeAspect="1"/>
          </p:cNvPicPr>
          <p:nvPr/>
        </p:nvPicPr>
        <p:blipFill>
          <a:blip r:embed="rId1"/>
          <a:srcRect l="0" r="0" t="0" b="0"/>
          <a:stretch/>
        </p:blipFill>
        <p:spPr>
          <a:xfrm>
            <a:off x="7223760" y="1234440"/>
            <a:ext cx="4480560" cy="4389120"/>
          </a:xfrm>
          <a:prstGeom prst="rect">
            <a:avLst/>
          </a:prstGeom>
        </p:spPr>
      </p:pic>
      <p:sp>
        <p:nvSpPr>
          <p:cNvPr id="3" name="Shape 0"/>
          <p:cNvSpPr/>
          <p:nvPr/>
        </p:nvSpPr>
        <p:spPr>
          <a:xfrm>
            <a:off x="502920" y="310896"/>
            <a:ext cx="1622146" cy="274320"/>
          </a:xfrm>
          <a:prstGeom prst="roundRect">
            <a:avLst>
              <a:gd name="adj" fmla="val 23333"/>
            </a:avLst>
          </a:prstGeom>
          <a:solidFill>
            <a:srgbClr val="3A5D97"/>
          </a:solidFill>
          <a:ln w="12700">
            <a:solidFill>
              <a:srgbClr val="333333"/>
            </a:solidFill>
            <a:prstDash val="solid"/>
          </a:ln>
        </p:spPr>
      </p:sp>
      <p:sp>
        <p:nvSpPr>
          <p:cNvPr id="4" name="Text 1"/>
          <p:cNvSpPr/>
          <p:nvPr/>
        </p:nvSpPr>
        <p:spPr>
          <a:xfrm>
            <a:off x="502920" y="310896"/>
            <a:ext cx="1622146"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BRAND PURPOSE</a:t>
            </a:r>
            <a:endParaRPr lang="en-US" sz="900" dirty="0"/>
          </a:p>
        </p:txBody>
      </p:sp>
      <p:pic>
        <p:nvPicPr>
          <p:cNvPr id="5" name="Image 1" descr="/home/user/hopper-tessarakt/site/assets/logo.png">    </p:cNvPr>
          <p:cNvPicPr>
            <a:picLocks noChangeAspect="1"/>
          </p:cNvPicPr>
          <p:nvPr/>
        </p:nvPicPr>
        <p:blipFill>
          <a:blip r:embed="rId2"/>
          <a:stretch>
            <a:fillRect/>
          </a:stretch>
        </p:blipFill>
        <p:spPr>
          <a:xfrm>
            <a:off x="10545775" y="292608"/>
            <a:ext cx="1143000" cy="420624"/>
          </a:xfrm>
          <a:prstGeom prst="rect">
            <a:avLst/>
          </a:prstGeom>
        </p:spPr>
      </p:pic>
      <p:sp>
        <p:nvSpPr>
          <p:cNvPr id="6" name="Text 2"/>
          <p:cNvSpPr/>
          <p:nvPr/>
        </p:nvSpPr>
        <p:spPr>
          <a:xfrm>
            <a:off x="502920" y="658368"/>
            <a:ext cx="6309360" cy="2377440"/>
          </a:xfrm>
          <a:prstGeom prst="rect">
            <a:avLst/>
          </a:prstGeom>
          <a:noFill/>
          <a:ln/>
        </p:spPr>
        <p:txBody>
          <a:bodyPr wrap="square" lIns="0" tIns="0" rIns="0" bIns="0" rtlCol="0" anchor="t"/>
          <a:lstStyle/>
          <a:p>
            <a:pPr indent="0" marL="0">
              <a:lnSpc>
                <a:spcPct val="102000"/>
              </a:lnSpc>
              <a:buNone/>
            </a:pPr>
            <a:r>
              <a:rPr lang="en-US" sz="2700" dirty="0">
                <a:solidFill>
                  <a:srgbClr val="0C1A2B"/>
                </a:solidFill>
                <a:latin typeface="Archivo Black" pitchFamily="34" charset="0"/>
                <a:ea typeface="Archivo Black" pitchFamily="34" charset="-122"/>
                <a:cs typeface="Archivo Black" pitchFamily="34" charset="-120"/>
              </a:rPr>
              <a:t>To nurture soil and skills, to do business honestly, and to prove it — batch by batch, farmer by farmer.</a:t>
            </a:r>
            <a:endParaRPr lang="en-US" sz="2700" dirty="0"/>
          </a:p>
        </p:txBody>
      </p:sp>
      <p:sp>
        <p:nvSpPr>
          <p:cNvPr id="7" name="Text 3"/>
          <p:cNvSpPr/>
          <p:nvPr/>
        </p:nvSpPr>
        <p:spPr>
          <a:xfrm>
            <a:off x="502920" y="3602736"/>
            <a:ext cx="6309360" cy="365760"/>
          </a:xfrm>
          <a:prstGeom prst="rect">
            <a:avLst/>
          </a:prstGeom>
          <a:noFill/>
          <a:ln/>
        </p:spPr>
        <p:txBody>
          <a:bodyPr wrap="square" lIns="0" tIns="0" rIns="0" bIns="0" rtlCol="0" anchor="t"/>
          <a:lstStyle/>
          <a:p>
            <a:pPr indent="0" marL="0">
              <a:buNone/>
            </a:pPr>
            <a:r>
              <a:rPr lang="en-US" sz="1100" i="1" dirty="0">
                <a:solidFill>
                  <a:srgbClr val="54606F"/>
                </a:solidFill>
                <a:latin typeface="Nunito Sans" pitchFamily="34" charset="0"/>
                <a:ea typeface="Nunito Sans" pitchFamily="34" charset="-122"/>
                <a:cs typeface="Nunito Sans" pitchFamily="34" charset="-120"/>
              </a:rPr>
              <a:t>A promise about the value delivered to the customer — not a claim about the company.</a:t>
            </a:r>
            <a:endParaRPr lang="en-US" sz="1100" dirty="0"/>
          </a:p>
        </p:txBody>
      </p:sp>
      <p:sp>
        <p:nvSpPr>
          <p:cNvPr id="8" name="Shape 4"/>
          <p:cNvSpPr/>
          <p:nvPr/>
        </p:nvSpPr>
        <p:spPr>
          <a:xfrm>
            <a:off x="502920" y="6455664"/>
            <a:ext cx="11185855" cy="0"/>
          </a:xfrm>
          <a:prstGeom prst="line">
            <a:avLst/>
          </a:prstGeom>
          <a:noFill/>
          <a:ln w="9525">
            <a:solidFill>
              <a:srgbClr val="E5DCCB"/>
            </a:solidFill>
            <a:prstDash val="solid"/>
          </a:ln>
        </p:spPr>
      </p:sp>
      <p:sp>
        <p:nvSpPr>
          <p:cNvPr id="9" name="Text 5"/>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10" name="Text 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22</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4041648"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4041648"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MAKING BACK-END AGRI-TECH RIGOUR VISIBLE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Flip the script on QR traceability: put the farmer in the spotlight.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Most traceability QR codes lead to a certificate — a document nobody reads. Ours should lead to a person.</a:t>
            </a:r>
            <a:endParaRPr lang="en-US" sz="1100" dirty="0"/>
          </a:p>
        </p:txBody>
      </p:sp>
      <p:sp>
        <p:nvSpPr>
          <p:cNvPr id="7" name="Shape 4"/>
          <p:cNvSpPr/>
          <p:nvPr/>
        </p:nvSpPr>
        <p:spPr>
          <a:xfrm>
            <a:off x="502920" y="2121408"/>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67512" y="2212848"/>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QR to farmer</a:t>
            </a:r>
            <a:endParaRPr lang="en-US" sz="1000" dirty="0"/>
          </a:p>
        </p:txBody>
      </p:sp>
      <p:sp>
        <p:nvSpPr>
          <p:cNvPr id="9" name="Text 6"/>
          <p:cNvSpPr/>
          <p:nvPr/>
        </p:nvSpPr>
        <p:spPr>
          <a:xfrm>
            <a:off x="667512" y="2450592"/>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Scan the pack and land on a unique microsite of that farmer — know his village, harvest date, daily life, growth, consumer connects, and download the Pesticide-Free Certificate.</a:t>
            </a:r>
            <a:endParaRPr lang="en-US" sz="800" dirty="0"/>
          </a:p>
        </p:txBody>
      </p:sp>
      <p:sp>
        <p:nvSpPr>
          <p:cNvPr id="10" name="Shape 7"/>
          <p:cNvSpPr/>
          <p:nvPr/>
        </p:nvSpPr>
        <p:spPr>
          <a:xfrm>
            <a:off x="4361688" y="2121408"/>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4526280" y="2212848"/>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Village / farm clusters on pack</a:t>
            </a:r>
            <a:endParaRPr lang="en-US" sz="1000" dirty="0"/>
          </a:p>
        </p:txBody>
      </p:sp>
      <p:sp>
        <p:nvSpPr>
          <p:cNvPr id="12" name="Text 9"/>
          <p:cNvSpPr/>
          <p:nvPr/>
        </p:nvSpPr>
        <p:spPr>
          <a:xfrm>
            <a:off x="4526280" y="2450592"/>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Like most wine brands across the world — Bordeaux, Nice, Nashik, Napa Valley — prove provenance.</a:t>
            </a:r>
            <a:endParaRPr lang="en-US" sz="800" dirty="0"/>
          </a:p>
        </p:txBody>
      </p:sp>
      <p:sp>
        <p:nvSpPr>
          <p:cNvPr id="13" name="Shape 10"/>
          <p:cNvSpPr/>
          <p:nvPr/>
        </p:nvSpPr>
        <p:spPr>
          <a:xfrm>
            <a:off x="502920" y="3090672"/>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667512" y="3182112"/>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Farmers as content creators</a:t>
            </a:r>
            <a:endParaRPr lang="en-US" sz="1000" dirty="0"/>
          </a:p>
        </p:txBody>
      </p:sp>
      <p:sp>
        <p:nvSpPr>
          <p:cNvPr id="15" name="Text 12"/>
          <p:cNvSpPr/>
          <p:nvPr/>
        </p:nvSpPr>
        <p:spPr>
          <a:xfrm>
            <a:off x="667512" y="3419856"/>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They play the lead role with unscripted reels, voice notes and live harvest streams. Rougher, less polished than a typical ad — which is exactly what signals "real" to a sceptical buyer.</a:t>
            </a:r>
            <a:endParaRPr lang="en-US" sz="800" dirty="0"/>
          </a:p>
        </p:txBody>
      </p:sp>
      <p:sp>
        <p:nvSpPr>
          <p:cNvPr id="16" name="Shape 13"/>
          <p:cNvSpPr/>
          <p:nvPr/>
        </p:nvSpPr>
        <p:spPr>
          <a:xfrm>
            <a:off x="4361688" y="3090672"/>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7" name="Text 14"/>
          <p:cNvSpPr/>
          <p:nvPr/>
        </p:nvSpPr>
        <p:spPr>
          <a:xfrm>
            <a:off x="4526280" y="3182112"/>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Hand-written farmer letters in pack</a:t>
            </a:r>
            <a:endParaRPr lang="en-US" sz="1000" dirty="0"/>
          </a:p>
        </p:txBody>
      </p:sp>
      <p:sp>
        <p:nvSpPr>
          <p:cNvPr id="18" name="Text 15"/>
          <p:cNvSpPr/>
          <p:nvPr/>
        </p:nvSpPr>
        <p:spPr>
          <a:xfrm>
            <a:off x="4526280" y="3419856"/>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Rotating, handwritten-style notes from the actual farmer of that batch.</a:t>
            </a:r>
            <a:endParaRPr lang="en-US" sz="800" dirty="0"/>
          </a:p>
        </p:txBody>
      </p:sp>
      <p:sp>
        <p:nvSpPr>
          <p:cNvPr id="19" name="Shape 16"/>
          <p:cNvSpPr/>
          <p:nvPr/>
        </p:nvSpPr>
        <p:spPr>
          <a:xfrm>
            <a:off x="502920" y="4059936"/>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0" name="Text 17"/>
          <p:cNvSpPr/>
          <p:nvPr/>
        </p:nvSpPr>
        <p:spPr>
          <a:xfrm>
            <a:off x="667512" y="4151376"/>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Farmers send audit invitation</a:t>
            </a:r>
            <a:endParaRPr lang="en-US" sz="1000" dirty="0"/>
          </a:p>
        </p:txBody>
      </p:sp>
      <p:sp>
        <p:nvSpPr>
          <p:cNvPr id="21" name="Text 18"/>
          <p:cNvSpPr/>
          <p:nvPr/>
        </p:nvSpPr>
        <p:spPr>
          <a:xfrm>
            <a:off x="667512" y="4389120"/>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No need to give advance notice. Wins the "prove me wrong" archetype.</a:t>
            </a:r>
            <a:endParaRPr lang="en-US" sz="800" dirty="0"/>
          </a:p>
        </p:txBody>
      </p:sp>
      <p:sp>
        <p:nvSpPr>
          <p:cNvPr id="22" name="Shape 19"/>
          <p:cNvSpPr/>
          <p:nvPr/>
        </p:nvSpPr>
        <p:spPr>
          <a:xfrm>
            <a:off x="4361688" y="4059936"/>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3" name="Text 20"/>
          <p:cNvSpPr/>
          <p:nvPr/>
        </p:nvSpPr>
        <p:spPr>
          <a:xfrm>
            <a:off x="4526280" y="4151376"/>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Farmer-led sampling</a:t>
            </a:r>
            <a:endParaRPr lang="en-US" sz="1000" dirty="0"/>
          </a:p>
        </p:txBody>
      </p:sp>
      <p:sp>
        <p:nvSpPr>
          <p:cNvPr id="24" name="Text 21"/>
          <p:cNvSpPr/>
          <p:nvPr/>
        </p:nvSpPr>
        <p:spPr>
          <a:xfrm>
            <a:off x="4526280" y="4389120"/>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The farmers, not agency promoters, make demos at flea markets or housing societies to drive trials.</a:t>
            </a:r>
            <a:endParaRPr lang="en-US" sz="800" dirty="0"/>
          </a:p>
        </p:txBody>
      </p:sp>
      <p:sp>
        <p:nvSpPr>
          <p:cNvPr id="25" name="Shape 22"/>
          <p:cNvSpPr/>
          <p:nvPr/>
        </p:nvSpPr>
        <p:spPr>
          <a:xfrm>
            <a:off x="502920" y="5029200"/>
            <a:ext cx="3639312" cy="859536"/>
          </a:xfrm>
          <a:prstGeom prst="roundRect">
            <a:avLst>
              <a:gd name="adj" fmla="val 95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6" name="Text 23"/>
          <p:cNvSpPr/>
          <p:nvPr/>
        </p:nvSpPr>
        <p:spPr>
          <a:xfrm>
            <a:off x="667512" y="5120640"/>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Consumer-to-farmer feedback loop</a:t>
            </a:r>
            <a:endParaRPr lang="en-US" sz="1000" dirty="0"/>
          </a:p>
        </p:txBody>
      </p:sp>
      <p:sp>
        <p:nvSpPr>
          <p:cNvPr id="27" name="Text 24"/>
          <p:cNvSpPr/>
          <p:nvPr/>
        </p:nvSpPr>
        <p:spPr>
          <a:xfrm>
            <a:off x="667512" y="5358384"/>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Get consumers to review the farmers and their fields' produce, instead of the product purchased.</a:t>
            </a:r>
            <a:endParaRPr lang="en-US" sz="800" dirty="0"/>
          </a:p>
        </p:txBody>
      </p:sp>
      <p:pic>
        <p:nvPicPr>
          <p:cNvPr id="28" name="Image 1" descr="/home/user/hopper-tessarakt/site/assets/qr-scan.jpg">    </p:cNvPr>
          <p:cNvPicPr>
            <a:picLocks noChangeAspect="1"/>
          </p:cNvPicPr>
          <p:nvPr/>
        </p:nvPicPr>
        <p:blipFill>
          <a:blip r:embed="rId2"/>
          <a:srcRect l="0" r="0" t="0" b="0"/>
          <a:stretch/>
        </p:blipFill>
        <p:spPr>
          <a:xfrm>
            <a:off x="8275320" y="2121408"/>
            <a:ext cx="3413455" cy="1737360"/>
          </a:xfrm>
          <a:prstGeom prst="rect">
            <a:avLst/>
          </a:prstGeom>
        </p:spPr>
      </p:pic>
      <p:pic>
        <p:nvPicPr>
          <p:cNvPr id="29" name="Image 2" descr="/home/user/hopper-tessarakt/site/assets/pack-range.jpg">    </p:cNvPr>
          <p:cNvPicPr>
            <a:picLocks noChangeAspect="1"/>
          </p:cNvPicPr>
          <p:nvPr/>
        </p:nvPicPr>
        <p:blipFill>
          <a:blip r:embed="rId3"/>
          <a:srcRect l="0" r="0" t="0" b="0"/>
          <a:stretch/>
        </p:blipFill>
        <p:spPr>
          <a:xfrm>
            <a:off x="8275320" y="3950208"/>
            <a:ext cx="3413455" cy="1463040"/>
          </a:xfrm>
          <a:prstGeom prst="rect">
            <a:avLst/>
          </a:prstGeom>
        </p:spPr>
      </p:pic>
      <p:sp>
        <p:nvSpPr>
          <p:cNvPr id="30" name="Shape 25"/>
          <p:cNvSpPr/>
          <p:nvPr/>
        </p:nvSpPr>
        <p:spPr>
          <a:xfrm>
            <a:off x="8275320" y="5486400"/>
            <a:ext cx="3413455" cy="960120"/>
          </a:xfrm>
          <a:prstGeom prst="roundRect">
            <a:avLst>
              <a:gd name="adj" fmla="val 8571"/>
            </a:avLst>
          </a:prstGeom>
          <a:solidFill>
            <a:srgbClr val="FAF0DA"/>
          </a:solidFill>
          <a:ln w="9525">
            <a:solidFill>
              <a:srgbClr val="EEDFBA"/>
            </a:solidFill>
            <a:prstDash val="solid"/>
          </a:ln>
          <a:effectLst>
            <a:outerShdw sx="100000" sy="100000" kx="0" ky="0" algn="bl" rotWithShape="0" blurRad="177800" dist="38100" dir="5400000">
              <a:srgbClr val="101C2C">
                <a:alpha val="9000"/>
              </a:srgbClr>
            </a:outerShdw>
          </a:effectLst>
        </p:spPr>
      </p:sp>
      <p:sp>
        <p:nvSpPr>
          <p:cNvPr id="31" name="Text 26"/>
          <p:cNvSpPr/>
          <p:nvPr/>
        </p:nvSpPr>
        <p:spPr>
          <a:xfrm>
            <a:off x="8476488" y="5605272"/>
            <a:ext cx="3011119" cy="219456"/>
          </a:xfrm>
          <a:prstGeom prst="rect">
            <a:avLst/>
          </a:prstGeom>
          <a:noFill/>
          <a:ln/>
        </p:spPr>
        <p:txBody>
          <a:bodyPr wrap="square" lIns="0" tIns="0" rIns="0" bIns="0" rtlCol="0" anchor="t"/>
          <a:lstStyle/>
          <a:p>
            <a:pPr indent="0" marL="0">
              <a:lnSpc>
                <a:spcPct val="102000"/>
              </a:lnSpc>
              <a:buNone/>
            </a:pPr>
            <a:r>
              <a:rPr lang="en-US" sz="1050" b="1" dirty="0">
                <a:solidFill>
                  <a:srgbClr val="9E7220"/>
                </a:solidFill>
                <a:latin typeface="Nunito Sans" pitchFamily="34" charset="0"/>
                <a:ea typeface="Nunito Sans" pitchFamily="34" charset="-122"/>
                <a:cs typeface="Nunito Sans" pitchFamily="34" charset="-120"/>
              </a:rPr>
              <a:t>4% → 22% full trust</a:t>
            </a:r>
            <a:endParaRPr lang="en-US" sz="1050" dirty="0"/>
          </a:p>
        </p:txBody>
      </p:sp>
      <p:sp>
        <p:nvSpPr>
          <p:cNvPr id="32" name="Text 27"/>
          <p:cNvSpPr/>
          <p:nvPr/>
        </p:nvSpPr>
        <p:spPr>
          <a:xfrm>
            <a:off x="8476488" y="5852160"/>
            <a:ext cx="3011119" cy="50292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when the pesticide-free claim carries an independent certificate — a 5× uplift, the largest of any claim tested.</a:t>
            </a:r>
            <a:endParaRPr lang="en-US" sz="900" dirty="0"/>
          </a:p>
        </p:txBody>
      </p:sp>
      <p:sp>
        <p:nvSpPr>
          <p:cNvPr id="33" name="Shape 28"/>
          <p:cNvSpPr/>
          <p:nvPr/>
        </p:nvSpPr>
        <p:spPr>
          <a:xfrm>
            <a:off x="502920" y="6455664"/>
            <a:ext cx="11185855" cy="0"/>
          </a:xfrm>
          <a:prstGeom prst="line">
            <a:avLst/>
          </a:prstGeom>
          <a:noFill/>
          <a:ln w="9525">
            <a:solidFill>
              <a:srgbClr val="E5DCCB"/>
            </a:solidFill>
            <a:prstDash val="solid"/>
          </a:ln>
        </p:spPr>
      </p:sp>
      <p:sp>
        <p:nvSpPr>
          <p:cNvPr id="34" name="Text 29"/>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35" name="Text 30"/>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23</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BRAND ARCHITECTURE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only food brand in India that consumers verify, not just trust.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Positioning at the top, benefits in the middle, and a specific meaning for each stakeholder at the bottom.</a:t>
            </a:r>
            <a:endParaRPr lang="en-US" sz="1100" dirty="0"/>
          </a:p>
        </p:txBody>
      </p:sp>
      <p:sp>
        <p:nvSpPr>
          <p:cNvPr id="7" name="Shape 4"/>
          <p:cNvSpPr/>
          <p:nvPr/>
        </p:nvSpPr>
        <p:spPr>
          <a:xfrm>
            <a:off x="502920" y="2121408"/>
            <a:ext cx="5669280" cy="658368"/>
          </a:xfrm>
          <a:prstGeom prst="roundRect">
            <a:avLst>
              <a:gd name="adj" fmla="val 125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194560"/>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POSITIONING</a:t>
            </a:r>
            <a:endParaRPr lang="en-US" sz="950" dirty="0"/>
          </a:p>
        </p:txBody>
      </p:sp>
      <p:sp>
        <p:nvSpPr>
          <p:cNvPr id="9" name="Text 6"/>
          <p:cNvSpPr/>
          <p:nvPr/>
        </p:nvSpPr>
        <p:spPr>
          <a:xfrm>
            <a:off x="685800" y="2395728"/>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The only food brand in India that consumers verify, not just trust.</a:t>
            </a:r>
            <a:endParaRPr lang="en-US" sz="1100" dirty="0"/>
          </a:p>
        </p:txBody>
      </p:sp>
      <p:sp>
        <p:nvSpPr>
          <p:cNvPr id="10" name="Shape 7"/>
          <p:cNvSpPr/>
          <p:nvPr/>
        </p:nvSpPr>
        <p:spPr>
          <a:xfrm>
            <a:off x="502920" y="2871216"/>
            <a:ext cx="5669280" cy="658368"/>
          </a:xfrm>
          <a:prstGeom prst="roundRect">
            <a:avLst>
              <a:gd name="adj" fmla="val 125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685800" y="2944368"/>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PROMISE</a:t>
            </a:r>
            <a:endParaRPr lang="en-US" sz="950" dirty="0"/>
          </a:p>
        </p:txBody>
      </p:sp>
      <p:sp>
        <p:nvSpPr>
          <p:cNvPr id="12" name="Text 9"/>
          <p:cNvSpPr/>
          <p:nvPr/>
        </p:nvSpPr>
        <p:spPr>
          <a:xfrm>
            <a:off x="685800" y="3145536"/>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Verified in the fields. Honest on the shelves.</a:t>
            </a:r>
            <a:endParaRPr lang="en-US" sz="1100" dirty="0"/>
          </a:p>
        </p:txBody>
      </p:sp>
      <p:sp>
        <p:nvSpPr>
          <p:cNvPr id="13" name="Shape 10"/>
          <p:cNvSpPr/>
          <p:nvPr/>
        </p:nvSpPr>
        <p:spPr>
          <a:xfrm>
            <a:off x="502920" y="3621024"/>
            <a:ext cx="5669280" cy="658368"/>
          </a:xfrm>
          <a:prstGeom prst="roundRect">
            <a:avLst>
              <a:gd name="adj" fmla="val 125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685800" y="3694176"/>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ROLE</a:t>
            </a:r>
            <a:endParaRPr lang="en-US" sz="950" dirty="0"/>
          </a:p>
        </p:txBody>
      </p:sp>
      <p:sp>
        <p:nvSpPr>
          <p:cNvPr id="15" name="Text 12"/>
          <p:cNvSpPr/>
          <p:nvPr/>
        </p:nvSpPr>
        <p:spPr>
          <a:xfrm>
            <a:off x="685800" y="3895344"/>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An honest guide that leads with transparency, answers with proof, and never preaches.</a:t>
            </a:r>
            <a:endParaRPr lang="en-US" sz="1100" dirty="0"/>
          </a:p>
        </p:txBody>
      </p:sp>
      <p:sp>
        <p:nvSpPr>
          <p:cNvPr id="16" name="Shape 13"/>
          <p:cNvSpPr/>
          <p:nvPr/>
        </p:nvSpPr>
        <p:spPr>
          <a:xfrm>
            <a:off x="502920" y="4370832"/>
            <a:ext cx="5669280" cy="658368"/>
          </a:xfrm>
          <a:prstGeom prst="roundRect">
            <a:avLst>
              <a:gd name="adj" fmla="val 125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7" name="Text 14"/>
          <p:cNvSpPr/>
          <p:nvPr/>
        </p:nvSpPr>
        <p:spPr>
          <a:xfrm>
            <a:off x="685800" y="4443984"/>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BELIEF</a:t>
            </a:r>
            <a:endParaRPr lang="en-US" sz="950" dirty="0"/>
          </a:p>
        </p:txBody>
      </p:sp>
      <p:sp>
        <p:nvSpPr>
          <p:cNvPr id="18" name="Text 15"/>
          <p:cNvSpPr/>
          <p:nvPr/>
        </p:nvSpPr>
        <p:spPr>
          <a:xfrm>
            <a:off x="685800" y="4645152"/>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Progress moves from seed to plate, and every hand that touches it is named, not hidden.</a:t>
            </a:r>
            <a:endParaRPr lang="en-US" sz="1100" dirty="0"/>
          </a:p>
        </p:txBody>
      </p:sp>
      <p:sp>
        <p:nvSpPr>
          <p:cNvPr id="19" name="Shape 16"/>
          <p:cNvSpPr/>
          <p:nvPr/>
        </p:nvSpPr>
        <p:spPr>
          <a:xfrm>
            <a:off x="502920" y="5212080"/>
            <a:ext cx="1767840" cy="960120"/>
          </a:xfrm>
          <a:prstGeom prst="roundRect">
            <a:avLst>
              <a:gd name="adj" fmla="val 8571"/>
            </a:avLst>
          </a:prstGeom>
          <a:solidFill>
            <a:srgbClr val="F3ECE0"/>
          </a:solidFill>
          <a:ln w="9525">
            <a:solidFill>
              <a:srgbClr val="EDE4D4"/>
            </a:solidFill>
            <a:prstDash val="solid"/>
          </a:ln>
          <a:effectLst>
            <a:outerShdw sx="100000" sy="100000" kx="0" ky="0" algn="bl" rotWithShape="0" blurRad="177800" dist="38100" dir="5400000">
              <a:srgbClr val="101C2C">
                <a:alpha val="9000"/>
              </a:srgbClr>
            </a:outerShdw>
          </a:effectLst>
        </p:spPr>
      </p:sp>
      <p:sp>
        <p:nvSpPr>
          <p:cNvPr id="20" name="Text 17"/>
          <p:cNvSpPr/>
          <p:nvPr/>
        </p:nvSpPr>
        <p:spPr>
          <a:xfrm>
            <a:off x="649224" y="528523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FUNCTIONAL</a:t>
            </a:r>
            <a:endParaRPr lang="en-US" sz="950" dirty="0"/>
          </a:p>
        </p:txBody>
      </p:sp>
      <p:sp>
        <p:nvSpPr>
          <p:cNvPr id="21" name="Text 18"/>
          <p:cNvSpPr/>
          <p:nvPr/>
        </p:nvSpPr>
        <p:spPr>
          <a:xfrm>
            <a:off x="649224" y="548640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Verified safety.</a:t>
            </a:r>
            <a:endParaRPr lang="en-US" sz="1050" dirty="0"/>
          </a:p>
        </p:txBody>
      </p:sp>
      <p:sp>
        <p:nvSpPr>
          <p:cNvPr id="22" name="Text 19"/>
          <p:cNvSpPr/>
          <p:nvPr/>
        </p:nvSpPr>
        <p:spPr>
          <a:xfrm>
            <a:off x="649224" y="570585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No detectable residue.</a:t>
            </a:r>
            <a:endParaRPr lang="en-US" sz="850" dirty="0"/>
          </a:p>
        </p:txBody>
      </p:sp>
      <p:sp>
        <p:nvSpPr>
          <p:cNvPr id="23" name="Shape 20"/>
          <p:cNvSpPr/>
          <p:nvPr/>
        </p:nvSpPr>
        <p:spPr>
          <a:xfrm>
            <a:off x="2453640" y="5212080"/>
            <a:ext cx="1767840" cy="960120"/>
          </a:xfrm>
          <a:prstGeom prst="roundRect">
            <a:avLst>
              <a:gd name="adj" fmla="val 8571"/>
            </a:avLst>
          </a:prstGeom>
          <a:solidFill>
            <a:srgbClr val="F3ECE0"/>
          </a:solidFill>
          <a:ln w="9525">
            <a:solidFill>
              <a:srgbClr val="EDE4D4"/>
            </a:solidFill>
            <a:prstDash val="solid"/>
          </a:ln>
          <a:effectLst>
            <a:outerShdw sx="100000" sy="100000" kx="0" ky="0" algn="bl" rotWithShape="0" blurRad="177800" dist="38100" dir="5400000">
              <a:srgbClr val="101C2C">
                <a:alpha val="9000"/>
              </a:srgbClr>
            </a:outerShdw>
          </a:effectLst>
        </p:spPr>
      </p:sp>
      <p:sp>
        <p:nvSpPr>
          <p:cNvPr id="24" name="Text 21"/>
          <p:cNvSpPr/>
          <p:nvPr/>
        </p:nvSpPr>
        <p:spPr>
          <a:xfrm>
            <a:off x="2599944" y="528523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EMOTIONAL</a:t>
            </a:r>
            <a:endParaRPr lang="en-US" sz="950" dirty="0"/>
          </a:p>
        </p:txBody>
      </p:sp>
      <p:sp>
        <p:nvSpPr>
          <p:cNvPr id="25" name="Text 22"/>
          <p:cNvSpPr/>
          <p:nvPr/>
        </p:nvSpPr>
        <p:spPr>
          <a:xfrm>
            <a:off x="2599944" y="548640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Relief.</a:t>
            </a:r>
            <a:endParaRPr lang="en-US" sz="1050" dirty="0"/>
          </a:p>
        </p:txBody>
      </p:sp>
      <p:sp>
        <p:nvSpPr>
          <p:cNvPr id="26" name="Text 23"/>
          <p:cNvSpPr/>
          <p:nvPr/>
        </p:nvSpPr>
        <p:spPr>
          <a:xfrm>
            <a:off x="2599944" y="570585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You're no longer the only one keeping watch.</a:t>
            </a:r>
            <a:endParaRPr lang="en-US" sz="850" dirty="0"/>
          </a:p>
        </p:txBody>
      </p:sp>
      <p:sp>
        <p:nvSpPr>
          <p:cNvPr id="27" name="Shape 24"/>
          <p:cNvSpPr/>
          <p:nvPr/>
        </p:nvSpPr>
        <p:spPr>
          <a:xfrm>
            <a:off x="4404360" y="5212080"/>
            <a:ext cx="1767840" cy="960120"/>
          </a:xfrm>
          <a:prstGeom prst="roundRect">
            <a:avLst>
              <a:gd name="adj" fmla="val 8571"/>
            </a:avLst>
          </a:prstGeom>
          <a:solidFill>
            <a:srgbClr val="F3ECE0"/>
          </a:solidFill>
          <a:ln w="9525">
            <a:solidFill>
              <a:srgbClr val="EDE4D4"/>
            </a:solidFill>
            <a:prstDash val="solid"/>
          </a:ln>
          <a:effectLst>
            <a:outerShdw sx="100000" sy="100000" kx="0" ky="0" algn="bl" rotWithShape="0" blurRad="177800" dist="38100" dir="5400000">
              <a:srgbClr val="101C2C">
                <a:alpha val="9000"/>
              </a:srgbClr>
            </a:outerShdw>
          </a:effectLst>
        </p:spPr>
      </p:sp>
      <p:sp>
        <p:nvSpPr>
          <p:cNvPr id="28" name="Text 25"/>
          <p:cNvSpPr/>
          <p:nvPr/>
        </p:nvSpPr>
        <p:spPr>
          <a:xfrm>
            <a:off x="4550664" y="528523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EXPERIENTIAL</a:t>
            </a:r>
            <a:endParaRPr lang="en-US" sz="950" dirty="0"/>
          </a:p>
        </p:txBody>
      </p:sp>
      <p:sp>
        <p:nvSpPr>
          <p:cNvPr id="29" name="Text 26"/>
          <p:cNvSpPr/>
          <p:nvPr/>
        </p:nvSpPr>
        <p:spPr>
          <a:xfrm>
            <a:off x="4550664" y="548640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Honest progress.</a:t>
            </a:r>
            <a:endParaRPr lang="en-US" sz="1050" dirty="0"/>
          </a:p>
        </p:txBody>
      </p:sp>
      <p:sp>
        <p:nvSpPr>
          <p:cNvPr id="30" name="Text 27"/>
          <p:cNvSpPr/>
          <p:nvPr/>
        </p:nvSpPr>
        <p:spPr>
          <a:xfrm>
            <a:off x="4550664" y="570585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With every basket, from seed to plate.</a:t>
            </a:r>
            <a:endParaRPr lang="en-US" sz="850" dirty="0"/>
          </a:p>
        </p:txBody>
      </p:sp>
      <p:sp>
        <p:nvSpPr>
          <p:cNvPr id="31" name="Text 28"/>
          <p:cNvSpPr/>
          <p:nvPr/>
        </p:nvSpPr>
        <p:spPr>
          <a:xfrm>
            <a:off x="6446520" y="2121408"/>
            <a:ext cx="524225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WHAT THE PROMISE MEANS TO EACH STAKEHOLDER</a:t>
            </a:r>
            <a:endParaRPr lang="en-US" sz="950" dirty="0"/>
          </a:p>
        </p:txBody>
      </p:sp>
      <p:sp>
        <p:nvSpPr>
          <p:cNvPr id="32" name="Shape 29"/>
          <p:cNvSpPr/>
          <p:nvPr/>
        </p:nvSpPr>
        <p:spPr>
          <a:xfrm>
            <a:off x="6446520" y="2432304"/>
            <a:ext cx="2520544" cy="1426464"/>
          </a:xfrm>
          <a:prstGeom prst="roundRect">
            <a:avLst>
              <a:gd name="adj" fmla="val 576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3" name="Text 30"/>
          <p:cNvSpPr/>
          <p:nvPr/>
        </p:nvSpPr>
        <p:spPr>
          <a:xfrm>
            <a:off x="6611112" y="2542032"/>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FARMERS / FPOS</a:t>
            </a:r>
            <a:endParaRPr lang="en-US" sz="950" dirty="0"/>
          </a:p>
        </p:txBody>
      </p:sp>
      <p:sp>
        <p:nvSpPr>
          <p:cNvPr id="34" name="Text 31"/>
          <p:cNvSpPr/>
          <p:nvPr/>
        </p:nvSpPr>
        <p:spPr>
          <a:xfrm>
            <a:off x="6611112" y="2798064"/>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DeHaat trains farmers for productivity, profitability and sustainability with simplified agri-tech data to give clear signals to consumers. Winning trust with no hidden stories, no shortcuts.</a:t>
            </a:r>
            <a:endParaRPr lang="en-US" sz="850" dirty="0"/>
          </a:p>
        </p:txBody>
      </p:sp>
      <p:sp>
        <p:nvSpPr>
          <p:cNvPr id="35" name="Shape 32"/>
          <p:cNvSpPr/>
          <p:nvPr/>
        </p:nvSpPr>
        <p:spPr>
          <a:xfrm>
            <a:off x="9168232" y="2432304"/>
            <a:ext cx="2520544" cy="1426464"/>
          </a:xfrm>
          <a:prstGeom prst="roundRect">
            <a:avLst>
              <a:gd name="adj" fmla="val 576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6" name="Text 33"/>
          <p:cNvSpPr/>
          <p:nvPr/>
        </p:nvSpPr>
        <p:spPr>
          <a:xfrm>
            <a:off x="9332824" y="2542032"/>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Q-COMM, E-COMM &amp; MTS</a:t>
            </a:r>
            <a:endParaRPr lang="en-US" sz="950" dirty="0"/>
          </a:p>
        </p:txBody>
      </p:sp>
      <p:sp>
        <p:nvSpPr>
          <p:cNvPr id="37" name="Text 34"/>
          <p:cNvSpPr/>
          <p:nvPr/>
        </p:nvSpPr>
        <p:spPr>
          <a:xfrm>
            <a:off x="9332824" y="2798064"/>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Made to win Honest Farms' brand trust by showing superiority in backend agri-tech, not just another category claim on apps and shelves.</a:t>
            </a:r>
            <a:endParaRPr lang="en-US" sz="850" dirty="0"/>
          </a:p>
        </p:txBody>
      </p:sp>
      <p:sp>
        <p:nvSpPr>
          <p:cNvPr id="38" name="Shape 35"/>
          <p:cNvSpPr/>
          <p:nvPr/>
        </p:nvSpPr>
        <p:spPr>
          <a:xfrm>
            <a:off x="6446520" y="4005072"/>
            <a:ext cx="2520544" cy="1426464"/>
          </a:xfrm>
          <a:prstGeom prst="roundRect">
            <a:avLst>
              <a:gd name="adj" fmla="val 576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9" name="Text 36"/>
          <p:cNvSpPr/>
          <p:nvPr/>
        </p:nvSpPr>
        <p:spPr>
          <a:xfrm>
            <a:off x="6611112" y="4114800"/>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CONSUMERS</a:t>
            </a:r>
            <a:endParaRPr lang="en-US" sz="950" dirty="0"/>
          </a:p>
        </p:txBody>
      </p:sp>
      <p:sp>
        <p:nvSpPr>
          <p:cNvPr id="40" name="Text 37"/>
          <p:cNvSpPr/>
          <p:nvPr/>
        </p:nvSpPr>
        <p:spPr>
          <a:xfrm>
            <a:off x="6611112" y="4370832"/>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Empowered to verify every batch, farmer, and agri practice before they add to cart and put food on the table.</a:t>
            </a:r>
            <a:endParaRPr lang="en-US" sz="850" dirty="0"/>
          </a:p>
        </p:txBody>
      </p:sp>
      <p:sp>
        <p:nvSpPr>
          <p:cNvPr id="41" name="Shape 38"/>
          <p:cNvSpPr/>
          <p:nvPr/>
        </p:nvSpPr>
        <p:spPr>
          <a:xfrm>
            <a:off x="9168232" y="4005072"/>
            <a:ext cx="2520544" cy="1426464"/>
          </a:xfrm>
          <a:prstGeom prst="roundRect">
            <a:avLst>
              <a:gd name="adj" fmla="val 576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2" name="Text 39"/>
          <p:cNvSpPr/>
          <p:nvPr/>
        </p:nvSpPr>
        <p:spPr>
          <a:xfrm>
            <a:off x="9332824" y="4114800"/>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EMPLOYEES</a:t>
            </a:r>
            <a:endParaRPr lang="en-US" sz="950" dirty="0"/>
          </a:p>
        </p:txBody>
      </p:sp>
      <p:sp>
        <p:nvSpPr>
          <p:cNvPr id="43" name="Text 40"/>
          <p:cNvSpPr/>
          <p:nvPr/>
        </p:nvSpPr>
        <p:spPr>
          <a:xfrm>
            <a:off x="9332824" y="4370832"/>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Hire and train to demonstrate the spirit of progress — bringing Krishi wisdom and modern methods to make farming more productive, profitable and sustainable.</a:t>
            </a:r>
            <a:endParaRPr lang="en-US" sz="850" dirty="0"/>
          </a:p>
        </p:txBody>
      </p:sp>
      <p:sp>
        <p:nvSpPr>
          <p:cNvPr id="44" name="Shape 41"/>
          <p:cNvSpPr/>
          <p:nvPr/>
        </p:nvSpPr>
        <p:spPr>
          <a:xfrm>
            <a:off x="6446520" y="5596128"/>
            <a:ext cx="5242255" cy="914400"/>
          </a:xfrm>
          <a:prstGeom prst="roundRect">
            <a:avLst>
              <a:gd name="adj" fmla="val 9000"/>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45" name="Text 42"/>
          <p:cNvSpPr/>
          <p:nvPr/>
        </p:nvSpPr>
        <p:spPr>
          <a:xfrm>
            <a:off x="6647688" y="5715000"/>
            <a:ext cx="483991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PROMISE</a:t>
            </a:r>
            <a:endParaRPr lang="en-US" sz="1050" dirty="0"/>
          </a:p>
        </p:txBody>
      </p:sp>
      <p:sp>
        <p:nvSpPr>
          <p:cNvPr id="46" name="Text 43"/>
          <p:cNvSpPr/>
          <p:nvPr/>
        </p:nvSpPr>
        <p:spPr>
          <a:xfrm>
            <a:off x="6647688" y="5961888"/>
            <a:ext cx="4839919" cy="4572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Verified in the fields. Honest on the shelves.</a:t>
            </a:r>
            <a:endParaRPr lang="en-US" sz="900" dirty="0"/>
          </a:p>
        </p:txBody>
      </p:sp>
      <p:sp>
        <p:nvSpPr>
          <p:cNvPr id="47" name="Shape 44"/>
          <p:cNvSpPr/>
          <p:nvPr/>
        </p:nvSpPr>
        <p:spPr>
          <a:xfrm>
            <a:off x="502920" y="6455664"/>
            <a:ext cx="11185855" cy="0"/>
          </a:xfrm>
          <a:prstGeom prst="line">
            <a:avLst/>
          </a:prstGeom>
          <a:noFill/>
          <a:ln w="9525">
            <a:solidFill>
              <a:srgbClr val="E5DCCB"/>
            </a:solidFill>
            <a:prstDash val="solid"/>
          </a:ln>
        </p:spPr>
      </p:sp>
      <p:sp>
        <p:nvSpPr>
          <p:cNvPr id="48" name="Text 45"/>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49" name="Text 4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24</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A2B"/>
        </a:solidFill>
      </p:bgPr>
    </p:bg>
    <p:spTree>
      <p:nvGrpSpPr>
        <p:cNvPr id="1" name=""/>
        <p:cNvGrpSpPr/>
        <p:nvPr/>
      </p:nvGrpSpPr>
      <p:grpSpPr>
        <a:xfrm>
          <a:off x="0" y="0"/>
          <a:ext cx="0" cy="0"/>
          <a:chOff x="0" y="0"/>
          <a:chExt cx="0" cy="0"/>
        </a:xfrm>
      </p:grpSpPr>
      <p:sp>
        <p:nvSpPr>
          <p:cNvPr id="2" name="Shape 0"/>
          <p:cNvSpPr/>
          <p:nvPr/>
        </p:nvSpPr>
        <p:spPr>
          <a:xfrm>
            <a:off x="502920" y="310896"/>
            <a:ext cx="1711757" cy="274320"/>
          </a:xfrm>
          <a:prstGeom prst="roundRect">
            <a:avLst>
              <a:gd name="adj" fmla="val 23333"/>
            </a:avLst>
          </a:prstGeom>
          <a:solidFill>
            <a:srgbClr val="5FC28C"/>
          </a:solidFill>
          <a:ln w="12700">
            <a:solidFill>
              <a:srgbClr val="333333"/>
            </a:solidFill>
            <a:prstDash val="solid"/>
          </a:ln>
        </p:spPr>
      </p:sp>
      <p:sp>
        <p:nvSpPr>
          <p:cNvPr id="3" name="Text 1"/>
          <p:cNvSpPr/>
          <p:nvPr/>
        </p:nvSpPr>
        <p:spPr>
          <a:xfrm>
            <a:off x="502920" y="310896"/>
            <a:ext cx="1711757" cy="274320"/>
          </a:xfrm>
          <a:prstGeom prst="rect">
            <a:avLst/>
          </a:prstGeom>
          <a:noFill/>
          <a:ln/>
        </p:spPr>
        <p:txBody>
          <a:bodyPr wrap="square" lIns="0" tIns="0" rIns="0" bIns="0" rtlCol="0" anchor="ctr"/>
          <a:lstStyle/>
          <a:p>
            <a:pPr algn="ctr" indent="0" marL="0">
              <a:buNone/>
            </a:pPr>
            <a:r>
              <a:rPr lang="en-US" sz="900" b="1" spc="160" kern="0" dirty="0">
                <a:solidFill>
                  <a:srgbClr val="0C1A2B"/>
                </a:solidFill>
                <a:latin typeface="Nunito Sans" pitchFamily="34" charset="0"/>
                <a:ea typeface="Nunito Sans" pitchFamily="34" charset="-122"/>
                <a:cs typeface="Nunito Sans" pitchFamily="34" charset="-120"/>
              </a:rPr>
              <a:t>THE NORTH STAR</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601200" cy="1371600"/>
          </a:xfrm>
          <a:prstGeom prst="rect">
            <a:avLst/>
          </a:prstGeom>
          <a:noFill/>
          <a:ln/>
        </p:spPr>
        <p:txBody>
          <a:bodyPr wrap="square" lIns="0" tIns="0" rIns="0" bIns="0" rtlCol="0" anchor="t"/>
          <a:lstStyle/>
          <a:p>
            <a:pPr indent="0" marL="0">
              <a:lnSpc>
                <a:spcPct val="102000"/>
              </a:lnSpc>
              <a:buNone/>
            </a:pPr>
            <a:r>
              <a:rPr lang="en-US" sz="3000" dirty="0">
                <a:solidFill>
                  <a:srgbClr val="FFFFFF"/>
                </a:solidFill>
                <a:latin typeface="Archivo Black" pitchFamily="34" charset="0"/>
                <a:ea typeface="Archivo Black" pitchFamily="34" charset="-122"/>
                <a:cs typeface="Archivo Black" pitchFamily="34" charset="-120"/>
              </a:rPr>
              <a:t>Be the only food brand in India that consumers verify, not just trust.</a:t>
            </a:r>
            <a:endParaRPr lang="en-US" sz="3000" dirty="0"/>
          </a:p>
        </p:txBody>
      </p:sp>
      <p:sp>
        <p:nvSpPr>
          <p:cNvPr id="6" name="Shape 3"/>
          <p:cNvSpPr/>
          <p:nvPr/>
        </p:nvSpPr>
        <p:spPr>
          <a:xfrm>
            <a:off x="502920" y="2139696"/>
            <a:ext cx="11185855" cy="914400"/>
          </a:xfrm>
          <a:prstGeom prst="roundRect">
            <a:avLst>
              <a:gd name="adj" fmla="val 9000"/>
            </a:avLst>
          </a:prstGeom>
          <a:solidFill>
            <a:srgbClr val="14283F"/>
          </a:solidFill>
          <a:ln w="9525">
            <a:solidFill>
              <a:srgbClr val="2B4258"/>
            </a:solidFill>
            <a:prstDash val="solid"/>
          </a:ln>
          <a:effectLst>
            <a:outerShdw sx="100000" sy="100000" kx="0" ky="0" algn="bl" rotWithShape="0" blurRad="177800" dist="38100" dir="5400000">
              <a:srgbClr val="101C2C">
                <a:alpha val="9000"/>
              </a:srgbClr>
            </a:outerShdw>
          </a:effectLst>
        </p:spPr>
      </p:sp>
      <p:sp>
        <p:nvSpPr>
          <p:cNvPr id="7" name="Text 4"/>
          <p:cNvSpPr/>
          <p:nvPr/>
        </p:nvSpPr>
        <p:spPr>
          <a:xfrm>
            <a:off x="731520" y="2249424"/>
            <a:ext cx="45720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HOW DO WE MEASURE SUCCESS?</a:t>
            </a:r>
            <a:endParaRPr lang="en-US" sz="950" dirty="0"/>
          </a:p>
        </p:txBody>
      </p:sp>
      <p:sp>
        <p:nvSpPr>
          <p:cNvPr id="8" name="Text 5"/>
          <p:cNvSpPr/>
          <p:nvPr/>
        </p:nvSpPr>
        <p:spPr>
          <a:xfrm>
            <a:off x="731520" y="2505456"/>
            <a:ext cx="10728655" cy="457200"/>
          </a:xfrm>
          <a:prstGeom prst="rect">
            <a:avLst/>
          </a:prstGeom>
          <a:noFill/>
          <a:ln/>
        </p:spPr>
        <p:txBody>
          <a:bodyPr wrap="square" lIns="0" tIns="0" rIns="0" bIns="0" rtlCol="0" anchor="t"/>
          <a:lstStyle/>
          <a:p>
            <a:pPr indent="0" marL="0">
              <a:lnSpc>
                <a:spcPct val="110000"/>
              </a:lnSpc>
              <a:buNone/>
            </a:pPr>
            <a:r>
              <a:rPr lang="en-US" sz="1150" dirty="0">
                <a:solidFill>
                  <a:srgbClr val="EEE9E0"/>
                </a:solidFill>
                <a:latin typeface="Nunito Sans" pitchFamily="34" charset="0"/>
                <a:ea typeface="Nunito Sans" pitchFamily="34" charset="-122"/>
                <a:cs typeface="Nunito Sans" pitchFamily="34" charset="-120"/>
              </a:rPr>
              <a:t>Verified Purchase Rate — the % of purchases where a consumer engages a real proof point (batch QR scan, farmer profile, lab report) before or after buying the product.</a:t>
            </a:r>
            <a:endParaRPr lang="en-US" sz="1150" dirty="0"/>
          </a:p>
        </p:txBody>
      </p:sp>
      <p:sp>
        <p:nvSpPr>
          <p:cNvPr id="9" name="Shape 6"/>
          <p:cNvSpPr/>
          <p:nvPr/>
        </p:nvSpPr>
        <p:spPr>
          <a:xfrm>
            <a:off x="502920" y="3282696"/>
            <a:ext cx="2604440" cy="1371600"/>
          </a:xfrm>
          <a:prstGeom prst="roundRect">
            <a:avLst>
              <a:gd name="adj" fmla="val 5333"/>
            </a:avLst>
          </a:prstGeom>
          <a:solidFill>
            <a:srgbClr val="17304A"/>
          </a:solidFill>
          <a:ln w="9525">
            <a:solidFill>
              <a:srgbClr val="2E5470"/>
            </a:solidFill>
            <a:prstDash val="solid"/>
          </a:ln>
        </p:spPr>
      </p:sp>
      <p:sp>
        <p:nvSpPr>
          <p:cNvPr id="10" name="Shape 7"/>
          <p:cNvSpPr/>
          <p:nvPr/>
        </p:nvSpPr>
        <p:spPr>
          <a:xfrm>
            <a:off x="685800" y="3447288"/>
            <a:ext cx="384048" cy="384048"/>
          </a:xfrm>
          <a:prstGeom prst="ellipse">
            <a:avLst/>
          </a:prstGeom>
          <a:solidFill>
            <a:srgbClr val="5FC28C"/>
          </a:solidFill>
          <a:ln w="12700">
            <a:solidFill>
              <a:srgbClr val="333333"/>
            </a:solidFill>
            <a:prstDash val="solid"/>
          </a:ln>
        </p:spPr>
      </p:sp>
      <p:sp>
        <p:nvSpPr>
          <p:cNvPr id="11" name="Text 8"/>
          <p:cNvSpPr/>
          <p:nvPr/>
        </p:nvSpPr>
        <p:spPr>
          <a:xfrm>
            <a:off x="685800"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V</a:t>
            </a:r>
            <a:endParaRPr lang="en-US" sz="1100" dirty="0"/>
          </a:p>
        </p:txBody>
      </p:sp>
      <p:sp>
        <p:nvSpPr>
          <p:cNvPr id="12" name="Text 9"/>
          <p:cNvSpPr/>
          <p:nvPr/>
        </p:nvSpPr>
        <p:spPr>
          <a:xfrm>
            <a:off x="685800"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Vandana — The Verifier</a:t>
            </a:r>
            <a:endParaRPr lang="en-US" sz="1000" dirty="0"/>
          </a:p>
        </p:txBody>
      </p:sp>
      <p:sp>
        <p:nvSpPr>
          <p:cNvPr id="13" name="Text 10"/>
          <p:cNvSpPr/>
          <p:nvPr/>
        </p:nvSpPr>
        <p:spPr>
          <a:xfrm>
            <a:off x="685800"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Scans the batch QR; visits the microsite to engage with farmers.</a:t>
            </a:r>
            <a:endParaRPr lang="en-US" sz="850" dirty="0"/>
          </a:p>
        </p:txBody>
      </p:sp>
      <p:sp>
        <p:nvSpPr>
          <p:cNvPr id="14" name="Shape 11"/>
          <p:cNvSpPr/>
          <p:nvPr/>
        </p:nvSpPr>
        <p:spPr>
          <a:xfrm>
            <a:off x="3363392" y="3282696"/>
            <a:ext cx="2604440" cy="1371600"/>
          </a:xfrm>
          <a:prstGeom prst="roundRect">
            <a:avLst>
              <a:gd name="adj" fmla="val 5333"/>
            </a:avLst>
          </a:prstGeom>
          <a:solidFill>
            <a:srgbClr val="17304A"/>
          </a:solidFill>
          <a:ln w="9525">
            <a:solidFill>
              <a:srgbClr val="2E5470"/>
            </a:solidFill>
            <a:prstDash val="solid"/>
          </a:ln>
        </p:spPr>
      </p:sp>
      <p:sp>
        <p:nvSpPr>
          <p:cNvPr id="15" name="Shape 12"/>
          <p:cNvSpPr/>
          <p:nvPr/>
        </p:nvSpPr>
        <p:spPr>
          <a:xfrm>
            <a:off x="3546272" y="3447288"/>
            <a:ext cx="384048" cy="384048"/>
          </a:xfrm>
          <a:prstGeom prst="ellipse">
            <a:avLst/>
          </a:prstGeom>
          <a:solidFill>
            <a:srgbClr val="5FC28C"/>
          </a:solidFill>
          <a:ln w="12700">
            <a:solidFill>
              <a:srgbClr val="333333"/>
            </a:solidFill>
            <a:prstDash val="solid"/>
          </a:ln>
        </p:spPr>
      </p:sp>
      <p:sp>
        <p:nvSpPr>
          <p:cNvPr id="16" name="Text 13"/>
          <p:cNvSpPr/>
          <p:nvPr/>
        </p:nvSpPr>
        <p:spPr>
          <a:xfrm>
            <a:off x="3546272"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M</a:t>
            </a:r>
            <a:endParaRPr lang="en-US" sz="1100" dirty="0"/>
          </a:p>
        </p:txBody>
      </p:sp>
      <p:sp>
        <p:nvSpPr>
          <p:cNvPr id="17" name="Text 14"/>
          <p:cNvSpPr/>
          <p:nvPr/>
        </p:nvSpPr>
        <p:spPr>
          <a:xfrm>
            <a:off x="3546272"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Meera — The Believer</a:t>
            </a:r>
            <a:endParaRPr lang="en-US" sz="1000" dirty="0"/>
          </a:p>
        </p:txBody>
      </p:sp>
      <p:sp>
        <p:nvSpPr>
          <p:cNvPr id="18" name="Text 15"/>
          <p:cNvSpPr/>
          <p:nvPr/>
        </p:nvSpPr>
        <p:spPr>
          <a:xfrm>
            <a:off x="3546272"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Confirms it with her doctor or her circle of influence.</a:t>
            </a:r>
            <a:endParaRPr lang="en-US" sz="850" dirty="0"/>
          </a:p>
        </p:txBody>
      </p:sp>
      <p:sp>
        <p:nvSpPr>
          <p:cNvPr id="19" name="Shape 16"/>
          <p:cNvSpPr/>
          <p:nvPr/>
        </p:nvSpPr>
        <p:spPr>
          <a:xfrm>
            <a:off x="6223864" y="3282696"/>
            <a:ext cx="2604440" cy="1371600"/>
          </a:xfrm>
          <a:prstGeom prst="roundRect">
            <a:avLst>
              <a:gd name="adj" fmla="val 5333"/>
            </a:avLst>
          </a:prstGeom>
          <a:solidFill>
            <a:srgbClr val="17304A"/>
          </a:solidFill>
          <a:ln w="9525">
            <a:solidFill>
              <a:srgbClr val="2E5470"/>
            </a:solidFill>
            <a:prstDash val="solid"/>
          </a:ln>
        </p:spPr>
      </p:sp>
      <p:sp>
        <p:nvSpPr>
          <p:cNvPr id="20" name="Shape 17"/>
          <p:cNvSpPr/>
          <p:nvPr/>
        </p:nvSpPr>
        <p:spPr>
          <a:xfrm>
            <a:off x="6406744" y="3447288"/>
            <a:ext cx="384048" cy="384048"/>
          </a:xfrm>
          <a:prstGeom prst="ellipse">
            <a:avLst/>
          </a:prstGeom>
          <a:solidFill>
            <a:srgbClr val="5FC28C"/>
          </a:solidFill>
          <a:ln w="12700">
            <a:solidFill>
              <a:srgbClr val="333333"/>
            </a:solidFill>
            <a:prstDash val="solid"/>
          </a:ln>
        </p:spPr>
      </p:sp>
      <p:sp>
        <p:nvSpPr>
          <p:cNvPr id="21" name="Text 18"/>
          <p:cNvSpPr/>
          <p:nvPr/>
        </p:nvSpPr>
        <p:spPr>
          <a:xfrm>
            <a:off x="6406744"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K</a:t>
            </a:r>
            <a:endParaRPr lang="en-US" sz="1100" dirty="0"/>
          </a:p>
        </p:txBody>
      </p:sp>
      <p:sp>
        <p:nvSpPr>
          <p:cNvPr id="22" name="Text 19"/>
          <p:cNvSpPr/>
          <p:nvPr/>
        </p:nvSpPr>
        <p:spPr>
          <a:xfrm>
            <a:off x="6406744"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Karan — The Cruise Controller</a:t>
            </a:r>
            <a:endParaRPr lang="en-US" sz="1000" dirty="0"/>
          </a:p>
        </p:txBody>
      </p:sp>
      <p:sp>
        <p:nvSpPr>
          <p:cNvPr id="23" name="Text 20"/>
          <p:cNvSpPr/>
          <p:nvPr/>
        </p:nvSpPr>
        <p:spPr>
          <a:xfrm>
            <a:off x="6406744"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Notices it's on his app already; repeat-buys anyway.</a:t>
            </a:r>
            <a:endParaRPr lang="en-US" sz="850" dirty="0"/>
          </a:p>
        </p:txBody>
      </p:sp>
      <p:sp>
        <p:nvSpPr>
          <p:cNvPr id="24" name="Shape 21"/>
          <p:cNvSpPr/>
          <p:nvPr/>
        </p:nvSpPr>
        <p:spPr>
          <a:xfrm>
            <a:off x="9084335" y="3282696"/>
            <a:ext cx="2604440" cy="1371600"/>
          </a:xfrm>
          <a:prstGeom prst="roundRect">
            <a:avLst>
              <a:gd name="adj" fmla="val 5333"/>
            </a:avLst>
          </a:prstGeom>
          <a:solidFill>
            <a:srgbClr val="17304A"/>
          </a:solidFill>
          <a:ln w="9525">
            <a:solidFill>
              <a:srgbClr val="2E5470"/>
            </a:solidFill>
            <a:prstDash val="solid"/>
          </a:ln>
        </p:spPr>
      </p:sp>
      <p:sp>
        <p:nvSpPr>
          <p:cNvPr id="25" name="Shape 22"/>
          <p:cNvSpPr/>
          <p:nvPr/>
        </p:nvSpPr>
        <p:spPr>
          <a:xfrm>
            <a:off x="9267215" y="3447288"/>
            <a:ext cx="384048" cy="384048"/>
          </a:xfrm>
          <a:prstGeom prst="ellipse">
            <a:avLst/>
          </a:prstGeom>
          <a:solidFill>
            <a:srgbClr val="5FC28C"/>
          </a:solidFill>
          <a:ln w="12700">
            <a:solidFill>
              <a:srgbClr val="333333"/>
            </a:solidFill>
            <a:prstDash val="solid"/>
          </a:ln>
        </p:spPr>
      </p:sp>
      <p:sp>
        <p:nvSpPr>
          <p:cNvPr id="26" name="Text 23"/>
          <p:cNvSpPr/>
          <p:nvPr/>
        </p:nvSpPr>
        <p:spPr>
          <a:xfrm>
            <a:off x="9267215"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S</a:t>
            </a:r>
            <a:endParaRPr lang="en-US" sz="1100" dirty="0"/>
          </a:p>
        </p:txBody>
      </p:sp>
      <p:sp>
        <p:nvSpPr>
          <p:cNvPr id="27" name="Text 24"/>
          <p:cNvSpPr/>
          <p:nvPr/>
        </p:nvSpPr>
        <p:spPr>
          <a:xfrm>
            <a:off x="9267215"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Sanjay — The Sceptic</a:t>
            </a:r>
            <a:endParaRPr lang="en-US" sz="1000" dirty="0"/>
          </a:p>
        </p:txBody>
      </p:sp>
      <p:sp>
        <p:nvSpPr>
          <p:cNvPr id="28" name="Text 25"/>
          <p:cNvSpPr/>
          <p:nvPr/>
        </p:nvSpPr>
        <p:spPr>
          <a:xfrm>
            <a:off x="9267215"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Watches unscripted farm content; takes up an audit invite from the farmer.</a:t>
            </a:r>
            <a:endParaRPr lang="en-US" sz="850" dirty="0"/>
          </a:p>
        </p:txBody>
      </p:sp>
      <p:sp>
        <p:nvSpPr>
          <p:cNvPr id="29" name="Shape 26"/>
          <p:cNvSpPr/>
          <p:nvPr/>
        </p:nvSpPr>
        <p:spPr>
          <a:xfrm>
            <a:off x="502920" y="4882896"/>
            <a:ext cx="11185855" cy="0"/>
          </a:xfrm>
          <a:prstGeom prst="line">
            <a:avLst/>
          </a:prstGeom>
          <a:noFill/>
          <a:ln w="9525">
            <a:solidFill>
              <a:srgbClr val="FFFFFF">
                <a:alpha val="18000"/>
              </a:srgbClr>
            </a:solidFill>
            <a:prstDash val="solid"/>
          </a:ln>
        </p:spPr>
      </p:sp>
      <p:sp>
        <p:nvSpPr>
          <p:cNvPr id="30" name="Text 27"/>
          <p:cNvSpPr/>
          <p:nvPr/>
        </p:nvSpPr>
        <p:spPr>
          <a:xfrm>
            <a:off x="502920" y="504748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the only metric that goes down if the proof mechanism breaks — brand awareness would not.</a:t>
            </a:r>
            <a:endParaRPr lang="en-US" sz="900" dirty="0"/>
          </a:p>
        </p:txBody>
      </p:sp>
      <p:sp>
        <p:nvSpPr>
          <p:cNvPr id="31" name="Text 28"/>
          <p:cNvSpPr/>
          <p:nvPr/>
        </p:nvSpPr>
        <p:spPr>
          <a:xfrm>
            <a:off x="4231538" y="504748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measurable from day one, without a tracker study: scans, microsite sessions, report downloads, audit sign-ups.</a:t>
            </a:r>
            <a:endParaRPr lang="en-US" sz="900" dirty="0"/>
          </a:p>
        </p:txBody>
      </p:sp>
      <p:sp>
        <p:nvSpPr>
          <p:cNvPr id="32" name="Text 29"/>
          <p:cNvSpPr/>
          <p:nvPr/>
        </p:nvSpPr>
        <p:spPr>
          <a:xfrm>
            <a:off x="7960157" y="504748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the one number a professor, a retailer and a farmer would all read the same way.</a:t>
            </a:r>
            <a:endParaRPr lang="en-US" sz="900" dirty="0"/>
          </a:p>
        </p:txBody>
      </p:sp>
      <p:sp>
        <p:nvSpPr>
          <p:cNvPr id="33" name="Text 30"/>
          <p:cNvSpPr/>
          <p:nvPr/>
        </p:nvSpPr>
        <p:spPr>
          <a:xfrm>
            <a:off x="502920" y="5724144"/>
            <a:ext cx="11185855" cy="365760"/>
          </a:xfrm>
          <a:prstGeom prst="rect">
            <a:avLst/>
          </a:prstGeom>
          <a:noFill/>
          <a:ln/>
        </p:spPr>
        <p:txBody>
          <a:bodyPr wrap="square" lIns="0" tIns="0" rIns="0" bIns="0" rtlCol="0" anchor="ctr"/>
          <a:lstStyle/>
          <a:p>
            <a:pPr indent="0" marL="0">
              <a:buNone/>
            </a:pPr>
            <a:r>
              <a:rPr lang="en-US" sz="1200" i="1" dirty="0">
                <a:solidFill>
                  <a:srgbClr val="FFFFFF"/>
                </a:solidFill>
                <a:latin typeface="Nunito Sans" pitchFamily="34" charset="0"/>
                <a:ea typeface="Nunito Sans" pitchFamily="34" charset="-122"/>
                <a:cs typeface="Nunito Sans" pitchFamily="34" charset="-120"/>
              </a:rPr>
              <a:t>Revenue and share are outcomes. Verified Purchase Rate is the lever that sales, product and marketing teams continuously optimize.</a:t>
            </a:r>
            <a:endParaRPr lang="en-US" sz="1200" dirty="0"/>
          </a:p>
        </p:txBody>
      </p:sp>
      <p:sp>
        <p:nvSpPr>
          <p:cNvPr id="34" name="Shape 31"/>
          <p:cNvSpPr/>
          <p:nvPr/>
        </p:nvSpPr>
        <p:spPr>
          <a:xfrm>
            <a:off x="502920" y="6455664"/>
            <a:ext cx="11185855" cy="0"/>
          </a:xfrm>
          <a:prstGeom prst="line">
            <a:avLst/>
          </a:prstGeom>
          <a:noFill/>
          <a:ln w="9525">
            <a:solidFill>
              <a:srgbClr val="FFFFFF">
                <a:alpha val="16000"/>
              </a:srgbClr>
            </a:solidFill>
            <a:prstDash val="solid"/>
          </a:ln>
        </p:spPr>
      </p:sp>
      <p:sp>
        <p:nvSpPr>
          <p:cNvPr id="35" name="Text 32"/>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A9B6C7"/>
                </a:solidFill>
                <a:latin typeface="Nunito Sans" pitchFamily="34" charset="0"/>
                <a:ea typeface="Nunito Sans" pitchFamily="34" charset="-122"/>
                <a:cs typeface="Nunito Sans" pitchFamily="34" charset="-120"/>
              </a:rPr>
              <a:t>PART 04 · BRAND &amp; PROOF</a:t>
            </a:r>
            <a:endParaRPr lang="en-US" sz="800" dirty="0"/>
          </a:p>
        </p:txBody>
      </p:sp>
      <p:sp>
        <p:nvSpPr>
          <p:cNvPr id="36" name="Text 33"/>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5FC28C"/>
                </a:solidFill>
                <a:latin typeface="Archivo Black" pitchFamily="34" charset="0"/>
                <a:ea typeface="Archivo Black" pitchFamily="34" charset="-122"/>
                <a:cs typeface="Archivo Black" pitchFamily="34" charset="-120"/>
              </a:rPr>
              <a:t>25</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PROOF ARCHITECTURE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One standard, four communication deliveries.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standard behind the pack never changes. What changes is who delivers the proof, through which channel, and how fast it converts.</a:t>
            </a:r>
            <a:endParaRPr lang="en-US" sz="1100" dirty="0"/>
          </a:p>
        </p:txBody>
      </p:sp>
      <p:sp>
        <p:nvSpPr>
          <p:cNvPr id="7" name="Shape 4"/>
          <p:cNvSpPr/>
          <p:nvPr/>
        </p:nvSpPr>
        <p:spPr>
          <a:xfrm>
            <a:off x="502920" y="2121408"/>
            <a:ext cx="2618156" cy="2880360"/>
          </a:xfrm>
          <a:prstGeom prst="roundRect">
            <a:avLst>
              <a:gd name="adj" fmla="val 3143"/>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Shape 5"/>
          <p:cNvSpPr/>
          <p:nvPr/>
        </p:nvSpPr>
        <p:spPr>
          <a:xfrm>
            <a:off x="502920" y="2121408"/>
            <a:ext cx="2618156" cy="45720"/>
          </a:xfrm>
          <a:prstGeom prst="rect">
            <a:avLst/>
          </a:prstGeom>
          <a:solidFill>
            <a:srgbClr val="3A5D97"/>
          </a:solidFill>
          <a:ln w="12700">
            <a:solidFill>
              <a:srgbClr val="333333"/>
            </a:solidFill>
            <a:prstDash val="solid"/>
          </a:ln>
        </p:spPr>
      </p:sp>
      <p:sp>
        <p:nvSpPr>
          <p:cNvPr id="9" name="Text 6"/>
          <p:cNvSpPr/>
          <p:nvPr/>
        </p:nvSpPr>
        <p:spPr>
          <a:xfrm>
            <a:off x="685800"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Vandana — The Verifier</a:t>
            </a:r>
            <a:endParaRPr lang="en-US" sz="1000" dirty="0"/>
          </a:p>
        </p:txBody>
      </p:sp>
      <p:sp>
        <p:nvSpPr>
          <p:cNvPr id="10" name="Text 7"/>
          <p:cNvSpPr/>
          <p:nvPr/>
        </p:nvSpPr>
        <p:spPr>
          <a:xfrm>
            <a:off x="685800"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PROOF-HUNGRY GUARDIANS · 36%</a:t>
            </a:r>
            <a:endParaRPr lang="en-US" sz="700" dirty="0"/>
          </a:p>
        </p:txBody>
      </p:sp>
      <p:sp>
        <p:nvSpPr>
          <p:cNvPr id="11" name="Text 8"/>
          <p:cNvSpPr/>
          <p:nvPr/>
        </p:nvSpPr>
        <p:spPr>
          <a:xfrm>
            <a:off x="685800"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3A5D97"/>
                </a:solidFill>
                <a:latin typeface="Nunito Sans" pitchFamily="34" charset="0"/>
                <a:ea typeface="Nunito Sans" pitchFamily="34" charset="-122"/>
                <a:cs typeface="Nunito Sans" pitchFamily="34" charset="-120"/>
              </a:rPr>
              <a:t>"Scan the pack. See exactly what's inside."</a:t>
            </a:r>
            <a:endParaRPr lang="en-US" sz="950" dirty="0"/>
          </a:p>
        </p:txBody>
      </p:sp>
      <p:sp>
        <p:nvSpPr>
          <p:cNvPr id="12" name="Text 9"/>
          <p:cNvSpPr/>
          <p:nvPr/>
        </p:nvSpPr>
        <p:spPr>
          <a:xfrm>
            <a:off x="685800"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13" name="Text 10"/>
          <p:cNvSpPr/>
          <p:nvPr/>
        </p:nvSpPr>
        <p:spPr>
          <a:xfrm>
            <a:off x="685800"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QR to the batch-level lab report and the farmer</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Doctor or dietitian citation on pack, beside the farmer's view</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Certification carrying a live verification link</a:t>
            </a:r>
            <a:endParaRPr lang="en-US" sz="750" dirty="0"/>
          </a:p>
        </p:txBody>
      </p:sp>
      <p:sp>
        <p:nvSpPr>
          <p:cNvPr id="14" name="Text 11"/>
          <p:cNvSpPr/>
          <p:nvPr/>
        </p:nvSpPr>
        <p:spPr>
          <a:xfrm>
            <a:off x="685800"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15" name="Text 12"/>
          <p:cNvSpPr/>
          <p:nvPr/>
        </p:nvSpPr>
        <p:spPr>
          <a:xfrm>
            <a:off x="685800"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QR code · D2C · Modern trade</a:t>
            </a:r>
            <a:endParaRPr lang="en-US" sz="800" dirty="0"/>
          </a:p>
        </p:txBody>
      </p:sp>
      <p:sp>
        <p:nvSpPr>
          <p:cNvPr id="16" name="Text 13"/>
          <p:cNvSpPr/>
          <p:nvPr/>
        </p:nvSpPr>
        <p:spPr>
          <a:xfrm>
            <a:off x="685800"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17" name="Text 14"/>
          <p:cNvSpPr/>
          <p:nvPr/>
        </p:nvSpPr>
        <p:spPr>
          <a:xfrm>
            <a:off x="685800"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Fast, once proof is visible. She does her own diligence.</a:t>
            </a:r>
            <a:endParaRPr lang="en-US" sz="750" dirty="0"/>
          </a:p>
        </p:txBody>
      </p:sp>
      <p:sp>
        <p:nvSpPr>
          <p:cNvPr id="18" name="Shape 15"/>
          <p:cNvSpPr/>
          <p:nvPr/>
        </p:nvSpPr>
        <p:spPr>
          <a:xfrm>
            <a:off x="3358820" y="2121408"/>
            <a:ext cx="2618156" cy="2880360"/>
          </a:xfrm>
          <a:prstGeom prst="roundRect">
            <a:avLst>
              <a:gd name="adj" fmla="val 3143"/>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9" name="Shape 16"/>
          <p:cNvSpPr/>
          <p:nvPr/>
        </p:nvSpPr>
        <p:spPr>
          <a:xfrm>
            <a:off x="3358820" y="2121408"/>
            <a:ext cx="2618156" cy="45720"/>
          </a:xfrm>
          <a:prstGeom prst="rect">
            <a:avLst/>
          </a:prstGeom>
          <a:solidFill>
            <a:srgbClr val="177A46"/>
          </a:solidFill>
          <a:ln w="12700">
            <a:solidFill>
              <a:srgbClr val="333333"/>
            </a:solidFill>
            <a:prstDash val="solid"/>
          </a:ln>
        </p:spPr>
      </p:sp>
      <p:sp>
        <p:nvSpPr>
          <p:cNvPr id="20" name="Text 17"/>
          <p:cNvSpPr/>
          <p:nvPr/>
        </p:nvSpPr>
        <p:spPr>
          <a:xfrm>
            <a:off x="3541700"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Meera — The Believer</a:t>
            </a:r>
            <a:endParaRPr lang="en-US" sz="1000" dirty="0"/>
          </a:p>
        </p:txBody>
      </p:sp>
      <p:sp>
        <p:nvSpPr>
          <p:cNvPr id="21" name="Text 18"/>
          <p:cNvSpPr/>
          <p:nvPr/>
        </p:nvSpPr>
        <p:spPr>
          <a:xfrm>
            <a:off x="3541700"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SOCIAL TRUSTERS · 20%</a:t>
            </a:r>
            <a:endParaRPr lang="en-US" sz="700" dirty="0"/>
          </a:p>
        </p:txBody>
      </p:sp>
      <p:sp>
        <p:nvSpPr>
          <p:cNvPr id="22" name="Text 19"/>
          <p:cNvSpPr/>
          <p:nvPr/>
        </p:nvSpPr>
        <p:spPr>
          <a:xfrm>
            <a:off x="3541700"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177A46"/>
                </a:solidFill>
                <a:latin typeface="Nunito Sans" pitchFamily="34" charset="0"/>
                <a:ea typeface="Nunito Sans" pitchFamily="34" charset="-122"/>
                <a:cs typeface="Nunito Sans" pitchFamily="34" charset="-120"/>
              </a:rPr>
              <a:t>"Ask your doctor. Then ask your sister. They've approved us."</a:t>
            </a:r>
            <a:endParaRPr lang="en-US" sz="950" dirty="0"/>
          </a:p>
        </p:txBody>
      </p:sp>
      <p:sp>
        <p:nvSpPr>
          <p:cNvPr id="23" name="Text 20"/>
          <p:cNvSpPr/>
          <p:nvPr/>
        </p:nvSpPr>
        <p:spPr>
          <a:xfrm>
            <a:off x="3541700"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24" name="Text 21"/>
          <p:cNvSpPr/>
          <p:nvPr/>
        </p:nvSpPr>
        <p:spPr>
          <a:xfrm>
            <a:off x="3541700"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Doctor and dietitian partnership programme</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Referral incentive for existing customers</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Testimonials from families she recognises</a:t>
            </a:r>
            <a:endParaRPr lang="en-US" sz="750" dirty="0"/>
          </a:p>
        </p:txBody>
      </p:sp>
      <p:sp>
        <p:nvSpPr>
          <p:cNvPr id="25" name="Text 22"/>
          <p:cNvSpPr/>
          <p:nvPr/>
        </p:nvSpPr>
        <p:spPr>
          <a:xfrm>
            <a:off x="3541700"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26" name="Text 23"/>
          <p:cNvSpPr/>
          <p:nvPr/>
        </p:nvSpPr>
        <p:spPr>
          <a:xfrm>
            <a:off x="3541700"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Clinic tie-ups · Community WhatsApp · WOM</a:t>
            </a:r>
            <a:endParaRPr lang="en-US" sz="800" dirty="0"/>
          </a:p>
        </p:txBody>
      </p:sp>
      <p:sp>
        <p:nvSpPr>
          <p:cNvPr id="27" name="Text 24"/>
          <p:cNvSpPr/>
          <p:nvPr/>
        </p:nvSpPr>
        <p:spPr>
          <a:xfrm>
            <a:off x="3541700"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28" name="Text 25"/>
          <p:cNvSpPr/>
          <p:nvPr/>
        </p:nvSpPr>
        <p:spPr>
          <a:xfrm>
            <a:off x="3541700"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Medium. Needs one or two trusted validators, then sticks.</a:t>
            </a:r>
            <a:endParaRPr lang="en-US" sz="750" dirty="0"/>
          </a:p>
        </p:txBody>
      </p:sp>
      <p:sp>
        <p:nvSpPr>
          <p:cNvPr id="29" name="Shape 26"/>
          <p:cNvSpPr/>
          <p:nvPr/>
        </p:nvSpPr>
        <p:spPr>
          <a:xfrm>
            <a:off x="6214720" y="2121408"/>
            <a:ext cx="2618156" cy="2880360"/>
          </a:xfrm>
          <a:prstGeom prst="roundRect">
            <a:avLst>
              <a:gd name="adj" fmla="val 3143"/>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0" name="Shape 27"/>
          <p:cNvSpPr/>
          <p:nvPr/>
        </p:nvSpPr>
        <p:spPr>
          <a:xfrm>
            <a:off x="6214720" y="2121408"/>
            <a:ext cx="2618156" cy="45720"/>
          </a:xfrm>
          <a:prstGeom prst="rect">
            <a:avLst/>
          </a:prstGeom>
          <a:solidFill>
            <a:srgbClr val="B5AD9C"/>
          </a:solidFill>
          <a:ln w="12700">
            <a:solidFill>
              <a:srgbClr val="333333"/>
            </a:solidFill>
            <a:prstDash val="solid"/>
          </a:ln>
        </p:spPr>
      </p:sp>
      <p:sp>
        <p:nvSpPr>
          <p:cNvPr id="31" name="Text 28"/>
          <p:cNvSpPr/>
          <p:nvPr/>
        </p:nvSpPr>
        <p:spPr>
          <a:xfrm>
            <a:off x="6397600"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Karan — The Cruise-Controller</a:t>
            </a:r>
            <a:endParaRPr lang="en-US" sz="1000" dirty="0"/>
          </a:p>
        </p:txBody>
      </p:sp>
      <p:sp>
        <p:nvSpPr>
          <p:cNvPr id="32" name="Text 29"/>
          <p:cNvSpPr/>
          <p:nvPr/>
        </p:nvSpPr>
        <p:spPr>
          <a:xfrm>
            <a:off x="6397600"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PASSIVE DEFAULTERS · 26%</a:t>
            </a:r>
            <a:endParaRPr lang="en-US" sz="700" dirty="0"/>
          </a:p>
        </p:txBody>
      </p:sp>
      <p:sp>
        <p:nvSpPr>
          <p:cNvPr id="33" name="Text 30"/>
          <p:cNvSpPr/>
          <p:nvPr/>
        </p:nvSpPr>
        <p:spPr>
          <a:xfrm>
            <a:off x="6397600"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B5AD9C"/>
                </a:solidFill>
                <a:latin typeface="Nunito Sans" pitchFamily="34" charset="0"/>
                <a:ea typeface="Nunito Sans" pitchFamily="34" charset="-122"/>
                <a:cs typeface="Nunito Sans" pitchFamily="34" charset="-120"/>
              </a:rPr>
              <a:t>"Same taste. Same price. Honestly, better choice."</a:t>
            </a:r>
            <a:endParaRPr lang="en-US" sz="950" dirty="0"/>
          </a:p>
        </p:txBody>
      </p:sp>
      <p:sp>
        <p:nvSpPr>
          <p:cNvPr id="34" name="Text 31"/>
          <p:cNvSpPr/>
          <p:nvPr/>
        </p:nvSpPr>
        <p:spPr>
          <a:xfrm>
            <a:off x="6397600"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35" name="Text 32"/>
          <p:cNvSpPr/>
          <p:nvPr/>
        </p:nvSpPr>
        <p:spPr>
          <a:xfrm>
            <a:off x="6397600"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Priority placement in quick-commerce search</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Price parity with the brand he already buys</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Taste-forward sampling, never health-forward</a:t>
            </a:r>
            <a:endParaRPr lang="en-US" sz="750" dirty="0"/>
          </a:p>
        </p:txBody>
      </p:sp>
      <p:sp>
        <p:nvSpPr>
          <p:cNvPr id="36" name="Text 33"/>
          <p:cNvSpPr/>
          <p:nvPr/>
        </p:nvSpPr>
        <p:spPr>
          <a:xfrm>
            <a:off x="6397600"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37" name="Text 34"/>
          <p:cNvSpPr/>
          <p:nvPr/>
        </p:nvSpPr>
        <p:spPr>
          <a:xfrm>
            <a:off x="6397600"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Quick commerce · Modern trade endcaps</a:t>
            </a:r>
            <a:endParaRPr lang="en-US" sz="800" dirty="0"/>
          </a:p>
        </p:txBody>
      </p:sp>
      <p:sp>
        <p:nvSpPr>
          <p:cNvPr id="38" name="Text 35"/>
          <p:cNvSpPr/>
          <p:nvPr/>
        </p:nvSpPr>
        <p:spPr>
          <a:xfrm>
            <a:off x="6397600"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39" name="Text 36"/>
          <p:cNvSpPr/>
          <p:nvPr/>
        </p:nvSpPr>
        <p:spPr>
          <a:xfrm>
            <a:off x="6397600"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Fast to trial, low loyalty. Needs habitual reinforcement.</a:t>
            </a:r>
            <a:endParaRPr lang="en-US" sz="750" dirty="0"/>
          </a:p>
        </p:txBody>
      </p:sp>
      <p:sp>
        <p:nvSpPr>
          <p:cNvPr id="40" name="Shape 37"/>
          <p:cNvSpPr/>
          <p:nvPr/>
        </p:nvSpPr>
        <p:spPr>
          <a:xfrm>
            <a:off x="9070619" y="2121408"/>
            <a:ext cx="2618156" cy="2880360"/>
          </a:xfrm>
          <a:prstGeom prst="roundRect">
            <a:avLst>
              <a:gd name="adj" fmla="val 3143"/>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1" name="Shape 38"/>
          <p:cNvSpPr/>
          <p:nvPr/>
        </p:nvSpPr>
        <p:spPr>
          <a:xfrm>
            <a:off x="9070619" y="2121408"/>
            <a:ext cx="2618156" cy="45720"/>
          </a:xfrm>
          <a:prstGeom prst="rect">
            <a:avLst/>
          </a:prstGeom>
          <a:solidFill>
            <a:srgbClr val="9E3A24"/>
          </a:solidFill>
          <a:ln w="12700">
            <a:solidFill>
              <a:srgbClr val="333333"/>
            </a:solidFill>
            <a:prstDash val="solid"/>
          </a:ln>
        </p:spPr>
      </p:sp>
      <p:sp>
        <p:nvSpPr>
          <p:cNvPr id="42" name="Text 39"/>
          <p:cNvSpPr/>
          <p:nvPr/>
        </p:nvSpPr>
        <p:spPr>
          <a:xfrm>
            <a:off x="9253499"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Sanjay — The Sceptic</a:t>
            </a:r>
            <a:endParaRPr lang="en-US" sz="1000" dirty="0"/>
          </a:p>
        </p:txBody>
      </p:sp>
      <p:sp>
        <p:nvSpPr>
          <p:cNvPr id="43" name="Text 40"/>
          <p:cNvSpPr/>
          <p:nvPr/>
        </p:nvSpPr>
        <p:spPr>
          <a:xfrm>
            <a:off x="9253499"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SYSTEM FATALISTS · 18%</a:t>
            </a:r>
            <a:endParaRPr lang="en-US" sz="700" dirty="0"/>
          </a:p>
        </p:txBody>
      </p:sp>
      <p:sp>
        <p:nvSpPr>
          <p:cNvPr id="44" name="Text 41"/>
          <p:cNvSpPr/>
          <p:nvPr/>
        </p:nvSpPr>
        <p:spPr>
          <a:xfrm>
            <a:off x="9253499"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9E3A24"/>
                </a:solidFill>
                <a:latin typeface="Nunito Sans" pitchFamily="34" charset="0"/>
                <a:ea typeface="Nunito Sans" pitchFamily="34" charset="-122"/>
                <a:cs typeface="Nunito Sans" pitchFamily="34" charset="-120"/>
              </a:rPr>
              <a:t>"We'll show you the parts no brand talks about."</a:t>
            </a:r>
            <a:endParaRPr lang="en-US" sz="950" dirty="0"/>
          </a:p>
        </p:txBody>
      </p:sp>
      <p:sp>
        <p:nvSpPr>
          <p:cNvPr id="45" name="Text 42"/>
          <p:cNvSpPr/>
          <p:nvPr/>
        </p:nvSpPr>
        <p:spPr>
          <a:xfrm>
            <a:off x="9253499"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46" name="Text 43"/>
          <p:cNvSpPr/>
          <p:nvPr/>
        </p:nvSpPr>
        <p:spPr>
          <a:xfrm>
            <a:off x="9253499"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Unscripted farmer and founder video content</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Open invitations to audit or visit the farm</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Independent verification nobody paid for</a:t>
            </a:r>
            <a:endParaRPr lang="en-US" sz="750" dirty="0"/>
          </a:p>
        </p:txBody>
      </p:sp>
      <p:sp>
        <p:nvSpPr>
          <p:cNvPr id="47" name="Text 44"/>
          <p:cNvSpPr/>
          <p:nvPr/>
        </p:nvSpPr>
        <p:spPr>
          <a:xfrm>
            <a:off x="9253499"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48" name="Text 45"/>
          <p:cNvSpPr/>
          <p:nvPr/>
        </p:nvSpPr>
        <p:spPr>
          <a:xfrm>
            <a:off x="9253499"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Farmer-direct platforms · Founder-led content</a:t>
            </a:r>
            <a:endParaRPr lang="en-US" sz="800" dirty="0"/>
          </a:p>
        </p:txBody>
      </p:sp>
      <p:sp>
        <p:nvSpPr>
          <p:cNvPr id="49" name="Text 46"/>
          <p:cNvSpPr/>
          <p:nvPr/>
        </p:nvSpPr>
        <p:spPr>
          <a:xfrm>
            <a:off x="9253499"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50" name="Text 47"/>
          <p:cNvSpPr/>
          <p:nvPr/>
        </p:nvSpPr>
        <p:spPr>
          <a:xfrm>
            <a:off x="9253499"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Slowest — but becomes a vocal advocate once earned.</a:t>
            </a:r>
            <a:endParaRPr lang="en-US" sz="750" dirty="0"/>
          </a:p>
        </p:txBody>
      </p:sp>
      <p:sp>
        <p:nvSpPr>
          <p:cNvPr id="51" name="Text 48"/>
          <p:cNvSpPr/>
          <p:nvPr/>
        </p:nvSpPr>
        <p:spPr>
          <a:xfrm>
            <a:off x="502920" y="5120640"/>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TRUST IS MULTI-DIMENSIONAL FOR EACH ARCHETYPE</a:t>
            </a:r>
            <a:endParaRPr lang="en-US" sz="950" dirty="0"/>
          </a:p>
        </p:txBody>
      </p:sp>
      <p:sp>
        <p:nvSpPr>
          <p:cNvPr id="52" name="Shape 49"/>
          <p:cNvSpPr/>
          <p:nvPr/>
        </p:nvSpPr>
        <p:spPr>
          <a:xfrm>
            <a:off x="502920" y="5358384"/>
            <a:ext cx="11185855" cy="283464"/>
          </a:xfrm>
          <a:prstGeom prst="rect">
            <a:avLst/>
          </a:prstGeom>
          <a:solidFill>
            <a:srgbClr val="F3ECE0"/>
          </a:solidFill>
          <a:ln w="12700">
            <a:solidFill>
              <a:srgbClr val="333333"/>
            </a:solidFill>
            <a:prstDash val="solid"/>
          </a:ln>
        </p:spPr>
      </p:sp>
      <p:sp>
        <p:nvSpPr>
          <p:cNvPr id="53" name="Text 50"/>
          <p:cNvSpPr/>
          <p:nvPr/>
        </p:nvSpPr>
        <p:spPr>
          <a:xfrm>
            <a:off x="612648" y="5358384"/>
            <a:ext cx="1645920" cy="283464"/>
          </a:xfrm>
          <a:prstGeom prst="rect">
            <a:avLst/>
          </a:prstGeom>
          <a:noFill/>
          <a:ln/>
        </p:spPr>
        <p:txBody>
          <a:bodyPr wrap="square" lIns="0" tIns="0" rIns="0" bIns="0" rtlCol="0" anchor="ctr"/>
          <a:lstStyle/>
          <a:p>
            <a:pPr indent="0" marL="0">
              <a:buNone/>
            </a:pPr>
            <a:endParaRPr lang="en-US" sz="800" dirty="0"/>
          </a:p>
        </p:txBody>
      </p:sp>
      <p:sp>
        <p:nvSpPr>
          <p:cNvPr id="54" name="Text 51"/>
          <p:cNvSpPr/>
          <p:nvPr/>
        </p:nvSpPr>
        <p:spPr>
          <a:xfrm>
            <a:off x="244144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Vandana</a:t>
            </a:r>
            <a:endParaRPr lang="en-US" sz="800" dirty="0"/>
          </a:p>
        </p:txBody>
      </p:sp>
      <p:sp>
        <p:nvSpPr>
          <p:cNvPr id="55" name="Text 52"/>
          <p:cNvSpPr/>
          <p:nvPr/>
        </p:nvSpPr>
        <p:spPr>
          <a:xfrm>
            <a:off x="477316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Meera</a:t>
            </a:r>
            <a:endParaRPr lang="en-US" sz="800" dirty="0"/>
          </a:p>
        </p:txBody>
      </p:sp>
      <p:sp>
        <p:nvSpPr>
          <p:cNvPr id="56" name="Text 53"/>
          <p:cNvSpPr/>
          <p:nvPr/>
        </p:nvSpPr>
        <p:spPr>
          <a:xfrm>
            <a:off x="710488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Karan</a:t>
            </a:r>
            <a:endParaRPr lang="en-US" sz="800" dirty="0"/>
          </a:p>
        </p:txBody>
      </p:sp>
      <p:sp>
        <p:nvSpPr>
          <p:cNvPr id="57" name="Text 54"/>
          <p:cNvSpPr/>
          <p:nvPr/>
        </p:nvSpPr>
        <p:spPr>
          <a:xfrm>
            <a:off x="943660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Sanjay</a:t>
            </a:r>
            <a:endParaRPr lang="en-US" sz="800" dirty="0"/>
          </a:p>
        </p:txBody>
      </p:sp>
      <p:sp>
        <p:nvSpPr>
          <p:cNvPr id="58" name="Text 55"/>
          <p:cNvSpPr/>
          <p:nvPr/>
        </p:nvSpPr>
        <p:spPr>
          <a:xfrm>
            <a:off x="612648" y="5641848"/>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Trust lever</a:t>
            </a:r>
            <a:endParaRPr lang="en-US" sz="800" dirty="0"/>
          </a:p>
        </p:txBody>
      </p:sp>
      <p:sp>
        <p:nvSpPr>
          <p:cNvPr id="59" name="Text 56"/>
          <p:cNvSpPr/>
          <p:nvPr/>
        </p:nvSpPr>
        <p:spPr>
          <a:xfrm>
            <a:off x="244144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Verified data (QR + lab)</a:t>
            </a:r>
            <a:endParaRPr lang="en-US" sz="800" dirty="0"/>
          </a:p>
        </p:txBody>
      </p:sp>
      <p:sp>
        <p:nvSpPr>
          <p:cNvPr id="60" name="Text 57"/>
          <p:cNvSpPr/>
          <p:nvPr/>
        </p:nvSpPr>
        <p:spPr>
          <a:xfrm>
            <a:off x="477316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Human endorsement</a:t>
            </a:r>
            <a:endParaRPr lang="en-US" sz="800" dirty="0"/>
          </a:p>
        </p:txBody>
      </p:sp>
      <p:sp>
        <p:nvSpPr>
          <p:cNvPr id="61" name="Text 58"/>
          <p:cNvSpPr/>
          <p:nvPr/>
        </p:nvSpPr>
        <p:spPr>
          <a:xfrm>
            <a:off x="710488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Familiarity, shelf presence</a:t>
            </a:r>
            <a:endParaRPr lang="en-US" sz="800" dirty="0"/>
          </a:p>
        </p:txBody>
      </p:sp>
      <p:sp>
        <p:nvSpPr>
          <p:cNvPr id="62" name="Text 59"/>
          <p:cNvSpPr/>
          <p:nvPr/>
        </p:nvSpPr>
        <p:spPr>
          <a:xfrm>
            <a:off x="943660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Radical transparency</a:t>
            </a:r>
            <a:endParaRPr lang="en-US" sz="800" dirty="0"/>
          </a:p>
        </p:txBody>
      </p:sp>
      <p:sp>
        <p:nvSpPr>
          <p:cNvPr id="63" name="Shape 60"/>
          <p:cNvSpPr/>
          <p:nvPr/>
        </p:nvSpPr>
        <p:spPr>
          <a:xfrm>
            <a:off x="502920" y="5925312"/>
            <a:ext cx="11185855" cy="0"/>
          </a:xfrm>
          <a:prstGeom prst="line">
            <a:avLst/>
          </a:prstGeom>
          <a:noFill/>
          <a:ln w="5080">
            <a:solidFill>
              <a:srgbClr val="E5DCCB"/>
            </a:solidFill>
            <a:prstDash val="solid"/>
          </a:ln>
        </p:spPr>
      </p:sp>
      <p:sp>
        <p:nvSpPr>
          <p:cNvPr id="64" name="Text 61"/>
          <p:cNvSpPr/>
          <p:nvPr/>
        </p:nvSpPr>
        <p:spPr>
          <a:xfrm>
            <a:off x="612648" y="5925312"/>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Price perception</a:t>
            </a:r>
            <a:endParaRPr lang="en-US" sz="800" dirty="0"/>
          </a:p>
        </p:txBody>
      </p:sp>
      <p:sp>
        <p:nvSpPr>
          <p:cNvPr id="65" name="Text 62"/>
          <p:cNvSpPr/>
          <p:nvPr/>
        </p:nvSpPr>
        <p:spPr>
          <a:xfrm>
            <a:off x="244144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Premium OK, with proof</a:t>
            </a:r>
            <a:endParaRPr lang="en-US" sz="800" dirty="0"/>
          </a:p>
        </p:txBody>
      </p:sp>
      <p:sp>
        <p:nvSpPr>
          <p:cNvPr id="66" name="Text 63"/>
          <p:cNvSpPr/>
          <p:nvPr/>
        </p:nvSpPr>
        <p:spPr>
          <a:xfrm>
            <a:off x="477316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Modest premium if endorsed</a:t>
            </a:r>
            <a:endParaRPr lang="en-US" sz="800" dirty="0"/>
          </a:p>
        </p:txBody>
      </p:sp>
      <p:sp>
        <p:nvSpPr>
          <p:cNvPr id="67" name="Text 64"/>
          <p:cNvSpPr/>
          <p:nvPr/>
        </p:nvSpPr>
        <p:spPr>
          <a:xfrm>
            <a:off x="710488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Expects price parity</a:t>
            </a:r>
            <a:endParaRPr lang="en-US" sz="800" dirty="0"/>
          </a:p>
        </p:txBody>
      </p:sp>
      <p:sp>
        <p:nvSpPr>
          <p:cNvPr id="68" name="Text 65"/>
          <p:cNvSpPr/>
          <p:nvPr/>
        </p:nvSpPr>
        <p:spPr>
          <a:xfrm>
            <a:off x="943660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Suspicious of any premium</a:t>
            </a:r>
            <a:endParaRPr lang="en-US" sz="800" dirty="0"/>
          </a:p>
        </p:txBody>
      </p:sp>
      <p:sp>
        <p:nvSpPr>
          <p:cNvPr id="69" name="Shape 66"/>
          <p:cNvSpPr/>
          <p:nvPr/>
        </p:nvSpPr>
        <p:spPr>
          <a:xfrm>
            <a:off x="502920" y="6208776"/>
            <a:ext cx="11185855" cy="0"/>
          </a:xfrm>
          <a:prstGeom prst="line">
            <a:avLst/>
          </a:prstGeom>
          <a:noFill/>
          <a:ln w="5080">
            <a:solidFill>
              <a:srgbClr val="E5DCCB"/>
            </a:solidFill>
            <a:prstDash val="solid"/>
          </a:ln>
        </p:spPr>
      </p:sp>
      <p:sp>
        <p:nvSpPr>
          <p:cNvPr id="70" name="Text 67"/>
          <p:cNvSpPr/>
          <p:nvPr/>
        </p:nvSpPr>
        <p:spPr>
          <a:xfrm>
            <a:off x="612648" y="6208776"/>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Key to win</a:t>
            </a:r>
            <a:endParaRPr lang="en-US" sz="800" dirty="0"/>
          </a:p>
        </p:txBody>
      </p:sp>
      <p:sp>
        <p:nvSpPr>
          <p:cNvPr id="71" name="Text 68"/>
          <p:cNvSpPr/>
          <p:nvPr/>
        </p:nvSpPr>
        <p:spPr>
          <a:xfrm>
            <a:off x="244144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Batch proof + doctor review</a:t>
            </a:r>
            <a:endParaRPr lang="en-US" sz="800" dirty="0"/>
          </a:p>
        </p:txBody>
      </p:sp>
      <p:sp>
        <p:nvSpPr>
          <p:cNvPr id="72" name="Text 69"/>
          <p:cNvSpPr/>
          <p:nvPr/>
        </p:nvSpPr>
        <p:spPr>
          <a:xfrm>
            <a:off x="477316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Get her circle to vouch</a:t>
            </a:r>
            <a:endParaRPr lang="en-US" sz="800" dirty="0"/>
          </a:p>
        </p:txBody>
      </p:sp>
      <p:sp>
        <p:nvSpPr>
          <p:cNvPr id="73" name="Text 70"/>
          <p:cNvSpPr/>
          <p:nvPr/>
        </p:nvSpPr>
        <p:spPr>
          <a:xfrm>
            <a:off x="710488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Be visible and taste-led</a:t>
            </a:r>
            <a:endParaRPr lang="en-US" sz="800" dirty="0"/>
          </a:p>
        </p:txBody>
      </p:sp>
      <p:sp>
        <p:nvSpPr>
          <p:cNvPr id="74" name="Text 71"/>
          <p:cNvSpPr/>
          <p:nvPr/>
        </p:nvSpPr>
        <p:spPr>
          <a:xfrm>
            <a:off x="943660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Show the imperfect parts</a:t>
            </a:r>
            <a:endParaRPr lang="en-US" sz="800" dirty="0"/>
          </a:p>
        </p:txBody>
      </p:sp>
      <p:sp>
        <p:nvSpPr>
          <p:cNvPr id="75" name="Shape 72"/>
          <p:cNvSpPr/>
          <p:nvPr/>
        </p:nvSpPr>
        <p:spPr>
          <a:xfrm>
            <a:off x="502920" y="6492240"/>
            <a:ext cx="11185855" cy="0"/>
          </a:xfrm>
          <a:prstGeom prst="line">
            <a:avLst/>
          </a:prstGeom>
          <a:noFill/>
          <a:ln w="5080">
            <a:solidFill>
              <a:srgbClr val="E5DCCB"/>
            </a:solidFill>
            <a:prstDash val="solid"/>
          </a:ln>
        </p:spPr>
      </p:sp>
      <p:sp>
        <p:nvSpPr>
          <p:cNvPr id="76" name="Shape 73"/>
          <p:cNvSpPr/>
          <p:nvPr/>
        </p:nvSpPr>
        <p:spPr>
          <a:xfrm>
            <a:off x="502920" y="6455664"/>
            <a:ext cx="11185855" cy="0"/>
          </a:xfrm>
          <a:prstGeom prst="line">
            <a:avLst/>
          </a:prstGeom>
          <a:noFill/>
          <a:ln w="9525">
            <a:solidFill>
              <a:srgbClr val="E5DCCB"/>
            </a:solidFill>
            <a:prstDash val="solid"/>
          </a:ln>
        </p:spPr>
      </p:sp>
      <p:sp>
        <p:nvSpPr>
          <p:cNvPr id="77" name="Text 74"/>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78" name="Text 7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26</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5.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05</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Growth Engine</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Where to sell it, what to sell, and what it costs to get there.</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Strategy says premium. Portfolio says commodities.</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₹53 Cr today. ₹748 Cr by FY31.</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Earn the shelf, then densify it</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INTERNAL DIAGNOSIS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Strategy says accessible-premium food brand. Portfolio says commodities.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Eight half-years of audited revenue. The business is growing, but growing fastest in the block it talks about least — and depending on a single platform for a quarter of its income.</a:t>
            </a:r>
            <a:endParaRPr lang="en-US" sz="1100" dirty="0"/>
          </a:p>
        </p:txBody>
      </p:sp>
      <p:sp>
        <p:nvSpPr>
          <p:cNvPr id="7" name="Shape 4"/>
          <p:cNvSpPr/>
          <p:nvPr/>
        </p:nvSpPr>
        <p:spPr>
          <a:xfrm>
            <a:off x="502920" y="2121408"/>
            <a:ext cx="2618156" cy="1280160"/>
          </a:xfrm>
          <a:prstGeom prst="roundRect">
            <a:avLst>
              <a:gd name="adj" fmla="val 64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231136"/>
            <a:ext cx="2252396"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₹90.9 Cr</a:t>
            </a:r>
            <a:endParaRPr lang="en-US" sz="2500" dirty="0"/>
          </a:p>
        </p:txBody>
      </p:sp>
      <p:sp>
        <p:nvSpPr>
          <p:cNvPr id="9" name="Text 6"/>
          <p:cNvSpPr/>
          <p:nvPr/>
        </p:nvSpPr>
        <p:spPr>
          <a:xfrm>
            <a:off x="685800" y="267970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Cumulative revenue audited across eight half-years; FY26 ≈ ₹53 Cr, up ~30% YoY</a:t>
            </a:r>
            <a:endParaRPr lang="en-US" sz="850" dirty="0"/>
          </a:p>
        </p:txBody>
      </p:sp>
      <p:sp>
        <p:nvSpPr>
          <p:cNvPr id="10" name="Shape 7"/>
          <p:cNvSpPr/>
          <p:nvPr/>
        </p:nvSpPr>
        <p:spPr>
          <a:xfrm>
            <a:off x="3358820" y="2121408"/>
            <a:ext cx="2618156" cy="1280160"/>
          </a:xfrm>
          <a:prstGeom prst="roundRect">
            <a:avLst>
              <a:gd name="adj" fmla="val 64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3541700" y="2231136"/>
            <a:ext cx="2252396"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+219%</a:t>
            </a:r>
            <a:endParaRPr lang="en-US" sz="2500" dirty="0"/>
          </a:p>
        </p:txBody>
      </p:sp>
      <p:sp>
        <p:nvSpPr>
          <p:cNvPr id="12" name="Text 9"/>
          <p:cNvSpPr/>
          <p:nvPr/>
        </p:nvSpPr>
        <p:spPr>
          <a:xfrm>
            <a:off x="3541700" y="267970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Growth of the value-added block (makhana, jaggery, honey) = 29% of revenue, the real engine</a:t>
            </a:r>
            <a:endParaRPr lang="en-US" sz="850" dirty="0"/>
          </a:p>
        </p:txBody>
      </p:sp>
      <p:sp>
        <p:nvSpPr>
          <p:cNvPr id="13" name="Shape 10"/>
          <p:cNvSpPr/>
          <p:nvPr/>
        </p:nvSpPr>
        <p:spPr>
          <a:xfrm>
            <a:off x="6214720" y="2121408"/>
            <a:ext cx="2618156" cy="1280160"/>
          </a:xfrm>
          <a:prstGeom prst="roundRect">
            <a:avLst>
              <a:gd name="adj" fmla="val 64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6397600" y="2231136"/>
            <a:ext cx="2252396"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24%</a:t>
            </a:r>
            <a:endParaRPr lang="en-US" sz="2500" dirty="0"/>
          </a:p>
        </p:txBody>
      </p:sp>
      <p:sp>
        <p:nvSpPr>
          <p:cNvPr id="15" name="Text 12"/>
          <p:cNvSpPr/>
          <p:nvPr/>
        </p:nvSpPr>
        <p:spPr>
          <a:xfrm>
            <a:off x="6397600" y="267970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revenue from a single account, Zepto — one rupee in four is at platform mercy</a:t>
            </a:r>
            <a:endParaRPr lang="en-US" sz="850" dirty="0"/>
          </a:p>
        </p:txBody>
      </p:sp>
      <p:sp>
        <p:nvSpPr>
          <p:cNvPr id="16" name="Shape 13"/>
          <p:cNvSpPr/>
          <p:nvPr/>
        </p:nvSpPr>
        <p:spPr>
          <a:xfrm>
            <a:off x="9070619" y="2121408"/>
            <a:ext cx="2618156" cy="1280160"/>
          </a:xfrm>
          <a:prstGeom prst="roundRect">
            <a:avLst>
              <a:gd name="adj" fmla="val 64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7" name="Text 14"/>
          <p:cNvSpPr/>
          <p:nvPr/>
        </p:nvSpPr>
        <p:spPr>
          <a:xfrm>
            <a:off x="9253499" y="2231136"/>
            <a:ext cx="2252396"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~33%</a:t>
            </a:r>
            <a:endParaRPr lang="en-US" sz="2500" dirty="0"/>
          </a:p>
        </p:txBody>
      </p:sp>
      <p:sp>
        <p:nvSpPr>
          <p:cNvPr id="18" name="Text 15"/>
          <p:cNvSpPr/>
          <p:nvPr/>
        </p:nvSpPr>
        <p:spPr>
          <a:xfrm>
            <a:off x="9253499" y="267970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revenue (≈₹30 Cr) has no channel attribution at all</a:t>
            </a:r>
            <a:endParaRPr lang="en-US" sz="850" dirty="0"/>
          </a:p>
        </p:txBody>
      </p:sp>
      <p:sp>
        <p:nvSpPr>
          <p:cNvPr id="19" name="Text 16"/>
          <p:cNvSpPr/>
          <p:nvPr/>
        </p:nvSpPr>
        <p:spPr>
          <a:xfrm>
            <a:off x="502920" y="3694176"/>
            <a:ext cx="64008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PORTFOLIO MIX VS PORTFOLIO GROWTH  (CUMULATIVE ₹ CR, GROWTH %)</a:t>
            </a:r>
            <a:endParaRPr lang="en-US" sz="950" dirty="0"/>
          </a:p>
        </p:txBody>
      </p:sp>
      <p:sp>
        <p:nvSpPr>
          <p:cNvPr id="20" name="Shape 17"/>
          <p:cNvSpPr/>
          <p:nvPr/>
        </p:nvSpPr>
        <p:spPr>
          <a:xfrm>
            <a:off x="502920" y="3986784"/>
            <a:ext cx="6035040"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1" name="Text 18"/>
          <p:cNvSpPr/>
          <p:nvPr/>
        </p:nvSpPr>
        <p:spPr>
          <a:xfrm>
            <a:off x="777240" y="4197096"/>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Pulses · 56% of revenue</a:t>
            </a:r>
            <a:endParaRPr lang="en-US" sz="950" dirty="0"/>
          </a:p>
        </p:txBody>
      </p:sp>
      <p:sp>
        <p:nvSpPr>
          <p:cNvPr id="22" name="Text 19"/>
          <p:cNvSpPr/>
          <p:nvPr/>
        </p:nvSpPr>
        <p:spPr>
          <a:xfrm>
            <a:off x="4526280" y="419709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₹50.4 Cr · +113%</a:t>
            </a:r>
            <a:endParaRPr lang="en-US" sz="1000" dirty="0"/>
          </a:p>
        </p:txBody>
      </p:sp>
      <p:sp>
        <p:nvSpPr>
          <p:cNvPr id="23" name="Shape 20"/>
          <p:cNvSpPr/>
          <p:nvPr/>
        </p:nvSpPr>
        <p:spPr>
          <a:xfrm>
            <a:off x="777240" y="4416552"/>
            <a:ext cx="5486400" cy="137160"/>
          </a:xfrm>
          <a:prstGeom prst="roundRect">
            <a:avLst>
              <a:gd name="adj" fmla="val 50000"/>
            </a:avLst>
          </a:prstGeom>
          <a:solidFill>
            <a:srgbClr val="EDE4D4"/>
          </a:solidFill>
          <a:ln w="12700">
            <a:solidFill>
              <a:srgbClr val="333333"/>
            </a:solidFill>
            <a:prstDash val="solid"/>
          </a:ln>
        </p:spPr>
      </p:sp>
      <p:sp>
        <p:nvSpPr>
          <p:cNvPr id="24" name="Shape 21"/>
          <p:cNvSpPr/>
          <p:nvPr/>
        </p:nvSpPr>
        <p:spPr>
          <a:xfrm>
            <a:off x="777240" y="4416552"/>
            <a:ext cx="4937760" cy="137160"/>
          </a:xfrm>
          <a:prstGeom prst="roundRect">
            <a:avLst>
              <a:gd name="adj" fmla="val 50000"/>
            </a:avLst>
          </a:prstGeom>
          <a:solidFill>
            <a:srgbClr val="3A5D97"/>
          </a:solidFill>
          <a:ln w="12700">
            <a:solidFill>
              <a:srgbClr val="333333"/>
            </a:solidFill>
            <a:prstDash val="solid"/>
          </a:ln>
        </p:spPr>
      </p:sp>
      <p:sp>
        <p:nvSpPr>
          <p:cNvPr id="25" name="Text 22"/>
          <p:cNvSpPr/>
          <p:nvPr/>
        </p:nvSpPr>
        <p:spPr>
          <a:xfrm>
            <a:off x="777240" y="4672584"/>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Value-Added · 29%</a:t>
            </a:r>
            <a:endParaRPr lang="en-US" sz="950" dirty="0"/>
          </a:p>
        </p:txBody>
      </p:sp>
      <p:sp>
        <p:nvSpPr>
          <p:cNvPr id="26" name="Text 23"/>
          <p:cNvSpPr/>
          <p:nvPr/>
        </p:nvSpPr>
        <p:spPr>
          <a:xfrm>
            <a:off x="4526280" y="467258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₹26.0 Cr · +219%</a:t>
            </a:r>
            <a:endParaRPr lang="en-US" sz="1000" dirty="0"/>
          </a:p>
        </p:txBody>
      </p:sp>
      <p:sp>
        <p:nvSpPr>
          <p:cNvPr id="27" name="Shape 24"/>
          <p:cNvSpPr/>
          <p:nvPr/>
        </p:nvSpPr>
        <p:spPr>
          <a:xfrm>
            <a:off x="777240" y="4892040"/>
            <a:ext cx="5486400" cy="137160"/>
          </a:xfrm>
          <a:prstGeom prst="roundRect">
            <a:avLst>
              <a:gd name="adj" fmla="val 50000"/>
            </a:avLst>
          </a:prstGeom>
          <a:solidFill>
            <a:srgbClr val="EDE4D4"/>
          </a:solidFill>
          <a:ln w="12700">
            <a:solidFill>
              <a:srgbClr val="333333"/>
            </a:solidFill>
            <a:prstDash val="solid"/>
          </a:ln>
        </p:spPr>
      </p:sp>
      <p:sp>
        <p:nvSpPr>
          <p:cNvPr id="28" name="Shape 25"/>
          <p:cNvSpPr/>
          <p:nvPr/>
        </p:nvSpPr>
        <p:spPr>
          <a:xfrm>
            <a:off x="777240" y="4892040"/>
            <a:ext cx="2547257" cy="137160"/>
          </a:xfrm>
          <a:prstGeom prst="roundRect">
            <a:avLst>
              <a:gd name="adj" fmla="val 50000"/>
            </a:avLst>
          </a:prstGeom>
          <a:solidFill>
            <a:srgbClr val="177A46"/>
          </a:solidFill>
          <a:ln w="12700">
            <a:solidFill>
              <a:srgbClr val="333333"/>
            </a:solidFill>
            <a:prstDash val="solid"/>
          </a:ln>
        </p:spPr>
      </p:sp>
      <p:sp>
        <p:nvSpPr>
          <p:cNvPr id="29" name="Text 26"/>
          <p:cNvSpPr/>
          <p:nvPr/>
        </p:nvSpPr>
        <p:spPr>
          <a:xfrm>
            <a:off x="777240" y="5148072"/>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Spices · 12%</a:t>
            </a:r>
            <a:endParaRPr lang="en-US" sz="950" dirty="0"/>
          </a:p>
        </p:txBody>
      </p:sp>
      <p:sp>
        <p:nvSpPr>
          <p:cNvPr id="30" name="Text 27"/>
          <p:cNvSpPr/>
          <p:nvPr/>
        </p:nvSpPr>
        <p:spPr>
          <a:xfrm>
            <a:off x="4526280" y="514807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₹10.9 Cr · +185%</a:t>
            </a:r>
            <a:endParaRPr lang="en-US" sz="1000" dirty="0"/>
          </a:p>
        </p:txBody>
      </p:sp>
      <p:sp>
        <p:nvSpPr>
          <p:cNvPr id="31" name="Shape 28"/>
          <p:cNvSpPr/>
          <p:nvPr/>
        </p:nvSpPr>
        <p:spPr>
          <a:xfrm>
            <a:off x="777240" y="5367528"/>
            <a:ext cx="5486400" cy="137160"/>
          </a:xfrm>
          <a:prstGeom prst="roundRect">
            <a:avLst>
              <a:gd name="adj" fmla="val 50000"/>
            </a:avLst>
          </a:prstGeom>
          <a:solidFill>
            <a:srgbClr val="EDE4D4"/>
          </a:solidFill>
          <a:ln w="12700">
            <a:solidFill>
              <a:srgbClr val="333333"/>
            </a:solidFill>
            <a:prstDash val="solid"/>
          </a:ln>
        </p:spPr>
      </p:sp>
      <p:sp>
        <p:nvSpPr>
          <p:cNvPr id="32" name="Shape 29"/>
          <p:cNvSpPr/>
          <p:nvPr/>
        </p:nvSpPr>
        <p:spPr>
          <a:xfrm>
            <a:off x="777240" y="5367528"/>
            <a:ext cx="1067889" cy="137160"/>
          </a:xfrm>
          <a:prstGeom prst="roundRect">
            <a:avLst>
              <a:gd name="adj" fmla="val 50000"/>
            </a:avLst>
          </a:prstGeom>
          <a:solidFill>
            <a:srgbClr val="C8922E"/>
          </a:solidFill>
          <a:ln w="12700">
            <a:solidFill>
              <a:srgbClr val="333333"/>
            </a:solidFill>
            <a:prstDash val="solid"/>
          </a:ln>
        </p:spPr>
      </p:sp>
      <p:sp>
        <p:nvSpPr>
          <p:cNvPr id="33" name="Text 30"/>
          <p:cNvSpPr/>
          <p:nvPr/>
        </p:nvSpPr>
        <p:spPr>
          <a:xfrm>
            <a:off x="777240" y="5623560"/>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Oil &amp; Ghee · 1%</a:t>
            </a:r>
            <a:endParaRPr lang="en-US" sz="950" dirty="0"/>
          </a:p>
        </p:txBody>
      </p:sp>
      <p:sp>
        <p:nvSpPr>
          <p:cNvPr id="34" name="Text 31"/>
          <p:cNvSpPr/>
          <p:nvPr/>
        </p:nvSpPr>
        <p:spPr>
          <a:xfrm>
            <a:off x="4526280" y="5623560"/>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₹0.8 Cr</a:t>
            </a:r>
            <a:endParaRPr lang="en-US" sz="1000" dirty="0"/>
          </a:p>
        </p:txBody>
      </p:sp>
      <p:sp>
        <p:nvSpPr>
          <p:cNvPr id="35" name="Shape 32"/>
          <p:cNvSpPr/>
          <p:nvPr/>
        </p:nvSpPr>
        <p:spPr>
          <a:xfrm>
            <a:off x="777240" y="5843016"/>
            <a:ext cx="5486400" cy="137160"/>
          </a:xfrm>
          <a:prstGeom prst="roundRect">
            <a:avLst>
              <a:gd name="adj" fmla="val 50000"/>
            </a:avLst>
          </a:prstGeom>
          <a:solidFill>
            <a:srgbClr val="EDE4D4"/>
          </a:solidFill>
          <a:ln w="12700">
            <a:solidFill>
              <a:srgbClr val="333333"/>
            </a:solidFill>
            <a:prstDash val="solid"/>
          </a:ln>
        </p:spPr>
      </p:sp>
      <p:sp>
        <p:nvSpPr>
          <p:cNvPr id="36" name="Shape 33"/>
          <p:cNvSpPr/>
          <p:nvPr/>
        </p:nvSpPr>
        <p:spPr>
          <a:xfrm>
            <a:off x="777240" y="5843016"/>
            <a:ext cx="78377" cy="137160"/>
          </a:xfrm>
          <a:prstGeom prst="roundRect">
            <a:avLst>
              <a:gd name="adj" fmla="val 87500"/>
            </a:avLst>
          </a:prstGeom>
          <a:solidFill>
            <a:srgbClr val="B5AD9C"/>
          </a:solidFill>
          <a:ln w="12700">
            <a:solidFill>
              <a:srgbClr val="333333"/>
            </a:solidFill>
            <a:prstDash val="solid"/>
          </a:ln>
        </p:spPr>
      </p:sp>
      <p:sp>
        <p:nvSpPr>
          <p:cNvPr id="37" name="Text 34"/>
          <p:cNvSpPr/>
          <p:nvPr/>
        </p:nvSpPr>
        <p:spPr>
          <a:xfrm>
            <a:off x="6812280" y="3694176"/>
            <a:ext cx="48764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THREE TENSION POINTS THAT DECIDE THE STRATEGY</a:t>
            </a:r>
            <a:endParaRPr lang="en-US" sz="950" dirty="0"/>
          </a:p>
        </p:txBody>
      </p:sp>
      <p:sp>
        <p:nvSpPr>
          <p:cNvPr id="38" name="Shape 35"/>
          <p:cNvSpPr/>
          <p:nvPr/>
        </p:nvSpPr>
        <p:spPr>
          <a:xfrm>
            <a:off x="6812280" y="3986784"/>
            <a:ext cx="4876495" cy="694944"/>
          </a:xfrm>
          <a:prstGeom prst="roundRect">
            <a:avLst>
              <a:gd name="adj" fmla="val 657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9" name="Shape 36"/>
          <p:cNvSpPr/>
          <p:nvPr/>
        </p:nvSpPr>
        <p:spPr>
          <a:xfrm>
            <a:off x="6812280" y="3986784"/>
            <a:ext cx="41148" cy="694944"/>
          </a:xfrm>
          <a:prstGeom prst="rect">
            <a:avLst/>
          </a:prstGeom>
          <a:solidFill>
            <a:srgbClr val="9E3A24"/>
          </a:solidFill>
          <a:ln w="12700">
            <a:solidFill>
              <a:srgbClr val="333333"/>
            </a:solidFill>
            <a:prstDash val="solid"/>
          </a:ln>
        </p:spPr>
      </p:sp>
      <p:sp>
        <p:nvSpPr>
          <p:cNvPr id="40" name="Text 37"/>
          <p:cNvSpPr/>
          <p:nvPr/>
        </p:nvSpPr>
        <p:spPr>
          <a:xfrm>
            <a:off x="6995160" y="4059936"/>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01  Revenue is anchored in the slowest-growing, lowest-margin block.</a:t>
            </a:r>
            <a:endParaRPr lang="en-US" sz="950" dirty="0"/>
          </a:p>
        </p:txBody>
      </p:sp>
      <p:sp>
        <p:nvSpPr>
          <p:cNvPr id="41" name="Text 38"/>
          <p:cNvSpPr/>
          <p:nvPr/>
        </p:nvSpPr>
        <p:spPr>
          <a:xfrm>
            <a:off x="6995160" y="4352544"/>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Pulses are 56% of revenue and grow below the portfolio average.</a:t>
            </a:r>
            <a:endParaRPr lang="en-US" sz="850" dirty="0"/>
          </a:p>
        </p:txBody>
      </p:sp>
      <p:sp>
        <p:nvSpPr>
          <p:cNvPr id="42" name="Shape 39"/>
          <p:cNvSpPr/>
          <p:nvPr/>
        </p:nvSpPr>
        <p:spPr>
          <a:xfrm>
            <a:off x="6812280" y="4773168"/>
            <a:ext cx="4876495" cy="694944"/>
          </a:xfrm>
          <a:prstGeom prst="roundRect">
            <a:avLst>
              <a:gd name="adj" fmla="val 657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3" name="Shape 40"/>
          <p:cNvSpPr/>
          <p:nvPr/>
        </p:nvSpPr>
        <p:spPr>
          <a:xfrm>
            <a:off x="6812280" y="4773168"/>
            <a:ext cx="41148" cy="694944"/>
          </a:xfrm>
          <a:prstGeom prst="rect">
            <a:avLst/>
          </a:prstGeom>
          <a:solidFill>
            <a:srgbClr val="9E3A24"/>
          </a:solidFill>
          <a:ln w="12700">
            <a:solidFill>
              <a:srgbClr val="333333"/>
            </a:solidFill>
            <a:prstDash val="solid"/>
          </a:ln>
        </p:spPr>
      </p:sp>
      <p:sp>
        <p:nvSpPr>
          <p:cNvPr id="44" name="Text 41"/>
          <p:cNvSpPr/>
          <p:nvPr/>
        </p:nvSpPr>
        <p:spPr>
          <a:xfrm>
            <a:off x="6995160" y="4846320"/>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02  Realisation is falling while volume rises.</a:t>
            </a:r>
            <a:endParaRPr lang="en-US" sz="950" dirty="0"/>
          </a:p>
        </p:txBody>
      </p:sp>
      <p:sp>
        <p:nvSpPr>
          <p:cNvPr id="45" name="Text 42"/>
          <p:cNvSpPr/>
          <p:nvPr/>
        </p:nvSpPr>
        <p:spPr>
          <a:xfrm>
            <a:off x="6995160" y="5138928"/>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Revenue per MT fell 4.3% in FY26-H2; a margin warning masked by tonnage.</a:t>
            </a:r>
            <a:endParaRPr lang="en-US" sz="850" dirty="0"/>
          </a:p>
        </p:txBody>
      </p:sp>
      <p:sp>
        <p:nvSpPr>
          <p:cNvPr id="46" name="Shape 43"/>
          <p:cNvSpPr/>
          <p:nvPr/>
        </p:nvSpPr>
        <p:spPr>
          <a:xfrm>
            <a:off x="6812280" y="5559552"/>
            <a:ext cx="4876495" cy="694944"/>
          </a:xfrm>
          <a:prstGeom prst="roundRect">
            <a:avLst>
              <a:gd name="adj" fmla="val 657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7" name="Shape 44"/>
          <p:cNvSpPr/>
          <p:nvPr/>
        </p:nvSpPr>
        <p:spPr>
          <a:xfrm>
            <a:off x="6812280" y="5559552"/>
            <a:ext cx="41148" cy="694944"/>
          </a:xfrm>
          <a:prstGeom prst="rect">
            <a:avLst/>
          </a:prstGeom>
          <a:solidFill>
            <a:srgbClr val="9E3A24"/>
          </a:solidFill>
          <a:ln w="12700">
            <a:solidFill>
              <a:srgbClr val="333333"/>
            </a:solidFill>
            <a:prstDash val="solid"/>
          </a:ln>
        </p:spPr>
      </p:sp>
      <p:sp>
        <p:nvSpPr>
          <p:cNvPr id="48" name="Text 45"/>
          <p:cNvSpPr/>
          <p:nvPr/>
        </p:nvSpPr>
        <p:spPr>
          <a:xfrm>
            <a:off x="6995160" y="5632704"/>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03  Proof is asserted, not demonstrated.</a:t>
            </a:r>
            <a:endParaRPr lang="en-US" sz="950" dirty="0"/>
          </a:p>
        </p:txBody>
      </p:sp>
      <p:sp>
        <p:nvSpPr>
          <p:cNvPr id="49" name="Text 46"/>
          <p:cNvSpPr/>
          <p:nvPr/>
        </p:nvSpPr>
        <p:spPr>
          <a:xfrm>
            <a:off x="6995160" y="5925312"/>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Seven simultaneous taglines, no hierarchy, and "230+ quality checks" stated but never explained.</a:t>
            </a:r>
            <a:endParaRPr lang="en-US" sz="85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28</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GROWTH AMBITION</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₹53 Cr today. ₹748 Cr by FY31.</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Fourteen times the base in five years — built bottom-up from SKU, channel and city plans rather than a top-down multiple.</a:t>
            </a:r>
            <a:endParaRPr lang="en-US" sz="1100" dirty="0"/>
          </a:p>
        </p:txBody>
      </p:sp>
      <p:sp>
        <p:nvSpPr>
          <p:cNvPr id="7" name="Shape 4"/>
          <p:cNvSpPr/>
          <p:nvPr/>
        </p:nvSpPr>
        <p:spPr>
          <a:xfrm>
            <a:off x="502920" y="2121408"/>
            <a:ext cx="7315200" cy="3840480"/>
          </a:xfrm>
          <a:prstGeom prst="roundRect">
            <a:avLst>
              <a:gd name="adj" fmla="val 2143"/>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777240" y="23042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NET REVENUE, ₹ CR</a:t>
            </a:r>
            <a:endParaRPr lang="en-US" sz="950" dirty="0"/>
          </a:p>
        </p:txBody>
      </p:sp>
      <p:sp>
        <p:nvSpPr>
          <p:cNvPr id="9" name="Shape 6"/>
          <p:cNvSpPr/>
          <p:nvPr/>
        </p:nvSpPr>
        <p:spPr>
          <a:xfrm>
            <a:off x="868680" y="4796028"/>
            <a:ext cx="6583680" cy="0"/>
          </a:xfrm>
          <a:prstGeom prst="line">
            <a:avLst/>
          </a:prstGeom>
          <a:noFill/>
          <a:ln w="6350">
            <a:solidFill>
              <a:srgbClr val="E5DCCB"/>
            </a:solidFill>
            <a:prstDash val="sysDot"/>
          </a:ln>
        </p:spPr>
      </p:sp>
      <p:sp>
        <p:nvSpPr>
          <p:cNvPr id="10" name="Shape 7"/>
          <p:cNvSpPr/>
          <p:nvPr/>
        </p:nvSpPr>
        <p:spPr>
          <a:xfrm>
            <a:off x="868680" y="4178808"/>
            <a:ext cx="6583680" cy="0"/>
          </a:xfrm>
          <a:prstGeom prst="line">
            <a:avLst/>
          </a:prstGeom>
          <a:noFill/>
          <a:ln w="6350">
            <a:solidFill>
              <a:srgbClr val="E5DCCB"/>
            </a:solidFill>
            <a:prstDash val="sysDot"/>
          </a:ln>
        </p:spPr>
      </p:sp>
      <p:sp>
        <p:nvSpPr>
          <p:cNvPr id="11" name="Shape 8"/>
          <p:cNvSpPr/>
          <p:nvPr/>
        </p:nvSpPr>
        <p:spPr>
          <a:xfrm>
            <a:off x="868680" y="3561588"/>
            <a:ext cx="6583680" cy="0"/>
          </a:xfrm>
          <a:prstGeom prst="line">
            <a:avLst/>
          </a:prstGeom>
          <a:noFill/>
          <a:ln w="6350">
            <a:solidFill>
              <a:srgbClr val="E5DCCB"/>
            </a:solidFill>
            <a:prstDash val="sysDot"/>
          </a:ln>
        </p:spPr>
      </p:sp>
      <p:sp>
        <p:nvSpPr>
          <p:cNvPr id="12" name="Shape 9"/>
          <p:cNvSpPr/>
          <p:nvPr/>
        </p:nvSpPr>
        <p:spPr>
          <a:xfrm>
            <a:off x="868680" y="2944368"/>
            <a:ext cx="6583680" cy="0"/>
          </a:xfrm>
          <a:prstGeom prst="line">
            <a:avLst/>
          </a:prstGeom>
          <a:noFill/>
          <a:ln w="6350">
            <a:solidFill>
              <a:srgbClr val="E5DCCB"/>
            </a:solidFill>
            <a:prstDash val="sysDot"/>
          </a:ln>
        </p:spPr>
      </p:sp>
      <p:sp>
        <p:nvSpPr>
          <p:cNvPr id="13" name="Shape 10"/>
          <p:cNvSpPr/>
          <p:nvPr/>
        </p:nvSpPr>
        <p:spPr>
          <a:xfrm>
            <a:off x="868680" y="5413248"/>
            <a:ext cx="6583680" cy="0"/>
          </a:xfrm>
          <a:prstGeom prst="line">
            <a:avLst/>
          </a:prstGeom>
          <a:noFill/>
          <a:ln w="12700">
            <a:solidFill>
              <a:srgbClr val="E5DCCB"/>
            </a:solidFill>
            <a:prstDash val="solid"/>
          </a:ln>
        </p:spPr>
      </p:sp>
      <p:sp>
        <p:nvSpPr>
          <p:cNvPr id="14" name="Shape 11"/>
          <p:cNvSpPr/>
          <p:nvPr/>
        </p:nvSpPr>
        <p:spPr>
          <a:xfrm>
            <a:off x="868680" y="5255597"/>
            <a:ext cx="868680" cy="157651"/>
          </a:xfrm>
          <a:prstGeom prst="roundRect">
            <a:avLst>
              <a:gd name="adj" fmla="val 29001"/>
            </a:avLst>
          </a:prstGeom>
          <a:solidFill>
            <a:srgbClr val="6688BE"/>
          </a:solidFill>
          <a:ln w="12700">
            <a:solidFill>
              <a:srgbClr val="333333"/>
            </a:solidFill>
            <a:prstDash val="solid"/>
          </a:ln>
        </p:spPr>
      </p:sp>
      <p:sp>
        <p:nvSpPr>
          <p:cNvPr id="15" name="Text 12"/>
          <p:cNvSpPr/>
          <p:nvPr/>
        </p:nvSpPr>
        <p:spPr>
          <a:xfrm>
            <a:off x="822960" y="4981277"/>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₹53</a:t>
            </a:r>
            <a:endParaRPr lang="en-US" sz="1050" dirty="0"/>
          </a:p>
        </p:txBody>
      </p:sp>
      <p:sp>
        <p:nvSpPr>
          <p:cNvPr id="16" name="Text 13"/>
          <p:cNvSpPr/>
          <p:nvPr/>
        </p:nvSpPr>
        <p:spPr>
          <a:xfrm>
            <a:off x="822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FY26</a:t>
            </a:r>
            <a:endParaRPr lang="en-US" sz="850" dirty="0"/>
          </a:p>
        </p:txBody>
      </p:sp>
      <p:sp>
        <p:nvSpPr>
          <p:cNvPr id="17" name="Shape 14"/>
          <p:cNvSpPr/>
          <p:nvPr/>
        </p:nvSpPr>
        <p:spPr>
          <a:xfrm>
            <a:off x="2011680" y="5103894"/>
            <a:ext cx="868680" cy="309354"/>
          </a:xfrm>
          <a:prstGeom prst="roundRect">
            <a:avLst>
              <a:gd name="adj" fmla="val 14779"/>
            </a:avLst>
          </a:prstGeom>
          <a:solidFill>
            <a:srgbClr val="6688BE"/>
          </a:solidFill>
          <a:ln w="12700">
            <a:solidFill>
              <a:srgbClr val="333333"/>
            </a:solidFill>
            <a:prstDash val="solid"/>
          </a:ln>
        </p:spPr>
      </p:sp>
      <p:sp>
        <p:nvSpPr>
          <p:cNvPr id="18" name="Text 15"/>
          <p:cNvSpPr/>
          <p:nvPr/>
        </p:nvSpPr>
        <p:spPr>
          <a:xfrm>
            <a:off x="1965960" y="4829574"/>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₹104</a:t>
            </a:r>
            <a:endParaRPr lang="en-US" sz="1050" dirty="0"/>
          </a:p>
        </p:txBody>
      </p:sp>
      <p:sp>
        <p:nvSpPr>
          <p:cNvPr id="19" name="Text 16"/>
          <p:cNvSpPr/>
          <p:nvPr/>
        </p:nvSpPr>
        <p:spPr>
          <a:xfrm>
            <a:off x="1965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FY27</a:t>
            </a:r>
            <a:endParaRPr lang="en-US" sz="850" dirty="0"/>
          </a:p>
        </p:txBody>
      </p:sp>
      <p:sp>
        <p:nvSpPr>
          <p:cNvPr id="20" name="Shape 17"/>
          <p:cNvSpPr/>
          <p:nvPr/>
        </p:nvSpPr>
        <p:spPr>
          <a:xfrm>
            <a:off x="3154680" y="4913523"/>
            <a:ext cx="868680" cy="499725"/>
          </a:xfrm>
          <a:prstGeom prst="roundRect">
            <a:avLst>
              <a:gd name="adj" fmla="val 9149"/>
            </a:avLst>
          </a:prstGeom>
          <a:solidFill>
            <a:srgbClr val="3A5D97"/>
          </a:solidFill>
          <a:ln w="12700">
            <a:solidFill>
              <a:srgbClr val="333333"/>
            </a:solidFill>
            <a:prstDash val="solid"/>
          </a:ln>
        </p:spPr>
      </p:sp>
      <p:sp>
        <p:nvSpPr>
          <p:cNvPr id="21" name="Text 18"/>
          <p:cNvSpPr/>
          <p:nvPr/>
        </p:nvSpPr>
        <p:spPr>
          <a:xfrm>
            <a:off x="3108960" y="4639203"/>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₹168</a:t>
            </a:r>
            <a:endParaRPr lang="en-US" sz="1050" dirty="0"/>
          </a:p>
        </p:txBody>
      </p:sp>
      <p:sp>
        <p:nvSpPr>
          <p:cNvPr id="22" name="Text 19"/>
          <p:cNvSpPr/>
          <p:nvPr/>
        </p:nvSpPr>
        <p:spPr>
          <a:xfrm>
            <a:off x="3108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FY28</a:t>
            </a:r>
            <a:endParaRPr lang="en-US" sz="850" dirty="0"/>
          </a:p>
        </p:txBody>
      </p:sp>
      <p:sp>
        <p:nvSpPr>
          <p:cNvPr id="23" name="Shape 20"/>
          <p:cNvSpPr/>
          <p:nvPr/>
        </p:nvSpPr>
        <p:spPr>
          <a:xfrm>
            <a:off x="4297680" y="4598220"/>
            <a:ext cx="868680" cy="815028"/>
          </a:xfrm>
          <a:prstGeom prst="roundRect">
            <a:avLst>
              <a:gd name="adj" fmla="val 5610"/>
            </a:avLst>
          </a:prstGeom>
          <a:solidFill>
            <a:srgbClr val="2FA362"/>
          </a:solidFill>
          <a:ln w="12700">
            <a:solidFill>
              <a:srgbClr val="333333"/>
            </a:solidFill>
            <a:prstDash val="solid"/>
          </a:ln>
        </p:spPr>
      </p:sp>
      <p:sp>
        <p:nvSpPr>
          <p:cNvPr id="24" name="Text 21"/>
          <p:cNvSpPr/>
          <p:nvPr/>
        </p:nvSpPr>
        <p:spPr>
          <a:xfrm>
            <a:off x="4251960" y="4323900"/>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₹274</a:t>
            </a:r>
            <a:endParaRPr lang="en-US" sz="1050" dirty="0"/>
          </a:p>
        </p:txBody>
      </p:sp>
      <p:sp>
        <p:nvSpPr>
          <p:cNvPr id="25" name="Text 22"/>
          <p:cNvSpPr/>
          <p:nvPr/>
        </p:nvSpPr>
        <p:spPr>
          <a:xfrm>
            <a:off x="4251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FY29</a:t>
            </a:r>
            <a:endParaRPr lang="en-US" sz="850" dirty="0"/>
          </a:p>
        </p:txBody>
      </p:sp>
      <p:sp>
        <p:nvSpPr>
          <p:cNvPr id="26" name="Shape 23"/>
          <p:cNvSpPr/>
          <p:nvPr/>
        </p:nvSpPr>
        <p:spPr>
          <a:xfrm>
            <a:off x="5440680" y="4074699"/>
            <a:ext cx="868680" cy="1338549"/>
          </a:xfrm>
          <a:prstGeom prst="roundRect">
            <a:avLst>
              <a:gd name="adj" fmla="val 5263"/>
            </a:avLst>
          </a:prstGeom>
          <a:solidFill>
            <a:srgbClr val="2FA362"/>
          </a:solidFill>
          <a:ln w="12700">
            <a:solidFill>
              <a:srgbClr val="333333"/>
            </a:solidFill>
            <a:prstDash val="solid"/>
          </a:ln>
        </p:spPr>
      </p:sp>
      <p:sp>
        <p:nvSpPr>
          <p:cNvPr id="27" name="Text 24"/>
          <p:cNvSpPr/>
          <p:nvPr/>
        </p:nvSpPr>
        <p:spPr>
          <a:xfrm>
            <a:off x="5394960" y="3800379"/>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₹450</a:t>
            </a:r>
            <a:endParaRPr lang="en-US" sz="1050" dirty="0"/>
          </a:p>
        </p:txBody>
      </p:sp>
      <p:sp>
        <p:nvSpPr>
          <p:cNvPr id="28" name="Text 25"/>
          <p:cNvSpPr/>
          <p:nvPr/>
        </p:nvSpPr>
        <p:spPr>
          <a:xfrm>
            <a:off x="5394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FY30</a:t>
            </a:r>
            <a:endParaRPr lang="en-US" sz="850" dirty="0"/>
          </a:p>
        </p:txBody>
      </p:sp>
      <p:sp>
        <p:nvSpPr>
          <p:cNvPr id="29" name="Shape 26"/>
          <p:cNvSpPr/>
          <p:nvPr/>
        </p:nvSpPr>
        <p:spPr>
          <a:xfrm>
            <a:off x="6583680" y="3188281"/>
            <a:ext cx="868680" cy="2224967"/>
          </a:xfrm>
          <a:prstGeom prst="roundRect">
            <a:avLst>
              <a:gd name="adj" fmla="val 5263"/>
            </a:avLst>
          </a:prstGeom>
          <a:solidFill>
            <a:srgbClr val="177A46"/>
          </a:solidFill>
          <a:ln w="12700">
            <a:solidFill>
              <a:srgbClr val="333333"/>
            </a:solidFill>
            <a:prstDash val="solid"/>
          </a:ln>
        </p:spPr>
      </p:sp>
      <p:sp>
        <p:nvSpPr>
          <p:cNvPr id="30" name="Text 27"/>
          <p:cNvSpPr/>
          <p:nvPr/>
        </p:nvSpPr>
        <p:spPr>
          <a:xfrm>
            <a:off x="6537960" y="2913961"/>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₹748</a:t>
            </a:r>
            <a:endParaRPr lang="en-US" sz="1050" dirty="0"/>
          </a:p>
        </p:txBody>
      </p:sp>
      <p:sp>
        <p:nvSpPr>
          <p:cNvPr id="31" name="Text 28"/>
          <p:cNvSpPr/>
          <p:nvPr/>
        </p:nvSpPr>
        <p:spPr>
          <a:xfrm>
            <a:off x="6537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FY31</a:t>
            </a:r>
            <a:endParaRPr lang="en-US" sz="850" dirty="0"/>
          </a:p>
        </p:txBody>
      </p:sp>
      <p:sp>
        <p:nvSpPr>
          <p:cNvPr id="32" name="Shape 29"/>
          <p:cNvSpPr/>
          <p:nvPr/>
        </p:nvSpPr>
        <p:spPr>
          <a:xfrm>
            <a:off x="8092440" y="2121408"/>
            <a:ext cx="3596335" cy="932688"/>
          </a:xfrm>
          <a:prstGeom prst="roundRect">
            <a:avLst>
              <a:gd name="adj" fmla="val 882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3" name="Text 30"/>
          <p:cNvSpPr/>
          <p:nvPr/>
        </p:nvSpPr>
        <p:spPr>
          <a:xfrm>
            <a:off x="8275320" y="2231136"/>
            <a:ext cx="323057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14.1×</a:t>
            </a:r>
            <a:endParaRPr lang="en-US" sz="2200" dirty="0"/>
          </a:p>
        </p:txBody>
      </p:sp>
      <p:sp>
        <p:nvSpPr>
          <p:cNvPr id="34" name="Text 31"/>
          <p:cNvSpPr/>
          <p:nvPr/>
        </p:nvSpPr>
        <p:spPr>
          <a:xfrm>
            <a:off x="8275320" y="2632456"/>
            <a:ext cx="3230575" cy="3484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On the FY26 base of ₹53 Cr</a:t>
            </a:r>
            <a:endParaRPr lang="en-US" sz="850" dirty="0"/>
          </a:p>
        </p:txBody>
      </p:sp>
      <p:sp>
        <p:nvSpPr>
          <p:cNvPr id="35" name="Shape 32"/>
          <p:cNvSpPr/>
          <p:nvPr/>
        </p:nvSpPr>
        <p:spPr>
          <a:xfrm>
            <a:off x="8092440" y="3172968"/>
            <a:ext cx="3596335" cy="932688"/>
          </a:xfrm>
          <a:prstGeom prst="roundRect">
            <a:avLst>
              <a:gd name="adj" fmla="val 882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6" name="Text 33"/>
          <p:cNvSpPr/>
          <p:nvPr/>
        </p:nvSpPr>
        <p:spPr>
          <a:xfrm>
            <a:off x="8275320" y="3282696"/>
            <a:ext cx="323057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64%</a:t>
            </a:r>
            <a:endParaRPr lang="en-US" sz="2200" dirty="0"/>
          </a:p>
        </p:txBody>
      </p:sp>
      <p:sp>
        <p:nvSpPr>
          <p:cNvPr id="37" name="Text 34"/>
          <p:cNvSpPr/>
          <p:nvPr/>
        </p:nvSpPr>
        <p:spPr>
          <a:xfrm>
            <a:off x="8275320" y="3684016"/>
            <a:ext cx="3230575" cy="3484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Net revenue CAGR, FY27 to FY31</a:t>
            </a:r>
            <a:endParaRPr lang="en-US" sz="850" dirty="0"/>
          </a:p>
        </p:txBody>
      </p:sp>
      <p:sp>
        <p:nvSpPr>
          <p:cNvPr id="38" name="Shape 35"/>
          <p:cNvSpPr/>
          <p:nvPr/>
        </p:nvSpPr>
        <p:spPr>
          <a:xfrm>
            <a:off x="8092440" y="4224528"/>
            <a:ext cx="3596335" cy="932688"/>
          </a:xfrm>
          <a:prstGeom prst="roundRect">
            <a:avLst>
              <a:gd name="adj" fmla="val 882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9" name="Text 36"/>
          <p:cNvSpPr/>
          <p:nvPr/>
        </p:nvSpPr>
        <p:spPr>
          <a:xfrm>
            <a:off x="8275320" y="4334256"/>
            <a:ext cx="323057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+5.8pp</a:t>
            </a:r>
            <a:endParaRPr lang="en-US" sz="2200" dirty="0"/>
          </a:p>
        </p:txBody>
      </p:sp>
      <p:sp>
        <p:nvSpPr>
          <p:cNvPr id="40" name="Text 37"/>
          <p:cNvSpPr/>
          <p:nvPr/>
        </p:nvSpPr>
        <p:spPr>
          <a:xfrm>
            <a:off x="8275320" y="4735576"/>
            <a:ext cx="3230575" cy="3484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Gross margin, 37.5% → 43.3%</a:t>
            </a:r>
            <a:endParaRPr lang="en-US" sz="850" dirty="0"/>
          </a:p>
        </p:txBody>
      </p:sp>
      <p:pic>
        <p:nvPicPr>
          <p:cNvPr id="41" name="Image 1" descr="/home/user/hopper-tessarakt/site/assets/value-added.jpg">    </p:cNvPr>
          <p:cNvPicPr>
            <a:picLocks noChangeAspect="1"/>
          </p:cNvPicPr>
          <p:nvPr/>
        </p:nvPicPr>
        <p:blipFill>
          <a:blip r:embed="rId2"/>
          <a:srcRect l="0" r="0" t="0" b="0"/>
          <a:stretch/>
        </p:blipFill>
        <p:spPr>
          <a:xfrm>
            <a:off x="8092440" y="5321808"/>
            <a:ext cx="3596335" cy="1060704"/>
          </a:xfrm>
          <a:prstGeom prst="rect">
            <a:avLst/>
          </a:prstGeom>
        </p:spPr>
      </p:pic>
      <p:sp>
        <p:nvSpPr>
          <p:cNvPr id="42" name="Shape 38"/>
          <p:cNvSpPr/>
          <p:nvPr/>
        </p:nvSpPr>
        <p:spPr>
          <a:xfrm>
            <a:off x="502920" y="6455664"/>
            <a:ext cx="11185855" cy="0"/>
          </a:xfrm>
          <a:prstGeom prst="line">
            <a:avLst/>
          </a:prstGeom>
          <a:noFill/>
          <a:ln w="9525">
            <a:solidFill>
              <a:srgbClr val="E5DCCB"/>
            </a:solidFill>
            <a:prstDash val="solid"/>
          </a:ln>
        </p:spPr>
      </p:sp>
      <p:sp>
        <p:nvSpPr>
          <p:cNvPr id="43" name="Text 39"/>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44" name="Text 40"/>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29</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890979"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890979"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PORTFOLIO DESIGN</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Pulses hold the volume base. Spices carry the margin.</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revenue plan and the margin plan are two different stories. Almost the entire margin expansion comes from spices — a category DHF barely sells today.</a:t>
            </a:r>
            <a:endParaRPr lang="en-US" sz="1100" dirty="0"/>
          </a:p>
        </p:txBody>
      </p:sp>
      <p:sp>
        <p:nvSpPr>
          <p:cNvPr id="7" name="Shape 4"/>
          <p:cNvSpPr/>
          <p:nvPr/>
        </p:nvSpPr>
        <p:spPr>
          <a:xfrm>
            <a:off x="502920" y="2121408"/>
            <a:ext cx="7223760" cy="3749040"/>
          </a:xfrm>
          <a:prstGeom prst="roundRect">
            <a:avLst>
              <a:gd name="adj" fmla="val 2195"/>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777240" y="230428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REVENUE BY CATEGORY, ₹ CR — FY27 VS FY31</a:t>
            </a:r>
            <a:endParaRPr lang="en-US" sz="950" dirty="0"/>
          </a:p>
        </p:txBody>
      </p:sp>
      <p:sp>
        <p:nvSpPr>
          <p:cNvPr id="9" name="Shape 6"/>
          <p:cNvSpPr/>
          <p:nvPr/>
        </p:nvSpPr>
        <p:spPr>
          <a:xfrm>
            <a:off x="914400" y="5276088"/>
            <a:ext cx="6492240" cy="0"/>
          </a:xfrm>
          <a:prstGeom prst="line">
            <a:avLst/>
          </a:prstGeom>
          <a:noFill/>
          <a:ln w="9525">
            <a:solidFill>
              <a:srgbClr val="E5DCCB"/>
            </a:solidFill>
            <a:prstDash val="solid"/>
          </a:ln>
        </p:spPr>
      </p:sp>
      <p:sp>
        <p:nvSpPr>
          <p:cNvPr id="10" name="Shape 7"/>
          <p:cNvSpPr/>
          <p:nvPr/>
        </p:nvSpPr>
        <p:spPr>
          <a:xfrm>
            <a:off x="1005840" y="4827849"/>
            <a:ext cx="493776" cy="448239"/>
          </a:xfrm>
          <a:prstGeom prst="roundRect">
            <a:avLst>
              <a:gd name="adj" fmla="val 10200"/>
            </a:avLst>
          </a:prstGeom>
          <a:solidFill>
            <a:srgbClr val="6688BE"/>
          </a:solidFill>
          <a:ln w="12700">
            <a:solidFill>
              <a:srgbClr val="333333"/>
            </a:solidFill>
            <a:prstDash val="solid"/>
          </a:ln>
        </p:spPr>
      </p:sp>
      <p:sp>
        <p:nvSpPr>
          <p:cNvPr id="11" name="Text 8"/>
          <p:cNvSpPr/>
          <p:nvPr/>
        </p:nvSpPr>
        <p:spPr>
          <a:xfrm>
            <a:off x="914400" y="4590105"/>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₹43</a:t>
            </a:r>
            <a:endParaRPr lang="en-US" sz="850" dirty="0"/>
          </a:p>
        </p:txBody>
      </p:sp>
      <p:sp>
        <p:nvSpPr>
          <p:cNvPr id="12" name="Shape 9"/>
          <p:cNvSpPr/>
          <p:nvPr/>
        </p:nvSpPr>
        <p:spPr>
          <a:xfrm>
            <a:off x="1609344" y="2899380"/>
            <a:ext cx="493776" cy="2376708"/>
          </a:xfrm>
          <a:prstGeom prst="roundRect">
            <a:avLst>
              <a:gd name="adj" fmla="val 9259"/>
            </a:avLst>
          </a:prstGeom>
          <a:solidFill>
            <a:srgbClr val="177A46"/>
          </a:solidFill>
          <a:ln w="12700">
            <a:solidFill>
              <a:srgbClr val="333333"/>
            </a:solidFill>
            <a:prstDash val="solid"/>
          </a:ln>
        </p:spPr>
      </p:sp>
      <p:sp>
        <p:nvSpPr>
          <p:cNvPr id="13" name="Text 10"/>
          <p:cNvSpPr/>
          <p:nvPr/>
        </p:nvSpPr>
        <p:spPr>
          <a:xfrm>
            <a:off x="1517904" y="2661636"/>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₹228</a:t>
            </a:r>
            <a:endParaRPr lang="en-US" sz="850" dirty="0"/>
          </a:p>
        </p:txBody>
      </p:sp>
      <p:sp>
        <p:nvSpPr>
          <p:cNvPr id="14" name="Text 11"/>
          <p:cNvSpPr/>
          <p:nvPr/>
        </p:nvSpPr>
        <p:spPr>
          <a:xfrm>
            <a:off x="914400"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Pulses</a:t>
            </a:r>
            <a:endParaRPr lang="en-US" sz="850" dirty="0"/>
          </a:p>
        </p:txBody>
      </p:sp>
      <p:sp>
        <p:nvSpPr>
          <p:cNvPr id="15" name="Shape 12"/>
          <p:cNvSpPr/>
          <p:nvPr/>
        </p:nvSpPr>
        <p:spPr>
          <a:xfrm>
            <a:off x="2304288" y="5088453"/>
            <a:ext cx="493776" cy="187635"/>
          </a:xfrm>
          <a:prstGeom prst="roundRect">
            <a:avLst>
              <a:gd name="adj" fmla="val 24366"/>
            </a:avLst>
          </a:prstGeom>
          <a:solidFill>
            <a:srgbClr val="6688BE"/>
          </a:solidFill>
          <a:ln w="12700">
            <a:solidFill>
              <a:srgbClr val="333333"/>
            </a:solidFill>
            <a:prstDash val="solid"/>
          </a:ln>
        </p:spPr>
      </p:sp>
      <p:sp>
        <p:nvSpPr>
          <p:cNvPr id="16" name="Text 13"/>
          <p:cNvSpPr/>
          <p:nvPr/>
        </p:nvSpPr>
        <p:spPr>
          <a:xfrm>
            <a:off x="2212848" y="4850709"/>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₹18</a:t>
            </a:r>
            <a:endParaRPr lang="en-US" sz="850" dirty="0"/>
          </a:p>
        </p:txBody>
      </p:sp>
      <p:sp>
        <p:nvSpPr>
          <p:cNvPr id="17" name="Shape 14"/>
          <p:cNvSpPr/>
          <p:nvPr/>
        </p:nvSpPr>
        <p:spPr>
          <a:xfrm>
            <a:off x="2907792" y="3170408"/>
            <a:ext cx="493776" cy="2105680"/>
          </a:xfrm>
          <a:prstGeom prst="roundRect">
            <a:avLst>
              <a:gd name="adj" fmla="val 9259"/>
            </a:avLst>
          </a:prstGeom>
          <a:solidFill>
            <a:srgbClr val="177A46"/>
          </a:solidFill>
          <a:ln w="12700">
            <a:solidFill>
              <a:srgbClr val="333333"/>
            </a:solidFill>
            <a:prstDash val="solid"/>
          </a:ln>
        </p:spPr>
      </p:sp>
      <p:sp>
        <p:nvSpPr>
          <p:cNvPr id="18" name="Text 15"/>
          <p:cNvSpPr/>
          <p:nvPr/>
        </p:nvSpPr>
        <p:spPr>
          <a:xfrm>
            <a:off x="2816352" y="2932664"/>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₹202</a:t>
            </a:r>
            <a:endParaRPr lang="en-US" sz="850" dirty="0"/>
          </a:p>
        </p:txBody>
      </p:sp>
      <p:sp>
        <p:nvSpPr>
          <p:cNvPr id="19" name="Text 16"/>
          <p:cNvSpPr/>
          <p:nvPr/>
        </p:nvSpPr>
        <p:spPr>
          <a:xfrm>
            <a:off x="2212848"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Spices</a:t>
            </a:r>
            <a:endParaRPr lang="en-US" sz="850" dirty="0"/>
          </a:p>
        </p:txBody>
      </p:sp>
      <p:sp>
        <p:nvSpPr>
          <p:cNvPr id="20" name="Shape 17"/>
          <p:cNvSpPr/>
          <p:nvPr/>
        </p:nvSpPr>
        <p:spPr>
          <a:xfrm>
            <a:off x="3602736" y="4942515"/>
            <a:ext cx="493776" cy="333573"/>
          </a:xfrm>
          <a:prstGeom prst="roundRect">
            <a:avLst>
              <a:gd name="adj" fmla="val 13706"/>
            </a:avLst>
          </a:prstGeom>
          <a:solidFill>
            <a:srgbClr val="6688BE"/>
          </a:solidFill>
          <a:ln w="12700">
            <a:solidFill>
              <a:srgbClr val="333333"/>
            </a:solidFill>
            <a:prstDash val="solid"/>
          </a:ln>
        </p:spPr>
      </p:sp>
      <p:sp>
        <p:nvSpPr>
          <p:cNvPr id="21" name="Text 18"/>
          <p:cNvSpPr/>
          <p:nvPr/>
        </p:nvSpPr>
        <p:spPr>
          <a:xfrm>
            <a:off x="3511296" y="4704771"/>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₹32</a:t>
            </a:r>
            <a:endParaRPr lang="en-US" sz="850" dirty="0"/>
          </a:p>
        </p:txBody>
      </p:sp>
      <p:sp>
        <p:nvSpPr>
          <p:cNvPr id="22" name="Shape 19"/>
          <p:cNvSpPr/>
          <p:nvPr/>
        </p:nvSpPr>
        <p:spPr>
          <a:xfrm>
            <a:off x="4206240" y="3514405"/>
            <a:ext cx="493776" cy="1761683"/>
          </a:xfrm>
          <a:prstGeom prst="roundRect">
            <a:avLst>
              <a:gd name="adj" fmla="val 9259"/>
            </a:avLst>
          </a:prstGeom>
          <a:solidFill>
            <a:srgbClr val="177A46"/>
          </a:solidFill>
          <a:ln w="12700">
            <a:solidFill>
              <a:srgbClr val="333333"/>
            </a:solidFill>
            <a:prstDash val="solid"/>
          </a:ln>
        </p:spPr>
      </p:sp>
      <p:sp>
        <p:nvSpPr>
          <p:cNvPr id="23" name="Text 20"/>
          <p:cNvSpPr/>
          <p:nvPr/>
        </p:nvSpPr>
        <p:spPr>
          <a:xfrm>
            <a:off x="4114800" y="3276661"/>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₹169</a:t>
            </a:r>
            <a:endParaRPr lang="en-US" sz="850" dirty="0"/>
          </a:p>
        </p:txBody>
      </p:sp>
      <p:sp>
        <p:nvSpPr>
          <p:cNvPr id="24" name="Text 21"/>
          <p:cNvSpPr/>
          <p:nvPr/>
        </p:nvSpPr>
        <p:spPr>
          <a:xfrm>
            <a:off x="3511296"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Value-Added</a:t>
            </a:r>
            <a:endParaRPr lang="en-US" sz="850" dirty="0"/>
          </a:p>
        </p:txBody>
      </p:sp>
      <p:sp>
        <p:nvSpPr>
          <p:cNvPr id="25" name="Shape 22"/>
          <p:cNvSpPr/>
          <p:nvPr/>
        </p:nvSpPr>
        <p:spPr>
          <a:xfrm>
            <a:off x="4901184" y="5182271"/>
            <a:ext cx="493776" cy="93817"/>
          </a:xfrm>
          <a:prstGeom prst="roundRect">
            <a:avLst>
              <a:gd name="adj" fmla="val 48733"/>
            </a:avLst>
          </a:prstGeom>
          <a:solidFill>
            <a:srgbClr val="6688BE"/>
          </a:solidFill>
          <a:ln w="12700">
            <a:solidFill>
              <a:srgbClr val="333333"/>
            </a:solidFill>
            <a:prstDash val="solid"/>
          </a:ln>
        </p:spPr>
      </p:sp>
      <p:sp>
        <p:nvSpPr>
          <p:cNvPr id="26" name="Text 23"/>
          <p:cNvSpPr/>
          <p:nvPr/>
        </p:nvSpPr>
        <p:spPr>
          <a:xfrm>
            <a:off x="4809744" y="4944527"/>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₹9</a:t>
            </a:r>
            <a:endParaRPr lang="en-US" sz="850" dirty="0"/>
          </a:p>
        </p:txBody>
      </p:sp>
      <p:sp>
        <p:nvSpPr>
          <p:cNvPr id="27" name="Shape 24"/>
          <p:cNvSpPr/>
          <p:nvPr/>
        </p:nvSpPr>
        <p:spPr>
          <a:xfrm>
            <a:off x="5504688" y="4025189"/>
            <a:ext cx="493776" cy="1250899"/>
          </a:xfrm>
          <a:prstGeom prst="roundRect">
            <a:avLst>
              <a:gd name="adj" fmla="val 9259"/>
            </a:avLst>
          </a:prstGeom>
          <a:solidFill>
            <a:srgbClr val="177A46"/>
          </a:solidFill>
          <a:ln w="12700">
            <a:solidFill>
              <a:srgbClr val="333333"/>
            </a:solidFill>
            <a:prstDash val="solid"/>
          </a:ln>
        </p:spPr>
      </p:sp>
      <p:sp>
        <p:nvSpPr>
          <p:cNvPr id="28" name="Text 25"/>
          <p:cNvSpPr/>
          <p:nvPr/>
        </p:nvSpPr>
        <p:spPr>
          <a:xfrm>
            <a:off x="5413248" y="3787445"/>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₹120</a:t>
            </a:r>
            <a:endParaRPr lang="en-US" sz="850" dirty="0"/>
          </a:p>
        </p:txBody>
      </p:sp>
      <p:sp>
        <p:nvSpPr>
          <p:cNvPr id="29" name="Text 26"/>
          <p:cNvSpPr/>
          <p:nvPr/>
        </p:nvSpPr>
        <p:spPr>
          <a:xfrm>
            <a:off x="4809744"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Oil &amp; Ghee</a:t>
            </a:r>
            <a:endParaRPr lang="en-US" sz="850" dirty="0"/>
          </a:p>
        </p:txBody>
      </p:sp>
      <p:sp>
        <p:nvSpPr>
          <p:cNvPr id="30" name="Shape 27"/>
          <p:cNvSpPr/>
          <p:nvPr/>
        </p:nvSpPr>
        <p:spPr>
          <a:xfrm>
            <a:off x="6199632" y="5239512"/>
            <a:ext cx="493776" cy="36576"/>
          </a:xfrm>
          <a:prstGeom prst="roundRect">
            <a:avLst>
              <a:gd name="adj" fmla="val 125000"/>
            </a:avLst>
          </a:prstGeom>
          <a:solidFill>
            <a:srgbClr val="6688BE"/>
          </a:solidFill>
          <a:ln w="12700">
            <a:solidFill>
              <a:srgbClr val="333333"/>
            </a:solidFill>
            <a:prstDash val="solid"/>
          </a:ln>
        </p:spPr>
      </p:sp>
      <p:sp>
        <p:nvSpPr>
          <p:cNvPr id="31" name="Text 28"/>
          <p:cNvSpPr/>
          <p:nvPr/>
        </p:nvSpPr>
        <p:spPr>
          <a:xfrm>
            <a:off x="6108192" y="5001768"/>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a:t>
            </a:r>
            <a:endParaRPr lang="en-US" sz="850" dirty="0"/>
          </a:p>
        </p:txBody>
      </p:sp>
      <p:sp>
        <p:nvSpPr>
          <p:cNvPr id="32" name="Shape 29"/>
          <p:cNvSpPr/>
          <p:nvPr/>
        </p:nvSpPr>
        <p:spPr>
          <a:xfrm>
            <a:off x="6803136" y="4963363"/>
            <a:ext cx="493776" cy="312725"/>
          </a:xfrm>
          <a:prstGeom prst="roundRect">
            <a:avLst>
              <a:gd name="adj" fmla="val 14620"/>
            </a:avLst>
          </a:prstGeom>
          <a:solidFill>
            <a:srgbClr val="177A46"/>
          </a:solidFill>
          <a:ln w="12700">
            <a:solidFill>
              <a:srgbClr val="333333"/>
            </a:solidFill>
            <a:prstDash val="solid"/>
          </a:ln>
        </p:spPr>
      </p:sp>
      <p:sp>
        <p:nvSpPr>
          <p:cNvPr id="33" name="Text 30"/>
          <p:cNvSpPr/>
          <p:nvPr/>
        </p:nvSpPr>
        <p:spPr>
          <a:xfrm>
            <a:off x="6711696" y="4725619"/>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₹30</a:t>
            </a:r>
            <a:endParaRPr lang="en-US" sz="850" dirty="0"/>
          </a:p>
        </p:txBody>
      </p:sp>
      <p:sp>
        <p:nvSpPr>
          <p:cNvPr id="34" name="Text 31"/>
          <p:cNvSpPr/>
          <p:nvPr/>
        </p:nvSpPr>
        <p:spPr>
          <a:xfrm>
            <a:off x="6108192"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Processed</a:t>
            </a:r>
            <a:endParaRPr lang="en-US" sz="850" dirty="0"/>
          </a:p>
        </p:txBody>
      </p:sp>
      <p:sp>
        <p:nvSpPr>
          <p:cNvPr id="35" name="Shape 32"/>
          <p:cNvSpPr/>
          <p:nvPr/>
        </p:nvSpPr>
        <p:spPr>
          <a:xfrm>
            <a:off x="914400" y="5641848"/>
            <a:ext cx="146304" cy="146304"/>
          </a:xfrm>
          <a:prstGeom prst="rect">
            <a:avLst/>
          </a:prstGeom>
          <a:solidFill>
            <a:srgbClr val="6688BE"/>
          </a:solidFill>
          <a:ln w="12700">
            <a:solidFill>
              <a:srgbClr val="333333"/>
            </a:solidFill>
            <a:prstDash val="solid"/>
          </a:ln>
        </p:spPr>
      </p:sp>
      <p:sp>
        <p:nvSpPr>
          <p:cNvPr id="36" name="Text 33"/>
          <p:cNvSpPr/>
          <p:nvPr/>
        </p:nvSpPr>
        <p:spPr>
          <a:xfrm>
            <a:off x="1133856" y="5605272"/>
            <a:ext cx="640080" cy="219456"/>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FY27</a:t>
            </a:r>
            <a:endParaRPr lang="en-US" sz="850" dirty="0"/>
          </a:p>
        </p:txBody>
      </p:sp>
      <p:sp>
        <p:nvSpPr>
          <p:cNvPr id="37" name="Shape 34"/>
          <p:cNvSpPr/>
          <p:nvPr/>
        </p:nvSpPr>
        <p:spPr>
          <a:xfrm>
            <a:off x="1874520" y="5641848"/>
            <a:ext cx="146304" cy="146304"/>
          </a:xfrm>
          <a:prstGeom prst="rect">
            <a:avLst/>
          </a:prstGeom>
          <a:solidFill>
            <a:srgbClr val="177A46"/>
          </a:solidFill>
          <a:ln w="12700">
            <a:solidFill>
              <a:srgbClr val="333333"/>
            </a:solidFill>
            <a:prstDash val="solid"/>
          </a:ln>
        </p:spPr>
      </p:sp>
      <p:sp>
        <p:nvSpPr>
          <p:cNvPr id="38" name="Text 35"/>
          <p:cNvSpPr/>
          <p:nvPr/>
        </p:nvSpPr>
        <p:spPr>
          <a:xfrm>
            <a:off x="2093976" y="5605272"/>
            <a:ext cx="640080" cy="219456"/>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FY31</a:t>
            </a:r>
            <a:endParaRPr lang="en-US" sz="850" dirty="0"/>
          </a:p>
        </p:txBody>
      </p:sp>
      <p:sp>
        <p:nvSpPr>
          <p:cNvPr id="39" name="Shape 36"/>
          <p:cNvSpPr/>
          <p:nvPr/>
        </p:nvSpPr>
        <p:spPr>
          <a:xfrm>
            <a:off x="8001000" y="2121408"/>
            <a:ext cx="3687775" cy="1024128"/>
          </a:xfrm>
          <a:prstGeom prst="roundRect">
            <a:avLst>
              <a:gd name="adj" fmla="val 803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0" name="Text 37"/>
          <p:cNvSpPr/>
          <p:nvPr/>
        </p:nvSpPr>
        <p:spPr>
          <a:xfrm>
            <a:off x="8183880" y="2231136"/>
            <a:ext cx="332201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11.2×</a:t>
            </a:r>
            <a:endParaRPr lang="en-US" sz="2100" dirty="0"/>
          </a:p>
        </p:txBody>
      </p:sp>
      <p:sp>
        <p:nvSpPr>
          <p:cNvPr id="41" name="Text 38"/>
          <p:cNvSpPr/>
          <p:nvPr/>
        </p:nvSpPr>
        <p:spPr>
          <a:xfrm>
            <a:off x="8183880" y="2616708"/>
            <a:ext cx="3322015" cy="45567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Spices, FY27 → FY31. Mix moves from 17% to 27% of revenue, at 51–58% gross margin.</a:t>
            </a:r>
            <a:endParaRPr lang="en-US" sz="850" dirty="0"/>
          </a:p>
        </p:txBody>
      </p:sp>
      <p:sp>
        <p:nvSpPr>
          <p:cNvPr id="42" name="Shape 39"/>
          <p:cNvSpPr/>
          <p:nvPr/>
        </p:nvSpPr>
        <p:spPr>
          <a:xfrm>
            <a:off x="8001000" y="3255264"/>
            <a:ext cx="3687775" cy="1024128"/>
          </a:xfrm>
          <a:prstGeom prst="roundRect">
            <a:avLst>
              <a:gd name="adj" fmla="val 803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3" name="Text 40"/>
          <p:cNvSpPr/>
          <p:nvPr/>
        </p:nvSpPr>
        <p:spPr>
          <a:xfrm>
            <a:off x="8183880" y="3364992"/>
            <a:ext cx="332201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₹99.9 Cr</a:t>
            </a:r>
            <a:endParaRPr lang="en-US" sz="2100" dirty="0"/>
          </a:p>
        </p:txBody>
      </p:sp>
      <p:sp>
        <p:nvSpPr>
          <p:cNvPr id="44" name="Text 41"/>
          <p:cNvSpPr/>
          <p:nvPr/>
        </p:nvSpPr>
        <p:spPr>
          <a:xfrm>
            <a:off x="8183880" y="3750564"/>
            <a:ext cx="3322015" cy="45567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Makhana — the single largest SKU in the FY31 plan, and a realisation play, not a tonnage play.</a:t>
            </a:r>
            <a:endParaRPr lang="en-US" sz="850" dirty="0"/>
          </a:p>
        </p:txBody>
      </p:sp>
      <p:sp>
        <p:nvSpPr>
          <p:cNvPr id="45" name="Shape 42"/>
          <p:cNvSpPr/>
          <p:nvPr/>
        </p:nvSpPr>
        <p:spPr>
          <a:xfrm>
            <a:off x="8001000" y="4389120"/>
            <a:ext cx="3687775" cy="1024128"/>
          </a:xfrm>
          <a:prstGeom prst="roundRect">
            <a:avLst>
              <a:gd name="adj" fmla="val 8036"/>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6" name="Text 43"/>
          <p:cNvSpPr/>
          <p:nvPr/>
        </p:nvSpPr>
        <p:spPr>
          <a:xfrm>
            <a:off x="8183880" y="4498848"/>
            <a:ext cx="332201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₹95.5 Cr</a:t>
            </a:r>
            <a:endParaRPr lang="en-US" sz="2100" dirty="0"/>
          </a:p>
        </p:txBody>
      </p:sp>
      <p:sp>
        <p:nvSpPr>
          <p:cNvPr id="47" name="Text 44"/>
          <p:cNvSpPr/>
          <p:nvPr/>
        </p:nvSpPr>
        <p:spPr>
          <a:xfrm>
            <a:off x="8183880" y="4884420"/>
            <a:ext cx="3322015" cy="45567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From four ground spice powders that do not exist today. Pure NPD, from a zero base.</a:t>
            </a:r>
            <a:endParaRPr lang="en-US" sz="850" dirty="0"/>
          </a:p>
        </p:txBody>
      </p:sp>
      <p:sp>
        <p:nvSpPr>
          <p:cNvPr id="48" name="Shape 45"/>
          <p:cNvSpPr/>
          <p:nvPr/>
        </p:nvSpPr>
        <p:spPr>
          <a:xfrm>
            <a:off x="8001000" y="5641848"/>
            <a:ext cx="3687775" cy="0"/>
          </a:xfrm>
          <a:prstGeom prst="line">
            <a:avLst/>
          </a:prstGeom>
          <a:noFill/>
          <a:ln w="25400">
            <a:solidFill>
              <a:srgbClr val="9E3A24"/>
            </a:solidFill>
            <a:prstDash val="solid"/>
          </a:ln>
        </p:spPr>
      </p:sp>
      <p:sp>
        <p:nvSpPr>
          <p:cNvPr id="49" name="Text 46"/>
          <p:cNvSpPr/>
          <p:nvPr/>
        </p:nvSpPr>
        <p:spPr>
          <a:xfrm>
            <a:off x="8001000" y="5733288"/>
            <a:ext cx="3687775" cy="548640"/>
          </a:xfrm>
          <a:prstGeom prst="rect">
            <a:avLst/>
          </a:prstGeom>
          <a:noFill/>
          <a:ln/>
        </p:spPr>
        <p:txBody>
          <a:bodyPr wrap="square" lIns="0" tIns="0" rIns="0" bIns="0" rtlCol="0" anchor="t"/>
          <a:lstStyle/>
          <a:p>
            <a:pPr indent="0" marL="0">
              <a:lnSpc>
                <a:spcPct val="104000"/>
              </a:lnSpc>
              <a:buNone/>
            </a:pPr>
            <a:r>
              <a:rPr lang="en-US" sz="1200" dirty="0">
                <a:solidFill>
                  <a:srgbClr val="9E3A24"/>
                </a:solidFill>
                <a:latin typeface="Archivo Black" pitchFamily="34" charset="0"/>
                <a:ea typeface="Archivo Black" pitchFamily="34" charset="-122"/>
                <a:cs typeface="Archivo Black" pitchFamily="34" charset="-120"/>
              </a:rPr>
              <a:t>Spices deliver the entire +5.8pp of margin expansion. So, a slipped spice launch is a slipped P&amp;L.</a:t>
            </a:r>
            <a:endParaRPr lang="en-US" sz="120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30</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607869"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607869"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DISTRIBUTION ROADMAP</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Earn the shelf. Then densify it.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13.5× the selling points at 5× the revenue. The plan does not need better stores, it needs more of them, faster than the dilution.</a:t>
            </a:r>
            <a:endParaRPr lang="en-US" sz="1100" dirty="0"/>
          </a:p>
        </p:txBody>
      </p:sp>
      <p:sp>
        <p:nvSpPr>
          <p:cNvPr id="7" name="Shape 4"/>
          <p:cNvSpPr/>
          <p:nvPr/>
        </p:nvSpPr>
        <p:spPr>
          <a:xfrm>
            <a:off x="502920" y="2121408"/>
            <a:ext cx="3545738" cy="1078992"/>
          </a:xfrm>
          <a:prstGeom prst="roundRect">
            <a:avLst>
              <a:gd name="adj" fmla="val 762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23113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22,628</a:t>
            </a:r>
            <a:endParaRPr lang="en-US" sz="2500" dirty="0"/>
          </a:p>
        </p:txBody>
      </p:sp>
      <p:sp>
        <p:nvSpPr>
          <p:cNvPr id="9" name="Text 6"/>
          <p:cNvSpPr/>
          <p:nvPr/>
        </p:nvSpPr>
        <p:spPr>
          <a:xfrm>
            <a:off x="685800" y="2679700"/>
            <a:ext cx="3179978" cy="44754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selling points by FY31, from 1,672 today</a:t>
            </a:r>
            <a:endParaRPr lang="en-US" sz="850" dirty="0"/>
          </a:p>
        </p:txBody>
      </p:sp>
      <p:sp>
        <p:nvSpPr>
          <p:cNvPr id="10" name="Shape 7"/>
          <p:cNvSpPr/>
          <p:nvPr/>
        </p:nvSpPr>
        <p:spPr>
          <a:xfrm>
            <a:off x="4322978" y="2121408"/>
            <a:ext cx="3545738" cy="1078992"/>
          </a:xfrm>
          <a:prstGeom prst="roundRect">
            <a:avLst>
              <a:gd name="adj" fmla="val 762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4505858" y="223113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110</a:t>
            </a:r>
            <a:endParaRPr lang="en-US" sz="2500" dirty="0"/>
          </a:p>
        </p:txBody>
      </p:sp>
      <p:sp>
        <p:nvSpPr>
          <p:cNvPr id="12" name="Text 9"/>
          <p:cNvSpPr/>
          <p:nvPr/>
        </p:nvSpPr>
        <p:spPr>
          <a:xfrm>
            <a:off x="4505858" y="2679700"/>
            <a:ext cx="3179978" cy="44754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offline cities, from 22 today</a:t>
            </a:r>
            <a:endParaRPr lang="en-US" sz="850" dirty="0"/>
          </a:p>
        </p:txBody>
      </p:sp>
      <p:sp>
        <p:nvSpPr>
          <p:cNvPr id="13" name="Shape 10"/>
          <p:cNvSpPr/>
          <p:nvPr/>
        </p:nvSpPr>
        <p:spPr>
          <a:xfrm>
            <a:off x="8143037" y="2121408"/>
            <a:ext cx="3545738" cy="1078992"/>
          </a:xfrm>
          <a:prstGeom prst="roundRect">
            <a:avLst>
              <a:gd name="adj" fmla="val 762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8325917" y="223113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40%</a:t>
            </a:r>
            <a:endParaRPr lang="en-US" sz="2500" dirty="0"/>
          </a:p>
        </p:txBody>
      </p:sp>
      <p:sp>
        <p:nvSpPr>
          <p:cNvPr id="15" name="Text 12"/>
          <p:cNvSpPr/>
          <p:nvPr/>
        </p:nvSpPr>
        <p:spPr>
          <a:xfrm>
            <a:off x="8325917" y="2679700"/>
            <a:ext cx="3179978" cy="44754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the ceiling on any single channel's share of revenue</a:t>
            </a:r>
            <a:endParaRPr lang="en-US" sz="850" dirty="0"/>
          </a:p>
        </p:txBody>
      </p:sp>
      <p:sp>
        <p:nvSpPr>
          <p:cNvPr id="16" name="Text 13"/>
          <p:cNvSpPr/>
          <p:nvPr/>
        </p:nvSpPr>
        <p:spPr>
          <a:xfrm>
            <a:off x="502920" y="340156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 MIX AT FY31, ₹ CR</a:t>
            </a:r>
            <a:endParaRPr lang="en-US" sz="950" dirty="0"/>
          </a:p>
        </p:txBody>
      </p:sp>
      <p:sp>
        <p:nvSpPr>
          <p:cNvPr id="17" name="Shape 14"/>
          <p:cNvSpPr/>
          <p:nvPr/>
        </p:nvSpPr>
        <p:spPr>
          <a:xfrm>
            <a:off x="502920" y="3675888"/>
            <a:ext cx="6035040" cy="2103120"/>
          </a:xfrm>
          <a:prstGeom prst="roundRect">
            <a:avLst>
              <a:gd name="adj" fmla="val 3913"/>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Text 15"/>
          <p:cNvSpPr/>
          <p:nvPr/>
        </p:nvSpPr>
        <p:spPr>
          <a:xfrm>
            <a:off x="777240" y="3877056"/>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E-commerce &amp; quick commerce</a:t>
            </a:r>
            <a:endParaRPr lang="en-US" sz="950" dirty="0"/>
          </a:p>
        </p:txBody>
      </p:sp>
      <p:sp>
        <p:nvSpPr>
          <p:cNvPr id="19" name="Text 16"/>
          <p:cNvSpPr/>
          <p:nvPr/>
        </p:nvSpPr>
        <p:spPr>
          <a:xfrm>
            <a:off x="4526280" y="387705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₹304 Cr</a:t>
            </a:r>
            <a:endParaRPr lang="en-US" sz="1000" dirty="0"/>
          </a:p>
        </p:txBody>
      </p:sp>
      <p:sp>
        <p:nvSpPr>
          <p:cNvPr id="20" name="Shape 17"/>
          <p:cNvSpPr/>
          <p:nvPr/>
        </p:nvSpPr>
        <p:spPr>
          <a:xfrm>
            <a:off x="777240" y="4096512"/>
            <a:ext cx="5486400" cy="137160"/>
          </a:xfrm>
          <a:prstGeom prst="roundRect">
            <a:avLst>
              <a:gd name="adj" fmla="val 50000"/>
            </a:avLst>
          </a:prstGeom>
          <a:solidFill>
            <a:srgbClr val="EDE4D4"/>
          </a:solidFill>
          <a:ln w="12700">
            <a:solidFill>
              <a:srgbClr val="333333"/>
            </a:solidFill>
            <a:prstDash val="solid"/>
          </a:ln>
        </p:spPr>
      </p:sp>
      <p:sp>
        <p:nvSpPr>
          <p:cNvPr id="21" name="Shape 18"/>
          <p:cNvSpPr/>
          <p:nvPr/>
        </p:nvSpPr>
        <p:spPr>
          <a:xfrm>
            <a:off x="777240" y="4096512"/>
            <a:ext cx="4905487" cy="137160"/>
          </a:xfrm>
          <a:prstGeom prst="roundRect">
            <a:avLst>
              <a:gd name="adj" fmla="val 50000"/>
            </a:avLst>
          </a:prstGeom>
          <a:solidFill>
            <a:srgbClr val="3A5D97"/>
          </a:solidFill>
          <a:ln w="12700">
            <a:solidFill>
              <a:srgbClr val="333333"/>
            </a:solidFill>
            <a:prstDash val="solid"/>
          </a:ln>
        </p:spPr>
      </p:sp>
      <p:sp>
        <p:nvSpPr>
          <p:cNvPr id="22" name="Text 19"/>
          <p:cNvSpPr/>
          <p:nvPr/>
        </p:nvSpPr>
        <p:spPr>
          <a:xfrm>
            <a:off x="777240" y="4315968"/>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Regional &amp; premium offline</a:t>
            </a:r>
            <a:endParaRPr lang="en-US" sz="950" dirty="0"/>
          </a:p>
        </p:txBody>
      </p:sp>
      <p:sp>
        <p:nvSpPr>
          <p:cNvPr id="23" name="Text 20"/>
          <p:cNvSpPr/>
          <p:nvPr/>
        </p:nvSpPr>
        <p:spPr>
          <a:xfrm>
            <a:off x="4526280" y="4315968"/>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₹263 Cr</a:t>
            </a:r>
            <a:endParaRPr lang="en-US" sz="1000" dirty="0"/>
          </a:p>
        </p:txBody>
      </p:sp>
      <p:sp>
        <p:nvSpPr>
          <p:cNvPr id="24" name="Shape 21"/>
          <p:cNvSpPr/>
          <p:nvPr/>
        </p:nvSpPr>
        <p:spPr>
          <a:xfrm>
            <a:off x="777240" y="4535424"/>
            <a:ext cx="5486400" cy="137160"/>
          </a:xfrm>
          <a:prstGeom prst="roundRect">
            <a:avLst>
              <a:gd name="adj" fmla="val 50000"/>
            </a:avLst>
          </a:prstGeom>
          <a:solidFill>
            <a:srgbClr val="EDE4D4"/>
          </a:solidFill>
          <a:ln w="12700">
            <a:solidFill>
              <a:srgbClr val="333333"/>
            </a:solidFill>
            <a:prstDash val="solid"/>
          </a:ln>
        </p:spPr>
      </p:sp>
      <p:sp>
        <p:nvSpPr>
          <p:cNvPr id="25" name="Shape 22"/>
          <p:cNvSpPr/>
          <p:nvPr/>
        </p:nvSpPr>
        <p:spPr>
          <a:xfrm>
            <a:off x="777240" y="4535424"/>
            <a:ext cx="4243892" cy="137160"/>
          </a:xfrm>
          <a:prstGeom prst="roundRect">
            <a:avLst>
              <a:gd name="adj" fmla="val 50000"/>
            </a:avLst>
          </a:prstGeom>
          <a:solidFill>
            <a:srgbClr val="177A46"/>
          </a:solidFill>
          <a:ln w="12700">
            <a:solidFill>
              <a:srgbClr val="333333"/>
            </a:solidFill>
            <a:prstDash val="solid"/>
          </a:ln>
        </p:spPr>
      </p:sp>
      <p:sp>
        <p:nvSpPr>
          <p:cNvPr id="26" name="Text 23"/>
          <p:cNvSpPr/>
          <p:nvPr/>
        </p:nvSpPr>
        <p:spPr>
          <a:xfrm>
            <a:off x="777240" y="4754880"/>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National modern trade</a:t>
            </a:r>
            <a:endParaRPr lang="en-US" sz="950" dirty="0"/>
          </a:p>
        </p:txBody>
      </p:sp>
      <p:sp>
        <p:nvSpPr>
          <p:cNvPr id="27" name="Text 24"/>
          <p:cNvSpPr/>
          <p:nvPr/>
        </p:nvSpPr>
        <p:spPr>
          <a:xfrm>
            <a:off x="4526280" y="475488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₹129 Cr</a:t>
            </a:r>
            <a:endParaRPr lang="en-US" sz="1000" dirty="0"/>
          </a:p>
        </p:txBody>
      </p:sp>
      <p:sp>
        <p:nvSpPr>
          <p:cNvPr id="28" name="Shape 25"/>
          <p:cNvSpPr/>
          <p:nvPr/>
        </p:nvSpPr>
        <p:spPr>
          <a:xfrm>
            <a:off x="777240" y="4974336"/>
            <a:ext cx="5486400" cy="137160"/>
          </a:xfrm>
          <a:prstGeom prst="roundRect">
            <a:avLst>
              <a:gd name="adj" fmla="val 50000"/>
            </a:avLst>
          </a:prstGeom>
          <a:solidFill>
            <a:srgbClr val="EDE4D4"/>
          </a:solidFill>
          <a:ln w="12700">
            <a:solidFill>
              <a:srgbClr val="333333"/>
            </a:solidFill>
            <a:prstDash val="solid"/>
          </a:ln>
        </p:spPr>
      </p:sp>
      <p:sp>
        <p:nvSpPr>
          <p:cNvPr id="29" name="Shape 26"/>
          <p:cNvSpPr/>
          <p:nvPr/>
        </p:nvSpPr>
        <p:spPr>
          <a:xfrm>
            <a:off x="777240" y="4974336"/>
            <a:ext cx="2081605" cy="137160"/>
          </a:xfrm>
          <a:prstGeom prst="roundRect">
            <a:avLst>
              <a:gd name="adj" fmla="val 50000"/>
            </a:avLst>
          </a:prstGeom>
          <a:solidFill>
            <a:srgbClr val="6688BE"/>
          </a:solidFill>
          <a:ln w="12700">
            <a:solidFill>
              <a:srgbClr val="333333"/>
            </a:solidFill>
            <a:prstDash val="solid"/>
          </a:ln>
        </p:spPr>
      </p:sp>
      <p:sp>
        <p:nvSpPr>
          <p:cNvPr id="30" name="Text 27"/>
          <p:cNvSpPr/>
          <p:nvPr/>
        </p:nvSpPr>
        <p:spPr>
          <a:xfrm>
            <a:off x="777240" y="5193792"/>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Exports</a:t>
            </a:r>
            <a:endParaRPr lang="en-US" sz="950" dirty="0"/>
          </a:p>
        </p:txBody>
      </p:sp>
      <p:sp>
        <p:nvSpPr>
          <p:cNvPr id="31" name="Text 28"/>
          <p:cNvSpPr/>
          <p:nvPr/>
        </p:nvSpPr>
        <p:spPr>
          <a:xfrm>
            <a:off x="4526280" y="519379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₹54 Cr</a:t>
            </a:r>
            <a:endParaRPr lang="en-US" sz="1000" dirty="0"/>
          </a:p>
        </p:txBody>
      </p:sp>
      <p:sp>
        <p:nvSpPr>
          <p:cNvPr id="32" name="Shape 29"/>
          <p:cNvSpPr/>
          <p:nvPr/>
        </p:nvSpPr>
        <p:spPr>
          <a:xfrm>
            <a:off x="777240" y="5413248"/>
            <a:ext cx="5486400" cy="137160"/>
          </a:xfrm>
          <a:prstGeom prst="roundRect">
            <a:avLst>
              <a:gd name="adj" fmla="val 50000"/>
            </a:avLst>
          </a:prstGeom>
          <a:solidFill>
            <a:srgbClr val="EDE4D4"/>
          </a:solidFill>
          <a:ln w="12700">
            <a:solidFill>
              <a:srgbClr val="333333"/>
            </a:solidFill>
            <a:prstDash val="solid"/>
          </a:ln>
        </p:spPr>
      </p:sp>
      <p:sp>
        <p:nvSpPr>
          <p:cNvPr id="33" name="Shape 30"/>
          <p:cNvSpPr/>
          <p:nvPr/>
        </p:nvSpPr>
        <p:spPr>
          <a:xfrm>
            <a:off x="777240" y="5413248"/>
            <a:ext cx="871369" cy="137160"/>
          </a:xfrm>
          <a:prstGeom prst="roundRect">
            <a:avLst>
              <a:gd name="adj" fmla="val 50000"/>
            </a:avLst>
          </a:prstGeom>
          <a:solidFill>
            <a:srgbClr val="C8922E"/>
          </a:solidFill>
          <a:ln w="12700">
            <a:solidFill>
              <a:srgbClr val="333333"/>
            </a:solidFill>
            <a:prstDash val="solid"/>
          </a:ln>
        </p:spPr>
      </p:sp>
      <p:sp>
        <p:nvSpPr>
          <p:cNvPr id="34" name="Shape 31"/>
          <p:cNvSpPr/>
          <p:nvPr/>
        </p:nvSpPr>
        <p:spPr>
          <a:xfrm>
            <a:off x="502920" y="5888736"/>
            <a:ext cx="6035040" cy="566928"/>
          </a:xfrm>
          <a:prstGeom prst="roundRect">
            <a:avLst>
              <a:gd name="adj" fmla="val 14516"/>
            </a:avLst>
          </a:prstGeom>
          <a:solidFill>
            <a:srgbClr val="EAF0F8"/>
          </a:solidFill>
          <a:ln w="9525">
            <a:solidFill>
              <a:srgbClr val="CBD9EE"/>
            </a:solidFill>
            <a:prstDash val="solid"/>
          </a:ln>
          <a:effectLst>
            <a:outerShdw sx="100000" sy="100000" kx="0" ky="0" algn="bl" rotWithShape="0" blurRad="177800" dist="38100" dir="5400000">
              <a:srgbClr val="101C2C">
                <a:alpha val="9000"/>
              </a:srgbClr>
            </a:outerShdw>
          </a:effectLst>
        </p:spPr>
      </p:sp>
      <p:sp>
        <p:nvSpPr>
          <p:cNvPr id="35" name="Text 32"/>
          <p:cNvSpPr/>
          <p:nvPr/>
        </p:nvSpPr>
        <p:spPr>
          <a:xfrm>
            <a:off x="704088" y="6007608"/>
            <a:ext cx="5632704"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 single channel above 40% — the ceiling is what stops the plan becoming a bet on one platform.</a:t>
            </a:r>
            <a:endParaRPr lang="en-US" sz="900" dirty="0"/>
          </a:p>
        </p:txBody>
      </p:sp>
      <p:sp>
        <p:nvSpPr>
          <p:cNvPr id="36" name="Text 33"/>
          <p:cNvSpPr/>
          <p:nvPr/>
        </p:nvSpPr>
        <p:spPr>
          <a:xfrm>
            <a:off x="6812280" y="3401568"/>
            <a:ext cx="48764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SEQUENCE</a:t>
            </a:r>
            <a:endParaRPr lang="en-US" sz="950" dirty="0"/>
          </a:p>
        </p:txBody>
      </p:sp>
      <p:sp>
        <p:nvSpPr>
          <p:cNvPr id="37" name="Shape 34"/>
          <p:cNvSpPr/>
          <p:nvPr/>
        </p:nvSpPr>
        <p:spPr>
          <a:xfrm>
            <a:off x="6812280" y="3675888"/>
            <a:ext cx="4876495" cy="640080"/>
          </a:xfrm>
          <a:prstGeom prst="roundRect">
            <a:avLst>
              <a:gd name="adj" fmla="val 1285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8" name="Shape 35"/>
          <p:cNvSpPr/>
          <p:nvPr/>
        </p:nvSpPr>
        <p:spPr>
          <a:xfrm>
            <a:off x="6995160" y="3813048"/>
            <a:ext cx="365760" cy="365760"/>
          </a:xfrm>
          <a:prstGeom prst="ellipse">
            <a:avLst/>
          </a:prstGeom>
          <a:solidFill>
            <a:srgbClr val="3A5D97"/>
          </a:solidFill>
          <a:ln w="12700">
            <a:solidFill>
              <a:srgbClr val="333333"/>
            </a:solidFill>
            <a:prstDash val="solid"/>
          </a:ln>
        </p:spPr>
      </p:sp>
      <p:sp>
        <p:nvSpPr>
          <p:cNvPr id="39" name="Text 36"/>
          <p:cNvSpPr/>
          <p:nvPr/>
        </p:nvSpPr>
        <p:spPr>
          <a:xfrm>
            <a:off x="6995160" y="3813048"/>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1</a:t>
            </a:r>
            <a:endParaRPr lang="en-US" sz="1000" dirty="0"/>
          </a:p>
        </p:txBody>
      </p:sp>
      <p:sp>
        <p:nvSpPr>
          <p:cNvPr id="40" name="Text 37"/>
          <p:cNvSpPr/>
          <p:nvPr/>
        </p:nvSpPr>
        <p:spPr>
          <a:xfrm>
            <a:off x="7470648" y="3749040"/>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Earn the metro shelf</a:t>
            </a:r>
            <a:endParaRPr lang="en-US" sz="950" dirty="0"/>
          </a:p>
        </p:txBody>
      </p:sp>
      <p:sp>
        <p:nvSpPr>
          <p:cNvPr id="41" name="Text 38"/>
          <p:cNvSpPr/>
          <p:nvPr/>
        </p:nvSpPr>
        <p:spPr>
          <a:xfrm>
            <a:off x="7470648" y="3986784"/>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Prove velocity where the Guardians already shop.</a:t>
            </a:r>
            <a:endParaRPr lang="en-US" sz="800" dirty="0"/>
          </a:p>
        </p:txBody>
      </p:sp>
      <p:sp>
        <p:nvSpPr>
          <p:cNvPr id="42" name="Shape 39"/>
          <p:cNvSpPr/>
          <p:nvPr/>
        </p:nvSpPr>
        <p:spPr>
          <a:xfrm>
            <a:off x="6812280" y="4389120"/>
            <a:ext cx="4876495" cy="640080"/>
          </a:xfrm>
          <a:prstGeom prst="roundRect">
            <a:avLst>
              <a:gd name="adj" fmla="val 1285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3" name="Shape 40"/>
          <p:cNvSpPr/>
          <p:nvPr/>
        </p:nvSpPr>
        <p:spPr>
          <a:xfrm>
            <a:off x="6995160" y="4526280"/>
            <a:ext cx="365760" cy="365760"/>
          </a:xfrm>
          <a:prstGeom prst="ellipse">
            <a:avLst/>
          </a:prstGeom>
          <a:solidFill>
            <a:srgbClr val="3A5D97"/>
          </a:solidFill>
          <a:ln w="12700">
            <a:solidFill>
              <a:srgbClr val="333333"/>
            </a:solidFill>
            <a:prstDash val="solid"/>
          </a:ln>
        </p:spPr>
      </p:sp>
      <p:sp>
        <p:nvSpPr>
          <p:cNvPr id="44" name="Text 41"/>
          <p:cNvSpPr/>
          <p:nvPr/>
        </p:nvSpPr>
        <p:spPr>
          <a:xfrm>
            <a:off x="6995160" y="4526280"/>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2</a:t>
            </a:r>
            <a:endParaRPr lang="en-US" sz="1000" dirty="0"/>
          </a:p>
        </p:txBody>
      </p:sp>
      <p:sp>
        <p:nvSpPr>
          <p:cNvPr id="45" name="Text 42"/>
          <p:cNvSpPr/>
          <p:nvPr/>
        </p:nvSpPr>
        <p:spPr>
          <a:xfrm>
            <a:off x="7470648" y="4462272"/>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Ride quick commerce into Tier 2 &amp; 3</a:t>
            </a:r>
            <a:endParaRPr lang="en-US" sz="950" dirty="0"/>
          </a:p>
        </p:txBody>
      </p:sp>
      <p:sp>
        <p:nvSpPr>
          <p:cNvPr id="46" name="Text 43"/>
          <p:cNvSpPr/>
          <p:nvPr/>
        </p:nvSpPr>
        <p:spPr>
          <a:xfrm>
            <a:off x="7470648" y="4700016"/>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Distribution without the fixed cost of feet on street.</a:t>
            </a:r>
            <a:endParaRPr lang="en-US" sz="800" dirty="0"/>
          </a:p>
        </p:txBody>
      </p:sp>
      <p:sp>
        <p:nvSpPr>
          <p:cNvPr id="47" name="Shape 44"/>
          <p:cNvSpPr/>
          <p:nvPr/>
        </p:nvSpPr>
        <p:spPr>
          <a:xfrm>
            <a:off x="6812280" y="5102352"/>
            <a:ext cx="4876495" cy="640080"/>
          </a:xfrm>
          <a:prstGeom prst="roundRect">
            <a:avLst>
              <a:gd name="adj" fmla="val 1285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8" name="Shape 45"/>
          <p:cNvSpPr/>
          <p:nvPr/>
        </p:nvSpPr>
        <p:spPr>
          <a:xfrm>
            <a:off x="6995160" y="5239512"/>
            <a:ext cx="365760" cy="365760"/>
          </a:xfrm>
          <a:prstGeom prst="ellipse">
            <a:avLst/>
          </a:prstGeom>
          <a:solidFill>
            <a:srgbClr val="3A5D97"/>
          </a:solidFill>
          <a:ln w="12700">
            <a:solidFill>
              <a:srgbClr val="333333"/>
            </a:solidFill>
            <a:prstDash val="solid"/>
          </a:ln>
        </p:spPr>
      </p:sp>
      <p:sp>
        <p:nvSpPr>
          <p:cNvPr id="49" name="Text 46"/>
          <p:cNvSpPr/>
          <p:nvPr/>
        </p:nvSpPr>
        <p:spPr>
          <a:xfrm>
            <a:off x="6995160" y="5239512"/>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3</a:t>
            </a:r>
            <a:endParaRPr lang="en-US" sz="1000" dirty="0"/>
          </a:p>
        </p:txBody>
      </p:sp>
      <p:sp>
        <p:nvSpPr>
          <p:cNvPr id="50" name="Text 47"/>
          <p:cNvSpPr/>
          <p:nvPr/>
        </p:nvSpPr>
        <p:spPr>
          <a:xfrm>
            <a:off x="7470648" y="5175504"/>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Convert regional chains, state by state</a:t>
            </a:r>
            <a:endParaRPr lang="en-US" sz="950" dirty="0"/>
          </a:p>
        </p:txBody>
      </p:sp>
      <p:sp>
        <p:nvSpPr>
          <p:cNvPr id="51" name="Text 48"/>
          <p:cNvSpPr/>
          <p:nvPr/>
        </p:nvSpPr>
        <p:spPr>
          <a:xfrm>
            <a:off x="7470648" y="5413248"/>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Regional &amp; premium offline is the second-largest pool at ₹263 Cr.</a:t>
            </a:r>
            <a:endParaRPr lang="en-US" sz="800" dirty="0"/>
          </a:p>
        </p:txBody>
      </p:sp>
      <p:sp>
        <p:nvSpPr>
          <p:cNvPr id="52" name="Shape 49"/>
          <p:cNvSpPr/>
          <p:nvPr/>
        </p:nvSpPr>
        <p:spPr>
          <a:xfrm>
            <a:off x="6812280" y="5815584"/>
            <a:ext cx="4876495" cy="640080"/>
          </a:xfrm>
          <a:prstGeom prst="roundRect">
            <a:avLst>
              <a:gd name="adj" fmla="val 12857"/>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53" name="Shape 50"/>
          <p:cNvSpPr/>
          <p:nvPr/>
        </p:nvSpPr>
        <p:spPr>
          <a:xfrm>
            <a:off x="6995160" y="5952744"/>
            <a:ext cx="365760" cy="365760"/>
          </a:xfrm>
          <a:prstGeom prst="ellipse">
            <a:avLst/>
          </a:prstGeom>
          <a:solidFill>
            <a:srgbClr val="3A5D97"/>
          </a:solidFill>
          <a:ln w="12700">
            <a:solidFill>
              <a:srgbClr val="333333"/>
            </a:solidFill>
            <a:prstDash val="solid"/>
          </a:ln>
        </p:spPr>
      </p:sp>
      <p:sp>
        <p:nvSpPr>
          <p:cNvPr id="54" name="Text 51"/>
          <p:cNvSpPr/>
          <p:nvPr/>
        </p:nvSpPr>
        <p:spPr>
          <a:xfrm>
            <a:off x="6995160" y="5952744"/>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4</a:t>
            </a:r>
            <a:endParaRPr lang="en-US" sz="1000" dirty="0"/>
          </a:p>
        </p:txBody>
      </p:sp>
      <p:sp>
        <p:nvSpPr>
          <p:cNvPr id="55" name="Text 52"/>
          <p:cNvSpPr/>
          <p:nvPr/>
        </p:nvSpPr>
        <p:spPr>
          <a:xfrm>
            <a:off x="7470648" y="5888736"/>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Densify what is already open</a:t>
            </a:r>
            <a:endParaRPr lang="en-US" sz="950" dirty="0"/>
          </a:p>
        </p:txBody>
      </p:sp>
      <p:sp>
        <p:nvSpPr>
          <p:cNvPr id="56" name="Text 53"/>
          <p:cNvSpPr/>
          <p:nvPr/>
        </p:nvSpPr>
        <p:spPr>
          <a:xfrm>
            <a:off x="7470648" y="6126480"/>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Adding SKUs per store is cheaper than adding stores.</a:t>
            </a:r>
            <a:endParaRPr lang="en-US" sz="800" dirty="0"/>
          </a:p>
        </p:txBody>
      </p:sp>
      <p:sp>
        <p:nvSpPr>
          <p:cNvPr id="57" name="Shape 54"/>
          <p:cNvSpPr/>
          <p:nvPr/>
        </p:nvSpPr>
        <p:spPr>
          <a:xfrm>
            <a:off x="502920" y="6455664"/>
            <a:ext cx="11185855" cy="0"/>
          </a:xfrm>
          <a:prstGeom prst="line">
            <a:avLst/>
          </a:prstGeom>
          <a:noFill/>
          <a:ln w="9525">
            <a:solidFill>
              <a:srgbClr val="E5DCCB"/>
            </a:solidFill>
            <a:prstDash val="solid"/>
          </a:ln>
        </p:spPr>
      </p:sp>
      <p:sp>
        <p:nvSpPr>
          <p:cNvPr id="58" name="Text 55"/>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59" name="Text 5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31</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6.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06</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Moat &amp; The Ask</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What DHF controls, how long it survives imitation, and what it costs to build.</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We control the input, not the harvest test</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Only L3 and L4 survive imitation</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₹105 Cr buys breakeven by FY29</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COMPETITIVE DEFENCE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We don't test the harvest. We control the input.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competitor can buy a certificate or commission a lab. None of them can decide what a farmer plants and sprays — because none of them run the agritech network the farmer already uses.</a:t>
            </a:r>
            <a:endParaRPr lang="en-US" sz="1100" dirty="0"/>
          </a:p>
        </p:txBody>
      </p:sp>
      <p:sp>
        <p:nvSpPr>
          <p:cNvPr id="7" name="Shape 4"/>
          <p:cNvSpPr/>
          <p:nvPr/>
        </p:nvSpPr>
        <p:spPr>
          <a:xfrm>
            <a:off x="502920" y="2121408"/>
            <a:ext cx="3545738" cy="1005840"/>
          </a:xfrm>
          <a:prstGeom prst="roundRect">
            <a:avLst>
              <a:gd name="adj" fmla="val 818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23113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10 Mn+</a:t>
            </a:r>
            <a:endParaRPr lang="en-US" sz="2500" dirty="0"/>
          </a:p>
        </p:txBody>
      </p:sp>
      <p:sp>
        <p:nvSpPr>
          <p:cNvPr id="9" name="Text 6"/>
          <p:cNvSpPr/>
          <p:nvPr/>
        </p:nvSpPr>
        <p:spPr>
          <a:xfrm>
            <a:off x="685800" y="2679700"/>
            <a:ext cx="3179978" cy="37439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Farmers on the DeHaat network</a:t>
            </a:r>
            <a:endParaRPr lang="en-US" sz="850" dirty="0"/>
          </a:p>
        </p:txBody>
      </p:sp>
      <p:sp>
        <p:nvSpPr>
          <p:cNvPr id="10" name="Shape 7"/>
          <p:cNvSpPr/>
          <p:nvPr/>
        </p:nvSpPr>
        <p:spPr>
          <a:xfrm>
            <a:off x="4322978" y="2121408"/>
            <a:ext cx="3545738" cy="1005840"/>
          </a:xfrm>
          <a:prstGeom prst="roundRect">
            <a:avLst>
              <a:gd name="adj" fmla="val 818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1" name="Text 8"/>
          <p:cNvSpPr/>
          <p:nvPr/>
        </p:nvSpPr>
        <p:spPr>
          <a:xfrm>
            <a:off x="4505858" y="223113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8</a:t>
            </a:r>
            <a:endParaRPr lang="en-US" sz="2500" dirty="0"/>
          </a:p>
        </p:txBody>
      </p:sp>
      <p:sp>
        <p:nvSpPr>
          <p:cNvPr id="12" name="Text 9"/>
          <p:cNvSpPr/>
          <p:nvPr/>
        </p:nvSpPr>
        <p:spPr>
          <a:xfrm>
            <a:off x="4505858" y="2679700"/>
            <a:ext cx="3179978" cy="37439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Sourcing clusters owned end to end</a:t>
            </a:r>
            <a:endParaRPr lang="en-US" sz="850" dirty="0"/>
          </a:p>
        </p:txBody>
      </p:sp>
      <p:sp>
        <p:nvSpPr>
          <p:cNvPr id="13" name="Shape 10"/>
          <p:cNvSpPr/>
          <p:nvPr/>
        </p:nvSpPr>
        <p:spPr>
          <a:xfrm>
            <a:off x="8143037" y="2121408"/>
            <a:ext cx="3545738" cy="1005840"/>
          </a:xfrm>
          <a:prstGeom prst="roundRect">
            <a:avLst>
              <a:gd name="adj" fmla="val 8182"/>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4" name="Text 11"/>
          <p:cNvSpPr/>
          <p:nvPr/>
        </p:nvSpPr>
        <p:spPr>
          <a:xfrm>
            <a:off x="8325917" y="223113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230+</a:t>
            </a:r>
            <a:endParaRPr lang="en-US" sz="2500" dirty="0"/>
          </a:p>
        </p:txBody>
      </p:sp>
      <p:sp>
        <p:nvSpPr>
          <p:cNvPr id="15" name="Text 12"/>
          <p:cNvSpPr/>
          <p:nvPr/>
        </p:nvSpPr>
        <p:spPr>
          <a:xfrm>
            <a:off x="8325917" y="2679700"/>
            <a:ext cx="3179978" cy="37439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Pesticide checks on every batch</a:t>
            </a:r>
            <a:endParaRPr lang="en-US" sz="850" dirty="0"/>
          </a:p>
        </p:txBody>
      </p:sp>
      <p:sp>
        <p:nvSpPr>
          <p:cNvPr id="16" name="Text 13"/>
          <p:cNvSpPr/>
          <p:nvPr/>
        </p:nvSpPr>
        <p:spPr>
          <a:xfrm>
            <a:off x="502920" y="3419856"/>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FIVE STEPS BEHIND THE CLAIM</a:t>
            </a:r>
            <a:endParaRPr lang="en-US" sz="950" dirty="0"/>
          </a:p>
        </p:txBody>
      </p:sp>
      <p:sp>
        <p:nvSpPr>
          <p:cNvPr id="17" name="Shape 14"/>
          <p:cNvSpPr/>
          <p:nvPr/>
        </p:nvSpPr>
        <p:spPr>
          <a:xfrm>
            <a:off x="502920" y="3694176"/>
            <a:ext cx="2061606" cy="868680"/>
          </a:xfrm>
          <a:prstGeom prst="roundRect">
            <a:avLst>
              <a:gd name="adj" fmla="val 94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8" name="Shape 15"/>
          <p:cNvSpPr/>
          <p:nvPr/>
        </p:nvSpPr>
        <p:spPr>
          <a:xfrm>
            <a:off x="1350843" y="3822192"/>
            <a:ext cx="365760" cy="365760"/>
          </a:xfrm>
          <a:prstGeom prst="ellipse">
            <a:avLst/>
          </a:prstGeom>
          <a:solidFill>
            <a:srgbClr val="E4F2EA"/>
          </a:solidFill>
          <a:ln w="12700">
            <a:solidFill>
              <a:srgbClr val="333333"/>
            </a:solidFill>
            <a:prstDash val="solid"/>
          </a:ln>
        </p:spPr>
      </p:sp>
      <p:sp>
        <p:nvSpPr>
          <p:cNvPr id="19" name="Text 16"/>
          <p:cNvSpPr/>
          <p:nvPr/>
        </p:nvSpPr>
        <p:spPr>
          <a:xfrm>
            <a:off x="1350843"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1</a:t>
            </a:r>
            <a:endParaRPr lang="en-US" sz="1000" dirty="0"/>
          </a:p>
        </p:txBody>
      </p:sp>
      <p:sp>
        <p:nvSpPr>
          <p:cNvPr id="20" name="Text 17"/>
          <p:cNvSpPr/>
          <p:nvPr/>
        </p:nvSpPr>
        <p:spPr>
          <a:xfrm>
            <a:off x="594360"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Clean cultivation</a:t>
            </a:r>
            <a:endParaRPr lang="en-US" sz="900" dirty="0"/>
          </a:p>
        </p:txBody>
      </p:sp>
      <p:sp>
        <p:nvSpPr>
          <p:cNvPr id="21" name="Shape 18"/>
          <p:cNvSpPr/>
          <p:nvPr/>
        </p:nvSpPr>
        <p:spPr>
          <a:xfrm>
            <a:off x="2783982" y="3694176"/>
            <a:ext cx="2061606" cy="868680"/>
          </a:xfrm>
          <a:prstGeom prst="roundRect">
            <a:avLst>
              <a:gd name="adj" fmla="val 94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2" name="Shape 19"/>
          <p:cNvSpPr/>
          <p:nvPr/>
        </p:nvSpPr>
        <p:spPr>
          <a:xfrm>
            <a:off x="3631905" y="3822192"/>
            <a:ext cx="365760" cy="365760"/>
          </a:xfrm>
          <a:prstGeom prst="ellipse">
            <a:avLst/>
          </a:prstGeom>
          <a:solidFill>
            <a:srgbClr val="E4F2EA"/>
          </a:solidFill>
          <a:ln w="12700">
            <a:solidFill>
              <a:srgbClr val="333333"/>
            </a:solidFill>
            <a:prstDash val="solid"/>
          </a:ln>
        </p:spPr>
      </p:sp>
      <p:sp>
        <p:nvSpPr>
          <p:cNvPr id="23" name="Text 20"/>
          <p:cNvSpPr/>
          <p:nvPr/>
        </p:nvSpPr>
        <p:spPr>
          <a:xfrm>
            <a:off x="3631905"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2</a:t>
            </a:r>
            <a:endParaRPr lang="en-US" sz="1000" dirty="0"/>
          </a:p>
        </p:txBody>
      </p:sp>
      <p:sp>
        <p:nvSpPr>
          <p:cNvPr id="24" name="Text 21"/>
          <p:cNvSpPr/>
          <p:nvPr/>
        </p:nvSpPr>
        <p:spPr>
          <a:xfrm>
            <a:off x="2875422"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Direct sourcing</a:t>
            </a:r>
            <a:endParaRPr lang="en-US" sz="900" dirty="0"/>
          </a:p>
        </p:txBody>
      </p:sp>
      <p:sp>
        <p:nvSpPr>
          <p:cNvPr id="25" name="Shape 22"/>
          <p:cNvSpPr/>
          <p:nvPr/>
        </p:nvSpPr>
        <p:spPr>
          <a:xfrm>
            <a:off x="5065044" y="3694176"/>
            <a:ext cx="2061606" cy="868680"/>
          </a:xfrm>
          <a:prstGeom prst="roundRect">
            <a:avLst>
              <a:gd name="adj" fmla="val 94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6" name="Shape 23"/>
          <p:cNvSpPr/>
          <p:nvPr/>
        </p:nvSpPr>
        <p:spPr>
          <a:xfrm>
            <a:off x="5912968" y="3822192"/>
            <a:ext cx="365760" cy="365760"/>
          </a:xfrm>
          <a:prstGeom prst="ellipse">
            <a:avLst/>
          </a:prstGeom>
          <a:solidFill>
            <a:srgbClr val="E4F2EA"/>
          </a:solidFill>
          <a:ln w="12700">
            <a:solidFill>
              <a:srgbClr val="333333"/>
            </a:solidFill>
            <a:prstDash val="solid"/>
          </a:ln>
        </p:spPr>
      </p:sp>
      <p:sp>
        <p:nvSpPr>
          <p:cNvPr id="27" name="Text 24"/>
          <p:cNvSpPr/>
          <p:nvPr/>
        </p:nvSpPr>
        <p:spPr>
          <a:xfrm>
            <a:off x="5912968"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3</a:t>
            </a:r>
            <a:endParaRPr lang="en-US" sz="1000" dirty="0"/>
          </a:p>
        </p:txBody>
      </p:sp>
      <p:sp>
        <p:nvSpPr>
          <p:cNvPr id="28" name="Text 25"/>
          <p:cNvSpPr/>
          <p:nvPr/>
        </p:nvSpPr>
        <p:spPr>
          <a:xfrm>
            <a:off x="5156484"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230+ checks</a:t>
            </a:r>
            <a:endParaRPr lang="en-US" sz="900" dirty="0"/>
          </a:p>
        </p:txBody>
      </p:sp>
      <p:sp>
        <p:nvSpPr>
          <p:cNvPr id="29" name="Shape 26"/>
          <p:cNvSpPr/>
          <p:nvPr/>
        </p:nvSpPr>
        <p:spPr>
          <a:xfrm>
            <a:off x="7346107" y="3694176"/>
            <a:ext cx="2061606" cy="868680"/>
          </a:xfrm>
          <a:prstGeom prst="roundRect">
            <a:avLst>
              <a:gd name="adj" fmla="val 94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0" name="Shape 27"/>
          <p:cNvSpPr/>
          <p:nvPr/>
        </p:nvSpPr>
        <p:spPr>
          <a:xfrm>
            <a:off x="8194030" y="3822192"/>
            <a:ext cx="365760" cy="365760"/>
          </a:xfrm>
          <a:prstGeom prst="ellipse">
            <a:avLst/>
          </a:prstGeom>
          <a:solidFill>
            <a:srgbClr val="E4F2EA"/>
          </a:solidFill>
          <a:ln w="12700">
            <a:solidFill>
              <a:srgbClr val="333333"/>
            </a:solidFill>
            <a:prstDash val="solid"/>
          </a:ln>
        </p:spPr>
      </p:sp>
      <p:sp>
        <p:nvSpPr>
          <p:cNvPr id="31" name="Text 28"/>
          <p:cNvSpPr/>
          <p:nvPr/>
        </p:nvSpPr>
        <p:spPr>
          <a:xfrm>
            <a:off x="8194030"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4</a:t>
            </a:r>
            <a:endParaRPr lang="en-US" sz="1000" dirty="0"/>
          </a:p>
        </p:txBody>
      </p:sp>
      <p:sp>
        <p:nvSpPr>
          <p:cNvPr id="32" name="Text 29"/>
          <p:cNvSpPr/>
          <p:nvPr/>
        </p:nvSpPr>
        <p:spPr>
          <a:xfrm>
            <a:off x="7437547"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Controlled processing</a:t>
            </a:r>
            <a:endParaRPr lang="en-US" sz="900" dirty="0"/>
          </a:p>
        </p:txBody>
      </p:sp>
      <p:sp>
        <p:nvSpPr>
          <p:cNvPr id="33" name="Shape 30"/>
          <p:cNvSpPr/>
          <p:nvPr/>
        </p:nvSpPr>
        <p:spPr>
          <a:xfrm>
            <a:off x="9627169" y="3694176"/>
            <a:ext cx="2061606" cy="868680"/>
          </a:xfrm>
          <a:prstGeom prst="roundRect">
            <a:avLst>
              <a:gd name="adj" fmla="val 9474"/>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34" name="Shape 31"/>
          <p:cNvSpPr/>
          <p:nvPr/>
        </p:nvSpPr>
        <p:spPr>
          <a:xfrm>
            <a:off x="10475092" y="3822192"/>
            <a:ext cx="365760" cy="365760"/>
          </a:xfrm>
          <a:prstGeom prst="ellipse">
            <a:avLst/>
          </a:prstGeom>
          <a:solidFill>
            <a:srgbClr val="E4F2EA"/>
          </a:solidFill>
          <a:ln w="12700">
            <a:solidFill>
              <a:srgbClr val="333333"/>
            </a:solidFill>
            <a:prstDash val="solid"/>
          </a:ln>
        </p:spPr>
      </p:sp>
      <p:sp>
        <p:nvSpPr>
          <p:cNvPr id="35" name="Text 32"/>
          <p:cNvSpPr/>
          <p:nvPr/>
        </p:nvSpPr>
        <p:spPr>
          <a:xfrm>
            <a:off x="10475092"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5</a:t>
            </a:r>
            <a:endParaRPr lang="en-US" sz="1000" dirty="0"/>
          </a:p>
        </p:txBody>
      </p:sp>
      <p:sp>
        <p:nvSpPr>
          <p:cNvPr id="36" name="Text 33"/>
          <p:cNvSpPr/>
          <p:nvPr/>
        </p:nvSpPr>
        <p:spPr>
          <a:xfrm>
            <a:off x="9718609"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Traceable to source</a:t>
            </a:r>
            <a:endParaRPr lang="en-US" sz="900" dirty="0"/>
          </a:p>
        </p:txBody>
      </p:sp>
      <p:sp>
        <p:nvSpPr>
          <p:cNvPr id="37" name="Text 34"/>
          <p:cNvSpPr/>
          <p:nvPr/>
        </p:nvSpPr>
        <p:spPr>
          <a:xfrm>
            <a:off x="502920" y="4663440"/>
            <a:ext cx="11185855" cy="237744"/>
          </a:xfrm>
          <a:prstGeom prst="rect">
            <a:avLst/>
          </a:prstGeom>
          <a:noFill/>
          <a:ln/>
        </p:spPr>
        <p:txBody>
          <a:bodyPr wrap="square" lIns="0" tIns="0" rIns="0" bIns="0" rtlCol="0" anchor="ctr"/>
          <a:lstStyle/>
          <a:p>
            <a:pPr indent="0" marL="0">
              <a:buNone/>
            </a:pPr>
            <a:r>
              <a:rPr lang="en-US" sz="850" b="1" spc="90" kern="0" dirty="0">
                <a:solidFill>
                  <a:srgbClr val="8B95A2"/>
                </a:solidFill>
                <a:latin typeface="Nunito Sans" pitchFamily="34" charset="0"/>
                <a:ea typeface="Nunito Sans" pitchFamily="34" charset="-122"/>
                <a:cs typeface="Nunito Sans" pitchFamily="34" charset="-120"/>
              </a:rPr>
              <a:t>BIHAR MAKHANA  ·  UTTARAKHAND JAGGERY  ·  GUJARAT JAVA PEANUT  ·  AND FIVE MORE, OWNED END-TO-END</a:t>
            </a:r>
            <a:endParaRPr lang="en-US" sz="850" dirty="0"/>
          </a:p>
        </p:txBody>
      </p:sp>
      <p:pic>
        <p:nvPicPr>
          <p:cNvPr id="38" name="Image 1" descr="/home/user/hopper-tessarakt/site/assets/team-field.jpg">    </p:cNvPr>
          <p:cNvPicPr>
            <a:picLocks noChangeAspect="1"/>
          </p:cNvPicPr>
          <p:nvPr/>
        </p:nvPicPr>
        <p:blipFill>
          <a:blip r:embed="rId2"/>
          <a:srcRect l="0" r="0" t="0" b="0"/>
          <a:stretch/>
        </p:blipFill>
        <p:spPr>
          <a:xfrm>
            <a:off x="502920" y="4937760"/>
            <a:ext cx="6766560" cy="1371600"/>
          </a:xfrm>
          <a:prstGeom prst="rect">
            <a:avLst/>
          </a:prstGeom>
        </p:spPr>
      </p:pic>
      <p:sp>
        <p:nvSpPr>
          <p:cNvPr id="39" name="Shape 35"/>
          <p:cNvSpPr/>
          <p:nvPr/>
        </p:nvSpPr>
        <p:spPr>
          <a:xfrm>
            <a:off x="7543800" y="4937760"/>
            <a:ext cx="4144975" cy="1371600"/>
          </a:xfrm>
          <a:prstGeom prst="roundRect">
            <a:avLst>
              <a:gd name="adj" fmla="val 6000"/>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40" name="Text 36"/>
          <p:cNvSpPr/>
          <p:nvPr/>
        </p:nvSpPr>
        <p:spPr>
          <a:xfrm>
            <a:off x="7744968" y="5056632"/>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Proof comes from procurement control.</a:t>
            </a:r>
            <a:endParaRPr lang="en-US" sz="1050" dirty="0"/>
          </a:p>
        </p:txBody>
      </p:sp>
      <p:sp>
        <p:nvSpPr>
          <p:cNvPr id="41" name="Text 37"/>
          <p:cNvSpPr/>
          <p:nvPr/>
        </p:nvSpPr>
        <p:spPr>
          <a:xfrm>
            <a:off x="7744968" y="5303520"/>
            <a:ext cx="3742639" cy="9144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Not from holding a certificate. AgriTech-embedded input control, continuous quality intelligence across 2M farms, and a farmer economic ecosystem earning 30 to 50% better returns — none of it is contractable by a competitor.</a:t>
            </a:r>
            <a:endParaRPr lang="en-US" sz="900" dirty="0"/>
          </a:p>
        </p:txBody>
      </p:sp>
      <p:sp>
        <p:nvSpPr>
          <p:cNvPr id="42" name="Shape 38"/>
          <p:cNvSpPr/>
          <p:nvPr/>
        </p:nvSpPr>
        <p:spPr>
          <a:xfrm>
            <a:off x="502920" y="6455664"/>
            <a:ext cx="11185855" cy="0"/>
          </a:xfrm>
          <a:prstGeom prst="line">
            <a:avLst/>
          </a:prstGeom>
          <a:noFill/>
          <a:ln w="9525">
            <a:solidFill>
              <a:srgbClr val="E5DCCB"/>
            </a:solidFill>
            <a:prstDash val="solid"/>
          </a:ln>
        </p:spPr>
      </p:sp>
      <p:sp>
        <p:nvSpPr>
          <p:cNvPr id="43" name="Text 39"/>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44" name="Text 40"/>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33</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COMPETITIVE DEFENCE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moat has to be visible by FY29.</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Five layers of defensibility, ordered by how long each survives a determined competitor. DHF sits at L1 — and only L3 and L4 survive imitation.</a:t>
            </a:r>
            <a:endParaRPr lang="en-US" sz="1100" dirty="0"/>
          </a:p>
        </p:txBody>
      </p:sp>
      <p:sp>
        <p:nvSpPr>
          <p:cNvPr id="7" name="Shape 4"/>
          <p:cNvSpPr/>
          <p:nvPr/>
        </p:nvSpPr>
        <p:spPr>
          <a:xfrm>
            <a:off x="502920" y="2121408"/>
            <a:ext cx="6766560" cy="512064"/>
          </a:xfrm>
          <a:prstGeom prst="roundRect">
            <a:avLst>
              <a:gd name="adj" fmla="val 8929"/>
            </a:avLst>
          </a:prstGeom>
          <a:solidFill>
            <a:srgbClr val="E4F2EA"/>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685800" y="2121408"/>
            <a:ext cx="548640" cy="512064"/>
          </a:xfrm>
          <a:prstGeom prst="rect">
            <a:avLst/>
          </a:prstGeom>
          <a:noFill/>
          <a:ln/>
        </p:spPr>
        <p:txBody>
          <a:bodyPr wrap="square" lIns="0" tIns="0" rIns="0" bIns="0" rtlCol="0" anchor="ctr"/>
          <a:lstStyle/>
          <a:p>
            <a:pPr indent="0" marL="0">
              <a:buNone/>
            </a:pPr>
            <a:r>
              <a:rPr lang="en-US" sz="1300" dirty="0">
                <a:solidFill>
                  <a:srgbClr val="177A46"/>
                </a:solidFill>
                <a:latin typeface="Archivo Black" pitchFamily="34" charset="0"/>
                <a:ea typeface="Archivo Black" pitchFamily="34" charset="-122"/>
                <a:cs typeface="Archivo Black" pitchFamily="34" charset="-120"/>
              </a:rPr>
              <a:t>L4</a:t>
            </a:r>
            <a:endParaRPr lang="en-US" sz="1300" dirty="0"/>
          </a:p>
        </p:txBody>
      </p:sp>
      <p:sp>
        <p:nvSpPr>
          <p:cNvPr id="9" name="Text 6"/>
          <p:cNvSpPr/>
          <p:nvPr/>
        </p:nvSpPr>
        <p:spPr>
          <a:xfrm>
            <a:off x="1325880" y="2121408"/>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Farmer-direct transparency</a:t>
            </a:r>
            <a:endParaRPr lang="en-US" sz="1100" dirty="0"/>
          </a:p>
        </p:txBody>
      </p:sp>
      <p:sp>
        <p:nvSpPr>
          <p:cNvPr id="10" name="Text 7"/>
          <p:cNvSpPr/>
          <p:nvPr/>
        </p:nvSpPr>
        <p:spPr>
          <a:xfrm>
            <a:off x="4709160" y="2121408"/>
            <a:ext cx="2377440" cy="512064"/>
          </a:xfrm>
          <a:prstGeom prst="rect">
            <a:avLst/>
          </a:prstGeom>
          <a:noFill/>
          <a:ln/>
        </p:spPr>
        <p:txBody>
          <a:bodyPr wrap="square" lIns="0" tIns="0" rIns="0" bIns="0" rtlCol="0" anchor="ctr"/>
          <a:lstStyle/>
          <a:p>
            <a:pPr algn="r" indent="0" marL="0">
              <a:buNone/>
            </a:pPr>
            <a:r>
              <a:rPr lang="en-US" sz="850" b="1" spc="70" kern="0" dirty="0">
                <a:solidFill>
                  <a:srgbClr val="177A46"/>
                </a:solidFill>
                <a:latin typeface="Nunito Sans" pitchFamily="34" charset="0"/>
                <a:ea typeface="Nunito Sans" pitchFamily="34" charset="-122"/>
                <a:cs typeface="Nunito Sans" pitchFamily="34" charset="-120"/>
              </a:rPr>
              <a:t>STRUCTURAL</a:t>
            </a:r>
            <a:endParaRPr lang="en-US" sz="850" dirty="0"/>
          </a:p>
        </p:txBody>
      </p:sp>
      <p:sp>
        <p:nvSpPr>
          <p:cNvPr id="11" name="Shape 8"/>
          <p:cNvSpPr/>
          <p:nvPr/>
        </p:nvSpPr>
        <p:spPr>
          <a:xfrm>
            <a:off x="502920" y="2724912"/>
            <a:ext cx="6766560" cy="512064"/>
          </a:xfrm>
          <a:prstGeom prst="roundRect">
            <a:avLst>
              <a:gd name="adj" fmla="val 89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2" name="Text 9"/>
          <p:cNvSpPr/>
          <p:nvPr/>
        </p:nvSpPr>
        <p:spPr>
          <a:xfrm>
            <a:off x="685800" y="2724912"/>
            <a:ext cx="548640" cy="512064"/>
          </a:xfrm>
          <a:prstGeom prst="rect">
            <a:avLst/>
          </a:prstGeom>
          <a:noFill/>
          <a:ln/>
        </p:spPr>
        <p:txBody>
          <a:bodyPr wrap="square" lIns="0" tIns="0" rIns="0" bIns="0" rtlCol="0" anchor="ctr"/>
          <a:lstStyle/>
          <a:p>
            <a:pPr indent="0" marL="0">
              <a:buNone/>
            </a:pPr>
            <a:r>
              <a:rPr lang="en-US" sz="1300" dirty="0">
                <a:solidFill>
                  <a:srgbClr val="4C8F3F"/>
                </a:solidFill>
                <a:latin typeface="Archivo Black" pitchFamily="34" charset="0"/>
                <a:ea typeface="Archivo Black" pitchFamily="34" charset="-122"/>
                <a:cs typeface="Archivo Black" pitchFamily="34" charset="-120"/>
              </a:rPr>
              <a:t>L3</a:t>
            </a:r>
            <a:endParaRPr lang="en-US" sz="1300" dirty="0"/>
          </a:p>
        </p:txBody>
      </p:sp>
      <p:sp>
        <p:nvSpPr>
          <p:cNvPr id="13" name="Text 10"/>
          <p:cNvSpPr/>
          <p:nvPr/>
        </p:nvSpPr>
        <p:spPr>
          <a:xfrm>
            <a:off x="1325880" y="2724912"/>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DeHaat input control</a:t>
            </a:r>
            <a:endParaRPr lang="en-US" sz="1100" dirty="0"/>
          </a:p>
        </p:txBody>
      </p:sp>
      <p:sp>
        <p:nvSpPr>
          <p:cNvPr id="14" name="Text 11"/>
          <p:cNvSpPr/>
          <p:nvPr/>
        </p:nvSpPr>
        <p:spPr>
          <a:xfrm>
            <a:off x="4709160" y="2724912"/>
            <a:ext cx="2377440" cy="512064"/>
          </a:xfrm>
          <a:prstGeom prst="rect">
            <a:avLst/>
          </a:prstGeom>
          <a:noFill/>
          <a:ln/>
        </p:spPr>
        <p:txBody>
          <a:bodyPr wrap="square" lIns="0" tIns="0" rIns="0" bIns="0" rtlCol="0" anchor="ctr"/>
          <a:lstStyle/>
          <a:p>
            <a:pPr algn="r" indent="0" marL="0">
              <a:buNone/>
            </a:pPr>
            <a:r>
              <a:rPr lang="en-US" sz="850" b="1" spc="70" kern="0" dirty="0">
                <a:solidFill>
                  <a:srgbClr val="4C8F3F"/>
                </a:solidFill>
                <a:latin typeface="Nunito Sans" pitchFamily="34" charset="0"/>
                <a:ea typeface="Nunito Sans" pitchFamily="34" charset="-122"/>
                <a:cs typeface="Nunito Sans" pitchFamily="34" charset="-120"/>
              </a:rPr>
              <a:t>5.5 YRS TO COPY</a:t>
            </a:r>
            <a:endParaRPr lang="en-US" sz="850" dirty="0"/>
          </a:p>
        </p:txBody>
      </p:sp>
      <p:sp>
        <p:nvSpPr>
          <p:cNvPr id="15" name="Shape 12"/>
          <p:cNvSpPr/>
          <p:nvPr/>
        </p:nvSpPr>
        <p:spPr>
          <a:xfrm>
            <a:off x="502920" y="3328416"/>
            <a:ext cx="6766560" cy="512064"/>
          </a:xfrm>
          <a:prstGeom prst="roundRect">
            <a:avLst>
              <a:gd name="adj" fmla="val 89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6" name="Text 13"/>
          <p:cNvSpPr/>
          <p:nvPr/>
        </p:nvSpPr>
        <p:spPr>
          <a:xfrm>
            <a:off x="685800" y="3328416"/>
            <a:ext cx="548640" cy="512064"/>
          </a:xfrm>
          <a:prstGeom prst="rect">
            <a:avLst/>
          </a:prstGeom>
          <a:noFill/>
          <a:ln/>
        </p:spPr>
        <p:txBody>
          <a:bodyPr wrap="square" lIns="0" tIns="0" rIns="0" bIns="0" rtlCol="0" anchor="ctr"/>
          <a:lstStyle/>
          <a:p>
            <a:pPr indent="0" marL="0">
              <a:buNone/>
            </a:pPr>
            <a:r>
              <a:rPr lang="en-US" sz="1300" dirty="0">
                <a:solidFill>
                  <a:srgbClr val="8B95A2"/>
                </a:solidFill>
                <a:latin typeface="Archivo Black" pitchFamily="34" charset="0"/>
                <a:ea typeface="Archivo Black" pitchFamily="34" charset="-122"/>
                <a:cs typeface="Archivo Black" pitchFamily="34" charset="-120"/>
              </a:rPr>
              <a:t>L2</a:t>
            </a:r>
            <a:endParaRPr lang="en-US" sz="1300" dirty="0"/>
          </a:p>
        </p:txBody>
      </p:sp>
      <p:sp>
        <p:nvSpPr>
          <p:cNvPr id="17" name="Text 14"/>
          <p:cNvSpPr/>
          <p:nvPr/>
        </p:nvSpPr>
        <p:spPr>
          <a:xfrm>
            <a:off x="1325880" y="3328416"/>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NPOP certification</a:t>
            </a:r>
            <a:endParaRPr lang="en-US" sz="1100" dirty="0"/>
          </a:p>
        </p:txBody>
      </p:sp>
      <p:sp>
        <p:nvSpPr>
          <p:cNvPr id="18" name="Text 15"/>
          <p:cNvSpPr/>
          <p:nvPr/>
        </p:nvSpPr>
        <p:spPr>
          <a:xfrm>
            <a:off x="4709160" y="3328416"/>
            <a:ext cx="2377440" cy="512064"/>
          </a:xfrm>
          <a:prstGeom prst="rect">
            <a:avLst/>
          </a:prstGeom>
          <a:noFill/>
          <a:ln/>
        </p:spPr>
        <p:txBody>
          <a:bodyPr wrap="square" lIns="0" tIns="0" rIns="0" bIns="0" rtlCol="0" anchor="ctr"/>
          <a:lstStyle/>
          <a:p>
            <a:pPr algn="r" indent="0" marL="0">
              <a:buNone/>
            </a:pPr>
            <a:r>
              <a:rPr lang="en-US" sz="850" b="1" spc="70" kern="0" dirty="0">
                <a:solidFill>
                  <a:srgbClr val="8B95A2"/>
                </a:solidFill>
                <a:latin typeface="Nunito Sans" pitchFamily="34" charset="0"/>
                <a:ea typeface="Nunito Sans" pitchFamily="34" charset="-122"/>
                <a:cs typeface="Nunito Sans" pitchFamily="34" charset="-120"/>
              </a:rPr>
              <a:t>PARITY</a:t>
            </a:r>
            <a:endParaRPr lang="en-US" sz="850" dirty="0"/>
          </a:p>
        </p:txBody>
      </p:sp>
      <p:sp>
        <p:nvSpPr>
          <p:cNvPr id="19" name="Shape 16"/>
          <p:cNvSpPr/>
          <p:nvPr/>
        </p:nvSpPr>
        <p:spPr>
          <a:xfrm>
            <a:off x="502920" y="3931920"/>
            <a:ext cx="6766560" cy="512064"/>
          </a:xfrm>
          <a:prstGeom prst="roundRect">
            <a:avLst>
              <a:gd name="adj" fmla="val 8929"/>
            </a:avLst>
          </a:prstGeom>
          <a:solidFill>
            <a:srgbClr val="EAF0F8"/>
          </a:solidFill>
          <a:ln w="19050">
            <a:solidFill>
              <a:srgbClr val="3A5D97"/>
            </a:solidFill>
            <a:prstDash val="solid"/>
          </a:ln>
          <a:effectLst>
            <a:outerShdw sx="100000" sy="100000" kx="0" ky="0" algn="bl" rotWithShape="0" blurRad="177800" dist="38100" dir="5400000">
              <a:srgbClr val="101C2C">
                <a:alpha val="9000"/>
              </a:srgbClr>
            </a:outerShdw>
          </a:effectLst>
        </p:spPr>
      </p:sp>
      <p:sp>
        <p:nvSpPr>
          <p:cNvPr id="20" name="Text 17"/>
          <p:cNvSpPr/>
          <p:nvPr/>
        </p:nvSpPr>
        <p:spPr>
          <a:xfrm>
            <a:off x="685800" y="3931920"/>
            <a:ext cx="548640" cy="512064"/>
          </a:xfrm>
          <a:prstGeom prst="rect">
            <a:avLst/>
          </a:prstGeom>
          <a:noFill/>
          <a:ln/>
        </p:spPr>
        <p:txBody>
          <a:bodyPr wrap="square" lIns="0" tIns="0" rIns="0" bIns="0" rtlCol="0" anchor="ctr"/>
          <a:lstStyle/>
          <a:p>
            <a:pPr indent="0" marL="0">
              <a:buNone/>
            </a:pPr>
            <a:r>
              <a:rPr lang="en-US" sz="1300" dirty="0">
                <a:solidFill>
                  <a:srgbClr val="3A5D97"/>
                </a:solidFill>
                <a:latin typeface="Archivo Black" pitchFamily="34" charset="0"/>
                <a:ea typeface="Archivo Black" pitchFamily="34" charset="-122"/>
                <a:cs typeface="Archivo Black" pitchFamily="34" charset="-120"/>
              </a:rPr>
              <a:t>L1</a:t>
            </a:r>
            <a:endParaRPr lang="en-US" sz="1300" dirty="0"/>
          </a:p>
        </p:txBody>
      </p:sp>
      <p:sp>
        <p:nvSpPr>
          <p:cNvPr id="21" name="Text 18"/>
          <p:cNvSpPr/>
          <p:nvPr/>
        </p:nvSpPr>
        <p:spPr>
          <a:xfrm>
            <a:off x="1325880" y="3931920"/>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QR to the batch lab report</a:t>
            </a:r>
            <a:endParaRPr lang="en-US" sz="1100" dirty="0"/>
          </a:p>
        </p:txBody>
      </p:sp>
      <p:sp>
        <p:nvSpPr>
          <p:cNvPr id="22" name="Text 19"/>
          <p:cNvSpPr/>
          <p:nvPr/>
        </p:nvSpPr>
        <p:spPr>
          <a:xfrm>
            <a:off x="4709160" y="3931920"/>
            <a:ext cx="2377440" cy="512064"/>
          </a:xfrm>
          <a:prstGeom prst="rect">
            <a:avLst/>
          </a:prstGeom>
          <a:noFill/>
          <a:ln/>
        </p:spPr>
        <p:txBody>
          <a:bodyPr wrap="square" lIns="0" tIns="0" rIns="0" bIns="0" rtlCol="0" anchor="ctr"/>
          <a:lstStyle/>
          <a:p>
            <a:pPr algn="r" indent="0" marL="0">
              <a:buNone/>
            </a:pPr>
            <a:r>
              <a:rPr lang="en-US" sz="850" b="1" spc="70" kern="0" dirty="0">
                <a:solidFill>
                  <a:srgbClr val="3A5D97"/>
                </a:solidFill>
                <a:latin typeface="Nunito Sans" pitchFamily="34" charset="0"/>
                <a:ea typeface="Nunito Sans" pitchFamily="34" charset="-122"/>
                <a:cs typeface="Nunito Sans" pitchFamily="34" charset="-120"/>
              </a:rPr>
              <a:t>DHF IS HERE  ·  1.2 YRS TO COPY</a:t>
            </a:r>
            <a:endParaRPr lang="en-US" sz="850" dirty="0"/>
          </a:p>
        </p:txBody>
      </p:sp>
      <p:sp>
        <p:nvSpPr>
          <p:cNvPr id="23" name="Shape 20"/>
          <p:cNvSpPr/>
          <p:nvPr/>
        </p:nvSpPr>
        <p:spPr>
          <a:xfrm>
            <a:off x="502920" y="4535424"/>
            <a:ext cx="6766560" cy="512064"/>
          </a:xfrm>
          <a:prstGeom prst="roundRect">
            <a:avLst>
              <a:gd name="adj" fmla="val 8929"/>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24" name="Text 21"/>
          <p:cNvSpPr/>
          <p:nvPr/>
        </p:nvSpPr>
        <p:spPr>
          <a:xfrm>
            <a:off x="685800" y="4535424"/>
            <a:ext cx="548640" cy="512064"/>
          </a:xfrm>
          <a:prstGeom prst="rect">
            <a:avLst/>
          </a:prstGeom>
          <a:noFill/>
          <a:ln/>
        </p:spPr>
        <p:txBody>
          <a:bodyPr wrap="square" lIns="0" tIns="0" rIns="0" bIns="0" rtlCol="0" anchor="ctr"/>
          <a:lstStyle/>
          <a:p>
            <a:pPr indent="0" marL="0">
              <a:buNone/>
            </a:pPr>
            <a:r>
              <a:rPr lang="en-US" sz="1300" dirty="0">
                <a:solidFill>
                  <a:srgbClr val="9E3A24"/>
                </a:solidFill>
                <a:latin typeface="Archivo Black" pitchFamily="34" charset="0"/>
                <a:ea typeface="Archivo Black" pitchFamily="34" charset="-122"/>
                <a:cs typeface="Archivo Black" pitchFamily="34" charset="-120"/>
              </a:rPr>
              <a:t>L0</a:t>
            </a:r>
            <a:endParaRPr lang="en-US" sz="1300" dirty="0"/>
          </a:p>
        </p:txBody>
      </p:sp>
      <p:sp>
        <p:nvSpPr>
          <p:cNvPr id="25" name="Text 22"/>
          <p:cNvSpPr/>
          <p:nvPr/>
        </p:nvSpPr>
        <p:spPr>
          <a:xfrm>
            <a:off x="1325880" y="4535424"/>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A label claim</a:t>
            </a:r>
            <a:endParaRPr lang="en-US" sz="1100" dirty="0"/>
          </a:p>
        </p:txBody>
      </p:sp>
      <p:sp>
        <p:nvSpPr>
          <p:cNvPr id="26" name="Text 23"/>
          <p:cNvSpPr/>
          <p:nvPr/>
        </p:nvSpPr>
        <p:spPr>
          <a:xfrm>
            <a:off x="4709160" y="4535424"/>
            <a:ext cx="2377440" cy="512064"/>
          </a:xfrm>
          <a:prstGeom prst="rect">
            <a:avLst/>
          </a:prstGeom>
          <a:noFill/>
          <a:ln/>
        </p:spPr>
        <p:txBody>
          <a:bodyPr wrap="square" lIns="0" tIns="0" rIns="0" bIns="0" rtlCol="0" anchor="ctr"/>
          <a:lstStyle/>
          <a:p>
            <a:pPr algn="r" indent="0" marL="0">
              <a:buNone/>
            </a:pPr>
            <a:r>
              <a:rPr lang="en-US" sz="850" b="1" spc="70" kern="0" dirty="0">
                <a:solidFill>
                  <a:srgbClr val="9E3A24"/>
                </a:solidFill>
                <a:latin typeface="Nunito Sans" pitchFamily="34" charset="0"/>
                <a:ea typeface="Nunito Sans" pitchFamily="34" charset="-122"/>
                <a:cs typeface="Nunito Sans" pitchFamily="34" charset="-120"/>
              </a:rPr>
              <a:t>0.3 YRS TO COPY</a:t>
            </a:r>
            <a:endParaRPr lang="en-US" sz="850" dirty="0"/>
          </a:p>
        </p:txBody>
      </p:sp>
      <p:sp>
        <p:nvSpPr>
          <p:cNvPr id="27" name="Shape 24"/>
          <p:cNvSpPr/>
          <p:nvPr/>
        </p:nvSpPr>
        <p:spPr>
          <a:xfrm>
            <a:off x="7543800" y="2121408"/>
            <a:ext cx="4144975" cy="1170432"/>
          </a:xfrm>
          <a:prstGeom prst="roundRect">
            <a:avLst>
              <a:gd name="adj" fmla="val 7031"/>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28" name="Text 25"/>
          <p:cNvSpPr/>
          <p:nvPr/>
        </p:nvSpPr>
        <p:spPr>
          <a:xfrm>
            <a:off x="7744968" y="224028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Only L3 and L4 survive imitation.</a:t>
            </a:r>
            <a:endParaRPr lang="en-US" sz="1050" dirty="0"/>
          </a:p>
        </p:txBody>
      </p:sp>
      <p:sp>
        <p:nvSpPr>
          <p:cNvPr id="29" name="Text 26"/>
          <p:cNvSpPr/>
          <p:nvPr/>
        </p:nvSpPr>
        <p:spPr>
          <a:xfrm>
            <a:off x="7744968" y="2487168"/>
            <a:ext cx="3742639" cy="713232"/>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label claim is copied in months. A QR to a lab report is copied in a year. Control of what a farmer plants takes five and a half — because it is a network, not a feature.</a:t>
            </a:r>
            <a:endParaRPr lang="en-US" sz="900" dirty="0"/>
          </a:p>
        </p:txBody>
      </p:sp>
      <p:sp>
        <p:nvSpPr>
          <p:cNvPr id="30" name="Shape 27"/>
          <p:cNvSpPr/>
          <p:nvPr/>
        </p:nvSpPr>
        <p:spPr>
          <a:xfrm>
            <a:off x="7543800" y="3419856"/>
            <a:ext cx="4144975" cy="1572768"/>
          </a:xfrm>
          <a:prstGeom prst="roundRect">
            <a:avLst>
              <a:gd name="adj" fmla="val 5233"/>
            </a:avLst>
          </a:prstGeom>
          <a:solidFill>
            <a:srgbClr val="FBE9E3"/>
          </a:solidFill>
          <a:ln w="9525">
            <a:solidFill>
              <a:srgbClr val="F0CDC2"/>
            </a:solidFill>
            <a:prstDash val="solid"/>
          </a:ln>
          <a:effectLst>
            <a:outerShdw sx="100000" sy="100000" kx="0" ky="0" algn="bl" rotWithShape="0" blurRad="177800" dist="38100" dir="5400000">
              <a:srgbClr val="101C2C">
                <a:alpha val="9000"/>
              </a:srgbClr>
            </a:outerShdw>
          </a:effectLst>
        </p:spPr>
      </p:sp>
      <p:sp>
        <p:nvSpPr>
          <p:cNvPr id="31" name="Text 28"/>
          <p:cNvSpPr/>
          <p:nvPr/>
        </p:nvSpPr>
        <p:spPr>
          <a:xfrm>
            <a:off x="7744968" y="3538728"/>
            <a:ext cx="3742639" cy="40233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Roughly two years before it is worth attacking.</a:t>
            </a:r>
            <a:endParaRPr lang="en-US" sz="1050" dirty="0"/>
          </a:p>
        </p:txBody>
      </p:sp>
      <p:sp>
        <p:nvSpPr>
          <p:cNvPr id="32" name="Text 29"/>
          <p:cNvSpPr/>
          <p:nvPr/>
        </p:nvSpPr>
        <p:spPr>
          <a:xfrm>
            <a:off x="7744968" y="3968496"/>
            <a:ext cx="3742639" cy="93268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The only asset that cannot be bought inside five years. ITC bought 24 Mantra; Wingreens bought Safe Harvest — DHF has roughly two years to build, certify and make this moat consumer-visible before ₹274 Cr makes it worth attacking.</a:t>
            </a:r>
            <a:endParaRPr lang="en-US" sz="900" dirty="0"/>
          </a:p>
        </p:txBody>
      </p:sp>
      <p:pic>
        <p:nvPicPr>
          <p:cNvPr id="33" name="Image 1" descr="/home/user/hopper-tessarakt/site/assets/makhana-farm.jpg">    </p:cNvPr>
          <p:cNvPicPr>
            <a:picLocks noChangeAspect="1"/>
          </p:cNvPicPr>
          <p:nvPr/>
        </p:nvPicPr>
        <p:blipFill>
          <a:blip r:embed="rId2"/>
          <a:srcRect l="0" r="0" t="0" b="0"/>
          <a:stretch/>
        </p:blipFill>
        <p:spPr>
          <a:xfrm>
            <a:off x="7543800" y="5102352"/>
            <a:ext cx="4144975" cy="1078992"/>
          </a:xfrm>
          <a:prstGeom prst="rect">
            <a:avLst/>
          </a:prstGeom>
        </p:spPr>
      </p:pic>
      <p:pic>
        <p:nvPicPr>
          <p:cNvPr id="34" name="Image 2" descr="/home/user/hopper-tessarakt/site/assets/factory.jpg">    </p:cNvPr>
          <p:cNvPicPr>
            <a:picLocks noChangeAspect="1"/>
          </p:cNvPicPr>
          <p:nvPr/>
        </p:nvPicPr>
        <p:blipFill>
          <a:blip r:embed="rId3"/>
          <a:srcRect l="0" r="0" t="0" b="0"/>
          <a:stretch/>
        </p:blipFill>
        <p:spPr>
          <a:xfrm>
            <a:off x="502920" y="5230368"/>
            <a:ext cx="6766560" cy="950976"/>
          </a:xfrm>
          <a:prstGeom prst="rect">
            <a:avLst/>
          </a:prstGeom>
        </p:spPr>
      </p:pic>
      <p:sp>
        <p:nvSpPr>
          <p:cNvPr id="35" name="Text 30"/>
          <p:cNvSpPr/>
          <p:nvPr/>
        </p:nvSpPr>
        <p:spPr>
          <a:xfrm>
            <a:off x="502920" y="4992624"/>
            <a:ext cx="6766560" cy="237744"/>
          </a:xfrm>
          <a:prstGeom prst="rect">
            <a:avLst/>
          </a:prstGeom>
          <a:noFill/>
          <a:ln/>
        </p:spPr>
        <p:txBody>
          <a:bodyPr wrap="square" lIns="0" tIns="0" rIns="0" bIns="0" rtlCol="0" anchor="ctr"/>
          <a:lstStyle/>
          <a:p>
            <a:pPr indent="0" marL="0">
              <a:buNone/>
            </a:pPr>
            <a:r>
              <a:rPr lang="en-US" sz="850" b="1" spc="60" kern="0" dirty="0">
                <a:solidFill>
                  <a:srgbClr val="8B95A2"/>
                </a:solidFill>
                <a:latin typeface="Nunito Sans" pitchFamily="34" charset="0"/>
                <a:ea typeface="Nunito Sans" pitchFamily="34" charset="-122"/>
                <a:cs typeface="Nunito Sans" pitchFamily="34" charset="-120"/>
              </a:rPr>
              <a:t>Eight sourcing clusters, owned end to end — the layer competitors cannot contract for.</a:t>
            </a:r>
            <a:endParaRPr lang="en-US" sz="850" dirty="0"/>
          </a:p>
        </p:txBody>
      </p:sp>
      <p:sp>
        <p:nvSpPr>
          <p:cNvPr id="36" name="Shape 31"/>
          <p:cNvSpPr/>
          <p:nvPr/>
        </p:nvSpPr>
        <p:spPr>
          <a:xfrm>
            <a:off x="502920" y="6455664"/>
            <a:ext cx="11185855" cy="0"/>
          </a:xfrm>
          <a:prstGeom prst="line">
            <a:avLst/>
          </a:prstGeom>
          <a:noFill/>
          <a:ln w="9525">
            <a:solidFill>
              <a:srgbClr val="E5DCCB"/>
            </a:solidFill>
            <a:prstDash val="solid"/>
          </a:ln>
        </p:spPr>
      </p:sp>
      <p:sp>
        <p:nvSpPr>
          <p:cNvPr id="37" name="Text 32"/>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38" name="Text 33"/>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SCALE BLUEPRINT</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₹105 Cr buys breakeven by FY29.</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Losses for two years, then positive. Investment intensity falls from 38% to 30% of revenue — breakeven is not efficiency, it is the same rupees over more revenue.</a:t>
            </a:r>
            <a:endParaRPr lang="en-US" sz="1100" dirty="0"/>
          </a:p>
        </p:txBody>
      </p:sp>
      <p:sp>
        <p:nvSpPr>
          <p:cNvPr id="7" name="Text 4"/>
          <p:cNvSpPr/>
          <p:nvPr/>
        </p:nvSpPr>
        <p:spPr>
          <a:xfrm>
            <a:off x="502920" y="212140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PATH TO BREAKEVEN, ₹ CR</a:t>
            </a:r>
            <a:endParaRPr lang="en-US" sz="950" dirty="0"/>
          </a:p>
        </p:txBody>
      </p:sp>
      <p:sp>
        <p:nvSpPr>
          <p:cNvPr id="8" name="Shape 5"/>
          <p:cNvSpPr/>
          <p:nvPr/>
        </p:nvSpPr>
        <p:spPr>
          <a:xfrm>
            <a:off x="502920" y="2414016"/>
            <a:ext cx="5943600" cy="475488"/>
          </a:xfrm>
          <a:prstGeom prst="rect">
            <a:avLst/>
          </a:prstGeom>
          <a:solidFill>
            <a:srgbClr val="F3ECE0"/>
          </a:solidFill>
          <a:ln w="12700">
            <a:solidFill>
              <a:srgbClr val="333333"/>
            </a:solidFill>
            <a:prstDash val="solid"/>
          </a:ln>
        </p:spPr>
      </p:sp>
      <p:sp>
        <p:nvSpPr>
          <p:cNvPr id="9" name="Text 6"/>
          <p:cNvSpPr/>
          <p:nvPr/>
        </p:nvSpPr>
        <p:spPr>
          <a:xfrm>
            <a:off x="640080" y="2414016"/>
            <a:ext cx="2148840" cy="475488"/>
          </a:xfrm>
          <a:prstGeom prst="rect">
            <a:avLst/>
          </a:prstGeom>
          <a:noFill/>
          <a:ln/>
        </p:spPr>
        <p:txBody>
          <a:bodyPr wrap="square" lIns="0" tIns="0" rIns="0" bIns="0" rtlCol="0" anchor="ctr"/>
          <a:lstStyle/>
          <a:p>
            <a:pPr algn="l" indent="0" marL="0">
              <a:buNone/>
            </a:pPr>
            <a:endParaRPr lang="en-US" sz="850" dirty="0"/>
          </a:p>
        </p:txBody>
      </p:sp>
      <p:sp>
        <p:nvSpPr>
          <p:cNvPr id="10" name="Text 7"/>
          <p:cNvSpPr/>
          <p:nvPr/>
        </p:nvSpPr>
        <p:spPr>
          <a:xfrm>
            <a:off x="3017520" y="241401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FY27</a:t>
            </a:r>
            <a:endParaRPr lang="en-US" sz="850" dirty="0"/>
          </a:p>
        </p:txBody>
      </p:sp>
      <p:sp>
        <p:nvSpPr>
          <p:cNvPr id="11" name="Text 8"/>
          <p:cNvSpPr/>
          <p:nvPr/>
        </p:nvSpPr>
        <p:spPr>
          <a:xfrm>
            <a:off x="4206240" y="241401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FY28</a:t>
            </a:r>
            <a:endParaRPr lang="en-US" sz="850" dirty="0"/>
          </a:p>
        </p:txBody>
      </p:sp>
      <p:sp>
        <p:nvSpPr>
          <p:cNvPr id="12" name="Text 9"/>
          <p:cNvSpPr/>
          <p:nvPr/>
        </p:nvSpPr>
        <p:spPr>
          <a:xfrm>
            <a:off x="5394960" y="241401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FY29</a:t>
            </a:r>
            <a:endParaRPr lang="en-US" sz="850" dirty="0"/>
          </a:p>
        </p:txBody>
      </p:sp>
      <p:sp>
        <p:nvSpPr>
          <p:cNvPr id="13" name="Text 10"/>
          <p:cNvSpPr/>
          <p:nvPr/>
        </p:nvSpPr>
        <p:spPr>
          <a:xfrm>
            <a:off x="640080" y="2889504"/>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Revenue</a:t>
            </a:r>
            <a:endParaRPr lang="en-US" sz="900" dirty="0"/>
          </a:p>
        </p:txBody>
      </p:sp>
      <p:sp>
        <p:nvSpPr>
          <p:cNvPr id="14" name="Text 11"/>
          <p:cNvSpPr/>
          <p:nvPr/>
        </p:nvSpPr>
        <p:spPr>
          <a:xfrm>
            <a:off x="3017520" y="288950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104</a:t>
            </a:r>
            <a:endParaRPr lang="en-US" sz="1400" dirty="0"/>
          </a:p>
        </p:txBody>
      </p:sp>
      <p:sp>
        <p:nvSpPr>
          <p:cNvPr id="15" name="Text 12"/>
          <p:cNvSpPr/>
          <p:nvPr/>
        </p:nvSpPr>
        <p:spPr>
          <a:xfrm>
            <a:off x="4206240" y="288950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168</a:t>
            </a:r>
            <a:endParaRPr lang="en-US" sz="1400" dirty="0"/>
          </a:p>
        </p:txBody>
      </p:sp>
      <p:sp>
        <p:nvSpPr>
          <p:cNvPr id="16" name="Text 13"/>
          <p:cNvSpPr/>
          <p:nvPr/>
        </p:nvSpPr>
        <p:spPr>
          <a:xfrm>
            <a:off x="5394960" y="288950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274</a:t>
            </a:r>
            <a:endParaRPr lang="en-US" sz="1400" dirty="0"/>
          </a:p>
        </p:txBody>
      </p:sp>
      <p:sp>
        <p:nvSpPr>
          <p:cNvPr id="17" name="Shape 14"/>
          <p:cNvSpPr/>
          <p:nvPr/>
        </p:nvSpPr>
        <p:spPr>
          <a:xfrm>
            <a:off x="502920" y="3364992"/>
            <a:ext cx="5943600" cy="0"/>
          </a:xfrm>
          <a:prstGeom prst="line">
            <a:avLst/>
          </a:prstGeom>
          <a:noFill/>
          <a:ln w="6350">
            <a:solidFill>
              <a:srgbClr val="E5DCCB"/>
            </a:solidFill>
            <a:prstDash val="solid"/>
          </a:ln>
        </p:spPr>
      </p:sp>
      <p:sp>
        <p:nvSpPr>
          <p:cNvPr id="18" name="Text 15"/>
          <p:cNvSpPr/>
          <p:nvPr/>
        </p:nvSpPr>
        <p:spPr>
          <a:xfrm>
            <a:off x="640080" y="3364992"/>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Investable margin</a:t>
            </a:r>
            <a:endParaRPr lang="en-US" sz="900" dirty="0"/>
          </a:p>
        </p:txBody>
      </p:sp>
      <p:sp>
        <p:nvSpPr>
          <p:cNvPr id="19" name="Text 16"/>
          <p:cNvSpPr/>
          <p:nvPr/>
        </p:nvSpPr>
        <p:spPr>
          <a:xfrm>
            <a:off x="3017520" y="336499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27.6</a:t>
            </a:r>
            <a:endParaRPr lang="en-US" sz="1400" dirty="0"/>
          </a:p>
        </p:txBody>
      </p:sp>
      <p:sp>
        <p:nvSpPr>
          <p:cNvPr id="20" name="Text 17"/>
          <p:cNvSpPr/>
          <p:nvPr/>
        </p:nvSpPr>
        <p:spPr>
          <a:xfrm>
            <a:off x="4206240" y="336499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50.2</a:t>
            </a:r>
            <a:endParaRPr lang="en-US" sz="1400" dirty="0"/>
          </a:p>
        </p:txBody>
      </p:sp>
      <p:sp>
        <p:nvSpPr>
          <p:cNvPr id="21" name="Text 18"/>
          <p:cNvSpPr/>
          <p:nvPr/>
        </p:nvSpPr>
        <p:spPr>
          <a:xfrm>
            <a:off x="5394960" y="336499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86.6</a:t>
            </a:r>
            <a:endParaRPr lang="en-US" sz="1400" dirty="0"/>
          </a:p>
        </p:txBody>
      </p:sp>
      <p:sp>
        <p:nvSpPr>
          <p:cNvPr id="22" name="Shape 19"/>
          <p:cNvSpPr/>
          <p:nvPr/>
        </p:nvSpPr>
        <p:spPr>
          <a:xfrm>
            <a:off x="502920" y="3840480"/>
            <a:ext cx="5943600" cy="0"/>
          </a:xfrm>
          <a:prstGeom prst="line">
            <a:avLst/>
          </a:prstGeom>
          <a:noFill/>
          <a:ln w="6350">
            <a:solidFill>
              <a:srgbClr val="E5DCCB"/>
            </a:solidFill>
            <a:prstDash val="solid"/>
          </a:ln>
        </p:spPr>
      </p:sp>
      <p:sp>
        <p:nvSpPr>
          <p:cNvPr id="23" name="Text 20"/>
          <p:cNvSpPr/>
          <p:nvPr/>
        </p:nvSpPr>
        <p:spPr>
          <a:xfrm>
            <a:off x="640080" y="3840480"/>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EBITDA</a:t>
            </a:r>
            <a:endParaRPr lang="en-US" sz="900" dirty="0"/>
          </a:p>
        </p:txBody>
      </p:sp>
      <p:sp>
        <p:nvSpPr>
          <p:cNvPr id="24" name="Text 21"/>
          <p:cNvSpPr/>
          <p:nvPr/>
        </p:nvSpPr>
        <p:spPr>
          <a:xfrm>
            <a:off x="3017520" y="3840480"/>
            <a:ext cx="960120" cy="475488"/>
          </a:xfrm>
          <a:prstGeom prst="rect">
            <a:avLst/>
          </a:prstGeom>
          <a:noFill/>
          <a:ln/>
        </p:spPr>
        <p:txBody>
          <a:bodyPr wrap="square" lIns="0" tIns="0" rIns="0" bIns="0" rtlCol="0" anchor="ctr"/>
          <a:lstStyle/>
          <a:p>
            <a:pPr algn="r" indent="0" marL="0">
              <a:buNone/>
            </a:pPr>
            <a:r>
              <a:rPr lang="en-US" sz="1400" dirty="0">
                <a:solidFill>
                  <a:srgbClr val="9E3A24"/>
                </a:solidFill>
                <a:latin typeface="Archivo Black" pitchFamily="34" charset="0"/>
                <a:ea typeface="Archivo Black" pitchFamily="34" charset="-122"/>
                <a:cs typeface="Archivo Black" pitchFamily="34" charset="-120"/>
              </a:rPr>
              <a:t>−12.4</a:t>
            </a:r>
            <a:endParaRPr lang="en-US" sz="1400" dirty="0"/>
          </a:p>
        </p:txBody>
      </p:sp>
      <p:sp>
        <p:nvSpPr>
          <p:cNvPr id="25" name="Text 22"/>
          <p:cNvSpPr/>
          <p:nvPr/>
        </p:nvSpPr>
        <p:spPr>
          <a:xfrm>
            <a:off x="4206240" y="3840480"/>
            <a:ext cx="960120" cy="475488"/>
          </a:xfrm>
          <a:prstGeom prst="rect">
            <a:avLst/>
          </a:prstGeom>
          <a:noFill/>
          <a:ln/>
        </p:spPr>
        <p:txBody>
          <a:bodyPr wrap="square" lIns="0" tIns="0" rIns="0" bIns="0" rtlCol="0" anchor="ctr"/>
          <a:lstStyle/>
          <a:p>
            <a:pPr algn="r" indent="0" marL="0">
              <a:buNone/>
            </a:pPr>
            <a:r>
              <a:rPr lang="en-US" sz="1400" dirty="0">
                <a:solidFill>
                  <a:srgbClr val="9E3A24"/>
                </a:solidFill>
                <a:latin typeface="Archivo Black" pitchFamily="34" charset="0"/>
                <a:ea typeface="Archivo Black" pitchFamily="34" charset="-122"/>
                <a:cs typeface="Archivo Black" pitchFamily="34" charset="-120"/>
              </a:rPr>
              <a:t>−7.9</a:t>
            </a:r>
            <a:endParaRPr lang="en-US" sz="1400" dirty="0"/>
          </a:p>
        </p:txBody>
      </p:sp>
      <p:sp>
        <p:nvSpPr>
          <p:cNvPr id="26" name="Text 23"/>
          <p:cNvSpPr/>
          <p:nvPr/>
        </p:nvSpPr>
        <p:spPr>
          <a:xfrm>
            <a:off x="5394960" y="3840480"/>
            <a:ext cx="960120" cy="475488"/>
          </a:xfrm>
          <a:prstGeom prst="rect">
            <a:avLst/>
          </a:prstGeom>
          <a:noFill/>
          <a:ln/>
        </p:spPr>
        <p:txBody>
          <a:bodyPr wrap="square" lIns="0" tIns="0" rIns="0" bIns="0" rtlCol="0" anchor="ctr"/>
          <a:lstStyle/>
          <a:p>
            <a:pPr algn="r" indent="0" marL="0">
              <a:buNone/>
            </a:pPr>
            <a:r>
              <a:rPr lang="en-US" sz="1400" dirty="0">
                <a:solidFill>
                  <a:srgbClr val="177A46"/>
                </a:solidFill>
                <a:latin typeface="Archivo Black" pitchFamily="34" charset="0"/>
                <a:ea typeface="Archivo Black" pitchFamily="34" charset="-122"/>
                <a:cs typeface="Archivo Black" pitchFamily="34" charset="-120"/>
              </a:rPr>
              <a:t>+4.7</a:t>
            </a:r>
            <a:endParaRPr lang="en-US" sz="1400" dirty="0"/>
          </a:p>
        </p:txBody>
      </p:sp>
      <p:sp>
        <p:nvSpPr>
          <p:cNvPr id="27" name="Shape 24"/>
          <p:cNvSpPr/>
          <p:nvPr/>
        </p:nvSpPr>
        <p:spPr>
          <a:xfrm>
            <a:off x="502920" y="4315968"/>
            <a:ext cx="5943600" cy="0"/>
          </a:xfrm>
          <a:prstGeom prst="line">
            <a:avLst/>
          </a:prstGeom>
          <a:noFill/>
          <a:ln w="6350">
            <a:solidFill>
              <a:srgbClr val="E5DCCB"/>
            </a:solidFill>
            <a:prstDash val="solid"/>
          </a:ln>
        </p:spPr>
      </p:sp>
      <p:sp>
        <p:nvSpPr>
          <p:cNvPr id="28" name="Text 25"/>
          <p:cNvSpPr/>
          <p:nvPr/>
        </p:nvSpPr>
        <p:spPr>
          <a:xfrm>
            <a:off x="502920" y="4407408"/>
            <a:ext cx="5943600" cy="365760"/>
          </a:xfrm>
          <a:prstGeom prst="rect">
            <a:avLst/>
          </a:prstGeom>
          <a:noFill/>
          <a:ln/>
        </p:spPr>
        <p:txBody>
          <a:bodyPr wrap="square" lIns="0" tIns="0" rIns="0" bIns="0" rtlCol="0" anchor="t"/>
          <a:lstStyle/>
          <a:p>
            <a:pPr indent="0" marL="0">
              <a:lnSpc>
                <a:spcPct val="108000"/>
              </a:lnSpc>
              <a:buNone/>
            </a:pPr>
            <a:r>
              <a:rPr lang="en-US" sz="850" dirty="0">
                <a:solidFill>
                  <a:srgbClr val="8B95A2"/>
                </a:solidFill>
                <a:latin typeface="Nunito Sans" pitchFamily="34" charset="0"/>
                <a:ea typeface="Nunito Sans" pitchFamily="34" charset="-122"/>
                <a:cs typeface="Nunito Sans" pitchFamily="34" charset="-120"/>
              </a:rPr>
              <a:t>Investment intensity falls from 38% to 30% of revenue. Breakeven is not efficiency — it is the same rupees over more revenue.</a:t>
            </a:r>
            <a:endParaRPr lang="en-US" sz="850" dirty="0"/>
          </a:p>
        </p:txBody>
      </p:sp>
      <p:sp>
        <p:nvSpPr>
          <p:cNvPr id="29" name="Shape 26"/>
          <p:cNvSpPr/>
          <p:nvPr/>
        </p:nvSpPr>
        <p:spPr>
          <a:xfrm>
            <a:off x="502920" y="4864608"/>
            <a:ext cx="5943600" cy="1097280"/>
          </a:xfrm>
          <a:prstGeom prst="roundRect">
            <a:avLst>
              <a:gd name="adj" fmla="val 7500"/>
            </a:avLst>
          </a:prstGeom>
          <a:solidFill>
            <a:srgbClr val="FAF0DA"/>
          </a:solidFill>
          <a:ln w="9525">
            <a:solidFill>
              <a:srgbClr val="EEDFBA"/>
            </a:solidFill>
            <a:prstDash val="solid"/>
          </a:ln>
          <a:effectLst>
            <a:outerShdw sx="100000" sy="100000" kx="0" ky="0" algn="bl" rotWithShape="0" blurRad="177800" dist="38100" dir="5400000">
              <a:srgbClr val="101C2C">
                <a:alpha val="9000"/>
              </a:srgbClr>
            </a:outerShdw>
          </a:effectLst>
        </p:spPr>
      </p:sp>
      <p:sp>
        <p:nvSpPr>
          <p:cNvPr id="30" name="Text 27"/>
          <p:cNvSpPr/>
          <p:nvPr/>
        </p:nvSpPr>
        <p:spPr>
          <a:xfrm>
            <a:off x="704088" y="4983480"/>
            <a:ext cx="5541264" cy="88696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clears breakeven at ₹274 Cr only because a 43.1% gross margin buys ₹38 Cr that Farmley's 29% does not. No Indian clean-label brand between ₹75 and ₹400 Cr is EBITDA-positive today.</a:t>
            </a:r>
            <a:endParaRPr lang="en-US" sz="900" dirty="0"/>
          </a:p>
        </p:txBody>
      </p:sp>
      <p:sp>
        <p:nvSpPr>
          <p:cNvPr id="31" name="Shape 28"/>
          <p:cNvSpPr/>
          <p:nvPr/>
        </p:nvSpPr>
        <p:spPr>
          <a:xfrm>
            <a:off x="6720840" y="2121408"/>
            <a:ext cx="4967935" cy="2743200"/>
          </a:xfrm>
          <a:prstGeom prst="roundRect">
            <a:avLst>
              <a:gd name="adj" fmla="val 3000"/>
            </a:avLst>
          </a:prstGeom>
          <a:solidFill>
            <a:srgbClr val="0C1A2B"/>
          </a:solidFill>
          <a:ln w="9525">
            <a:solidFill>
              <a:srgbClr val="0C1A2B"/>
            </a:solidFill>
            <a:prstDash val="solid"/>
          </a:ln>
          <a:effectLst>
            <a:outerShdw sx="100000" sy="100000" kx="0" ky="0" algn="bl" rotWithShape="0" blurRad="177800" dist="38100" dir="5400000">
              <a:srgbClr val="101C2C">
                <a:alpha val="9000"/>
              </a:srgbClr>
            </a:outerShdw>
          </a:effectLst>
        </p:spPr>
      </p:sp>
      <p:sp>
        <p:nvSpPr>
          <p:cNvPr id="32" name="Text 29"/>
          <p:cNvSpPr/>
          <p:nvPr/>
        </p:nvSpPr>
        <p:spPr>
          <a:xfrm>
            <a:off x="6949440" y="2267712"/>
            <a:ext cx="36576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THE FUNDING ASK</a:t>
            </a:r>
            <a:endParaRPr lang="en-US" sz="950" dirty="0"/>
          </a:p>
        </p:txBody>
      </p:sp>
      <p:sp>
        <p:nvSpPr>
          <p:cNvPr id="33" name="Text 30"/>
          <p:cNvSpPr/>
          <p:nvPr/>
        </p:nvSpPr>
        <p:spPr>
          <a:xfrm>
            <a:off x="6949440" y="2505456"/>
            <a:ext cx="4510735" cy="658368"/>
          </a:xfrm>
          <a:prstGeom prst="rect">
            <a:avLst/>
          </a:prstGeom>
          <a:noFill/>
          <a:ln/>
        </p:spPr>
        <p:txBody>
          <a:bodyPr wrap="square" lIns="0" tIns="0" rIns="0" bIns="0" rtlCol="0" anchor="t"/>
          <a:lstStyle/>
          <a:p>
            <a:pPr indent="0" marL="0">
              <a:buNone/>
            </a:pPr>
            <a:r>
              <a:rPr lang="en-US" sz="3200" dirty="0">
                <a:solidFill>
                  <a:srgbClr val="FFFFFF"/>
                </a:solidFill>
                <a:latin typeface="Archivo Black" pitchFamily="34" charset="0"/>
                <a:ea typeface="Archivo Black" pitchFamily="34" charset="-122"/>
                <a:cs typeface="Archivo Black" pitchFamily="34" charset="-120"/>
              </a:rPr>
              <a:t>₹105 Cr</a:t>
            </a:r>
            <a:endParaRPr lang="en-US" sz="3200" dirty="0"/>
          </a:p>
        </p:txBody>
      </p:sp>
      <p:sp>
        <p:nvSpPr>
          <p:cNvPr id="34" name="Text 31"/>
          <p:cNvSpPr/>
          <p:nvPr/>
        </p:nvSpPr>
        <p:spPr>
          <a:xfrm>
            <a:off x="6949440" y="3310128"/>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Operating losses</a:t>
            </a:r>
            <a:endParaRPr lang="en-US" sz="950" dirty="0"/>
          </a:p>
        </p:txBody>
      </p:sp>
      <p:sp>
        <p:nvSpPr>
          <p:cNvPr id="35" name="Text 32"/>
          <p:cNvSpPr/>
          <p:nvPr/>
        </p:nvSpPr>
        <p:spPr>
          <a:xfrm>
            <a:off x="10225735" y="3310128"/>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₹20.3 Cr</a:t>
            </a:r>
            <a:endParaRPr lang="en-US" sz="950" dirty="0"/>
          </a:p>
        </p:txBody>
      </p:sp>
      <p:sp>
        <p:nvSpPr>
          <p:cNvPr id="36" name="Shape 33"/>
          <p:cNvSpPr/>
          <p:nvPr/>
        </p:nvSpPr>
        <p:spPr>
          <a:xfrm>
            <a:off x="6949440" y="3584448"/>
            <a:ext cx="4510735" cy="0"/>
          </a:xfrm>
          <a:prstGeom prst="line">
            <a:avLst/>
          </a:prstGeom>
          <a:noFill/>
          <a:ln w="6350">
            <a:solidFill>
              <a:srgbClr val="FFFFFF">
                <a:alpha val="16000"/>
              </a:srgbClr>
            </a:solidFill>
            <a:prstDash val="solid"/>
          </a:ln>
        </p:spPr>
      </p:sp>
      <p:sp>
        <p:nvSpPr>
          <p:cNvPr id="37" name="Text 34"/>
          <p:cNvSpPr/>
          <p:nvPr/>
        </p:nvSpPr>
        <p:spPr>
          <a:xfrm>
            <a:off x="6949440" y="3639312"/>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Capex</a:t>
            </a:r>
            <a:endParaRPr lang="en-US" sz="950" dirty="0"/>
          </a:p>
        </p:txBody>
      </p:sp>
      <p:sp>
        <p:nvSpPr>
          <p:cNvPr id="38" name="Text 35"/>
          <p:cNvSpPr/>
          <p:nvPr/>
        </p:nvSpPr>
        <p:spPr>
          <a:xfrm>
            <a:off x="10225735" y="3639312"/>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₹29.5 Cr</a:t>
            </a:r>
            <a:endParaRPr lang="en-US" sz="950" dirty="0"/>
          </a:p>
        </p:txBody>
      </p:sp>
      <p:sp>
        <p:nvSpPr>
          <p:cNvPr id="39" name="Shape 36"/>
          <p:cNvSpPr/>
          <p:nvPr/>
        </p:nvSpPr>
        <p:spPr>
          <a:xfrm>
            <a:off x="6949440" y="3913632"/>
            <a:ext cx="4510735" cy="0"/>
          </a:xfrm>
          <a:prstGeom prst="line">
            <a:avLst/>
          </a:prstGeom>
          <a:noFill/>
          <a:ln w="6350">
            <a:solidFill>
              <a:srgbClr val="FFFFFF">
                <a:alpha val="16000"/>
              </a:srgbClr>
            </a:solidFill>
            <a:prstDash val="solid"/>
          </a:ln>
        </p:spPr>
      </p:sp>
      <p:sp>
        <p:nvSpPr>
          <p:cNvPr id="40" name="Text 37"/>
          <p:cNvSpPr/>
          <p:nvPr/>
        </p:nvSpPr>
        <p:spPr>
          <a:xfrm>
            <a:off x="6949440" y="3968496"/>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Working capital</a:t>
            </a:r>
            <a:endParaRPr lang="en-US" sz="950" dirty="0"/>
          </a:p>
        </p:txBody>
      </p:sp>
      <p:sp>
        <p:nvSpPr>
          <p:cNvPr id="41" name="Text 38"/>
          <p:cNvSpPr/>
          <p:nvPr/>
        </p:nvSpPr>
        <p:spPr>
          <a:xfrm>
            <a:off x="10225735" y="3968496"/>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₹37.3 Cr</a:t>
            </a:r>
            <a:endParaRPr lang="en-US" sz="950" dirty="0"/>
          </a:p>
        </p:txBody>
      </p:sp>
      <p:sp>
        <p:nvSpPr>
          <p:cNvPr id="42" name="Shape 39"/>
          <p:cNvSpPr/>
          <p:nvPr/>
        </p:nvSpPr>
        <p:spPr>
          <a:xfrm>
            <a:off x="6949440" y="4242816"/>
            <a:ext cx="4510735" cy="0"/>
          </a:xfrm>
          <a:prstGeom prst="line">
            <a:avLst/>
          </a:prstGeom>
          <a:noFill/>
          <a:ln w="6350">
            <a:solidFill>
              <a:srgbClr val="FFFFFF">
                <a:alpha val="16000"/>
              </a:srgbClr>
            </a:solidFill>
            <a:prstDash val="solid"/>
          </a:ln>
        </p:spPr>
      </p:sp>
      <p:sp>
        <p:nvSpPr>
          <p:cNvPr id="43" name="Text 40"/>
          <p:cNvSpPr/>
          <p:nvPr/>
        </p:nvSpPr>
        <p:spPr>
          <a:xfrm>
            <a:off x="6949440" y="4297680"/>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Contingency</a:t>
            </a:r>
            <a:endParaRPr lang="en-US" sz="950" dirty="0"/>
          </a:p>
        </p:txBody>
      </p:sp>
      <p:sp>
        <p:nvSpPr>
          <p:cNvPr id="44" name="Text 41"/>
          <p:cNvSpPr/>
          <p:nvPr/>
        </p:nvSpPr>
        <p:spPr>
          <a:xfrm>
            <a:off x="10225735" y="4297680"/>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₹17.4 Cr</a:t>
            </a:r>
            <a:endParaRPr lang="en-US" sz="950" dirty="0"/>
          </a:p>
        </p:txBody>
      </p:sp>
      <p:sp>
        <p:nvSpPr>
          <p:cNvPr id="45" name="Shape 42"/>
          <p:cNvSpPr/>
          <p:nvPr/>
        </p:nvSpPr>
        <p:spPr>
          <a:xfrm>
            <a:off x="6949440" y="4572000"/>
            <a:ext cx="4510735" cy="0"/>
          </a:xfrm>
          <a:prstGeom prst="line">
            <a:avLst/>
          </a:prstGeom>
          <a:noFill/>
          <a:ln w="6350">
            <a:solidFill>
              <a:srgbClr val="FFFFFF">
                <a:alpha val="16000"/>
              </a:srgbClr>
            </a:solidFill>
            <a:prstDash val="solid"/>
          </a:ln>
        </p:spPr>
      </p:sp>
      <p:sp>
        <p:nvSpPr>
          <p:cNvPr id="46" name="Text 43"/>
          <p:cNvSpPr/>
          <p:nvPr/>
        </p:nvSpPr>
        <p:spPr>
          <a:xfrm>
            <a:off x="6949440" y="4608576"/>
            <a:ext cx="4510735" cy="219456"/>
          </a:xfrm>
          <a:prstGeom prst="rect">
            <a:avLst/>
          </a:prstGeom>
          <a:noFill/>
          <a:ln/>
        </p:spPr>
        <p:txBody>
          <a:bodyPr wrap="square" lIns="0" tIns="0" rIns="0" bIns="0" rtlCol="0" anchor="ctr"/>
          <a:lstStyle/>
          <a:p>
            <a:pPr indent="0" marL="0">
              <a:buNone/>
            </a:pPr>
            <a:r>
              <a:rPr lang="en-US" sz="850" i="1" dirty="0">
                <a:solidFill>
                  <a:srgbClr val="A9B6C7"/>
                </a:solidFill>
                <a:latin typeface="Nunito Sans" pitchFamily="34" charset="0"/>
                <a:ea typeface="Nunito Sans" pitchFamily="34" charset="-122"/>
                <a:cs typeface="Nunito Sans" pitchFamily="34" charset="-120"/>
              </a:rPr>
              <a:t>Below every comparable in the set.</a:t>
            </a:r>
            <a:endParaRPr lang="en-US" sz="850" dirty="0"/>
          </a:p>
        </p:txBody>
      </p:sp>
      <p:sp>
        <p:nvSpPr>
          <p:cNvPr id="47" name="Shape 44"/>
          <p:cNvSpPr/>
          <p:nvPr/>
        </p:nvSpPr>
        <p:spPr>
          <a:xfrm>
            <a:off x="6720840" y="5047488"/>
            <a:ext cx="4967935" cy="914400"/>
          </a:xfrm>
          <a:prstGeom prst="roundRect">
            <a:avLst>
              <a:gd name="adj" fmla="val 90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48" name="Text 45"/>
          <p:cNvSpPr/>
          <p:nvPr/>
        </p:nvSpPr>
        <p:spPr>
          <a:xfrm>
            <a:off x="6903720" y="5157216"/>
            <a:ext cx="4602175" cy="383032"/>
          </a:xfrm>
          <a:prstGeom prst="rect">
            <a:avLst/>
          </a:prstGeom>
          <a:noFill/>
          <a:ln/>
        </p:spPr>
        <p:txBody>
          <a:bodyPr wrap="square" lIns="0" tIns="0" rIns="0" bIns="0" rtlCol="0" anchor="t"/>
          <a:lstStyle/>
          <a:p>
            <a:pPr indent="0" marL="0">
              <a:buNone/>
            </a:pPr>
            <a:r>
              <a:rPr lang="en-US" sz="2200" dirty="0">
                <a:solidFill>
                  <a:srgbClr val="3A5D97"/>
                </a:solidFill>
                <a:latin typeface="Archivo Black" pitchFamily="34" charset="0"/>
                <a:ea typeface="Archivo Black" pitchFamily="34" charset="-122"/>
                <a:cs typeface="Archivo Black" pitchFamily="34" charset="-120"/>
              </a:rPr>
              <a:t>22 → 98</a:t>
            </a:r>
            <a:endParaRPr lang="en-US" sz="2200" dirty="0"/>
          </a:p>
        </p:txBody>
      </p:sp>
      <p:sp>
        <p:nvSpPr>
          <p:cNvPr id="49" name="Text 46"/>
          <p:cNvSpPr/>
          <p:nvPr/>
        </p:nvSpPr>
        <p:spPr>
          <a:xfrm>
            <a:off x="6903720" y="5558536"/>
            <a:ext cx="4602175" cy="33020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People, FY26 to FY29, across six functions. Revenue per head reaches ₹2.80 Cr.</a:t>
            </a:r>
            <a:endParaRPr lang="en-US" sz="85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35</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CATEGORY LEADERSHIP</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Open the category to make it a proprietary eponym.</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A category only becomes large if others are allowed in. DeHaat Honest Farms wins not by owning the words, but by owning the standard, the proof, and the relevance in consumers' lives.</a:t>
            </a:r>
            <a:endParaRPr lang="en-US" sz="1100" dirty="0"/>
          </a:p>
        </p:txBody>
      </p:sp>
      <p:sp>
        <p:nvSpPr>
          <p:cNvPr id="7" name="Shape 4"/>
          <p:cNvSpPr/>
          <p:nvPr/>
        </p:nvSpPr>
        <p:spPr>
          <a:xfrm>
            <a:off x="502920" y="2121408"/>
            <a:ext cx="3557930"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8" name="Text 5"/>
          <p:cNvSpPr/>
          <p:nvPr/>
        </p:nvSpPr>
        <p:spPr>
          <a:xfrm>
            <a:off x="704088" y="226771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01</a:t>
            </a:r>
            <a:endParaRPr lang="en-US" sz="1400" dirty="0"/>
          </a:p>
        </p:txBody>
      </p:sp>
      <p:sp>
        <p:nvSpPr>
          <p:cNvPr id="9" name="Text 6"/>
          <p:cNvSpPr/>
          <p:nvPr/>
        </p:nvSpPr>
        <p:spPr>
          <a:xfrm>
            <a:off x="704088" y="257860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Educate what pesticide-free means</a:t>
            </a:r>
            <a:endParaRPr lang="en-US" sz="1050" dirty="0"/>
          </a:p>
        </p:txBody>
      </p:sp>
      <p:sp>
        <p:nvSpPr>
          <p:cNvPr id="10" name="Text 7"/>
          <p:cNvSpPr/>
          <p:nvPr/>
        </p:nvSpPr>
        <p:spPr>
          <a:xfrm>
            <a:off x="704088" y="292608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Pesticide-free call-out with QR to the farmer, carrying the Jaivik Bharat logo, on the front of pack</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Invite parents, teachers and children to the farm to see the process and meet the farmers</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Bring the 56% core audience into cook-off sessions after the visit; give the 18% sceptics firsthand access</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Webinars and podcasts led by the farmers and doctors — the two voices the research says are believed</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On-ground activation in schools and colleges, and with GPs, gastro specialists and nutritionists</a:t>
            </a:r>
            <a:endParaRPr lang="en-US" sz="800" dirty="0"/>
          </a:p>
        </p:txBody>
      </p:sp>
      <p:sp>
        <p:nvSpPr>
          <p:cNvPr id="11" name="Shape 8"/>
          <p:cNvSpPr/>
          <p:nvPr/>
        </p:nvSpPr>
        <p:spPr>
          <a:xfrm>
            <a:off x="4316882" y="2121408"/>
            <a:ext cx="3557930"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2" name="Text 9"/>
          <p:cNvSpPr/>
          <p:nvPr/>
        </p:nvSpPr>
        <p:spPr>
          <a:xfrm>
            <a:off x="4518050" y="226771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02</a:t>
            </a:r>
            <a:endParaRPr lang="en-US" sz="1400" dirty="0"/>
          </a:p>
        </p:txBody>
      </p:sp>
      <p:sp>
        <p:nvSpPr>
          <p:cNvPr id="13" name="Text 10"/>
          <p:cNvSpPr/>
          <p:nvPr/>
        </p:nvSpPr>
        <p:spPr>
          <a:xfrm>
            <a:off x="4518050" y="257860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Out-proof everyone: certification visible</a:t>
            </a:r>
            <a:endParaRPr lang="en-US" sz="1050" dirty="0"/>
          </a:p>
        </p:txBody>
      </p:sp>
      <p:sp>
        <p:nvSpPr>
          <p:cNvPr id="14" name="Text 11"/>
          <p:cNvSpPr/>
          <p:nvPr/>
        </p:nvSpPr>
        <p:spPr>
          <a:xfrm>
            <a:off x="4518050" y="292608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Quick-commerce platforms like Zepto, Amazon — showcase the Pesticide-Free certificate for every product on the app (like Nykaa)</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The copycat test: when an incumbent prints "Pesticide-free", DeHaat Honest Farms asks publicly — "Where is the batch certificate?"</a:t>
            </a:r>
            <a:endParaRPr lang="en-US" sz="800" dirty="0"/>
          </a:p>
        </p:txBody>
      </p:sp>
      <p:sp>
        <p:nvSpPr>
          <p:cNvPr id="15" name="Shape 12"/>
          <p:cNvSpPr/>
          <p:nvPr/>
        </p:nvSpPr>
        <p:spPr>
          <a:xfrm>
            <a:off x="8130845" y="2121408"/>
            <a:ext cx="3557930" cy="2286000"/>
          </a:xfrm>
          <a:prstGeom prst="roundRect">
            <a:avLst>
              <a:gd name="adj" fmla="val 3600"/>
            </a:avLst>
          </a:prstGeom>
          <a:solidFill>
            <a:srgbClr val="FFFFFF"/>
          </a:solidFill>
          <a:ln w="9525">
            <a:solidFill>
              <a:srgbClr val="E5DCCB"/>
            </a:solidFill>
            <a:prstDash val="solid"/>
          </a:ln>
          <a:effectLst>
            <a:outerShdw sx="100000" sy="100000" kx="0" ky="0" algn="bl" rotWithShape="0" blurRad="177800" dist="38100" dir="5400000">
              <a:srgbClr val="101C2C">
                <a:alpha val="9000"/>
              </a:srgbClr>
            </a:outerShdw>
          </a:effectLst>
        </p:spPr>
      </p:sp>
      <p:sp>
        <p:nvSpPr>
          <p:cNvPr id="16" name="Text 13"/>
          <p:cNvSpPr/>
          <p:nvPr/>
        </p:nvSpPr>
        <p:spPr>
          <a:xfrm>
            <a:off x="8332013" y="226771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03</a:t>
            </a:r>
            <a:endParaRPr lang="en-US" sz="1400" dirty="0"/>
          </a:p>
        </p:txBody>
      </p:sp>
      <p:sp>
        <p:nvSpPr>
          <p:cNvPr id="17" name="Text 14"/>
          <p:cNvSpPr/>
          <p:nvPr/>
        </p:nvSpPr>
        <p:spPr>
          <a:xfrm>
            <a:off x="8332013" y="257860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Vertical sourcing control: farm to fork</a:t>
            </a:r>
            <a:endParaRPr lang="en-US" sz="1050" dirty="0"/>
          </a:p>
        </p:txBody>
      </p:sp>
      <p:sp>
        <p:nvSpPr>
          <p:cNvPr id="18" name="Text 15"/>
          <p:cNvSpPr/>
          <p:nvPr/>
        </p:nvSpPr>
        <p:spPr>
          <a:xfrm>
            <a:off x="8332013" y="292608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Own the input decision, not just the output test. Control at sowing is what a competitor cannot contract for</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Embed the brand in Indian routine until the habit forms: Think Pesticide-free, Think Honest Farms</a:t>
            </a:r>
            <a:endParaRPr lang="en-US" sz="800" dirty="0"/>
          </a:p>
        </p:txBody>
      </p:sp>
      <p:sp>
        <p:nvSpPr>
          <p:cNvPr id="19" name="Text 16"/>
          <p:cNvSpPr/>
          <p:nvPr/>
        </p:nvSpPr>
        <p:spPr>
          <a:xfrm>
            <a:off x="502920" y="4681728"/>
            <a:ext cx="73152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GUARDRAILS FOR COMMUNICATION, IN LINE WITH INDUSTRY BODIES</a:t>
            </a:r>
            <a:endParaRPr lang="en-US" sz="950" dirty="0"/>
          </a:p>
        </p:txBody>
      </p:sp>
      <p:sp>
        <p:nvSpPr>
          <p:cNvPr id="20" name="Shape 17"/>
          <p:cNvSpPr/>
          <p:nvPr/>
        </p:nvSpPr>
        <p:spPr>
          <a:xfrm>
            <a:off x="502920" y="4956048"/>
            <a:ext cx="4480560" cy="1691640"/>
          </a:xfrm>
          <a:prstGeom prst="roundRect">
            <a:avLst>
              <a:gd name="adj" fmla="val 4865"/>
            </a:avLst>
          </a:prstGeom>
          <a:solidFill>
            <a:srgbClr val="E4F2EA"/>
          </a:solidFill>
          <a:ln w="9525">
            <a:solidFill>
              <a:srgbClr val="C6E3D3"/>
            </a:solidFill>
            <a:prstDash val="solid"/>
          </a:ln>
          <a:effectLst>
            <a:outerShdw sx="100000" sy="100000" kx="0" ky="0" algn="bl" rotWithShape="0" blurRad="177800" dist="38100" dir="5400000">
              <a:srgbClr val="101C2C">
                <a:alpha val="9000"/>
              </a:srgbClr>
            </a:outerShdw>
          </a:effectLst>
        </p:spPr>
      </p:sp>
      <p:sp>
        <p:nvSpPr>
          <p:cNvPr id="21" name="Text 18"/>
          <p:cNvSpPr/>
          <p:nvPr/>
        </p:nvSpPr>
        <p:spPr>
          <a:xfrm>
            <a:off x="704088" y="5065776"/>
            <a:ext cx="4078224" cy="219456"/>
          </a:xfrm>
          <a:prstGeom prst="rect">
            <a:avLst/>
          </a:prstGeom>
          <a:noFill/>
          <a:ln/>
        </p:spPr>
        <p:txBody>
          <a:bodyPr wrap="square" lIns="0" tIns="0" rIns="0" bIns="0" rtlCol="0" anchor="ctr"/>
          <a:lstStyle/>
          <a:p>
            <a:pPr indent="0" marL="0">
              <a:buNone/>
            </a:pPr>
            <a:r>
              <a:rPr lang="en-US" sz="900" b="1" spc="100" kern="0" dirty="0">
                <a:solidFill>
                  <a:srgbClr val="177A46"/>
                </a:solidFill>
                <a:latin typeface="Nunito Sans" pitchFamily="34" charset="0"/>
                <a:ea typeface="Nunito Sans" pitchFamily="34" charset="-122"/>
                <a:cs typeface="Nunito Sans" pitchFamily="34" charset="-120"/>
              </a:rPr>
              <a:t>✓  WHAT WE SAY</a:t>
            </a:r>
            <a:endParaRPr lang="en-US" sz="900" dirty="0"/>
          </a:p>
        </p:txBody>
      </p:sp>
      <p:sp>
        <p:nvSpPr>
          <p:cNvPr id="22" name="Text 19"/>
          <p:cNvSpPr/>
          <p:nvPr/>
        </p:nvSpPr>
        <p:spPr>
          <a:xfrm>
            <a:off x="704088" y="5321808"/>
            <a:ext cx="4078224" cy="960120"/>
          </a:xfrm>
          <a:prstGeom prst="rect">
            <a:avLst/>
          </a:prstGeom>
          <a:noFill/>
          <a:ln/>
        </p:spPr>
        <p:txBody>
          <a:bodyPr wrap="square" lIns="0" tIns="0" rIns="0" bIns="0" rtlCol="0" anchor="t"/>
          <a:lstStyle/>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"Tested for 230+ pesticides. None Detected."</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"No detectable pesticide residue, verified batch by batch."</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"Independently lab-tested. Scan to see this batch's report."</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"Stronger residue testing than the organic standard requires."</a:t>
            </a:r>
            <a:endParaRPr lang="en-US" sz="850" dirty="0"/>
          </a:p>
        </p:txBody>
      </p:sp>
      <p:sp>
        <p:nvSpPr>
          <p:cNvPr id="23" name="Shape 20"/>
          <p:cNvSpPr/>
          <p:nvPr/>
        </p:nvSpPr>
        <p:spPr>
          <a:xfrm>
            <a:off x="5257800" y="4956048"/>
            <a:ext cx="4480560" cy="1691640"/>
          </a:xfrm>
          <a:prstGeom prst="roundRect">
            <a:avLst>
              <a:gd name="adj" fmla="val 4865"/>
            </a:avLst>
          </a:prstGeom>
          <a:solidFill>
            <a:srgbClr val="FBE9E3"/>
          </a:solidFill>
          <a:ln w="9525">
            <a:solidFill>
              <a:srgbClr val="F0CDC2"/>
            </a:solidFill>
            <a:prstDash val="solid"/>
          </a:ln>
          <a:effectLst>
            <a:outerShdw sx="100000" sy="100000" kx="0" ky="0" algn="bl" rotWithShape="0" blurRad="177800" dist="38100" dir="5400000">
              <a:srgbClr val="101C2C">
                <a:alpha val="9000"/>
              </a:srgbClr>
            </a:outerShdw>
          </a:effectLst>
        </p:spPr>
      </p:sp>
      <p:sp>
        <p:nvSpPr>
          <p:cNvPr id="24" name="Text 21"/>
          <p:cNvSpPr/>
          <p:nvPr/>
        </p:nvSpPr>
        <p:spPr>
          <a:xfrm>
            <a:off x="5458968" y="5065776"/>
            <a:ext cx="4078224" cy="219456"/>
          </a:xfrm>
          <a:prstGeom prst="rect">
            <a:avLst/>
          </a:prstGeom>
          <a:noFill/>
          <a:ln/>
        </p:spPr>
        <p:txBody>
          <a:bodyPr wrap="square" lIns="0" tIns="0" rIns="0" bIns="0" rtlCol="0" anchor="ctr"/>
          <a:lstStyle/>
          <a:p>
            <a:pPr indent="0" marL="0">
              <a:buNone/>
            </a:pPr>
            <a:r>
              <a:rPr lang="en-US" sz="900" b="1" spc="100" kern="0" dirty="0">
                <a:solidFill>
                  <a:srgbClr val="9E3A24"/>
                </a:solidFill>
                <a:latin typeface="Nunito Sans" pitchFamily="34" charset="0"/>
                <a:ea typeface="Nunito Sans" pitchFamily="34" charset="-122"/>
                <a:cs typeface="Nunito Sans" pitchFamily="34" charset="-120"/>
              </a:rPr>
              <a:t>✕  WHAT WE NEVER SAY</a:t>
            </a:r>
            <a:endParaRPr lang="en-US" sz="900" dirty="0"/>
          </a:p>
        </p:txBody>
      </p:sp>
      <p:sp>
        <p:nvSpPr>
          <p:cNvPr id="25" name="Text 22"/>
          <p:cNvSpPr/>
          <p:nvPr/>
        </p:nvSpPr>
        <p:spPr>
          <a:xfrm>
            <a:off x="5458968" y="5321808"/>
            <a:ext cx="4078224" cy="960120"/>
          </a:xfrm>
          <a:prstGeom prst="rect">
            <a:avLst/>
          </a:prstGeom>
          <a:noFill/>
          <a:ln/>
        </p:spPr>
        <p:txBody>
          <a:bodyPr wrap="square" lIns="0" tIns="0" rIns="0" bIns="0" rtlCol="0" anchor="t"/>
          <a:lstStyle/>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"100% pesticide-free" — or any absolute.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"Chemical-free", "toxin-free", "100% pure".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"Healthier than organic."</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Anything implying the product prevents disease.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Never win by attacking organic or conventional.</a:t>
            </a:r>
            <a:endParaRPr lang="en-US" sz="850" dirty="0"/>
          </a:p>
        </p:txBody>
      </p:sp>
      <p:pic>
        <p:nvPicPr>
          <p:cNvPr id="26" name="Image 1" descr="/home/user/hopper-tessarakt/site/assets/jaivik.png">    </p:cNvPr>
          <p:cNvPicPr>
            <a:picLocks noChangeAspect="1"/>
          </p:cNvPicPr>
          <p:nvPr/>
        </p:nvPicPr>
        <p:blipFill>
          <a:blip r:embed="rId2"/>
          <a:stretch>
            <a:fillRect/>
          </a:stretch>
        </p:blipFill>
        <p:spPr>
          <a:xfrm>
            <a:off x="10195560" y="5065776"/>
            <a:ext cx="502920" cy="521208"/>
          </a:xfrm>
          <a:prstGeom prst="rect">
            <a:avLst/>
          </a:prstGeom>
        </p:spPr>
      </p:pic>
      <p:pic>
        <p:nvPicPr>
          <p:cNvPr id="27" name="Image 2" descr="/home/user/hopper-tessarakt/site/assets/fssai.png">    </p:cNvPr>
          <p:cNvPicPr>
            <a:picLocks noChangeAspect="1"/>
          </p:cNvPicPr>
          <p:nvPr/>
        </p:nvPicPr>
        <p:blipFill>
          <a:blip r:embed="rId3"/>
          <a:stretch>
            <a:fillRect/>
          </a:stretch>
        </p:blipFill>
        <p:spPr>
          <a:xfrm>
            <a:off x="10927080" y="5157216"/>
            <a:ext cx="685800" cy="374904"/>
          </a:xfrm>
          <a:prstGeom prst="rect">
            <a:avLst/>
          </a:prstGeom>
        </p:spPr>
      </p:pic>
      <p:pic>
        <p:nvPicPr>
          <p:cNvPr id="28" name="Image 3" descr="/home/user/hopper-tessarakt/site/assets/asci.png">    </p:cNvPr>
          <p:cNvPicPr>
            <a:picLocks noChangeAspect="1"/>
          </p:cNvPicPr>
          <p:nvPr/>
        </p:nvPicPr>
        <p:blipFill>
          <a:blip r:embed="rId4"/>
          <a:stretch>
            <a:fillRect/>
          </a:stretch>
        </p:blipFill>
        <p:spPr>
          <a:xfrm>
            <a:off x="10195560" y="5824728"/>
            <a:ext cx="777240" cy="356616"/>
          </a:xfrm>
          <a:prstGeom prst="rect">
            <a:avLst/>
          </a:prstGeom>
        </p:spPr>
      </p:pic>
      <p:sp>
        <p:nvSpPr>
          <p:cNvPr id="29" name="Shape 23"/>
          <p:cNvSpPr/>
          <p:nvPr/>
        </p:nvSpPr>
        <p:spPr>
          <a:xfrm>
            <a:off x="502920" y="6455664"/>
            <a:ext cx="11185855" cy="0"/>
          </a:xfrm>
          <a:prstGeom prst="line">
            <a:avLst/>
          </a:prstGeom>
          <a:noFill/>
          <a:ln w="9525">
            <a:solidFill>
              <a:srgbClr val="E5DCCB"/>
            </a:solidFill>
            <a:prstDash val="solid"/>
          </a:ln>
        </p:spPr>
      </p:sp>
      <p:sp>
        <p:nvSpPr>
          <p:cNvPr id="30" name="Text 24"/>
          <p:cNvSpPr/>
          <p:nvPr/>
        </p:nvSpPr>
        <p:spPr>
          <a:xfrm>
            <a:off x="502920" y="6492240"/>
            <a:ext cx="87782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31" name="Text 2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36</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team-field.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veil-radial.png">    </p:cNvPr>
          <p:cNvPicPr>
            <a:picLocks noChangeAspect="1"/>
          </p:cNvPicPr>
          <p:nvPr/>
        </p:nvPicPr>
        <p:blipFill>
          <a:blip r:embed="rId2"/>
          <a:stretch>
            <a:fillRect/>
          </a:stretch>
        </p:blipFill>
        <p:spPr>
          <a:xfrm>
            <a:off x="0" y="0"/>
            <a:ext cx="12191695" cy="6858000"/>
          </a:xfrm>
          <a:prstGeom prst="rect">
            <a:avLst/>
          </a:prstGeom>
        </p:spPr>
      </p:pic>
      <p:sp>
        <p:nvSpPr>
          <p:cNvPr id="4" name="Text 0"/>
          <p:cNvSpPr/>
          <p:nvPr/>
        </p:nvSpPr>
        <p:spPr>
          <a:xfrm>
            <a:off x="0" y="1874520"/>
            <a:ext cx="12191695" cy="1188720"/>
          </a:xfrm>
          <a:prstGeom prst="rect">
            <a:avLst/>
          </a:prstGeom>
          <a:noFill/>
          <a:ln/>
        </p:spPr>
        <p:txBody>
          <a:bodyPr wrap="square" lIns="0" tIns="0" rIns="0" bIns="0" rtlCol="0" anchor="ctr"/>
          <a:lstStyle/>
          <a:p>
            <a:pPr algn="ctr" indent="0" marL="0">
              <a:buNone/>
            </a:pPr>
            <a:r>
              <a:rPr lang="en-US" sz="5000" dirty="0">
                <a:solidFill>
                  <a:srgbClr val="FFFFFF"/>
                </a:solidFill>
                <a:latin typeface="Noto Sans Devanagari" pitchFamily="34" charset="0"/>
                <a:ea typeface="Noto Sans Devanagari" pitchFamily="34" charset="-122"/>
                <a:cs typeface="Noto Sans Devanagari" pitchFamily="34" charset="-120"/>
              </a:rPr>
              <a:t>धन्यवाद</a:t>
            </a:r>
            <a:endParaRPr lang="en-US" sz="5000" dirty="0"/>
          </a:p>
        </p:txBody>
      </p:sp>
      <p:sp>
        <p:nvSpPr>
          <p:cNvPr id="5" name="Text 1"/>
          <p:cNvSpPr/>
          <p:nvPr/>
        </p:nvSpPr>
        <p:spPr>
          <a:xfrm>
            <a:off x="0" y="3154680"/>
            <a:ext cx="12191695" cy="457200"/>
          </a:xfrm>
          <a:prstGeom prst="rect">
            <a:avLst/>
          </a:prstGeom>
          <a:noFill/>
          <a:ln/>
        </p:spPr>
        <p:txBody>
          <a:bodyPr wrap="square" lIns="0" tIns="0" rIns="0" bIns="0" rtlCol="0" anchor="ctr"/>
          <a:lstStyle/>
          <a:p>
            <a:pPr algn="ctr" indent="0" marL="0">
              <a:buNone/>
            </a:pPr>
            <a:r>
              <a:rPr lang="en-US" sz="1800" i="1" dirty="0">
                <a:solidFill>
                  <a:srgbClr val="5FC28C"/>
                </a:solidFill>
                <a:latin typeface="Nunito Sans" pitchFamily="34" charset="0"/>
                <a:ea typeface="Nunito Sans" pitchFamily="34" charset="-122"/>
                <a:cs typeface="Nunito Sans" pitchFamily="34" charset="-120"/>
              </a:rPr>
              <a:t>Verified in the fields. Honest on the shelves.</a:t>
            </a:r>
            <a:endParaRPr lang="en-US" sz="1800" dirty="0"/>
          </a:p>
        </p:txBody>
      </p:sp>
      <p:pic>
        <p:nvPicPr>
          <p:cNvPr id="6" name="Image 2" descr="/home/user/hopper-tessarakt/site/assets/logo.png">    </p:cNvPr>
          <p:cNvPicPr>
            <a:picLocks noChangeAspect="1"/>
          </p:cNvPicPr>
          <p:nvPr/>
        </p:nvPicPr>
        <p:blipFill>
          <a:blip r:embed="rId3"/>
          <a:stretch>
            <a:fillRect/>
          </a:stretch>
        </p:blipFill>
        <p:spPr>
          <a:xfrm>
            <a:off x="5135728" y="3931920"/>
            <a:ext cx="1920240" cy="713232"/>
          </a:xfrm>
          <a:prstGeom prst="rect">
            <a:avLst/>
          </a:prstGeom>
        </p:spPr>
      </p:pic>
      <p:sp>
        <p:nvSpPr>
          <p:cNvPr id="7" name="Text 2"/>
          <p:cNvSpPr/>
          <p:nvPr/>
        </p:nvSpPr>
        <p:spPr>
          <a:xfrm>
            <a:off x="0" y="4892040"/>
            <a:ext cx="12191695" cy="274320"/>
          </a:xfrm>
          <a:prstGeom prst="rect">
            <a:avLst/>
          </a:prstGeom>
          <a:noFill/>
          <a:ln/>
        </p:spPr>
        <p:txBody>
          <a:bodyPr wrap="square" lIns="0" tIns="0" rIns="0" bIns="0" rtlCol="0" anchor="ctr"/>
          <a:lstStyle/>
          <a:p>
            <a:pPr algn="ctr" indent="0" marL="0">
              <a:buNone/>
            </a:pPr>
            <a:r>
              <a:rPr lang="en-US" sz="1000" b="1" spc="240" kern="0" dirty="0">
                <a:solidFill>
                  <a:srgbClr val="5FC28C"/>
                </a:solidFill>
                <a:latin typeface="Nunito Sans" pitchFamily="34" charset="0"/>
                <a:ea typeface="Nunito Sans" pitchFamily="34" charset="-122"/>
                <a:cs typeface="Nunito Sans" pitchFamily="34" charset="-120"/>
              </a:rPr>
              <a:t>TEAM 1  ·  ISB CGMO COHORT II</a:t>
            </a:r>
            <a:endParaRPr lang="en-US" sz="1000" dirty="0"/>
          </a:p>
        </p:txBody>
      </p:sp>
      <p:sp>
        <p:nvSpPr>
          <p:cNvPr id="8" name="Text 3"/>
          <p:cNvSpPr/>
          <p:nvPr/>
        </p:nvSpPr>
        <p:spPr>
          <a:xfrm>
            <a:off x="0" y="5212080"/>
            <a:ext cx="12191695" cy="292608"/>
          </a:xfrm>
          <a:prstGeom prst="rect">
            <a:avLst/>
          </a:prstGeom>
          <a:noFill/>
          <a:ln/>
        </p:spPr>
        <p:txBody>
          <a:bodyPr wrap="square" lIns="0" tIns="0" rIns="0" bIns="0" rtlCol="0" anchor="ctr"/>
          <a:lstStyle/>
          <a:p>
            <a:pPr algn="ctr" indent="0" marL="0">
              <a:buNone/>
            </a:pPr>
            <a:r>
              <a:rPr lang="en-US" sz="1200" dirty="0">
                <a:solidFill>
                  <a:srgbClr val="EEE9E0"/>
                </a:solidFill>
                <a:latin typeface="Nunito Sans" pitchFamily="34" charset="0"/>
                <a:ea typeface="Nunito Sans" pitchFamily="34" charset="-122"/>
                <a:cs typeface="Nunito Sans" pitchFamily="34" charset="-120"/>
              </a:rPr>
              <a:t>Sabika Mirza  ·  Sharon Batliwalla  ·  Syed Kashif Ali  ·  Sonu Adarsh  ·  Abhishek Nandan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DeHaat Honest Farms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Category Creation &amp; Scale Acceleration</dc:title>
  <dc:subject>PptxGenJS Presentation</dc:subject>
  <dc:creator>Team 1 — ISB CGMO Cohort II</dc:creator>
  <cp:lastModifiedBy>Team 1 — ISB CGMO Cohort II</cp:lastModifiedBy>
  <cp:revision>1</cp:revision>
  <dcterms:created xsi:type="dcterms:W3CDTF">2026-08-17T19:39:31Z</dcterms:created>
  <dcterms:modified xsi:type="dcterms:W3CDTF">2026-08-17T19:39:31Z</dcterms:modified>
</cp:coreProperties>
</file>